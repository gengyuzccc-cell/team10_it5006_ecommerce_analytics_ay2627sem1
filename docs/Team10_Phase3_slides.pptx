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MAE (days)</c:v>
                </c:pt>
              </c:strCache>
            </c:strRef>
          </c:tx>
          <c:spPr>
            <a:solidFill>
              <a:srgbClr val="2F6F9F"/>
            </a:solidFill>
            <a:effectLst/>
          </c:spPr>
          <c:invertIfNegative val="0"/>
          <c:dLbls>
            <c:numFmt formatCode="0.00" sourceLinked="0"/>
            <c:txPr>
              <a:bodyPr/>
              <a:lstStyle/>
              <a:p>
                <a:pPr>
                  <a:defRPr b="0" i="0" strike="noStrike" sz="1000" u="none">
                    <a:solidFill>
                      <a:srgbClr val="1B2733"/>
                    </a:solidFill>
                    <a:latin typeface="+mn-lt"/>
                  </a:defRPr>
                </a:pPr>
              </a:p>
            </c:txPr>
            <c:showLegendKey val="0"/>
            <c:showVal val="1"/>
            <c:showCatName val="0"/>
            <c:showSerName val="0"/>
            <c:showPercent val="0"/>
            <c:showBubbleSize val="0"/>
            <c:showLeaderLines val="0"/>
          </c:dLbls>
          <c:dPt>
            <c:idx val="0"/>
            <c:invertIfNegative val="0"/>
            <c:bubble3D val="0"/>
            <c:spPr>
              <a:solidFill>
                <a:srgbClr val="2F6F9F"/>
              </a:solidFill>
              <a:effectLst/>
            </c:spPr>
          </c:dPt>
          <c:dPt>
            <c:idx val="1"/>
            <c:invertIfNegative val="0"/>
            <c:bubble3D val="0"/>
            <c:spPr>
              <a:solidFill>
                <a:srgbClr val="2F6F9F"/>
              </a:solidFill>
              <a:effectLst/>
            </c:spPr>
          </c:dPt>
          <c:dPt>
            <c:idx val="2"/>
            <c:invertIfNegative val="0"/>
            <c:bubble3D val="0"/>
            <c:spPr>
              <a:solidFill>
                <a:srgbClr val="2F6F9F"/>
              </a:solidFill>
              <a:effectLst/>
            </c:spPr>
          </c:dPt>
          <c:dPt>
            <c:idx val="3"/>
            <c:invertIfNegative val="0"/>
            <c:bubble3D val="0"/>
            <c:spPr>
              <a:solidFill>
                <a:srgbClr val="2F6F9F"/>
              </a:solidFill>
              <a:effectLst/>
            </c:spPr>
          </c:dPt>
          <c:dPt>
            <c:idx val="4"/>
            <c:invertIfNegative val="0"/>
            <c:bubble3D val="0"/>
            <c:spPr>
              <a:solidFill>
                <a:srgbClr val="2F6F9F"/>
              </a:solidFill>
              <a:effectLst/>
            </c:spPr>
          </c:dPt>
          <c:dPt>
            <c:idx val="5"/>
            <c:invertIfNegative val="0"/>
            <c:bubble3D val="0"/>
            <c:spPr>
              <a:solidFill>
                <a:srgbClr val="2F6F9F"/>
              </a:solidFill>
              <a:effectLst/>
            </c:spPr>
          </c:dPt>
          <c:dPt>
            <c:idx val="6"/>
            <c:invertIfNegative val="0"/>
            <c:bubble3D val="0"/>
            <c:spPr>
              <a:solidFill>
                <a:srgbClr val="2F6F9F"/>
              </a:solidFill>
              <a:effectLst/>
            </c:spPr>
          </c:dPt>
          <c:dPt>
            <c:idx val="7"/>
            <c:invertIfNegative val="0"/>
            <c:bubble3D val="0"/>
            <c:spPr>
              <a:solidFill>
                <a:srgbClr val="2F6F9F"/>
              </a:solidFill>
              <a:effectLst/>
            </c:spPr>
          </c:dPt>
          <c:dPt>
            <c:idx val="8"/>
            <c:invertIfNegative val="0"/>
            <c:bubble3D val="0"/>
            <c:spPr>
              <a:solidFill>
                <a:srgbClr val="2F6F9F"/>
              </a:solidFill>
              <a:effectLst/>
            </c:spPr>
          </c:dPt>
          <c:cat>
            <c:multiLvlStrRef>
              <c:f>Sheet1!$A$2:$A$10</c:f>
              <c:multiLvlStrCache>
                <c:ptCount val="9"/>
                <c:lvl>
                  <c:pt idx="0">
                    <c:v>Promise (Olist's own date)</c:v>
                  </c:pt>
                  <c:pt idx="1">
                    <c:v>Training-period mean</c:v>
                  </c:pt>
                  <c:pt idx="2">
                    <c:v>DecisionTree</c:v>
                  </c:pt>
                  <c:pt idx="3">
                    <c:v>RandomForest</c:v>
                  </c:pt>
                  <c:pt idx="4">
                    <c:v>Ridge</c:v>
                  </c:pt>
                  <c:pt idx="5">
                    <c:v>LinearRegression</c:v>
                  </c:pt>
                  <c:pt idx="6">
                    <c:v>HistGradientBoosting</c:v>
                  </c:pt>
                  <c:pt idx="7">
                    <c:v>StackingRegressor</c:v>
                  </c:pt>
                  <c:pt idx="8">
                    <c:v>VotingRegressor (deployed)</c:v>
                  </c:pt>
                </c:lvl>
              </c:multiLvlStrCache>
            </c:multiLvlStrRef>
          </c:cat>
          <c:val>
            <c:numRef>
              <c:f>Sheet1!$B$2:$B$10</c:f>
              <c:numCache>
                <c:formatCode>General</c:formatCode>
                <c:ptCount val="9"/>
                <c:pt idx="0">
                  <c:v>9.788</c:v>
                </c:pt>
                <c:pt idx="1">
                  <c:v>6.645</c:v>
                </c:pt>
                <c:pt idx="2">
                  <c:v>6.116</c:v>
                </c:pt>
                <c:pt idx="3">
                  <c:v>4.956</c:v>
                </c:pt>
                <c:pt idx="4">
                  <c:v>4.309</c:v>
                </c:pt>
                <c:pt idx="5">
                  <c:v>4.181</c:v>
                </c:pt>
                <c:pt idx="6">
                  <c:v>4.141</c:v>
                </c:pt>
                <c:pt idx="7">
                  <c:v>4.121</c:v>
                </c:pt>
                <c:pt idx="8">
                  <c:v>3.898</c:v>
                </c:pt>
              </c:numCache>
            </c:numRef>
          </c:val>
        </c:ser>
        <c:dLbls>
          <c:numFmt formatCode="0.00" sourceLinked="0"/>
          <c:txPr>
            <a:bodyPr/>
            <a:lstStyle/>
            <a:p>
              <a:pPr>
                <a:defRPr b="0" i="0" strike="noStrike" sz="1000" u="none">
                  <a:solidFill>
                    <a:srgbClr val="1B27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1707D"/>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majorGridlines>
          <c:spPr>
            <a:ln w="635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1707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PR-AUC</c:v>
                </c:pt>
              </c:strCache>
            </c:strRef>
          </c:tx>
          <c:spPr>
            <a:solidFill>
              <a:srgbClr val="5B8C5A"/>
            </a:solidFill>
            <a:effectLst/>
          </c:spPr>
          <c:invertIfNegative val="0"/>
          <c:dLbls>
            <c:numFmt formatCode="0.000" sourceLinked="0"/>
            <c:txPr>
              <a:bodyPr/>
              <a:lstStyle/>
              <a:p>
                <a:pPr>
                  <a:defRPr b="0" i="0" strike="noStrike" sz="1000" u="none">
                    <a:solidFill>
                      <a:srgbClr val="1B2733"/>
                    </a:solidFill>
                    <a:latin typeface="+mn-lt"/>
                  </a:defRPr>
                </a:pPr>
              </a:p>
            </c:txPr>
            <c:showLegendKey val="0"/>
            <c:showVal val="1"/>
            <c:showCatName val="0"/>
            <c:showSerName val="0"/>
            <c:showPercent val="0"/>
            <c:showBubbleSize val="0"/>
            <c:showLeaderLines val="0"/>
          </c:dLbls>
          <c:dPt>
            <c:idx val="0"/>
            <c:invertIfNegative val="0"/>
            <c:bubble3D val="0"/>
            <c:spPr>
              <a:solidFill>
                <a:srgbClr val="5B8C5A"/>
              </a:solidFill>
              <a:effectLst/>
            </c:spPr>
          </c:dPt>
          <c:dPt>
            <c:idx val="1"/>
            <c:invertIfNegative val="0"/>
            <c:bubble3D val="0"/>
            <c:spPr>
              <a:solidFill>
                <a:srgbClr val="5B8C5A"/>
              </a:solidFill>
              <a:effectLst/>
            </c:spPr>
          </c:dPt>
          <c:dPt>
            <c:idx val="2"/>
            <c:invertIfNegative val="0"/>
            <c:bubble3D val="0"/>
            <c:spPr>
              <a:solidFill>
                <a:srgbClr val="5B8C5A"/>
              </a:solidFill>
              <a:effectLst/>
            </c:spPr>
          </c:dPt>
          <c:dPt>
            <c:idx val="3"/>
            <c:invertIfNegative val="0"/>
            <c:bubble3D val="0"/>
            <c:spPr>
              <a:solidFill>
                <a:srgbClr val="5B8C5A"/>
              </a:solidFill>
              <a:effectLst/>
            </c:spPr>
          </c:dPt>
          <c:dPt>
            <c:idx val="4"/>
            <c:invertIfNegative val="0"/>
            <c:bubble3D val="0"/>
            <c:spPr>
              <a:solidFill>
                <a:srgbClr val="5B8C5A"/>
              </a:solidFill>
              <a:effectLst/>
            </c:spPr>
          </c:dPt>
          <c:dPt>
            <c:idx val="5"/>
            <c:invertIfNegative val="0"/>
            <c:bubble3D val="0"/>
            <c:spPr>
              <a:solidFill>
                <a:srgbClr val="5B8C5A"/>
              </a:solidFill>
              <a:effectLst/>
            </c:spPr>
          </c:dPt>
          <c:dPt>
            <c:idx val="6"/>
            <c:invertIfNegative val="0"/>
            <c:bubble3D val="0"/>
            <c:spPr>
              <a:solidFill>
                <a:srgbClr val="5B8C5A"/>
              </a:solidFill>
              <a:effectLst/>
            </c:spPr>
          </c:dPt>
          <c:cat>
            <c:multiLvlStrRef>
              <c:f>Sheet1!$A$2:$A$8</c:f>
              <c:multiLvlStrCache>
                <c:ptCount val="7"/>
                <c:lvl>
                  <c:pt idx="0">
                    <c:v>LogisticRegression</c:v>
                  </c:pt>
                  <c:pt idx="1">
                    <c:v>LogisticRegression (ℓ2)</c:v>
                  </c:pt>
                  <c:pt idx="2">
                    <c:v>DecisionTree</c:v>
                  </c:pt>
                  <c:pt idx="3">
                    <c:v>RandomForest</c:v>
                  </c:pt>
                  <c:pt idx="4">
                    <c:v>VotingClassifier</c:v>
                  </c:pt>
                  <c:pt idx="5">
                    <c:v>StackingClassifier (deployed)</c:v>
                  </c:pt>
                  <c:pt idx="6">
                    <c:v>HistGradientBoosting</c:v>
                  </c:pt>
                </c:lvl>
              </c:multiLvlStrCache>
            </c:multiLvlStrRef>
          </c:cat>
          <c:val>
            <c:numRef>
              <c:f>Sheet1!$B$2:$B$8</c:f>
              <c:numCache>
                <c:formatCode>General</c:formatCode>
                <c:ptCount val="7"/>
                <c:pt idx="0">
                  <c:v>0.291</c:v>
                </c:pt>
                <c:pt idx="1">
                  <c:v>0.291</c:v>
                </c:pt>
                <c:pt idx="2">
                  <c:v>0.396</c:v>
                </c:pt>
                <c:pt idx="3">
                  <c:v>0.405</c:v>
                </c:pt>
                <c:pt idx="4">
                  <c:v>0.407</c:v>
                </c:pt>
                <c:pt idx="5">
                  <c:v>0.414</c:v>
                </c:pt>
                <c:pt idx="6">
                  <c:v>0.415</c:v>
                </c:pt>
              </c:numCache>
            </c:numRef>
          </c:val>
        </c:ser>
        <c:dLbls>
          <c:numFmt formatCode="0.000" sourceLinked="0"/>
          <c:txPr>
            <a:bodyPr/>
            <a:lstStyle/>
            <a:p>
              <a:pPr>
                <a:defRPr b="0" i="0" strike="noStrike" sz="1000" u="none">
                  <a:solidFill>
                    <a:srgbClr val="1B27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1707D"/>
                </a:solidFill>
                <a:latin typeface="+mn-lt"/>
              </a:defRPr>
            </a:pPr>
            <a:endParaRPr lang="en-US"/>
          </a:p>
        </c:txPr>
        <c:crossAx val="2094734552"/>
        <c:crosses val="autoZero"/>
        <c:auto val="1"/>
        <c:lblAlgn val="ctr"/>
        <c:noMultiLvlLbl val="1"/>
      </c:catAx>
      <c:valAx>
        <c:axId val="2094734552"/>
        <c:scaling>
          <c:orientation val="minMax"/>
          <c:max val="0.5"/>
          <c:min val="0"/>
        </c:scaling>
        <c:delete val="1"/>
        <c:axPos val="b"/>
        <c:majorGridlines>
          <c:spPr>
            <a:ln w="635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1707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Precision@K</c:v>
                </c:pt>
              </c:strCache>
            </c:strRef>
          </c:tx>
          <c:spPr>
            <a:solidFill>
              <a:srgbClr val="2F6F9F"/>
            </a:solidFill>
            <a:ln w="31750" cap="flat">
              <a:solidFill>
                <a:srgbClr val="2F6F9F"/>
              </a:solidFill>
              <a:prstDash val="solid"/>
              <a:round/>
            </a:ln>
            <a:effectLst/>
          </c:spPr>
          <c:invertIfNegative val="0"/>
          <c:dLbls>
            <c:numFmt formatCode="#,##0" sourceLinked="0"/>
            <c:txPr>
              <a:bodyPr/>
              <a:lstStyle/>
              <a:p>
                <a:pPr>
                  <a:defRPr b="0" i="0" strike="noStrike" sz="1000" u="none">
                    <a:solidFill>
                      <a:srgbClr val="1B2733"/>
                    </a:solidFill>
                    <a:latin typeface="+mn-lt"/>
                  </a:defRPr>
                </a:pPr>
              </a:p>
            </c:txPr>
            <c:showLegendKey val="0"/>
            <c:showVal val="0"/>
            <c:showCatName val="0"/>
            <c:showSerName val="0"/>
            <c:showPercent val="0"/>
            <c:showBubbleSize val="0"/>
            <c:showLeaderLines val="0"/>
          </c:dLbls>
          <c:marker>
            <c:symbol val="circle"/>
            <c:size val="6"/>
            <c:spPr>
              <a:solidFill>
                <a:srgbClr val="2F6F9F"/>
              </a:solidFill>
              <a:ln w="9525" cap="flat">
                <a:solidFill>
                  <a:srgbClr val="2F6F9F"/>
                </a:solidFill>
                <a:prstDash val="solid"/>
                <a:round/>
              </a:ln>
              <a:effectLst/>
            </c:spPr>
          </c:marker>
          <c:cat>
            <c:multiLvlStrRef>
              <c:f>Sheet1!$A$2:$A$13</c:f>
              <c:multiLvlStrCache>
                <c:ptCount val="12"/>
                <c:lvl>
                  <c:pt idx="0">
                    <c:v>1%</c:v>
                  </c:pt>
                  <c:pt idx="1">
                    <c:v>2%</c:v>
                  </c:pt>
                  <c:pt idx="2">
                    <c:v>3%</c:v>
                  </c:pt>
                  <c:pt idx="3">
                    <c:v>5%</c:v>
                  </c:pt>
                  <c:pt idx="4">
                    <c:v>7.5%</c:v>
                  </c:pt>
                  <c:pt idx="5">
                    <c:v>10%</c:v>
                  </c:pt>
                  <c:pt idx="6">
                    <c:v>15%</c:v>
                  </c:pt>
                  <c:pt idx="7">
                    <c:v>20%</c:v>
                  </c:pt>
                  <c:pt idx="8">
                    <c:v>25%</c:v>
                  </c:pt>
                  <c:pt idx="9">
                    <c:v>30%</c:v>
                  </c:pt>
                  <c:pt idx="10">
                    <c:v>40%</c:v>
                  </c:pt>
                  <c:pt idx="11">
                    <c:v>50%</c:v>
                  </c:pt>
                </c:lvl>
              </c:multiLvlStrCache>
            </c:multiLvlStrRef>
          </c:cat>
          <c:val>
            <c:numRef>
              <c:f>Sheet1!$B$2:$B$13</c:f>
              <c:numCache>
                <c:formatCode>General</c:formatCode>
                <c:ptCount val="12"/>
                <c:pt idx="0">
                  <c:v>0.705</c:v>
                </c:pt>
                <c:pt idx="1">
                  <c:v>0.7</c:v>
                </c:pt>
                <c:pt idx="2">
                  <c:v>0.702</c:v>
                </c:pt>
                <c:pt idx="3">
                  <c:v>0.678</c:v>
                </c:pt>
                <c:pt idx="4">
                  <c:v>0.58</c:v>
                </c:pt>
                <c:pt idx="5">
                  <c:v>0.475</c:v>
                </c:pt>
                <c:pt idx="6">
                  <c:v>0.369</c:v>
                </c:pt>
                <c:pt idx="7">
                  <c:v>0.3</c:v>
                </c:pt>
                <c:pt idx="8">
                  <c:v>0.263</c:v>
                </c:pt>
                <c:pt idx="9">
                  <c:v>0.236</c:v>
                </c:pt>
                <c:pt idx="10">
                  <c:v>0.196</c:v>
                </c:pt>
                <c:pt idx="11">
                  <c:v>0.169</c:v>
                </c:pt>
              </c:numCache>
            </c:numRef>
          </c:val>
          <c:smooth val="0"/>
        </c:ser>
        <c:ser>
          <c:idx val="1"/>
          <c:order val="1"/>
          <c:tx>
            <c:strRef>
              <c:f>Sheet1!$C$1</c:f>
              <c:strCache>
                <c:ptCount val="1"/>
                <c:pt idx="0">
                  <c:v>Recall@K</c:v>
                </c:pt>
              </c:strCache>
            </c:strRef>
          </c:tx>
          <c:spPr>
            <a:solidFill>
              <a:srgbClr val="C1666B"/>
            </a:solidFill>
            <a:ln w="31750" cap="flat">
              <a:solidFill>
                <a:srgbClr val="C1666B"/>
              </a:solidFill>
              <a:prstDash val="solid"/>
              <a:round/>
            </a:ln>
            <a:effectLst/>
          </c:spPr>
          <c:invertIfNegative val="0"/>
          <c:dLbls>
            <c:numFmt formatCode="#,##0" sourceLinked="0"/>
            <c:txPr>
              <a:bodyPr/>
              <a:lstStyle/>
              <a:p>
                <a:pPr>
                  <a:defRPr b="0" i="0" strike="noStrike" sz="1000" u="none">
                    <a:solidFill>
                      <a:srgbClr val="1B2733"/>
                    </a:solidFill>
                    <a:latin typeface="+mn-lt"/>
                  </a:defRPr>
                </a:pPr>
              </a:p>
            </c:txPr>
            <c:showLegendKey val="0"/>
            <c:showVal val="0"/>
            <c:showCatName val="0"/>
            <c:showSerName val="0"/>
            <c:showPercent val="0"/>
            <c:showBubbleSize val="0"/>
            <c:showLeaderLines val="0"/>
          </c:dLbls>
          <c:marker>
            <c:symbol val="circle"/>
            <c:size val="6"/>
            <c:spPr>
              <a:solidFill>
                <a:srgbClr val="C1666B"/>
              </a:solidFill>
              <a:ln w="9525" cap="flat">
                <a:solidFill>
                  <a:srgbClr val="C1666B"/>
                </a:solidFill>
                <a:prstDash val="solid"/>
                <a:round/>
              </a:ln>
              <a:effectLst/>
            </c:spPr>
          </c:marker>
          <c:cat>
            <c:multiLvlStrRef>
              <c:f>Sheet1!$A$2:$A$13</c:f>
              <c:multiLvlStrCache>
                <c:ptCount val="12"/>
                <c:lvl>
                  <c:pt idx="0">
                    <c:v>1%</c:v>
                  </c:pt>
                  <c:pt idx="1">
                    <c:v>2%</c:v>
                  </c:pt>
                  <c:pt idx="2">
                    <c:v>3%</c:v>
                  </c:pt>
                  <c:pt idx="3">
                    <c:v>5%</c:v>
                  </c:pt>
                  <c:pt idx="4">
                    <c:v>7.5%</c:v>
                  </c:pt>
                  <c:pt idx="5">
                    <c:v>10%</c:v>
                  </c:pt>
                  <c:pt idx="6">
                    <c:v>15%</c:v>
                  </c:pt>
                  <c:pt idx="7">
                    <c:v>20%</c:v>
                  </c:pt>
                  <c:pt idx="8">
                    <c:v>25%</c:v>
                  </c:pt>
                  <c:pt idx="9">
                    <c:v>30%</c:v>
                  </c:pt>
                  <c:pt idx="10">
                    <c:v>40%</c:v>
                  </c:pt>
                  <c:pt idx="11">
                    <c:v>50%</c:v>
                  </c:pt>
                </c:lvl>
              </c:multiLvlStrCache>
            </c:multiLvlStrRef>
          </c:cat>
          <c:val>
            <c:numRef>
              <c:f>Sheet1!$C$2:$C$13</c:f>
              <c:numCache>
                <c:formatCode>General</c:formatCode>
                <c:ptCount val="12"/>
                <c:pt idx="0">
                  <c:v>0.064</c:v>
                </c:pt>
                <c:pt idx="1">
                  <c:v>0.127</c:v>
                </c:pt>
                <c:pt idx="2">
                  <c:v>0.191</c:v>
                </c:pt>
                <c:pt idx="3">
                  <c:v>0.307</c:v>
                </c:pt>
                <c:pt idx="4">
                  <c:v>0.394</c:v>
                </c:pt>
                <c:pt idx="5">
                  <c:v>0.431</c:v>
                </c:pt>
                <c:pt idx="6">
                  <c:v>0.502</c:v>
                </c:pt>
                <c:pt idx="7">
                  <c:v>0.544</c:v>
                </c:pt>
                <c:pt idx="8">
                  <c:v>0.597</c:v>
                </c:pt>
                <c:pt idx="9">
                  <c:v>0.641</c:v>
                </c:pt>
                <c:pt idx="10">
                  <c:v>0.709</c:v>
                </c:pt>
                <c:pt idx="11">
                  <c:v>0.767</c:v>
                </c:pt>
              </c:numCache>
            </c:numRef>
          </c:val>
          <c:smooth val="0"/>
        </c:ser>
        <c:dLbls>
          <c:numFmt formatCode="#,##0" sourceLinked="0"/>
          <c:txPr>
            <a:bodyPr/>
            <a:lstStyle/>
            <a:p>
              <a:pPr>
                <a:defRPr b="0" i="0" strike="noStrike" sz="1000" u="none">
                  <a:solidFill>
                    <a:srgbClr val="1B27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1707D"/>
                    </a:solidFill>
                    <a:latin typeface="+mn-lt"/>
                  </a:defRPr>
                </a:pPr>
                <a:r>
                  <a:rPr sz="1000" b="0" i="0" u="none" strike="noStrike">
                    <a:solidFill>
                      <a:srgbClr val="61707D"/>
                    </a:solidFill>
                    <a:latin typeface="+mn-lt"/>
                  </a:rPr>
                  <a:t>capacity K, % of the day's deliveries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1707D"/>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E3E8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1707D"/>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61707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Good evening. We are Group 10. Our project asks two questions of the Olist marketplace data, at two different moments in an order's life, and turns the answers into decisions that two teams can act on — and we have deployed the result as a live application that you can open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[0:20–1:05] The data is Olist, a Brazilian marketplace: 99,441 orders in nine relational tables. One finding from our exploratory phase stood above everything else. If a parcel arrives on time, about nine per cent of customers leave a one- or two-star review. If it arrives late, fifty-four per cent do. That is a six-fold increase, and it grows with every day of delay. So we framed two problems at two moments. At checkout, before anything ships: how long will this take and will it miss the promised date — that is for operations. At delivery, before the review is written: will this customer leave a bad review — that is for customer experience. They form one chain: the order flagged at checkout is the one that arrives late, and the one that arrives late is the one worth calling.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[1:05–2:00] Nine tables, one row per order. Two things in this dataset bite anyone who is not careful. Three tables are one-to-many against orders, so a naive join inflates the data by nineteen per cent and quietly reweights every average. And customer_id is regenerated per order — it is not a person. We split the data by time, with each period doing exactly one job: fit on the past, choose and calibrate on a two-month validation window, and score the July–August 2018 test window once, for models already chosen. And we define leakage per prediction moment: delivery dates are forbidden at checkout and allowed at delivery. One forbidden column takes ROC-AUC from 0.59 to a perfect 1.0 — so the guard is an assertion that runs before any model is fitted.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[2:00–2:55] Three facts shaped everything. First, drift: Olist got much faster during the window — mean lead time fell from seventeen days to under eight. A model trained on the slower past is off-level on the present, so R-squared goes negative even for a useful model, we lead with mean absolute error, and we plan for monthly refits. Second, lateness does not trend, it spikes — from one per cent to twenty-one per cent month to month. Our Phase 1 report blamed the May 2018 truckers' strike; the evaluators asked us to look again, and the real peak is a February–March carrier slowdown that coincided with Olist tightening its promise. Third, the strike is real but only visible at weekly resolution, because Olist responded by stretching the promised window to thirty-seven days. None of these shocks is a property of an order, which puts a ceiling on any late classifier — and we said so before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[2:55–3:50] The brief allows two or three model families; we use three, and we run each as a ladder, starting from the simplest variant. Plain least squares before Ridge; one tree before a forest before gradient boosting; and an ensemble built only from the winners of the first two. That way 'the complexity was worth it' is a finding, not an assumption. Three design rules. Time is respected: hyperparameters are tuned with expanding-window cross-validation. Models are selected by rank across the three most recent out-of-sample windows, because the windows differ in difficulty far more than the models do. And the metrics match the action: PR-AUC against its no-skill floor to choose a model, precision at K for what a team's day actually looks like, and calibrated probabilities for the cost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[3:50–4:50] Problem 1, the regression. The deployed model is a voting blend of a linear model and gradient-boosted trees, with mean absolute error of three point nine days — forty-one per cent better than a constant, and sixty per cent better than the date Olist itself shows the customer, because a promise is a commercial decision, padded, not a forecast. Inside the tree family every rung paid off; inside the linear family it did not — Ridge is worse than plain least squares, and we say so. The blend wins for a specific reason: trees cannot extrapolate a falling level, the linear member can, and averaging covers that exact failure. For the late flag we did not need a second model at all: comparing the regression's forecast with the promised date gives two point nine times the no-skill floor, against one point two for the best classifier trained directly on the binary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[4:50–5:55] Problem 2, the review model. ROC-AUC of 0.75 and PR-AUC of 0.41 — three and three-quarter times the no-skill floor, on a target where always predicting 'satisfied' scores eighty-nine per cent accuracy and catches nothing. It scores the same on customers it has never seen. The Phase 2 evaluators asked us to show the fold-to-fold variation, and it is instructive: the spread across folds is about plus or minus 0.09, while the best three tree models are within a thousandth of each other. Cross-validation cannot separate them — which is exactly why we rank within windows. What is deployed is the stacking classifier that our pre-registered rule chose; the single boosted model is a tie, and we say so in one place, consistently, with a test that checks it. And the ablation we promised in Phase 1: weighting the loss for imbalance buys no discrimination and triples every predicted risk, so we move the threshold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[5:55–6:50] PR-AUC is the right number for choosing a model, but nobody acts on a whole ranking. A customer-experience team contacts the K riskiest deliveries it can reach in a day, so the number that describes its day is the precision of that top K. At five per cent of deliveries — about ten contacts a day — two in three contacts reach a customer who really would have left a one- or two-star review, covering thirty-one per cent of them. Under an illustrative five-reais contact and forty-reais review, break-even precision is 0.125, and the list clears it at every capacity we tried: the constraint is the team's capacity, not the model's threshold. The late flag tells the opposite story: it never reaches the 0.30 that a twelve-reais expedite would need. A genuinely informative model that is still not worth paying to act on — so operations gets the free levers, not the expensive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[6:50–7:45] Everything is deployed. The application serves all three models: enter one order as it would look at checkout and you get the expected lead time, the risk of missing the promise against the tuned threshold, and the review risk. Upload a CSV and you get the same three predictions for every row, plus the triage list: enter your team's capacity and the top-K are marked, with the precision that capacity achieved on the held-out window shown beside them. Nothing in the app reimplements the feature engineering — a form submission runs through exactly the same code the models were trained on, which is the most common way a deployed model quietly stops matching its reported metrics. [Live demo if time allows: Predict tab, change the promised date, watch the late risk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[7:45–8:25] New in this phase is Replay a day. Because the data ends in 2018, the app predicts on held-out historical orders that stand in for new ones — so we made that literal. Pick any day in the July–August test window, pick a capacity, and the app ranks that day's orders exactly as the team would work them. Then flip the toggle and it reveals what actually happened. On the sixteenth of July, eight of the ten riskiest orders really did leave a one- or two-star review. The model card states exactly what is deployed, read from the artifacts themselves, with every hyperparameter, the fold-to-fold table, and where the models should not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[8:25–9:25] What should each team do? Operations should re-quote every promise with the model's estimate and pre-warn buyers above an eleven per cent late risk — both nearly free, and the warning reaches five in six of the orders that will actually miss. It should not expedite on the flag; the precision is never there. Customer experience should work each day's deliveries from the top of the risk list to its capacity. Under our stated costs that policy is worth about fourteen hundred reais per thousand orders. But that figure rests on one assumption the data cannot test: that a call prevents the review. So our final recommendation is an experiment, not a rollout: randomise inside the daily top-K, contact half, leave half. The control rate is already known — fifty-seven per cent — break-even needs one averted review in five, and six weeks at ten contacts a day is enough to detect a one-in-four effect. The model card has the calculator.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[9:25–9:50] The limitations were stated before the numbers were. The models are fitted on a moving target, so they need monthly refits. The biggest driver of lateness is shocks no order can see. The benefit of outreach is assumed until the pilot runs. And a rating is not satisfaction. Four method lessons travel further: select by rank on recent windows, because cross-validation under drift reorders models and its spread swamps the differences; move the threshold rather than weight the loss; compare PR-AUC by its lift over the floor, not raw; and value the negative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[9:50–10:00] Thank you. The app is live at the link, the repository holds every notebook, the tests and the final report, and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7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457200" y="6446520"/>
            <a:ext cx="8686800" cy="274320"/>
          </a:xfrm>
          <a:prstGeom prst="rect">
            <a:avLst/>
          </a:prstGeom>
          <a:noFill/>
          <a:ln/>
        </p:spPr>
        <p:txBody>
          <a:bodyPr wrap="square" lIns="0" tIns="0" rIns="0" bIns="0" rtlCol="0" anchor="ctr"/>
          <a:lstStyle/>
          <a:p>
            <a:pPr indent="0" marL="0">
              <a:buNone/>
            </a:pPr>
            <a:r>
              <a:rPr lang="en-US" sz="1000" dirty="0">
                <a:solidFill>
                  <a:srgbClr val="61707D"/>
                </a:solidFill>
              </a:rPr>
              <a:t>IT5006 · Group 10 · Predicting delivery performance and satisfaction risk · Olist 2017–2018</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https://team10-it5006-olist.streamlit.app" TargetMode="External"/><Relationship Id="rId5" Type="http://schemas.openxmlformats.org/officeDocument/2006/relationships/hyperlink" Target="https://github.com/gengyuzccc-cell/Team10_IT5006_Ecommerce_Analytics_AY2627Sem1"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team10-it5006-olist.streamlit.app" TargetMode="External"/><Relationship Id="rId4" Type="http://schemas.openxmlformats.org/officeDocument/2006/relationships/hyperlink" Target="https://github.com/gengyuzccc-cell/Team10_IT5006_Ecommerce_Analytics_AY2627Sem1" TargetMode="External"/><Relationship Id="rId1" Type="http://schemas.openxmlformats.org/officeDocument/2006/relationships/image" Target="../media/image-13-1.png"/><Relationship Id="rId3" Type="http://schemas.openxmlformats.org/officeDocument/2006/relationships/image" Target="../media/image-13-2.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640080"/>
            <a:ext cx="10515600" cy="320040"/>
          </a:xfrm>
          <a:prstGeom prst="rect">
            <a:avLst/>
          </a:prstGeom>
          <a:noFill/>
          <a:ln/>
        </p:spPr>
        <p:txBody>
          <a:bodyPr wrap="square" lIns="0" tIns="0" rIns="0" bIns="0" rtlCol="0" anchor="ctr"/>
          <a:lstStyle/>
          <a:p>
            <a:pPr indent="0" marL="0">
              <a:buNone/>
            </a:pPr>
            <a:r>
              <a:rPr lang="en-US" sz="1200" b="1" spc="200" kern="0" dirty="0">
                <a:solidFill>
                  <a:srgbClr val="DCE6EF"/>
                </a:solidFill>
              </a:rPr>
              <a:t>IT5006 FUNDAMENTALS OF DATA ANALYTICS  ·  GROUP 10  ·  FINAL PRESENTATION</a:t>
            </a:r>
            <a:endParaRPr lang="en-US" sz="1200" dirty="0"/>
          </a:p>
        </p:txBody>
      </p:sp>
      <p:sp>
        <p:nvSpPr>
          <p:cNvPr id="3" name="title"/>
          <p:cNvSpPr txBox="1"/>
          <p:nvPr/>
        </p:nvSpPr>
        <p:spPr>
          <a:xfrm>
            <a:off x="731520" y="1463040"/>
            <a:ext cx="10515600" cy="1828800"/>
          </a:xfrm>
          <a:prstGeom prst="rect">
            <a:avLst/>
          </a:prstGeom>
          <a:noFill/>
          <a:ln/>
        </p:spPr>
        <p:txBody>
          <a:bodyPr wrap="square" lIns="0" tIns="0" rIns="0" bIns="0" rtlCol="0" anchor="ctr"/>
          <a:lstStyle/>
          <a:p>
            <a:pPr indent="0" marL="0">
              <a:buNone/>
            </a:pPr>
            <a:r>
              <a:rPr lang="en-US" sz="4400" b="1" dirty="0">
                <a:solidFill>
                  <a:srgbClr val="FFFFFF"/>
                </a:solidFill>
              </a:rPr>
              <a:t>Predicting delivery performance</a:t>
            </a:r>
            <a:endParaRPr lang="en-US" sz="4400" dirty="0"/>
          </a:p>
          <a:p>
            <a:pPr indent="0" marL="0">
              <a:buNone/>
            </a:pPr>
            <a:r>
              <a:rPr lang="en-US" sz="4400" b="1" dirty="0">
                <a:solidFill>
                  <a:srgbClr val="FFFFFF"/>
                </a:solidFill>
              </a:rPr>
              <a:t>and satisfaction risk</a:t>
            </a:r>
            <a:endParaRPr lang="en-US" sz="4400" dirty="0"/>
          </a:p>
        </p:txBody>
      </p:sp>
      <p:sp>
        <p:nvSpPr>
          <p:cNvPr id="4" name="subtitle"/>
          <p:cNvSpPr txBox="1"/>
          <p:nvPr/>
        </p:nvSpPr>
        <p:spPr>
          <a:xfrm>
            <a:off x="731520" y="3429000"/>
            <a:ext cx="9601200" cy="548640"/>
          </a:xfrm>
          <a:prstGeom prst="rect">
            <a:avLst/>
          </a:prstGeom>
          <a:noFill/>
          <a:ln/>
        </p:spPr>
        <p:txBody>
          <a:bodyPr wrap="square" lIns="0" tIns="0" rIns="0" bIns="0" rtlCol="0" anchor="ctr"/>
          <a:lstStyle/>
          <a:p>
            <a:pPr indent="0" marL="0">
              <a:buNone/>
            </a:pPr>
            <a:r>
              <a:rPr lang="en-US" sz="1800" dirty="0">
                <a:solidFill>
                  <a:srgbClr val="DCE6EF"/>
                </a:solidFill>
              </a:rPr>
              <a:t>Two prediction moments on the Olist Brazilian marketplace — from nine tables to a deployed application</a:t>
            </a:r>
            <a:endParaRPr lang="en-US" sz="1800" dirty="0"/>
          </a:p>
        </p:txBody>
      </p:sp>
      <p:sp>
        <p:nvSpPr>
          <p:cNvPr id="5" name="icon checkout circle"/>
          <p:cNvSpPr/>
          <p:nvPr/>
        </p:nvSpPr>
        <p:spPr>
          <a:xfrm>
            <a:off x="731520" y="4343400"/>
            <a:ext cx="566928" cy="566928"/>
          </a:xfrm>
          <a:prstGeom prst="ellipse">
            <a:avLst/>
          </a:prstGeom>
          <a:solidFill>
            <a:srgbClr val="243447"/>
          </a:solidFill>
          <a:ln w="12700">
            <a:solidFill>
              <a:srgbClr val="243447"/>
            </a:solidFill>
            <a:prstDash val="solid"/>
          </a:ln>
        </p:spPr>
      </p:sp>
      <p:pic>
        <p:nvPicPr>
          <p:cNvPr id="6" name="icon checkout" descr="preencoded.png">    </p:cNvPr>
          <p:cNvPicPr>
            <a:picLocks noChangeAspect="1"/>
          </p:cNvPicPr>
          <p:nvPr/>
        </p:nvPicPr>
        <p:blipFill>
          <a:blip r:embed="rId1"/>
          <a:stretch>
            <a:fillRect/>
          </a:stretch>
        </p:blipFill>
        <p:spPr>
          <a:xfrm>
            <a:off x="878921" y="4490801"/>
            <a:ext cx="272125" cy="272125"/>
          </a:xfrm>
          <a:prstGeom prst="rect">
            <a:avLst/>
          </a:prstGeom>
        </p:spPr>
      </p:pic>
      <p:sp>
        <p:nvSpPr>
          <p:cNvPr id="7" name="icon truck circle"/>
          <p:cNvSpPr/>
          <p:nvPr/>
        </p:nvSpPr>
        <p:spPr>
          <a:xfrm>
            <a:off x="1463040" y="4343400"/>
            <a:ext cx="566928" cy="566928"/>
          </a:xfrm>
          <a:prstGeom prst="ellipse">
            <a:avLst/>
          </a:prstGeom>
          <a:solidFill>
            <a:srgbClr val="243447"/>
          </a:solidFill>
          <a:ln w="12700">
            <a:solidFill>
              <a:srgbClr val="243447"/>
            </a:solidFill>
            <a:prstDash val="solid"/>
          </a:ln>
        </p:spPr>
      </p:sp>
      <p:pic>
        <p:nvPicPr>
          <p:cNvPr id="8" name="icon truck" descr="preencoded.png">    </p:cNvPr>
          <p:cNvPicPr>
            <a:picLocks noChangeAspect="1"/>
          </p:cNvPicPr>
          <p:nvPr/>
        </p:nvPicPr>
        <p:blipFill>
          <a:blip r:embed="rId2"/>
          <a:stretch>
            <a:fillRect/>
          </a:stretch>
        </p:blipFill>
        <p:spPr>
          <a:xfrm>
            <a:off x="1610441" y="4490801"/>
            <a:ext cx="272125" cy="272125"/>
          </a:xfrm>
          <a:prstGeom prst="rect">
            <a:avLst/>
          </a:prstGeom>
        </p:spPr>
      </p:pic>
      <p:sp>
        <p:nvSpPr>
          <p:cNvPr id="9" name="icon star circle"/>
          <p:cNvSpPr/>
          <p:nvPr/>
        </p:nvSpPr>
        <p:spPr>
          <a:xfrm>
            <a:off x="2194560" y="4343400"/>
            <a:ext cx="566928" cy="566928"/>
          </a:xfrm>
          <a:prstGeom prst="ellipse">
            <a:avLst/>
          </a:prstGeom>
          <a:solidFill>
            <a:srgbClr val="243447"/>
          </a:solidFill>
          <a:ln w="12700">
            <a:solidFill>
              <a:srgbClr val="243447"/>
            </a:solidFill>
            <a:prstDash val="solid"/>
          </a:ln>
        </p:spPr>
      </p:sp>
      <p:pic>
        <p:nvPicPr>
          <p:cNvPr id="10" name="icon star" descr="preencoded.png">    </p:cNvPr>
          <p:cNvPicPr>
            <a:picLocks noChangeAspect="1"/>
          </p:cNvPicPr>
          <p:nvPr/>
        </p:nvPicPr>
        <p:blipFill>
          <a:blip r:embed="rId3"/>
          <a:stretch>
            <a:fillRect/>
          </a:stretch>
        </p:blipFill>
        <p:spPr>
          <a:xfrm>
            <a:off x="2341961" y="4490801"/>
            <a:ext cx="272125" cy="272125"/>
          </a:xfrm>
          <a:prstGeom prst="rect">
            <a:avLst/>
          </a:prstGeom>
        </p:spPr>
      </p:pic>
      <p:sp>
        <p:nvSpPr>
          <p:cNvPr id="11" name="team"/>
          <p:cNvSpPr txBox="1"/>
          <p:nvPr/>
        </p:nvSpPr>
        <p:spPr>
          <a:xfrm>
            <a:off x="731520" y="5120640"/>
            <a:ext cx="7315200" cy="365760"/>
          </a:xfrm>
          <a:prstGeom prst="rect">
            <a:avLst/>
          </a:prstGeom>
          <a:noFill/>
          <a:ln/>
        </p:spPr>
        <p:txBody>
          <a:bodyPr wrap="square" lIns="0" tIns="0" rIns="0" bIns="0" rtlCol="0" anchor="ctr"/>
          <a:lstStyle/>
          <a:p>
            <a:pPr indent="0" marL="0">
              <a:buNone/>
            </a:pPr>
            <a:r>
              <a:rPr lang="en-US" sz="1600" b="1" dirty="0">
                <a:solidFill>
                  <a:srgbClr val="FFFFFF"/>
                </a:solidFill>
              </a:rPr>
              <a:t>Pan Pinyou  ·  Li Yudan  ·  Zhu Gengyu</a:t>
            </a:r>
            <a:endParaRPr lang="en-US" sz="1600" dirty="0"/>
          </a:p>
        </p:txBody>
      </p:sp>
      <p:sp>
        <p:nvSpPr>
          <p:cNvPr id="12" name="affiliation"/>
          <p:cNvSpPr txBox="1"/>
          <p:nvPr/>
        </p:nvSpPr>
        <p:spPr>
          <a:xfrm>
            <a:off x="731520" y="5486400"/>
            <a:ext cx="7315200" cy="320040"/>
          </a:xfrm>
          <a:prstGeom prst="rect">
            <a:avLst/>
          </a:prstGeom>
          <a:noFill/>
          <a:ln/>
        </p:spPr>
        <p:txBody>
          <a:bodyPr wrap="square" lIns="0" tIns="0" rIns="0" bIns="0" rtlCol="0" anchor="ctr"/>
          <a:lstStyle/>
          <a:p>
            <a:pPr indent="0" marL="0">
              <a:buNone/>
            </a:pPr>
            <a:r>
              <a:rPr lang="en-US" sz="1300" dirty="0">
                <a:solidFill>
                  <a:srgbClr val="DCE6EF"/>
                </a:solidFill>
              </a:rPr>
              <a:t>National University of Singapore  ·  November 2026</a:t>
            </a:r>
            <a:endParaRPr lang="en-US" sz="1300" dirty="0"/>
          </a:p>
        </p:txBody>
      </p:sp>
      <p:sp>
        <p:nvSpPr>
          <p:cNvPr id="13" name="links"/>
          <p:cNvSpPr txBox="1"/>
          <p:nvPr/>
        </p:nvSpPr>
        <p:spPr>
          <a:xfrm>
            <a:off x="731520" y="5989320"/>
            <a:ext cx="10972800" cy="320040"/>
          </a:xfrm>
          <a:prstGeom prst="rect">
            <a:avLst/>
          </a:prstGeom>
          <a:noFill/>
          <a:ln/>
        </p:spPr>
        <p:txBody>
          <a:bodyPr wrap="square" lIns="0" tIns="0" rIns="0" bIns="0" rtlCol="0" anchor="ctr"/>
          <a:lstStyle/>
          <a:p>
            <a:pPr indent="0" marL="0">
              <a:buNone/>
            </a:pPr>
            <a:r>
              <a:rPr lang="en-US" sz="1150" dirty="0">
                <a:solidFill>
                  <a:srgbClr val="DCE6EF"/>
                </a:solidFill>
              </a:rPr>
              <a:t>Live app  </a:t>
            </a:r>
            <a:pPr indent="0" marL="0">
              <a:buNone/>
            </a:pPr>
            <a:r>
              <a:rPr lang="en-US" sz="1150" b="1" u="sng" dirty="0">
                <a:solidFill>
                  <a:srgbClr val="FFFFFF"/>
                </a:solidFill>
                <a:hlinkClick r:id="rId4" invalidUrl="" action="" tgtFrame="" tooltip="" history="1" highlightClick="0" endSnd="0">
                  <a:extLst>
                    <a:ext uri="{A12FA001-AC4F-418D-AE19-62706E023703}">
                      <ahyp:hlinkClr xmlns:ahyp="http://schemas.microsoft.com/office/drawing/2018/hyperlinkcolor" val="tx"/>
                    </a:ext>
                  </a:extLst>
                </a:hlinkClick>
              </a:rPr>
              <a:t>team10-it5006-olist.streamlit.app</a:t>
            </a:r>
            <a:pPr indent="0" marL="0">
              <a:buNone/>
            </a:pPr>
            <a:r>
              <a:rPr lang="en-US" sz="1150" dirty="0">
                <a:solidFill>
                  <a:srgbClr val="DCE6EF"/>
                </a:solidFill>
              </a:rPr>
              <a:t>      Code  </a:t>
            </a:r>
            <a:pPr indent="0" marL="0">
              <a:buNone/>
            </a:pPr>
            <a:r>
              <a:rPr lang="en-US" sz="1150" b="1" u="sng" dirty="0">
                <a:solidFill>
                  <a:srgbClr val="FFFFFF"/>
                </a:solidFill>
                <a:hlinkClick r:id="rId5" invalidUrl="" action="" tgtFrame="" tooltip="" history="1" highlightClick="0" endSnd="0">
                  <a:extLst>
                    <a:ext uri="{A12FA001-AC4F-418D-AE19-62706E023703}">
                      <ahyp:hlinkClr xmlns:ahyp="http://schemas.microsoft.com/office/drawing/2018/hyperlinkcolor" val="tx"/>
                    </a:ext>
                  </a:extLst>
                </a:hlinkClick>
              </a:rPr>
              <a:t>github.com/gengyuzccc-cell/Team10_IT5006_Ecommerce_Analytics_AY2627Sem1</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000" b="1" dirty="0">
                <a:solidFill>
                  <a:srgbClr val="1B2733"/>
                </a:solidFill>
              </a:rPr>
              <a:t>One number drove the whole project</a:t>
            </a:r>
            <a:endParaRPr lang="en-US" sz="3000" dirty="0"/>
          </a:p>
        </p:txBody>
      </p:sp>
      <p:sp>
        <p:nvSpPr>
          <p:cNvPr id="3" name="subtitle"/>
          <p:cNvSpPr txBox="1"/>
          <p:nvPr/>
        </p:nvSpPr>
        <p:spPr>
          <a:xfrm>
            <a:off x="548640" y="1097280"/>
            <a:ext cx="11091672" cy="411480"/>
          </a:xfrm>
          <a:prstGeom prst="rect">
            <a:avLst/>
          </a:prstGeom>
          <a:noFill/>
          <a:ln/>
        </p:spPr>
        <p:txBody>
          <a:bodyPr wrap="square" lIns="0" tIns="0" rIns="0" bIns="0" rtlCol="0" anchor="ctr"/>
          <a:lstStyle/>
          <a:p>
            <a:pPr indent="0" marL="0">
              <a:buNone/>
            </a:pPr>
            <a:r>
              <a:rPr lang="en-US" sz="1500" dirty="0">
                <a:solidFill>
                  <a:srgbClr val="61707D"/>
                </a:solidFill>
              </a:rPr>
              <a:t>A late delivery is the strongest single driver of a bad review in 99,091 Olist orders (2017–2018)</a:t>
            </a:r>
            <a:endParaRPr lang="en-US" sz="1500" dirty="0"/>
          </a:p>
        </p:txBody>
      </p:sp>
      <p:sp>
        <p:nvSpPr>
          <p:cNvPr id="4" name="stat card"/>
          <p:cNvSpPr/>
          <p:nvPr/>
        </p:nvSpPr>
        <p:spPr>
          <a:xfrm>
            <a:off x="548640" y="1737360"/>
            <a:ext cx="4206240" cy="4297680"/>
          </a:xfrm>
          <a:prstGeom prst="roundRect">
            <a:avLst>
              <a:gd name="adj" fmla="val 2609"/>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5" name="stat label"/>
          <p:cNvSpPr txBox="1"/>
          <p:nvPr/>
        </p:nvSpPr>
        <p:spPr>
          <a:xfrm>
            <a:off x="822960" y="1920240"/>
            <a:ext cx="3657600" cy="274320"/>
          </a:xfrm>
          <a:prstGeom prst="rect">
            <a:avLst/>
          </a:prstGeom>
          <a:noFill/>
          <a:ln/>
        </p:spPr>
        <p:txBody>
          <a:bodyPr wrap="square" lIns="0" tIns="0" rIns="0" bIns="0" rtlCol="0" anchor="ctr"/>
          <a:lstStyle/>
          <a:p>
            <a:pPr indent="0" marL="0">
              <a:buNone/>
            </a:pPr>
            <a:r>
              <a:rPr lang="en-US" sz="1050" b="1" spc="100" kern="0" dirty="0">
                <a:solidFill>
                  <a:srgbClr val="61707D"/>
                </a:solidFill>
              </a:rPr>
              <a:t>1–2 STAR REVIEW RATE</a:t>
            </a:r>
            <a:endParaRPr lang="en-US" sz="1050" dirty="0"/>
          </a:p>
        </p:txBody>
      </p:sp>
      <p:sp>
        <p:nvSpPr>
          <p:cNvPr id="6" name="stat ontime"/>
          <p:cNvSpPr txBox="1"/>
          <p:nvPr/>
        </p:nvSpPr>
        <p:spPr>
          <a:xfrm>
            <a:off x="822960" y="2240280"/>
            <a:ext cx="1828800" cy="822960"/>
          </a:xfrm>
          <a:prstGeom prst="rect">
            <a:avLst/>
          </a:prstGeom>
          <a:noFill/>
          <a:ln/>
        </p:spPr>
        <p:txBody>
          <a:bodyPr wrap="square" lIns="0" tIns="0" rIns="0" bIns="0" rtlCol="0" anchor="ctr"/>
          <a:lstStyle/>
          <a:p>
            <a:pPr indent="0" marL="0">
              <a:buNone/>
            </a:pPr>
            <a:r>
              <a:rPr lang="en-US" sz="4000" b="1" dirty="0">
                <a:solidFill>
                  <a:srgbClr val="2F6F9F"/>
                </a:solidFill>
              </a:rPr>
              <a:t>9.2%</a:t>
            </a:r>
            <a:endParaRPr lang="en-US" sz="4000" dirty="0"/>
          </a:p>
        </p:txBody>
      </p:sp>
      <p:sp>
        <p:nvSpPr>
          <p:cNvPr id="7" name="stat ontime label"/>
          <p:cNvSpPr txBox="1"/>
          <p:nvPr/>
        </p:nvSpPr>
        <p:spPr>
          <a:xfrm>
            <a:off x="822960" y="3017520"/>
            <a:ext cx="1828800" cy="274320"/>
          </a:xfrm>
          <a:prstGeom prst="rect">
            <a:avLst/>
          </a:prstGeom>
          <a:noFill/>
          <a:ln/>
        </p:spPr>
        <p:txBody>
          <a:bodyPr wrap="square" lIns="0" tIns="0" rIns="0" bIns="0" rtlCol="0" anchor="ctr"/>
          <a:lstStyle/>
          <a:p>
            <a:pPr indent="0" marL="0">
              <a:buNone/>
            </a:pPr>
            <a:r>
              <a:rPr lang="en-US" sz="1200" dirty="0">
                <a:solidFill>
                  <a:srgbClr val="61707D"/>
                </a:solidFill>
              </a:rPr>
              <a:t>on time</a:t>
            </a:r>
            <a:endParaRPr lang="en-US" sz="1200" dirty="0"/>
          </a:p>
        </p:txBody>
      </p:sp>
      <p:sp>
        <p:nvSpPr>
          <p:cNvPr id="8" name="stat late"/>
          <p:cNvSpPr txBox="1"/>
          <p:nvPr/>
        </p:nvSpPr>
        <p:spPr>
          <a:xfrm>
            <a:off x="2697480" y="2240280"/>
            <a:ext cx="2011680" cy="822960"/>
          </a:xfrm>
          <a:prstGeom prst="rect">
            <a:avLst/>
          </a:prstGeom>
          <a:noFill/>
          <a:ln/>
        </p:spPr>
        <p:txBody>
          <a:bodyPr wrap="square" lIns="0" tIns="0" rIns="0" bIns="0" rtlCol="0" anchor="ctr"/>
          <a:lstStyle/>
          <a:p>
            <a:pPr indent="0" marL="0">
              <a:buNone/>
            </a:pPr>
            <a:r>
              <a:rPr lang="en-US" sz="4000" b="1" dirty="0">
                <a:solidFill>
                  <a:srgbClr val="C1666B"/>
                </a:solidFill>
              </a:rPr>
              <a:t>54.0%</a:t>
            </a:r>
            <a:endParaRPr lang="en-US" sz="4000" dirty="0"/>
          </a:p>
        </p:txBody>
      </p:sp>
      <p:sp>
        <p:nvSpPr>
          <p:cNvPr id="9" name="stat late label"/>
          <p:cNvSpPr txBox="1"/>
          <p:nvPr/>
        </p:nvSpPr>
        <p:spPr>
          <a:xfrm>
            <a:off x="2697480" y="3017520"/>
            <a:ext cx="2011680" cy="274320"/>
          </a:xfrm>
          <a:prstGeom prst="rect">
            <a:avLst/>
          </a:prstGeom>
          <a:noFill/>
          <a:ln/>
        </p:spPr>
        <p:txBody>
          <a:bodyPr wrap="square" lIns="0" tIns="0" rIns="0" bIns="0" rtlCol="0" anchor="ctr"/>
          <a:lstStyle/>
          <a:p>
            <a:pPr indent="0" marL="0">
              <a:buNone/>
            </a:pPr>
            <a:r>
              <a:rPr lang="en-US" sz="1200" dirty="0">
                <a:solidFill>
                  <a:srgbClr val="61707D"/>
                </a:solidFill>
              </a:rPr>
              <a:t>delivered late</a:t>
            </a:r>
            <a:endParaRPr lang="en-US" sz="1200" dirty="0"/>
          </a:p>
        </p:txBody>
      </p:sp>
      <p:sp>
        <p:nvSpPr>
          <p:cNvPr id="10" name="stat text"/>
          <p:cNvSpPr txBox="1"/>
          <p:nvPr/>
        </p:nvSpPr>
        <p:spPr>
          <a:xfrm>
            <a:off x="822960" y="3520440"/>
            <a:ext cx="3657600" cy="1463040"/>
          </a:xfrm>
          <a:prstGeom prst="rect">
            <a:avLst/>
          </a:prstGeom>
          <a:noFill/>
          <a:ln/>
        </p:spPr>
        <p:txBody>
          <a:bodyPr wrap="square" lIns="0" tIns="0" rIns="0" bIns="0" rtlCol="0" anchor="t"/>
          <a:lstStyle/>
          <a:p>
            <a:pPr indent="0" marL="0">
              <a:buNone/>
            </a:pPr>
            <a:r>
              <a:rPr lang="en-US" sz="1250" dirty="0">
                <a:solidFill>
                  <a:srgbClr val="1B2733"/>
                </a:solidFill>
              </a:rPr>
              <a:t>5.9× more likely, and monotone in how late the parcel is. Review score correlates −0.33 with lead time and ~0 with price or basket size: the delivery, not the purchase, drives the rating.</a:t>
            </a:r>
            <a:endParaRPr lang="en-US" sz="1250" dirty="0"/>
          </a:p>
        </p:txBody>
      </p:sp>
      <p:sp>
        <p:nvSpPr>
          <p:cNvPr id="11" name="stat footnote"/>
          <p:cNvSpPr txBox="1"/>
          <p:nvPr/>
        </p:nvSpPr>
        <p:spPr>
          <a:xfrm>
            <a:off x="822960" y="4846320"/>
            <a:ext cx="3657600" cy="1005840"/>
          </a:xfrm>
          <a:prstGeom prst="rect">
            <a:avLst/>
          </a:prstGeom>
          <a:noFill/>
          <a:ln/>
        </p:spPr>
        <p:txBody>
          <a:bodyPr wrap="square" lIns="0" tIns="0" rIns="0" bIns="0" rtlCol="0" anchor="ctr"/>
          <a:lstStyle/>
          <a:p>
            <a:pPr indent="0" marL="0">
              <a:buNone/>
            </a:pPr>
            <a:r>
              <a:rPr lang="en-US" sz="1100" i="1" dirty="0">
                <a:solidFill>
                  <a:srgbClr val="61707D"/>
                </a:solidFill>
              </a:rPr>
              <a:t>77% of reviews are 4–5 stars; the minority is what we predict. Lead time itself halves across the window, so every model also has to survive drift.</a:t>
            </a:r>
            <a:endParaRPr lang="en-US" sz="1100" dirty="0"/>
          </a:p>
        </p:txBody>
      </p:sp>
      <p:sp>
        <p:nvSpPr>
          <p:cNvPr id="12" name="timeline"/>
          <p:cNvSpPr/>
          <p:nvPr/>
        </p:nvSpPr>
        <p:spPr>
          <a:xfrm>
            <a:off x="5577840" y="3072384"/>
            <a:ext cx="5760720" cy="0"/>
          </a:xfrm>
          <a:prstGeom prst="line">
            <a:avLst/>
          </a:prstGeom>
          <a:noFill/>
          <a:ln w="38100">
            <a:solidFill>
              <a:srgbClr val="DCE6EF"/>
            </a:solidFill>
            <a:prstDash val="solid"/>
          </a:ln>
        </p:spPr>
      </p:sp>
      <p:sp>
        <p:nvSpPr>
          <p:cNvPr id="13" name="stop Checkout circle"/>
          <p:cNvSpPr/>
          <p:nvPr/>
        </p:nvSpPr>
        <p:spPr>
          <a:xfrm>
            <a:off x="5440680" y="2788920"/>
            <a:ext cx="566928" cy="566928"/>
          </a:xfrm>
          <a:prstGeom prst="ellipse">
            <a:avLst/>
          </a:prstGeom>
          <a:solidFill>
            <a:srgbClr val="2F6F9F"/>
          </a:solidFill>
          <a:ln w="12700">
            <a:solidFill>
              <a:srgbClr val="2F6F9F"/>
            </a:solidFill>
            <a:prstDash val="solid"/>
          </a:ln>
        </p:spPr>
      </p:sp>
      <p:pic>
        <p:nvPicPr>
          <p:cNvPr id="14" name="stop Checkout" descr="preencoded.png">    </p:cNvPr>
          <p:cNvPicPr>
            <a:picLocks noChangeAspect="1"/>
          </p:cNvPicPr>
          <p:nvPr/>
        </p:nvPicPr>
        <p:blipFill>
          <a:blip r:embed="rId1"/>
          <a:stretch>
            <a:fillRect/>
          </a:stretch>
        </p:blipFill>
        <p:spPr>
          <a:xfrm>
            <a:off x="5588081" y="2936321"/>
            <a:ext cx="272125" cy="272125"/>
          </a:xfrm>
          <a:prstGeom prst="rect">
            <a:avLst/>
          </a:prstGeom>
        </p:spPr>
      </p:pic>
      <p:sp>
        <p:nvSpPr>
          <p:cNvPr id="15" name="stop label 0"/>
          <p:cNvSpPr txBox="1"/>
          <p:nvPr/>
        </p:nvSpPr>
        <p:spPr>
          <a:xfrm>
            <a:off x="4983480" y="3429000"/>
            <a:ext cx="1481328" cy="274320"/>
          </a:xfrm>
          <a:prstGeom prst="rect">
            <a:avLst/>
          </a:prstGeom>
          <a:noFill/>
          <a:ln/>
        </p:spPr>
        <p:txBody>
          <a:bodyPr wrap="square" lIns="0" tIns="0" rIns="0" bIns="0" rtlCol="0" anchor="ctr"/>
          <a:lstStyle/>
          <a:p>
            <a:pPr algn="ctr" indent="0" marL="0">
              <a:buNone/>
            </a:pPr>
            <a:r>
              <a:rPr lang="en-US" sz="1200" b="1" dirty="0">
                <a:solidFill>
                  <a:srgbClr val="1B2733"/>
                </a:solidFill>
              </a:rPr>
              <a:t>Checkout</a:t>
            </a:r>
            <a:endParaRPr lang="en-US" sz="1200" dirty="0"/>
          </a:p>
        </p:txBody>
      </p:sp>
      <p:sp>
        <p:nvSpPr>
          <p:cNvPr id="16" name="stop Delivery circle"/>
          <p:cNvSpPr/>
          <p:nvPr/>
        </p:nvSpPr>
        <p:spPr>
          <a:xfrm>
            <a:off x="8183880" y="2788920"/>
            <a:ext cx="566928" cy="566928"/>
          </a:xfrm>
          <a:prstGeom prst="ellipse">
            <a:avLst/>
          </a:prstGeom>
          <a:solidFill>
            <a:srgbClr val="5B8C5A"/>
          </a:solidFill>
          <a:ln w="12700">
            <a:solidFill>
              <a:srgbClr val="5B8C5A"/>
            </a:solidFill>
            <a:prstDash val="solid"/>
          </a:ln>
        </p:spPr>
      </p:sp>
      <p:pic>
        <p:nvPicPr>
          <p:cNvPr id="17" name="stop Delivery" descr="preencoded.png">    </p:cNvPr>
          <p:cNvPicPr>
            <a:picLocks noChangeAspect="1"/>
          </p:cNvPicPr>
          <p:nvPr/>
        </p:nvPicPr>
        <p:blipFill>
          <a:blip r:embed="rId2"/>
          <a:stretch>
            <a:fillRect/>
          </a:stretch>
        </p:blipFill>
        <p:spPr>
          <a:xfrm>
            <a:off x="8331281" y="2936321"/>
            <a:ext cx="272125" cy="272125"/>
          </a:xfrm>
          <a:prstGeom prst="rect">
            <a:avLst/>
          </a:prstGeom>
        </p:spPr>
      </p:pic>
      <p:sp>
        <p:nvSpPr>
          <p:cNvPr id="18" name="stop label 1"/>
          <p:cNvSpPr txBox="1"/>
          <p:nvPr/>
        </p:nvSpPr>
        <p:spPr>
          <a:xfrm>
            <a:off x="7726680" y="3429000"/>
            <a:ext cx="1481328" cy="274320"/>
          </a:xfrm>
          <a:prstGeom prst="rect">
            <a:avLst/>
          </a:prstGeom>
          <a:noFill/>
          <a:ln/>
        </p:spPr>
        <p:txBody>
          <a:bodyPr wrap="square" lIns="0" tIns="0" rIns="0" bIns="0" rtlCol="0" anchor="ctr"/>
          <a:lstStyle/>
          <a:p>
            <a:pPr algn="ctr" indent="0" marL="0">
              <a:buNone/>
            </a:pPr>
            <a:r>
              <a:rPr lang="en-US" sz="1200" b="1" dirty="0">
                <a:solidFill>
                  <a:srgbClr val="1B2733"/>
                </a:solidFill>
              </a:rPr>
              <a:t>Delivery</a:t>
            </a:r>
            <a:endParaRPr lang="en-US" sz="1200" dirty="0"/>
          </a:p>
        </p:txBody>
      </p:sp>
      <p:sp>
        <p:nvSpPr>
          <p:cNvPr id="19" name="stop Review circle"/>
          <p:cNvSpPr/>
          <p:nvPr/>
        </p:nvSpPr>
        <p:spPr>
          <a:xfrm>
            <a:off x="10927080" y="2788920"/>
            <a:ext cx="566928" cy="566928"/>
          </a:xfrm>
          <a:prstGeom prst="ellipse">
            <a:avLst/>
          </a:prstGeom>
          <a:solidFill>
            <a:srgbClr val="C08B2E"/>
          </a:solidFill>
          <a:ln w="12700">
            <a:solidFill>
              <a:srgbClr val="C08B2E"/>
            </a:solidFill>
            <a:prstDash val="solid"/>
          </a:ln>
        </p:spPr>
      </p:sp>
      <p:pic>
        <p:nvPicPr>
          <p:cNvPr id="20" name="stop Review" descr="preencoded.png">    </p:cNvPr>
          <p:cNvPicPr>
            <a:picLocks noChangeAspect="1"/>
          </p:cNvPicPr>
          <p:nvPr/>
        </p:nvPicPr>
        <p:blipFill>
          <a:blip r:embed="rId3"/>
          <a:stretch>
            <a:fillRect/>
          </a:stretch>
        </p:blipFill>
        <p:spPr>
          <a:xfrm>
            <a:off x="11074481" y="2936321"/>
            <a:ext cx="272125" cy="272125"/>
          </a:xfrm>
          <a:prstGeom prst="rect">
            <a:avLst/>
          </a:prstGeom>
        </p:spPr>
      </p:pic>
      <p:sp>
        <p:nvSpPr>
          <p:cNvPr id="21" name="stop label 2"/>
          <p:cNvSpPr txBox="1"/>
          <p:nvPr/>
        </p:nvSpPr>
        <p:spPr>
          <a:xfrm>
            <a:off x="10469880" y="3429000"/>
            <a:ext cx="1481328" cy="274320"/>
          </a:xfrm>
          <a:prstGeom prst="rect">
            <a:avLst/>
          </a:prstGeom>
          <a:noFill/>
          <a:ln/>
        </p:spPr>
        <p:txBody>
          <a:bodyPr wrap="square" lIns="0" tIns="0" rIns="0" bIns="0" rtlCol="0" anchor="ctr"/>
          <a:lstStyle/>
          <a:p>
            <a:pPr algn="ctr" indent="0" marL="0">
              <a:buNone/>
            </a:pPr>
            <a:r>
              <a:rPr lang="en-US" sz="1200" b="1" dirty="0">
                <a:solidFill>
                  <a:srgbClr val="1B2733"/>
                </a:solidFill>
              </a:rPr>
              <a:t>Review</a:t>
            </a:r>
            <a:endParaRPr lang="en-US" sz="1200" dirty="0"/>
          </a:p>
        </p:txBody>
      </p:sp>
      <p:sp>
        <p:nvSpPr>
          <p:cNvPr id="22" name="PROBLEM 1 · AT CHECKOUT card"/>
          <p:cNvSpPr/>
          <p:nvPr/>
        </p:nvSpPr>
        <p:spPr>
          <a:xfrm>
            <a:off x="5120640" y="3840480"/>
            <a:ext cx="3154680" cy="2194560"/>
          </a:xfrm>
          <a:prstGeom prst="roundRect">
            <a:avLst>
              <a:gd name="adj" fmla="val 5000"/>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23" name="PROBLEM 1 · AT CHECKOUT kicker"/>
          <p:cNvSpPr txBox="1"/>
          <p:nvPr/>
        </p:nvSpPr>
        <p:spPr>
          <a:xfrm>
            <a:off x="5303520" y="3950208"/>
            <a:ext cx="2834640" cy="274320"/>
          </a:xfrm>
          <a:prstGeom prst="rect">
            <a:avLst/>
          </a:prstGeom>
          <a:noFill/>
          <a:ln/>
        </p:spPr>
        <p:txBody>
          <a:bodyPr wrap="square" lIns="0" tIns="0" rIns="0" bIns="0" rtlCol="0" anchor="ctr"/>
          <a:lstStyle/>
          <a:p>
            <a:pPr indent="0" marL="0">
              <a:buNone/>
            </a:pPr>
            <a:r>
              <a:rPr lang="en-US" sz="950" b="1" spc="100" kern="0" dirty="0">
                <a:solidFill>
                  <a:srgbClr val="2F6F9F"/>
                </a:solidFill>
              </a:rPr>
              <a:t>PROBLEM 1 · AT CHECKOUT</a:t>
            </a:r>
            <a:endParaRPr lang="en-US" sz="950" dirty="0"/>
          </a:p>
        </p:txBody>
      </p:sp>
      <p:sp>
        <p:nvSpPr>
          <p:cNvPr id="24" name="PROBLEM 1 · AT CHECKOUT question"/>
          <p:cNvSpPr txBox="1"/>
          <p:nvPr/>
        </p:nvSpPr>
        <p:spPr>
          <a:xfrm>
            <a:off x="5303520" y="4251960"/>
            <a:ext cx="2834640" cy="777240"/>
          </a:xfrm>
          <a:prstGeom prst="rect">
            <a:avLst/>
          </a:prstGeom>
          <a:noFill/>
          <a:ln/>
        </p:spPr>
        <p:txBody>
          <a:bodyPr wrap="square" lIns="0" tIns="0" rIns="0" bIns="0" rtlCol="0" anchor="t"/>
          <a:lstStyle/>
          <a:p>
            <a:pPr indent="0" marL="0">
              <a:buNone/>
            </a:pPr>
            <a:r>
              <a:rPr lang="en-US" sz="1350" b="1" dirty="0">
                <a:solidFill>
                  <a:srgbClr val="1B2733"/>
                </a:solidFill>
              </a:rPr>
              <a:t>How long will this order take, and will it miss its promise?</a:t>
            </a:r>
            <a:endParaRPr lang="en-US" sz="1350" dirty="0"/>
          </a:p>
        </p:txBody>
      </p:sp>
      <p:sp>
        <p:nvSpPr>
          <p:cNvPr id="25" name="PROBLEM 1 · AT CHECKOUT action"/>
          <p:cNvSpPr txBox="1"/>
          <p:nvPr/>
        </p:nvSpPr>
        <p:spPr>
          <a:xfrm>
            <a:off x="5303520" y="5029200"/>
            <a:ext cx="2834640" cy="914400"/>
          </a:xfrm>
          <a:prstGeom prst="rect">
            <a:avLst/>
          </a:prstGeom>
          <a:noFill/>
          <a:ln/>
        </p:spPr>
        <p:txBody>
          <a:bodyPr wrap="square" lIns="0" tIns="0" rIns="0" bIns="0" rtlCol="0" anchor="t"/>
          <a:lstStyle/>
          <a:p>
            <a:pPr indent="0" marL="0">
              <a:buNone/>
            </a:pPr>
            <a:r>
              <a:rPr lang="en-US" sz="1100" dirty="0">
                <a:solidFill>
                  <a:srgbClr val="61707D"/>
                </a:solidFill>
              </a:rPr>
              <a:t>Regression on lead time + a late flag · Operations: re-quote, pre-warn, expedite</a:t>
            </a:r>
            <a:endParaRPr lang="en-US" sz="1100" dirty="0"/>
          </a:p>
        </p:txBody>
      </p:sp>
      <p:sp>
        <p:nvSpPr>
          <p:cNvPr id="26" name="PROBLEM 2 · AT DELIVERY card"/>
          <p:cNvSpPr/>
          <p:nvPr/>
        </p:nvSpPr>
        <p:spPr>
          <a:xfrm>
            <a:off x="8458200" y="3840480"/>
            <a:ext cx="3154680" cy="2194560"/>
          </a:xfrm>
          <a:prstGeom prst="roundRect">
            <a:avLst>
              <a:gd name="adj" fmla="val 5000"/>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27" name="PROBLEM 2 · AT DELIVERY kicker"/>
          <p:cNvSpPr txBox="1"/>
          <p:nvPr/>
        </p:nvSpPr>
        <p:spPr>
          <a:xfrm>
            <a:off x="8641080" y="3950208"/>
            <a:ext cx="2834640" cy="274320"/>
          </a:xfrm>
          <a:prstGeom prst="rect">
            <a:avLst/>
          </a:prstGeom>
          <a:noFill/>
          <a:ln/>
        </p:spPr>
        <p:txBody>
          <a:bodyPr wrap="square" lIns="0" tIns="0" rIns="0" bIns="0" rtlCol="0" anchor="ctr"/>
          <a:lstStyle/>
          <a:p>
            <a:pPr indent="0" marL="0">
              <a:buNone/>
            </a:pPr>
            <a:r>
              <a:rPr lang="en-US" sz="950" b="1" spc="100" kern="0" dirty="0">
                <a:solidFill>
                  <a:srgbClr val="5B8C5A"/>
                </a:solidFill>
              </a:rPr>
              <a:t>PROBLEM 2 · AT DELIVERY</a:t>
            </a:r>
            <a:endParaRPr lang="en-US" sz="950" dirty="0"/>
          </a:p>
        </p:txBody>
      </p:sp>
      <p:sp>
        <p:nvSpPr>
          <p:cNvPr id="28" name="PROBLEM 2 · AT DELIVERY question"/>
          <p:cNvSpPr txBox="1"/>
          <p:nvPr/>
        </p:nvSpPr>
        <p:spPr>
          <a:xfrm>
            <a:off x="8641080" y="4251960"/>
            <a:ext cx="2834640" cy="777240"/>
          </a:xfrm>
          <a:prstGeom prst="rect">
            <a:avLst/>
          </a:prstGeom>
          <a:noFill/>
          <a:ln/>
        </p:spPr>
        <p:txBody>
          <a:bodyPr wrap="square" lIns="0" tIns="0" rIns="0" bIns="0" rtlCol="0" anchor="t"/>
          <a:lstStyle/>
          <a:p>
            <a:pPr indent="0" marL="0">
              <a:buNone/>
            </a:pPr>
            <a:r>
              <a:rPr lang="en-US" sz="1350" b="1" dirty="0">
                <a:solidFill>
                  <a:srgbClr val="1B2733"/>
                </a:solidFill>
              </a:rPr>
              <a:t>Will this delivered order draw a 1–2 star review?</a:t>
            </a:r>
            <a:endParaRPr lang="en-US" sz="1350" dirty="0"/>
          </a:p>
        </p:txBody>
      </p:sp>
      <p:sp>
        <p:nvSpPr>
          <p:cNvPr id="29" name="PROBLEM 2 · AT DELIVERY action"/>
          <p:cNvSpPr txBox="1"/>
          <p:nvPr/>
        </p:nvSpPr>
        <p:spPr>
          <a:xfrm>
            <a:off x="8641080" y="5029200"/>
            <a:ext cx="2834640" cy="914400"/>
          </a:xfrm>
          <a:prstGeom prst="rect">
            <a:avLst/>
          </a:prstGeom>
          <a:noFill/>
          <a:ln/>
        </p:spPr>
        <p:txBody>
          <a:bodyPr wrap="square" lIns="0" tIns="0" rIns="0" bIns="0" rtlCol="0" anchor="t"/>
          <a:lstStyle/>
          <a:p>
            <a:pPr indent="0" marL="0">
              <a:buNone/>
            </a:pPr>
            <a:r>
              <a:rPr lang="en-US" sz="1100" dirty="0">
                <a:solidFill>
                  <a:srgbClr val="61707D"/>
                </a:solidFill>
              </a:rPr>
              <a:t>Classification · Customer experience: reach out before the review is written</a:t>
            </a:r>
            <a:endParaRPr lang="en-US" sz="1100" dirty="0"/>
          </a:p>
        </p:txBody>
      </p:sp>
      <p:sp>
        <p:nvSpPr>
          <p:cNvPr id="30" name="chain"/>
          <p:cNvSpPr txBox="1"/>
          <p:nvPr/>
        </p:nvSpPr>
        <p:spPr>
          <a:xfrm>
            <a:off x="5120640" y="1737360"/>
            <a:ext cx="6492240" cy="822960"/>
          </a:xfrm>
          <a:prstGeom prst="rect">
            <a:avLst/>
          </a:prstGeom>
          <a:noFill/>
          <a:ln/>
        </p:spPr>
        <p:txBody>
          <a:bodyPr wrap="square" lIns="0" tIns="0" rIns="0" bIns="0" rtlCol="0" anchor="ctr"/>
          <a:lstStyle/>
          <a:p>
            <a:pPr indent="0" marL="0">
              <a:buNone/>
            </a:pPr>
            <a:r>
              <a:rPr lang="en-US" sz="1400" dirty="0">
                <a:solidFill>
                  <a:srgbClr val="1B2733"/>
                </a:solidFill>
              </a:rPr>
              <a:t>One decision chain: Problem 1's output is Problem 2's most important input.</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000" b="1" dirty="0">
                <a:solidFill>
                  <a:srgbClr val="1B2733"/>
                </a:solidFill>
              </a:rPr>
              <a:t>Nine tables, one row per order — and two traps inside them</a:t>
            </a:r>
            <a:endParaRPr lang="en-US" sz="3000" dirty="0"/>
          </a:p>
        </p:txBody>
      </p:sp>
      <p:sp>
        <p:nvSpPr>
          <p:cNvPr id="3" name="subtitle"/>
          <p:cNvSpPr txBox="1"/>
          <p:nvPr/>
        </p:nvSpPr>
        <p:spPr>
          <a:xfrm>
            <a:off x="548640" y="1097280"/>
            <a:ext cx="11091672" cy="411480"/>
          </a:xfrm>
          <a:prstGeom prst="rect">
            <a:avLst/>
          </a:prstGeom>
          <a:noFill/>
          <a:ln/>
        </p:spPr>
        <p:txBody>
          <a:bodyPr wrap="square" lIns="0" tIns="0" rIns="0" bIns="0" rtlCol="0" anchor="ctr"/>
          <a:lstStyle/>
          <a:p>
            <a:pPr indent="0" marL="0">
              <a:buNone/>
            </a:pPr>
            <a:r>
              <a:rPr lang="en-US" sz="1500" dirty="0">
                <a:solidFill>
                  <a:srgbClr val="61707D"/>
                </a:solidFill>
              </a:rPr>
              <a:t>Chronological, customer-disjoint split; leakage defined per prediction moment</a:t>
            </a:r>
            <a:endParaRPr lang="en-US" sz="1500" dirty="0"/>
          </a:p>
        </p:txBody>
      </p:sp>
      <p:sp>
        <p:nvSpPr>
          <p:cNvPr id="4" name="Join inflation card"/>
          <p:cNvSpPr/>
          <p:nvPr/>
        </p:nvSpPr>
        <p:spPr>
          <a:xfrm>
            <a:off x="548640" y="1691640"/>
            <a:ext cx="5760720" cy="1417320"/>
          </a:xfrm>
          <a:prstGeom prst="roundRect">
            <a:avLst>
              <a:gd name="adj" fmla="val 7742"/>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5" name="Join inflation icon circle"/>
          <p:cNvSpPr/>
          <p:nvPr/>
        </p:nvSpPr>
        <p:spPr>
          <a:xfrm>
            <a:off x="731520" y="2075688"/>
            <a:ext cx="640080" cy="640080"/>
          </a:xfrm>
          <a:prstGeom prst="ellipse">
            <a:avLst/>
          </a:prstGeom>
          <a:solidFill>
            <a:srgbClr val="C1666B"/>
          </a:solidFill>
          <a:ln w="12700">
            <a:solidFill>
              <a:srgbClr val="C1666B"/>
            </a:solidFill>
            <a:prstDash val="solid"/>
          </a:ln>
        </p:spPr>
      </p:sp>
      <p:pic>
        <p:nvPicPr>
          <p:cNvPr id="6" name="Join inflation icon" descr="preencoded.png">    </p:cNvPr>
          <p:cNvPicPr>
            <a:picLocks noChangeAspect="1"/>
          </p:cNvPicPr>
          <p:nvPr/>
        </p:nvPicPr>
        <p:blipFill>
          <a:blip r:embed="rId1"/>
          <a:stretch>
            <a:fillRect/>
          </a:stretch>
        </p:blipFill>
        <p:spPr>
          <a:xfrm>
            <a:off x="897941" y="2242109"/>
            <a:ext cx="307238" cy="307238"/>
          </a:xfrm>
          <a:prstGeom prst="rect">
            <a:avLst/>
          </a:prstGeom>
        </p:spPr>
      </p:pic>
      <p:sp>
        <p:nvSpPr>
          <p:cNvPr id="7" name="Join inflation head"/>
          <p:cNvSpPr txBox="1"/>
          <p:nvPr/>
        </p:nvSpPr>
        <p:spPr>
          <a:xfrm>
            <a:off x="1554480" y="1828800"/>
            <a:ext cx="4572000" cy="320040"/>
          </a:xfrm>
          <a:prstGeom prst="rect">
            <a:avLst/>
          </a:prstGeom>
          <a:noFill/>
          <a:ln/>
        </p:spPr>
        <p:txBody>
          <a:bodyPr wrap="square" lIns="0" tIns="0" rIns="0" bIns="0" rtlCol="0" anchor="ctr"/>
          <a:lstStyle/>
          <a:p>
            <a:pPr indent="0" marL="0">
              <a:buNone/>
            </a:pPr>
            <a:r>
              <a:rPr lang="en-US" sz="1400" b="1" dirty="0">
                <a:solidFill>
                  <a:srgbClr val="1B2733"/>
                </a:solidFill>
              </a:rPr>
              <a:t>Join inflation</a:t>
            </a:r>
            <a:endParaRPr lang="en-US" sz="1400" dirty="0"/>
          </a:p>
        </p:txBody>
      </p:sp>
      <p:sp>
        <p:nvSpPr>
          <p:cNvPr id="8" name="Join inflation body"/>
          <p:cNvSpPr txBox="1"/>
          <p:nvPr/>
        </p:nvSpPr>
        <p:spPr>
          <a:xfrm>
            <a:off x="1554480" y="2148840"/>
            <a:ext cx="4572000" cy="914400"/>
          </a:xfrm>
          <a:prstGeom prst="rect">
            <a:avLst/>
          </a:prstGeom>
          <a:noFill/>
          <a:ln/>
        </p:spPr>
        <p:txBody>
          <a:bodyPr wrap="square" lIns="0" tIns="0" rIns="0" bIns="0" rtlCol="0" anchor="t"/>
          <a:lstStyle/>
          <a:p>
            <a:pPr indent="0" marL="0">
              <a:buNone/>
            </a:pPr>
            <a:r>
              <a:rPr lang="en-US" sz="1050" dirty="0">
                <a:solidFill>
                  <a:srgbClr val="61707D"/>
                </a:solidFill>
              </a:rPr>
              <a:t>Items, payments and reviews are one-to-many. A naive merge turns 99,441 orders into 118,437 rows (+19%) and biases every average. We aggregate each child table first, then join, and assert the grain.</a:t>
            </a:r>
            <a:endParaRPr lang="en-US" sz="1050" dirty="0"/>
          </a:p>
        </p:txBody>
      </p:sp>
      <p:sp>
        <p:nvSpPr>
          <p:cNvPr id="9" name="customer_id is not a person card"/>
          <p:cNvSpPr/>
          <p:nvPr/>
        </p:nvSpPr>
        <p:spPr>
          <a:xfrm>
            <a:off x="548640" y="3246120"/>
            <a:ext cx="5760720" cy="1417320"/>
          </a:xfrm>
          <a:prstGeom prst="roundRect">
            <a:avLst>
              <a:gd name="adj" fmla="val 7742"/>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0" name="customer_id is not a person icon circle"/>
          <p:cNvSpPr/>
          <p:nvPr/>
        </p:nvSpPr>
        <p:spPr>
          <a:xfrm>
            <a:off x="731520" y="3630168"/>
            <a:ext cx="640080" cy="640080"/>
          </a:xfrm>
          <a:prstGeom prst="ellipse">
            <a:avLst/>
          </a:prstGeom>
          <a:solidFill>
            <a:srgbClr val="C08B2E"/>
          </a:solidFill>
          <a:ln w="12700">
            <a:solidFill>
              <a:srgbClr val="C08B2E"/>
            </a:solidFill>
            <a:prstDash val="solid"/>
          </a:ln>
        </p:spPr>
      </p:sp>
      <p:pic>
        <p:nvPicPr>
          <p:cNvPr id="11" name="customer_id is not a person icon" descr="preencoded.png">    </p:cNvPr>
          <p:cNvPicPr>
            <a:picLocks noChangeAspect="1"/>
          </p:cNvPicPr>
          <p:nvPr/>
        </p:nvPicPr>
        <p:blipFill>
          <a:blip r:embed="rId2"/>
          <a:stretch>
            <a:fillRect/>
          </a:stretch>
        </p:blipFill>
        <p:spPr>
          <a:xfrm>
            <a:off x="897941" y="3796589"/>
            <a:ext cx="307238" cy="307238"/>
          </a:xfrm>
          <a:prstGeom prst="rect">
            <a:avLst/>
          </a:prstGeom>
        </p:spPr>
      </p:pic>
      <p:sp>
        <p:nvSpPr>
          <p:cNvPr id="12" name="customer_id is not a person head"/>
          <p:cNvSpPr txBox="1"/>
          <p:nvPr/>
        </p:nvSpPr>
        <p:spPr>
          <a:xfrm>
            <a:off x="1554480" y="3383280"/>
            <a:ext cx="4572000" cy="320040"/>
          </a:xfrm>
          <a:prstGeom prst="rect">
            <a:avLst/>
          </a:prstGeom>
          <a:noFill/>
          <a:ln/>
        </p:spPr>
        <p:txBody>
          <a:bodyPr wrap="square" lIns="0" tIns="0" rIns="0" bIns="0" rtlCol="0" anchor="ctr"/>
          <a:lstStyle/>
          <a:p>
            <a:pPr indent="0" marL="0">
              <a:buNone/>
            </a:pPr>
            <a:r>
              <a:rPr lang="en-US" sz="1400" b="1" dirty="0">
                <a:solidFill>
                  <a:srgbClr val="1B2733"/>
                </a:solidFill>
              </a:rPr>
              <a:t>customer_id is not a person</a:t>
            </a:r>
            <a:endParaRPr lang="en-US" sz="1400" dirty="0"/>
          </a:p>
        </p:txBody>
      </p:sp>
      <p:sp>
        <p:nvSpPr>
          <p:cNvPr id="13" name="customer_id is not a person body"/>
          <p:cNvSpPr txBox="1"/>
          <p:nvPr/>
        </p:nvSpPr>
        <p:spPr>
          <a:xfrm>
            <a:off x="1554480" y="3703320"/>
            <a:ext cx="4572000" cy="914400"/>
          </a:xfrm>
          <a:prstGeom prst="rect">
            <a:avLst/>
          </a:prstGeom>
          <a:noFill/>
          <a:ln/>
        </p:spPr>
        <p:txBody>
          <a:bodyPr wrap="square" lIns="0" tIns="0" rIns="0" bIns="0" rtlCol="0" anchor="t"/>
          <a:lstStyle/>
          <a:p>
            <a:pPr indent="0" marL="0">
              <a:buNone/>
            </a:pPr>
            <a:r>
              <a:rPr lang="en-US" sz="1050" dirty="0">
                <a:solidFill>
                  <a:srgbClr val="61707D"/>
                </a:solidFill>
              </a:rPr>
              <a:t>99,441 customer_id values map to 96,096 people. Group on the wrong key and there are no repeat buyers; on the right one, 2,997 are — and 227 straddle the split, so we remove them.</a:t>
            </a:r>
            <a:endParaRPr lang="en-US" sz="1050" dirty="0"/>
          </a:p>
        </p:txBody>
      </p:sp>
      <p:sp>
        <p:nvSpPr>
          <p:cNvPr id="14" name="Leakage, one rule per moment card"/>
          <p:cNvSpPr/>
          <p:nvPr/>
        </p:nvSpPr>
        <p:spPr>
          <a:xfrm>
            <a:off x="548640" y="4800600"/>
            <a:ext cx="5760720" cy="1417320"/>
          </a:xfrm>
          <a:prstGeom prst="roundRect">
            <a:avLst>
              <a:gd name="adj" fmla="val 7742"/>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5" name="Leakage, one rule per moment icon circle"/>
          <p:cNvSpPr/>
          <p:nvPr/>
        </p:nvSpPr>
        <p:spPr>
          <a:xfrm>
            <a:off x="731520" y="5184648"/>
            <a:ext cx="640080" cy="640080"/>
          </a:xfrm>
          <a:prstGeom prst="ellipse">
            <a:avLst/>
          </a:prstGeom>
          <a:solidFill>
            <a:srgbClr val="2F6F9F"/>
          </a:solidFill>
          <a:ln w="12700">
            <a:solidFill>
              <a:srgbClr val="2F6F9F"/>
            </a:solidFill>
            <a:prstDash val="solid"/>
          </a:ln>
        </p:spPr>
      </p:sp>
      <p:pic>
        <p:nvPicPr>
          <p:cNvPr id="16" name="Leakage, one rule per moment icon" descr="preencoded.png">    </p:cNvPr>
          <p:cNvPicPr>
            <a:picLocks noChangeAspect="1"/>
          </p:cNvPicPr>
          <p:nvPr/>
        </p:nvPicPr>
        <p:blipFill>
          <a:blip r:embed="rId3"/>
          <a:stretch>
            <a:fillRect/>
          </a:stretch>
        </p:blipFill>
        <p:spPr>
          <a:xfrm>
            <a:off x="897941" y="5351069"/>
            <a:ext cx="307238" cy="307238"/>
          </a:xfrm>
          <a:prstGeom prst="rect">
            <a:avLst/>
          </a:prstGeom>
        </p:spPr>
      </p:pic>
      <p:sp>
        <p:nvSpPr>
          <p:cNvPr id="17" name="Leakage, one rule per moment head"/>
          <p:cNvSpPr txBox="1"/>
          <p:nvPr/>
        </p:nvSpPr>
        <p:spPr>
          <a:xfrm>
            <a:off x="1554480" y="4937760"/>
            <a:ext cx="4572000" cy="320040"/>
          </a:xfrm>
          <a:prstGeom prst="rect">
            <a:avLst/>
          </a:prstGeom>
          <a:noFill/>
          <a:ln/>
        </p:spPr>
        <p:txBody>
          <a:bodyPr wrap="square" lIns="0" tIns="0" rIns="0" bIns="0" rtlCol="0" anchor="ctr"/>
          <a:lstStyle/>
          <a:p>
            <a:pPr indent="0" marL="0">
              <a:buNone/>
            </a:pPr>
            <a:r>
              <a:rPr lang="en-US" sz="1400" b="1" dirty="0">
                <a:solidFill>
                  <a:srgbClr val="1B2733"/>
                </a:solidFill>
              </a:rPr>
              <a:t>Leakage, one rule per moment</a:t>
            </a:r>
            <a:endParaRPr lang="en-US" sz="1400" dirty="0"/>
          </a:p>
        </p:txBody>
      </p:sp>
      <p:sp>
        <p:nvSpPr>
          <p:cNvPr id="18" name="Leakage, one rule per moment body"/>
          <p:cNvSpPr txBox="1"/>
          <p:nvPr/>
        </p:nvSpPr>
        <p:spPr>
          <a:xfrm>
            <a:off x="1554480" y="5257800"/>
            <a:ext cx="4572000" cy="914400"/>
          </a:xfrm>
          <a:prstGeom prst="rect">
            <a:avLst/>
          </a:prstGeom>
          <a:noFill/>
          <a:ln/>
        </p:spPr>
        <p:txBody>
          <a:bodyPr wrap="square" lIns="0" tIns="0" rIns="0" bIns="0" rtlCol="0" anchor="t"/>
          <a:lstStyle/>
          <a:p>
            <a:pPr indent="0" marL="0">
              <a:buNone/>
            </a:pPr>
            <a:r>
              <a:rPr lang="en-US" sz="1050" dirty="0">
                <a:solidFill>
                  <a:srgbClr val="61707D"/>
                </a:solidFill>
              </a:rPr>
              <a:t>At checkout nothing about fulfilment exists; at delivery the delivery outcome is history. assert_no_leakage(features, regime) runs before any fit.</a:t>
            </a:r>
            <a:endParaRPr lang="en-US" sz="1050" dirty="0"/>
          </a:p>
        </p:txBody>
      </p:sp>
      <p:sp>
        <p:nvSpPr>
          <p:cNvPr id="19" name="split kicker"/>
          <p:cNvSpPr txBox="1"/>
          <p:nvPr/>
        </p:nvSpPr>
        <p:spPr>
          <a:xfrm>
            <a:off x="6766560" y="1737360"/>
            <a:ext cx="4846320" cy="274320"/>
          </a:xfrm>
          <a:prstGeom prst="rect">
            <a:avLst/>
          </a:prstGeom>
          <a:noFill/>
          <a:ln/>
        </p:spPr>
        <p:txBody>
          <a:bodyPr wrap="square" lIns="0" tIns="0" rIns="0" bIns="0" rtlCol="0" anchor="ctr"/>
          <a:lstStyle/>
          <a:p>
            <a:pPr indent="0" marL="0">
              <a:buNone/>
            </a:pPr>
            <a:r>
              <a:rPr lang="en-US" sz="1050" b="1" spc="100" kern="0" dirty="0">
                <a:solidFill>
                  <a:srgbClr val="61707D"/>
                </a:solidFill>
              </a:rPr>
              <a:t>ONE JOB PER PERIOD</a:t>
            </a:r>
            <a:endParaRPr lang="en-US" sz="1050" dirty="0"/>
          </a:p>
        </p:txBody>
      </p:sp>
      <p:sp>
        <p:nvSpPr>
          <p:cNvPr id="20" name="Train bar"/>
          <p:cNvSpPr/>
          <p:nvPr/>
        </p:nvSpPr>
        <p:spPr>
          <a:xfrm>
            <a:off x="6766560" y="2103120"/>
            <a:ext cx="2651760" cy="502920"/>
          </a:xfrm>
          <a:prstGeom prst="roundRect">
            <a:avLst>
              <a:gd name="adj" fmla="val 14545"/>
            </a:avLst>
          </a:prstGeom>
          <a:solidFill>
            <a:srgbClr val="2F6F9F"/>
          </a:solidFill>
          <a:ln w="12700">
            <a:solidFill>
              <a:srgbClr val="2F6F9F"/>
            </a:solidFill>
            <a:prstDash val="solid"/>
          </a:ln>
        </p:spPr>
      </p:sp>
      <p:sp>
        <p:nvSpPr>
          <p:cNvPr id="21" name="Train bar label"/>
          <p:cNvSpPr txBox="1"/>
          <p:nvPr/>
        </p:nvSpPr>
        <p:spPr>
          <a:xfrm>
            <a:off x="6766560" y="2103120"/>
            <a:ext cx="2651760" cy="502920"/>
          </a:xfrm>
          <a:prstGeom prst="rect">
            <a:avLst/>
          </a:prstGeom>
          <a:noFill/>
          <a:ln/>
        </p:spPr>
        <p:txBody>
          <a:bodyPr wrap="square" lIns="0" tIns="0" rIns="0" bIns="0" rtlCol="0" anchor="ctr"/>
          <a:lstStyle/>
          <a:p>
            <a:pPr algn="ctr" indent="0" marL="0">
              <a:buNone/>
            </a:pPr>
            <a:r>
              <a:rPr lang="en-US" sz="1200" b="1" dirty="0">
                <a:solidFill>
                  <a:srgbClr val="FFFFFF"/>
                </a:solidFill>
              </a:rPr>
              <a:t>Train</a:t>
            </a:r>
            <a:endParaRPr lang="en-US" sz="1200" dirty="0"/>
          </a:p>
        </p:txBody>
      </p:sp>
      <p:sp>
        <p:nvSpPr>
          <p:cNvPr id="22" name="Validation bar"/>
          <p:cNvSpPr/>
          <p:nvPr/>
        </p:nvSpPr>
        <p:spPr>
          <a:xfrm>
            <a:off x="9464040" y="2103120"/>
            <a:ext cx="1234440" cy="502920"/>
          </a:xfrm>
          <a:prstGeom prst="roundRect">
            <a:avLst>
              <a:gd name="adj" fmla="val 14545"/>
            </a:avLst>
          </a:prstGeom>
          <a:solidFill>
            <a:srgbClr val="C08B2E"/>
          </a:solidFill>
          <a:ln w="12700">
            <a:solidFill>
              <a:srgbClr val="C08B2E"/>
            </a:solidFill>
            <a:prstDash val="solid"/>
          </a:ln>
        </p:spPr>
      </p:sp>
      <p:sp>
        <p:nvSpPr>
          <p:cNvPr id="23" name="Validation bar label"/>
          <p:cNvSpPr txBox="1"/>
          <p:nvPr/>
        </p:nvSpPr>
        <p:spPr>
          <a:xfrm>
            <a:off x="9464040" y="2103120"/>
            <a:ext cx="1234440" cy="502920"/>
          </a:xfrm>
          <a:prstGeom prst="rect">
            <a:avLst/>
          </a:prstGeom>
          <a:noFill/>
          <a:ln/>
        </p:spPr>
        <p:txBody>
          <a:bodyPr wrap="square" lIns="0" tIns="0" rIns="0" bIns="0" rtlCol="0" anchor="ctr"/>
          <a:lstStyle/>
          <a:p>
            <a:pPr algn="ctr" indent="0" marL="0">
              <a:buNone/>
            </a:pPr>
            <a:r>
              <a:rPr lang="en-US" sz="1200" b="1" dirty="0">
                <a:solidFill>
                  <a:srgbClr val="FFFFFF"/>
                </a:solidFill>
              </a:rPr>
              <a:t>Validation</a:t>
            </a:r>
            <a:endParaRPr lang="en-US" sz="1200" dirty="0"/>
          </a:p>
        </p:txBody>
      </p:sp>
      <p:sp>
        <p:nvSpPr>
          <p:cNvPr id="24" name="Test bar"/>
          <p:cNvSpPr/>
          <p:nvPr/>
        </p:nvSpPr>
        <p:spPr>
          <a:xfrm>
            <a:off x="10744200" y="2103120"/>
            <a:ext cx="960120" cy="502920"/>
          </a:xfrm>
          <a:prstGeom prst="roundRect">
            <a:avLst>
              <a:gd name="adj" fmla="val 14545"/>
            </a:avLst>
          </a:prstGeom>
          <a:solidFill>
            <a:srgbClr val="C1666B"/>
          </a:solidFill>
          <a:ln w="12700">
            <a:solidFill>
              <a:srgbClr val="C1666B"/>
            </a:solidFill>
            <a:prstDash val="solid"/>
          </a:ln>
        </p:spPr>
      </p:sp>
      <p:sp>
        <p:nvSpPr>
          <p:cNvPr id="25" name="Test bar label"/>
          <p:cNvSpPr txBox="1"/>
          <p:nvPr/>
        </p:nvSpPr>
        <p:spPr>
          <a:xfrm>
            <a:off x="10744200" y="2103120"/>
            <a:ext cx="960120" cy="502920"/>
          </a:xfrm>
          <a:prstGeom prst="rect">
            <a:avLst/>
          </a:prstGeom>
          <a:noFill/>
          <a:ln/>
        </p:spPr>
        <p:txBody>
          <a:bodyPr wrap="square" lIns="0" tIns="0" rIns="0" bIns="0" rtlCol="0" anchor="ctr"/>
          <a:lstStyle/>
          <a:p>
            <a:pPr algn="ctr" indent="0" marL="0">
              <a:buNone/>
            </a:pPr>
            <a:r>
              <a:rPr lang="en-US" sz="1200" b="1" dirty="0">
                <a:solidFill>
                  <a:srgbClr val="FFFFFF"/>
                </a:solidFill>
              </a:rPr>
              <a:t>Test</a:t>
            </a:r>
            <a:endParaRPr lang="en-US" sz="1200" dirty="0"/>
          </a:p>
        </p:txBody>
      </p:sp>
      <p:sp>
        <p:nvSpPr>
          <p:cNvPr id="26" name="Train line"/>
          <p:cNvSpPr txBox="1"/>
          <p:nvPr/>
        </p:nvSpPr>
        <p:spPr>
          <a:xfrm>
            <a:off x="6766560" y="2788920"/>
            <a:ext cx="4846320" cy="365760"/>
          </a:xfrm>
          <a:prstGeom prst="rect">
            <a:avLst/>
          </a:prstGeom>
          <a:noFill/>
          <a:ln/>
        </p:spPr>
        <p:txBody>
          <a:bodyPr wrap="square" lIns="0" tIns="0" rIns="0" bIns="0" rtlCol="0" anchor="ctr"/>
          <a:lstStyle/>
          <a:p>
            <a:pPr indent="0" marL="0">
              <a:buNone/>
            </a:pPr>
            <a:r>
              <a:rPr lang="en-US" sz="1150" b="1" dirty="0">
                <a:solidFill>
                  <a:srgbClr val="2F6F9F"/>
                </a:solidFill>
              </a:rPr>
              <a:t>Train  </a:t>
            </a:r>
            <a:pPr indent="0" marL="0">
              <a:buNone/>
            </a:pPr>
            <a:r>
              <a:rPr lang="en-US" sz="1150" dirty="0">
                <a:solidFill>
                  <a:srgbClr val="1B2733"/>
                </a:solidFill>
              </a:rPr>
              <a:t>Jan 2017 – Apr 2018  ·  73,008 orders · fit, tune with expanding-window CV</a:t>
            </a:r>
            <a:endParaRPr lang="en-US" sz="1150" dirty="0"/>
          </a:p>
        </p:txBody>
      </p:sp>
      <p:sp>
        <p:nvSpPr>
          <p:cNvPr id="27" name="Validation line"/>
          <p:cNvSpPr txBox="1"/>
          <p:nvPr/>
        </p:nvSpPr>
        <p:spPr>
          <a:xfrm>
            <a:off x="6766560" y="3172968"/>
            <a:ext cx="4846320" cy="365760"/>
          </a:xfrm>
          <a:prstGeom prst="rect">
            <a:avLst/>
          </a:prstGeom>
          <a:noFill/>
          <a:ln/>
        </p:spPr>
        <p:txBody>
          <a:bodyPr wrap="square" lIns="0" tIns="0" rIns="0" bIns="0" rtlCol="0" anchor="ctr"/>
          <a:lstStyle/>
          <a:p>
            <a:pPr indent="0" marL="0">
              <a:buNone/>
            </a:pPr>
            <a:r>
              <a:rPr lang="en-US" sz="1150" b="1" dirty="0">
                <a:solidFill>
                  <a:srgbClr val="C08B2E"/>
                </a:solidFill>
              </a:rPr>
              <a:t>Validation  </a:t>
            </a:r>
            <a:pPr indent="0" marL="0">
              <a:buNone/>
            </a:pPr>
            <a:r>
              <a:rPr lang="en-US" sz="1150" dirty="0">
                <a:solidFill>
                  <a:srgbClr val="1B2733"/>
                </a:solidFill>
              </a:rPr>
              <a:t>May – Jun 2018  ·  13,156 · choose models, thresholds, calibration</a:t>
            </a:r>
            <a:endParaRPr lang="en-US" sz="1150" dirty="0"/>
          </a:p>
        </p:txBody>
      </p:sp>
      <p:sp>
        <p:nvSpPr>
          <p:cNvPr id="28" name="Test line"/>
          <p:cNvSpPr txBox="1"/>
          <p:nvPr/>
        </p:nvSpPr>
        <p:spPr>
          <a:xfrm>
            <a:off x="6766560" y="3557016"/>
            <a:ext cx="4846320" cy="365760"/>
          </a:xfrm>
          <a:prstGeom prst="rect">
            <a:avLst/>
          </a:prstGeom>
          <a:noFill/>
          <a:ln/>
        </p:spPr>
        <p:txBody>
          <a:bodyPr wrap="square" lIns="0" tIns="0" rIns="0" bIns="0" rtlCol="0" anchor="ctr"/>
          <a:lstStyle/>
          <a:p>
            <a:pPr indent="0" marL="0">
              <a:buNone/>
            </a:pPr>
            <a:r>
              <a:rPr lang="en-US" sz="1150" b="1" dirty="0">
                <a:solidFill>
                  <a:srgbClr val="C1666B"/>
                </a:solidFill>
              </a:rPr>
              <a:t>Test  </a:t>
            </a:r>
            <a:pPr indent="0" marL="0">
              <a:buNone/>
            </a:pPr>
            <a:r>
              <a:rPr lang="en-US" sz="1150" dirty="0">
                <a:solidFill>
                  <a:srgbClr val="1B2733"/>
                </a:solidFill>
              </a:rPr>
              <a:t>Jul – Aug 2018  ·  12,927 · scored once, replayed by the app</a:t>
            </a:r>
            <a:endParaRPr lang="en-US" sz="1150" dirty="0"/>
          </a:p>
        </p:txBody>
      </p:sp>
      <p:sp>
        <p:nvSpPr>
          <p:cNvPr id="29" name="leak card"/>
          <p:cNvSpPr/>
          <p:nvPr/>
        </p:nvSpPr>
        <p:spPr>
          <a:xfrm>
            <a:off x="6766560" y="4114800"/>
            <a:ext cx="4846320" cy="1920240"/>
          </a:xfrm>
          <a:prstGeom prst="roundRect">
            <a:avLst>
              <a:gd name="adj" fmla="val 5714"/>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30" name="leak kicker"/>
          <p:cNvSpPr txBox="1"/>
          <p:nvPr/>
        </p:nvSpPr>
        <p:spPr>
          <a:xfrm>
            <a:off x="6995160" y="4251960"/>
            <a:ext cx="4480560" cy="274320"/>
          </a:xfrm>
          <a:prstGeom prst="rect">
            <a:avLst/>
          </a:prstGeom>
          <a:noFill/>
          <a:ln/>
        </p:spPr>
        <p:txBody>
          <a:bodyPr wrap="square" lIns="0" tIns="0" rIns="0" bIns="0" rtlCol="0" anchor="ctr"/>
          <a:lstStyle/>
          <a:p>
            <a:pPr indent="0" marL="0">
              <a:buNone/>
            </a:pPr>
            <a:r>
              <a:rPr lang="en-US" sz="1000" b="1" spc="100" kern="0" dirty="0">
                <a:solidFill>
                  <a:srgbClr val="C1666B"/>
                </a:solidFill>
              </a:rPr>
              <a:t>WHAT ONE FORBIDDEN COLUMN IS WORTH</a:t>
            </a:r>
            <a:endParaRPr lang="en-US" sz="1000" dirty="0"/>
          </a:p>
        </p:txBody>
      </p:sp>
      <p:sp>
        <p:nvSpPr>
          <p:cNvPr id="31" name="leak stat"/>
          <p:cNvSpPr txBox="1"/>
          <p:nvPr/>
        </p:nvSpPr>
        <p:spPr>
          <a:xfrm>
            <a:off x="6995160" y="4526280"/>
            <a:ext cx="4480560" cy="685800"/>
          </a:xfrm>
          <a:prstGeom prst="rect">
            <a:avLst/>
          </a:prstGeom>
          <a:noFill/>
          <a:ln/>
        </p:spPr>
        <p:txBody>
          <a:bodyPr wrap="square" lIns="0" tIns="0" rIns="0" bIns="0" rtlCol="0" anchor="ctr"/>
          <a:lstStyle/>
          <a:p>
            <a:pPr indent="0" marL="0">
              <a:buNone/>
            </a:pPr>
            <a:r>
              <a:rPr lang="en-US" sz="3000" b="1" dirty="0">
                <a:solidFill>
                  <a:srgbClr val="1B2733"/>
                </a:solidFill>
              </a:rPr>
              <a:t>0.589</a:t>
            </a:r>
            <a:pPr indent="0" marL="0">
              <a:buNone/>
            </a:pPr>
            <a:r>
              <a:rPr lang="en-US" sz="2200" dirty="0">
                <a:solidFill>
                  <a:srgbClr val="61707D"/>
                </a:solidFill>
              </a:rPr>
              <a:t>   →   </a:t>
            </a:r>
            <a:pPr indent="0" marL="0">
              <a:buNone/>
            </a:pPr>
            <a:r>
              <a:rPr lang="en-US" sz="3000" b="1" dirty="0">
                <a:solidFill>
                  <a:srgbClr val="C1666B"/>
                </a:solidFill>
              </a:rPr>
              <a:t>1.000</a:t>
            </a:r>
            <a:endParaRPr lang="en-US" sz="3000" dirty="0"/>
          </a:p>
        </p:txBody>
      </p:sp>
      <p:sp>
        <p:nvSpPr>
          <p:cNvPr id="32" name="leak text"/>
          <p:cNvSpPr txBox="1"/>
          <p:nvPr/>
        </p:nvSpPr>
        <p:spPr>
          <a:xfrm>
            <a:off x="6995160" y="5212080"/>
            <a:ext cx="4480560" cy="777240"/>
          </a:xfrm>
          <a:prstGeom prst="rect">
            <a:avLst/>
          </a:prstGeom>
          <a:noFill/>
          <a:ln/>
        </p:spPr>
        <p:txBody>
          <a:bodyPr wrap="square" lIns="0" tIns="0" rIns="0" bIns="0" rtlCol="0" anchor="t"/>
          <a:lstStyle/>
          <a:p>
            <a:pPr indent="0" marL="0">
              <a:buNone/>
            </a:pPr>
            <a:r>
              <a:rPr lang="en-US" sz="1100" dirty="0">
                <a:solidFill>
                  <a:srgbClr val="61707D"/>
                </a:solidFill>
              </a:rPr>
              <a:t>ROC-AUC of the late-delivery model after adding the realised delivery time. That is not a result; it is the target restated — and it is why the guard is a test, not a convention.</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000" b="1" dirty="0">
                <a:solidFill>
                  <a:srgbClr val="1B2733"/>
                </a:solidFill>
              </a:rPr>
              <a:t>What the data told us: drift, volatility and shocks</a:t>
            </a:r>
            <a:endParaRPr lang="en-US" sz="3000" dirty="0"/>
          </a:p>
        </p:txBody>
      </p:sp>
      <p:sp>
        <p:nvSpPr>
          <p:cNvPr id="3" name="subtitle"/>
          <p:cNvSpPr txBox="1"/>
          <p:nvPr/>
        </p:nvSpPr>
        <p:spPr>
          <a:xfrm>
            <a:off x="548640" y="1097280"/>
            <a:ext cx="11091672" cy="411480"/>
          </a:xfrm>
          <a:prstGeom prst="rect">
            <a:avLst/>
          </a:prstGeom>
          <a:noFill/>
          <a:ln/>
        </p:spPr>
        <p:txBody>
          <a:bodyPr wrap="square" lIns="0" tIns="0" rIns="0" bIns="0" rtlCol="0" anchor="ctr"/>
          <a:lstStyle/>
          <a:p>
            <a:pPr indent="0" marL="0">
              <a:buNone/>
            </a:pPr>
            <a:r>
              <a:rPr lang="en-US" sz="1500" dirty="0">
                <a:solidFill>
                  <a:srgbClr val="61707D"/>
                </a:solidFill>
              </a:rPr>
              <a:t>Three facts from the exploratory analysis that shaped every modelling decision</a:t>
            </a:r>
            <a:endParaRPr lang="en-US" sz="1500" dirty="0"/>
          </a:p>
        </p:txBody>
      </p:sp>
      <p:sp>
        <p:nvSpPr>
          <p:cNvPr id="4" name="fig card"/>
          <p:cNvSpPr/>
          <p:nvPr/>
        </p:nvSpPr>
        <p:spPr>
          <a:xfrm>
            <a:off x="548640" y="1691640"/>
            <a:ext cx="6858000" cy="4434840"/>
          </a:xfrm>
          <a:prstGeom prst="roundRect">
            <a:avLst>
              <a:gd name="adj" fmla="val 2474"/>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pic>
        <p:nvPicPr>
          <p:cNvPr id="5" name="volume and drift figure" descr="E:\2025 NUS\IT5006\deck_build\img\fig02_volume_drift.png">    </p:cNvPr>
          <p:cNvPicPr>
            <a:picLocks noChangeAspect="1"/>
          </p:cNvPicPr>
          <p:nvPr/>
        </p:nvPicPr>
        <p:blipFill>
          <a:blip r:embed="rId1"/>
          <a:stretch>
            <a:fillRect/>
          </a:stretch>
        </p:blipFill>
        <p:spPr>
          <a:xfrm>
            <a:off x="685800" y="1828800"/>
            <a:ext cx="6583680" cy="3749040"/>
          </a:xfrm>
          <a:prstGeom prst="rect">
            <a:avLst/>
          </a:prstGeom>
        </p:spPr>
      </p:pic>
      <p:sp>
        <p:nvSpPr>
          <p:cNvPr id="6" name="fig caption"/>
          <p:cNvSpPr txBox="1"/>
          <p:nvPr/>
        </p:nvSpPr>
        <p:spPr>
          <a:xfrm>
            <a:off x="685800" y="5669280"/>
            <a:ext cx="6583680" cy="365760"/>
          </a:xfrm>
          <a:prstGeom prst="rect">
            <a:avLst/>
          </a:prstGeom>
          <a:noFill/>
          <a:ln/>
        </p:spPr>
        <p:txBody>
          <a:bodyPr wrap="square" lIns="0" tIns="0" rIns="0" bIns="0" rtlCol="0" anchor="ctr"/>
          <a:lstStyle/>
          <a:p>
            <a:pPr indent="0" marL="0">
              <a:buNone/>
            </a:pPr>
            <a:r>
              <a:rPr lang="en-US" sz="1000" i="1" dirty="0">
                <a:solidFill>
                  <a:srgbClr val="61707D"/>
                </a:solidFill>
              </a:rPr>
              <a:t>Monthly orders (a) and mean lead time against the late rate (b), Jan 2017 – Aug 2018</a:t>
            </a:r>
            <a:endParaRPr lang="en-US" sz="1000" dirty="0"/>
          </a:p>
        </p:txBody>
      </p:sp>
      <p:sp>
        <p:nvSpPr>
          <p:cNvPr id="7" name="kpi drift card"/>
          <p:cNvSpPr/>
          <p:nvPr/>
        </p:nvSpPr>
        <p:spPr>
          <a:xfrm>
            <a:off x="7680960" y="1691640"/>
            <a:ext cx="3931920" cy="1371600"/>
          </a:xfrm>
          <a:prstGeom prst="roundRect">
            <a:avLst>
              <a:gd name="adj" fmla="val 8000"/>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8" name="kpi drift mark"/>
          <p:cNvSpPr/>
          <p:nvPr/>
        </p:nvSpPr>
        <p:spPr>
          <a:xfrm>
            <a:off x="7790688" y="1856232"/>
            <a:ext cx="64008" cy="1042416"/>
          </a:xfrm>
          <a:prstGeom prst="roundRect">
            <a:avLst>
              <a:gd name="adj" fmla="val 42857"/>
            </a:avLst>
          </a:prstGeom>
          <a:solidFill>
            <a:srgbClr val="2F6F9F"/>
          </a:solidFill>
          <a:ln w="12700">
            <a:solidFill>
              <a:srgbClr val="2F6F9F"/>
            </a:solidFill>
            <a:prstDash val="solid"/>
          </a:ln>
        </p:spPr>
      </p:sp>
      <p:sp>
        <p:nvSpPr>
          <p:cNvPr id="9" name="kpi drift label"/>
          <p:cNvSpPr txBox="1"/>
          <p:nvPr/>
        </p:nvSpPr>
        <p:spPr>
          <a:xfrm>
            <a:off x="7973568" y="1801368"/>
            <a:ext cx="3520440" cy="274320"/>
          </a:xfrm>
          <a:prstGeom prst="rect">
            <a:avLst/>
          </a:prstGeom>
          <a:noFill/>
          <a:ln/>
        </p:spPr>
        <p:txBody>
          <a:bodyPr wrap="square" lIns="0" tIns="0" rIns="0" bIns="0" rtlCol="0" anchor="ctr"/>
          <a:lstStyle/>
          <a:p>
            <a:pPr indent="0" marL="0">
              <a:buNone/>
            </a:pPr>
            <a:r>
              <a:rPr lang="en-US" sz="950" b="1" spc="100" kern="0" dirty="0">
                <a:solidFill>
                  <a:srgbClr val="61707D"/>
                </a:solidFill>
              </a:rPr>
              <a:t>LEAD TIME DRIFTS</a:t>
            </a:r>
            <a:endParaRPr lang="en-US" sz="950" dirty="0"/>
          </a:p>
        </p:txBody>
      </p:sp>
      <p:sp>
        <p:nvSpPr>
          <p:cNvPr id="10" name="kpi drift value"/>
          <p:cNvSpPr txBox="1"/>
          <p:nvPr/>
        </p:nvSpPr>
        <p:spPr>
          <a:xfrm>
            <a:off x="7973568" y="2057400"/>
            <a:ext cx="3520440" cy="566928"/>
          </a:xfrm>
          <a:prstGeom prst="rect">
            <a:avLst/>
          </a:prstGeom>
          <a:noFill/>
          <a:ln/>
        </p:spPr>
        <p:txBody>
          <a:bodyPr wrap="square" lIns="0" tIns="0" rIns="0" bIns="0" rtlCol="0" anchor="ctr"/>
          <a:lstStyle/>
          <a:p>
            <a:pPr indent="0" marL="0">
              <a:buNone/>
            </a:pPr>
            <a:r>
              <a:rPr lang="en-US" sz="2600" b="1" dirty="0">
                <a:solidFill>
                  <a:srgbClr val="1B2733"/>
                </a:solidFill>
              </a:rPr>
              <a:t>16.9 → 7.7 days</a:t>
            </a:r>
            <a:endParaRPr lang="en-US" sz="2600" dirty="0"/>
          </a:p>
        </p:txBody>
      </p:sp>
      <p:sp>
        <p:nvSpPr>
          <p:cNvPr id="11" name="kpi drift sub"/>
          <p:cNvSpPr txBox="1"/>
          <p:nvPr/>
        </p:nvSpPr>
        <p:spPr>
          <a:xfrm>
            <a:off x="7973568" y="2587752"/>
            <a:ext cx="3520440" cy="384048"/>
          </a:xfrm>
          <a:prstGeom prst="rect">
            <a:avLst/>
          </a:prstGeom>
          <a:noFill/>
          <a:ln/>
        </p:spPr>
        <p:txBody>
          <a:bodyPr wrap="square" lIns="0" tIns="0" rIns="0" bIns="0" rtlCol="0" anchor="t"/>
          <a:lstStyle/>
          <a:p>
            <a:pPr indent="0" marL="0">
              <a:buNone/>
            </a:pPr>
            <a:r>
              <a:rPr lang="en-US" sz="1050" dirty="0">
                <a:solidFill>
                  <a:srgbClr val="61707D"/>
                </a:solidFill>
              </a:rPr>
              <a:t>mean lead time, Feb → Aug 2018. Under a level shift R² goes negative; MAE leads, and models must be refitted on a rolling basis.</a:t>
            </a:r>
            <a:endParaRPr lang="en-US" sz="1050" dirty="0"/>
          </a:p>
        </p:txBody>
      </p:sp>
      <p:sp>
        <p:nvSpPr>
          <p:cNvPr id="12" name="kpi late card"/>
          <p:cNvSpPr/>
          <p:nvPr/>
        </p:nvSpPr>
        <p:spPr>
          <a:xfrm>
            <a:off x="7680960" y="3200400"/>
            <a:ext cx="3931920" cy="1371600"/>
          </a:xfrm>
          <a:prstGeom prst="roundRect">
            <a:avLst>
              <a:gd name="adj" fmla="val 8000"/>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3" name="kpi late mark"/>
          <p:cNvSpPr/>
          <p:nvPr/>
        </p:nvSpPr>
        <p:spPr>
          <a:xfrm>
            <a:off x="7790688" y="3364992"/>
            <a:ext cx="64008" cy="1042416"/>
          </a:xfrm>
          <a:prstGeom prst="roundRect">
            <a:avLst>
              <a:gd name="adj" fmla="val 42857"/>
            </a:avLst>
          </a:prstGeom>
          <a:solidFill>
            <a:srgbClr val="C1666B"/>
          </a:solidFill>
          <a:ln w="12700">
            <a:solidFill>
              <a:srgbClr val="C1666B"/>
            </a:solidFill>
            <a:prstDash val="solid"/>
          </a:ln>
        </p:spPr>
      </p:sp>
      <p:sp>
        <p:nvSpPr>
          <p:cNvPr id="14" name="kpi late label"/>
          <p:cNvSpPr txBox="1"/>
          <p:nvPr/>
        </p:nvSpPr>
        <p:spPr>
          <a:xfrm>
            <a:off x="7973568" y="3310128"/>
            <a:ext cx="3520440" cy="274320"/>
          </a:xfrm>
          <a:prstGeom prst="rect">
            <a:avLst/>
          </a:prstGeom>
          <a:noFill/>
          <a:ln/>
        </p:spPr>
        <p:txBody>
          <a:bodyPr wrap="square" lIns="0" tIns="0" rIns="0" bIns="0" rtlCol="0" anchor="ctr"/>
          <a:lstStyle/>
          <a:p>
            <a:pPr indent="0" marL="0">
              <a:buNone/>
            </a:pPr>
            <a:r>
              <a:rPr lang="en-US" sz="950" b="1" spc="100" kern="0" dirty="0">
                <a:solidFill>
                  <a:srgbClr val="61707D"/>
                </a:solidFill>
              </a:rPr>
              <a:t>LATENESS IS VOLATILE, NOT TRENDING</a:t>
            </a:r>
            <a:endParaRPr lang="en-US" sz="950" dirty="0"/>
          </a:p>
        </p:txBody>
      </p:sp>
      <p:sp>
        <p:nvSpPr>
          <p:cNvPr id="15" name="kpi late value"/>
          <p:cNvSpPr txBox="1"/>
          <p:nvPr/>
        </p:nvSpPr>
        <p:spPr>
          <a:xfrm>
            <a:off x="7973568" y="3566160"/>
            <a:ext cx="3520440" cy="566928"/>
          </a:xfrm>
          <a:prstGeom prst="rect">
            <a:avLst/>
          </a:prstGeom>
          <a:noFill/>
          <a:ln/>
        </p:spPr>
        <p:txBody>
          <a:bodyPr wrap="square" lIns="0" tIns="0" rIns="0" bIns="0" rtlCol="0" anchor="ctr"/>
          <a:lstStyle/>
          <a:p>
            <a:pPr indent="0" marL="0">
              <a:buNone/>
            </a:pPr>
            <a:r>
              <a:rPr lang="en-US" sz="2600" b="1" dirty="0">
                <a:solidFill>
                  <a:srgbClr val="1B2733"/>
                </a:solidFill>
              </a:rPr>
              <a:t>1.4% – 21.4%</a:t>
            </a:r>
            <a:endParaRPr lang="en-US" sz="2600" dirty="0"/>
          </a:p>
        </p:txBody>
      </p:sp>
      <p:sp>
        <p:nvSpPr>
          <p:cNvPr id="16" name="kpi late sub"/>
          <p:cNvSpPr txBox="1"/>
          <p:nvPr/>
        </p:nvSpPr>
        <p:spPr>
          <a:xfrm>
            <a:off x="7973568" y="4096512"/>
            <a:ext cx="3520440" cy="384048"/>
          </a:xfrm>
          <a:prstGeom prst="rect">
            <a:avLst/>
          </a:prstGeom>
          <a:noFill/>
          <a:ln/>
        </p:spPr>
        <p:txBody>
          <a:bodyPr wrap="square" lIns="0" tIns="0" rIns="0" bIns="0" rtlCol="0" anchor="t"/>
          <a:lstStyle/>
          <a:p>
            <a:pPr indent="0" marL="0">
              <a:buNone/>
            </a:pPr>
            <a:r>
              <a:rPr lang="en-US" sz="1050" dirty="0">
                <a:solidFill>
                  <a:srgbClr val="61707D"/>
                </a:solidFill>
              </a:rPr>
              <a:t>monthly late rate. Black Friday 14.3%; Feb–Mar 2018 a carrier-side slowdown (transit 8.7 → 13.2 d) while the promise was tightened.</a:t>
            </a:r>
            <a:endParaRPr lang="en-US" sz="1050" dirty="0"/>
          </a:p>
        </p:txBody>
      </p:sp>
      <p:sp>
        <p:nvSpPr>
          <p:cNvPr id="17" name="kpi strike card"/>
          <p:cNvSpPr/>
          <p:nvPr/>
        </p:nvSpPr>
        <p:spPr>
          <a:xfrm>
            <a:off x="7680960" y="4709160"/>
            <a:ext cx="3931920" cy="1417320"/>
          </a:xfrm>
          <a:prstGeom prst="roundRect">
            <a:avLst>
              <a:gd name="adj" fmla="val 7742"/>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8" name="kpi strike mark"/>
          <p:cNvSpPr/>
          <p:nvPr/>
        </p:nvSpPr>
        <p:spPr>
          <a:xfrm>
            <a:off x="7790688" y="4873752"/>
            <a:ext cx="64008" cy="1088136"/>
          </a:xfrm>
          <a:prstGeom prst="roundRect">
            <a:avLst>
              <a:gd name="adj" fmla="val 42857"/>
            </a:avLst>
          </a:prstGeom>
          <a:solidFill>
            <a:srgbClr val="C08B2E"/>
          </a:solidFill>
          <a:ln w="12700">
            <a:solidFill>
              <a:srgbClr val="C08B2E"/>
            </a:solidFill>
            <a:prstDash val="solid"/>
          </a:ln>
        </p:spPr>
      </p:sp>
      <p:sp>
        <p:nvSpPr>
          <p:cNvPr id="19" name="kpi strike label"/>
          <p:cNvSpPr txBox="1"/>
          <p:nvPr/>
        </p:nvSpPr>
        <p:spPr>
          <a:xfrm>
            <a:off x="7973568" y="4818888"/>
            <a:ext cx="3520440" cy="274320"/>
          </a:xfrm>
          <a:prstGeom prst="rect">
            <a:avLst/>
          </a:prstGeom>
          <a:noFill/>
          <a:ln/>
        </p:spPr>
        <p:txBody>
          <a:bodyPr wrap="square" lIns="0" tIns="0" rIns="0" bIns="0" rtlCol="0" anchor="ctr"/>
          <a:lstStyle/>
          <a:p>
            <a:pPr indent="0" marL="0">
              <a:buNone/>
            </a:pPr>
            <a:r>
              <a:rPr lang="en-US" sz="950" b="1" spc="100" kern="0" dirty="0">
                <a:solidFill>
                  <a:srgbClr val="61707D"/>
                </a:solidFill>
              </a:rPr>
              <a:t>THE MAY 2018 TRUCKERS' STRIKE</a:t>
            </a:r>
            <a:endParaRPr lang="en-US" sz="950" dirty="0"/>
          </a:p>
        </p:txBody>
      </p:sp>
      <p:sp>
        <p:nvSpPr>
          <p:cNvPr id="20" name="kpi strike value"/>
          <p:cNvSpPr txBox="1"/>
          <p:nvPr/>
        </p:nvSpPr>
        <p:spPr>
          <a:xfrm>
            <a:off x="7973568" y="5074920"/>
            <a:ext cx="3520440" cy="566928"/>
          </a:xfrm>
          <a:prstGeom prst="rect">
            <a:avLst/>
          </a:prstGeom>
          <a:noFill/>
          <a:ln/>
        </p:spPr>
        <p:txBody>
          <a:bodyPr wrap="square" lIns="0" tIns="0" rIns="0" bIns="0" rtlCol="0" anchor="ctr"/>
          <a:lstStyle/>
          <a:p>
            <a:pPr indent="0" marL="0">
              <a:buNone/>
            </a:pPr>
            <a:r>
              <a:rPr lang="en-US" sz="2600" b="1" dirty="0">
                <a:solidFill>
                  <a:srgbClr val="1B2733"/>
                </a:solidFill>
              </a:rPr>
              <a:t>Only weekly</a:t>
            </a:r>
            <a:endParaRPr lang="en-US" sz="2600" dirty="0"/>
          </a:p>
        </p:txBody>
      </p:sp>
      <p:sp>
        <p:nvSpPr>
          <p:cNvPr id="21" name="kpi strike sub"/>
          <p:cNvSpPr txBox="1"/>
          <p:nvPr/>
        </p:nvSpPr>
        <p:spPr>
          <a:xfrm>
            <a:off x="7973568" y="5650992"/>
            <a:ext cx="3520440" cy="384048"/>
          </a:xfrm>
          <a:prstGeom prst="rect">
            <a:avLst/>
          </a:prstGeom>
          <a:noFill/>
          <a:ln/>
        </p:spPr>
        <p:txBody>
          <a:bodyPr wrap="square" lIns="0" tIns="0" rIns="0" bIns="0" rtlCol="0" anchor="t"/>
          <a:lstStyle/>
          <a:p>
            <a:pPr indent="0" marL="0">
              <a:buNone/>
            </a:pPr>
            <a:r>
              <a:rPr lang="en-US" sz="1050" dirty="0">
                <a:solidFill>
                  <a:srgbClr val="61707D"/>
                </a:solidFill>
              </a:rPr>
              <a:t>invisible in monthly data: orders in transit were 16.0% late, then the promise jumped from 19.5 to 36.8 days and June became the quietest month.</a:t>
            </a:r>
            <a:endParaRPr lang="en-US" sz="10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000" b="1" dirty="0">
                <a:solidFill>
                  <a:srgbClr val="1B2733"/>
                </a:solidFill>
              </a:rPr>
              <a:t>Three families as ladders — complexity has to earn its place</a:t>
            </a:r>
            <a:endParaRPr lang="en-US" sz="3000" dirty="0"/>
          </a:p>
        </p:txBody>
      </p:sp>
      <p:sp>
        <p:nvSpPr>
          <p:cNvPr id="3" name="subtitle"/>
          <p:cNvSpPr txBox="1"/>
          <p:nvPr/>
        </p:nvSpPr>
        <p:spPr>
          <a:xfrm>
            <a:off x="548640" y="1097280"/>
            <a:ext cx="11091672" cy="411480"/>
          </a:xfrm>
          <a:prstGeom prst="rect">
            <a:avLst/>
          </a:prstGeom>
          <a:noFill/>
          <a:ln/>
        </p:spPr>
        <p:txBody>
          <a:bodyPr wrap="square" lIns="0" tIns="0" rIns="0" bIns="0" rtlCol="0" anchor="ctr"/>
          <a:lstStyle/>
          <a:p>
            <a:pPr indent="0" marL="0">
              <a:buNone/>
            </a:pPr>
            <a:r>
              <a:rPr lang="en-US" sz="1500" dirty="0">
                <a:solidFill>
                  <a:srgbClr val="61707D"/>
                </a:solidFill>
              </a:rPr>
              <a:t>The same three families serve the regression and both classifiers; every rung is compared with the one below it</a:t>
            </a:r>
            <a:endParaRPr lang="en-US" sz="1500" dirty="0"/>
          </a:p>
        </p:txBody>
      </p:sp>
      <p:sp>
        <p:nvSpPr>
          <p:cNvPr id="4" name="A · LINEAR card"/>
          <p:cNvSpPr/>
          <p:nvPr/>
        </p:nvSpPr>
        <p:spPr>
          <a:xfrm>
            <a:off x="548640" y="1691640"/>
            <a:ext cx="3611880" cy="2743200"/>
          </a:xfrm>
          <a:prstGeom prst="roundRect">
            <a:avLst>
              <a:gd name="adj" fmla="val 4000"/>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5" name="A · LINEAR kicker"/>
          <p:cNvSpPr txBox="1"/>
          <p:nvPr/>
        </p:nvSpPr>
        <p:spPr>
          <a:xfrm>
            <a:off x="731520" y="1801368"/>
            <a:ext cx="3291840" cy="274320"/>
          </a:xfrm>
          <a:prstGeom prst="rect">
            <a:avLst/>
          </a:prstGeom>
          <a:noFill/>
          <a:ln/>
        </p:spPr>
        <p:txBody>
          <a:bodyPr wrap="square" lIns="0" tIns="0" rIns="0" bIns="0" rtlCol="0" anchor="ctr"/>
          <a:lstStyle/>
          <a:p>
            <a:pPr indent="0" marL="0">
              <a:buNone/>
            </a:pPr>
            <a:r>
              <a:rPr lang="en-US" sz="1050" b="1" spc="100" kern="0" dirty="0">
                <a:solidFill>
                  <a:srgbClr val="2F6F9F"/>
                </a:solidFill>
              </a:rPr>
              <a:t>A · LINEAR</a:t>
            </a:r>
            <a:endParaRPr lang="en-US" sz="1050" dirty="0"/>
          </a:p>
        </p:txBody>
      </p:sp>
      <p:sp>
        <p:nvSpPr>
          <p:cNvPr id="6" name="A · LINEAR rung 0"/>
          <p:cNvSpPr/>
          <p:nvPr/>
        </p:nvSpPr>
        <p:spPr>
          <a:xfrm>
            <a:off x="777240" y="3547872"/>
            <a:ext cx="3154680" cy="420624"/>
          </a:xfrm>
          <a:prstGeom prst="roundRect">
            <a:avLst>
              <a:gd name="adj" fmla="val 17391"/>
            </a:avLst>
          </a:prstGeom>
          <a:solidFill>
            <a:srgbClr val="FFFFFF"/>
          </a:solidFill>
          <a:ln w="12700">
            <a:solidFill>
              <a:srgbClr val="2F6F9F"/>
            </a:solidFill>
            <a:prstDash val="solid"/>
          </a:ln>
        </p:spPr>
      </p:sp>
      <p:sp>
        <p:nvSpPr>
          <p:cNvPr id="7" name="A · LINEAR rung text 0"/>
          <p:cNvSpPr txBox="1"/>
          <p:nvPr/>
        </p:nvSpPr>
        <p:spPr>
          <a:xfrm>
            <a:off x="777240" y="3547872"/>
            <a:ext cx="3154680" cy="420624"/>
          </a:xfrm>
          <a:prstGeom prst="rect">
            <a:avLst/>
          </a:prstGeom>
          <a:noFill/>
          <a:ln/>
        </p:spPr>
        <p:txBody>
          <a:bodyPr wrap="square" lIns="0" tIns="0" rIns="0" bIns="0" rtlCol="0" anchor="ctr"/>
          <a:lstStyle/>
          <a:p>
            <a:pPr algn="ctr" indent="0" marL="0">
              <a:buNone/>
            </a:pPr>
            <a:r>
              <a:rPr lang="en-US" sz="1150" dirty="0">
                <a:solidFill>
                  <a:srgbClr val="1B2733"/>
                </a:solidFill>
              </a:rPr>
              <a:t>rung 0  ·  LinearRegression / LogisticRegression</a:t>
            </a:r>
            <a:endParaRPr lang="en-US" sz="1150" dirty="0"/>
          </a:p>
        </p:txBody>
      </p:sp>
      <p:sp>
        <p:nvSpPr>
          <p:cNvPr id="8" name="A · LINEAR rung 1"/>
          <p:cNvSpPr/>
          <p:nvPr/>
        </p:nvSpPr>
        <p:spPr>
          <a:xfrm>
            <a:off x="777240" y="2980944"/>
            <a:ext cx="3154680" cy="420624"/>
          </a:xfrm>
          <a:prstGeom prst="roundRect">
            <a:avLst>
              <a:gd name="adj" fmla="val 17391"/>
            </a:avLst>
          </a:prstGeom>
          <a:solidFill>
            <a:srgbClr val="2F6F9F"/>
          </a:solidFill>
          <a:ln w="12700">
            <a:solidFill>
              <a:srgbClr val="2F6F9F"/>
            </a:solidFill>
            <a:prstDash val="solid"/>
          </a:ln>
        </p:spPr>
      </p:sp>
      <p:sp>
        <p:nvSpPr>
          <p:cNvPr id="9" name="A · LINEAR rung text 1"/>
          <p:cNvSpPr txBox="1"/>
          <p:nvPr/>
        </p:nvSpPr>
        <p:spPr>
          <a:xfrm>
            <a:off x="777240" y="2980944"/>
            <a:ext cx="3154680" cy="420624"/>
          </a:xfrm>
          <a:prstGeom prst="rect">
            <a:avLst/>
          </a:prstGeom>
          <a:noFill/>
          <a:ln/>
        </p:spPr>
        <p:txBody>
          <a:bodyPr wrap="square" lIns="0" tIns="0" rIns="0" bIns="0" rtlCol="0" anchor="ctr"/>
          <a:lstStyle/>
          <a:p>
            <a:pPr algn="ctr" indent="0" marL="0">
              <a:buNone/>
            </a:pPr>
            <a:r>
              <a:rPr lang="en-US" sz="1150" b="1" dirty="0">
                <a:solidFill>
                  <a:srgbClr val="FFFFFF"/>
                </a:solidFill>
              </a:rPr>
              <a:t>rung 1  ·  Ridge / ℓ2 logistic</a:t>
            </a:r>
            <a:endParaRPr lang="en-US" sz="1150" dirty="0"/>
          </a:p>
        </p:txBody>
      </p:sp>
      <p:sp>
        <p:nvSpPr>
          <p:cNvPr id="10" name="B · TREE-BASED card"/>
          <p:cNvSpPr/>
          <p:nvPr/>
        </p:nvSpPr>
        <p:spPr>
          <a:xfrm>
            <a:off x="4343400" y="1691640"/>
            <a:ext cx="3611880" cy="2743200"/>
          </a:xfrm>
          <a:prstGeom prst="roundRect">
            <a:avLst>
              <a:gd name="adj" fmla="val 4000"/>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1" name="B · TREE-BASED kicker"/>
          <p:cNvSpPr txBox="1"/>
          <p:nvPr/>
        </p:nvSpPr>
        <p:spPr>
          <a:xfrm>
            <a:off x="4526280" y="1801368"/>
            <a:ext cx="3291840" cy="274320"/>
          </a:xfrm>
          <a:prstGeom prst="rect">
            <a:avLst/>
          </a:prstGeom>
          <a:noFill/>
          <a:ln/>
        </p:spPr>
        <p:txBody>
          <a:bodyPr wrap="square" lIns="0" tIns="0" rIns="0" bIns="0" rtlCol="0" anchor="ctr"/>
          <a:lstStyle/>
          <a:p>
            <a:pPr indent="0" marL="0">
              <a:buNone/>
            </a:pPr>
            <a:r>
              <a:rPr lang="en-US" sz="1050" b="1" spc="100" kern="0" dirty="0">
                <a:solidFill>
                  <a:srgbClr val="5B8C5A"/>
                </a:solidFill>
              </a:rPr>
              <a:t>B · TREE-BASED</a:t>
            </a:r>
            <a:endParaRPr lang="en-US" sz="1050" dirty="0"/>
          </a:p>
        </p:txBody>
      </p:sp>
      <p:sp>
        <p:nvSpPr>
          <p:cNvPr id="12" name="B · TREE-BASED rung 0"/>
          <p:cNvSpPr/>
          <p:nvPr/>
        </p:nvSpPr>
        <p:spPr>
          <a:xfrm>
            <a:off x="4572000" y="3547872"/>
            <a:ext cx="3154680" cy="420624"/>
          </a:xfrm>
          <a:prstGeom prst="roundRect">
            <a:avLst>
              <a:gd name="adj" fmla="val 17391"/>
            </a:avLst>
          </a:prstGeom>
          <a:solidFill>
            <a:srgbClr val="FFFFFF"/>
          </a:solidFill>
          <a:ln w="12700">
            <a:solidFill>
              <a:srgbClr val="5B8C5A"/>
            </a:solidFill>
            <a:prstDash val="solid"/>
          </a:ln>
        </p:spPr>
      </p:sp>
      <p:sp>
        <p:nvSpPr>
          <p:cNvPr id="13" name="B · TREE-BASED rung text 0"/>
          <p:cNvSpPr txBox="1"/>
          <p:nvPr/>
        </p:nvSpPr>
        <p:spPr>
          <a:xfrm>
            <a:off x="4572000" y="3547872"/>
            <a:ext cx="3154680" cy="420624"/>
          </a:xfrm>
          <a:prstGeom prst="rect">
            <a:avLst/>
          </a:prstGeom>
          <a:noFill/>
          <a:ln/>
        </p:spPr>
        <p:txBody>
          <a:bodyPr wrap="square" lIns="0" tIns="0" rIns="0" bIns="0" rtlCol="0" anchor="ctr"/>
          <a:lstStyle/>
          <a:p>
            <a:pPr algn="ctr" indent="0" marL="0">
              <a:buNone/>
            </a:pPr>
            <a:r>
              <a:rPr lang="en-US" sz="1150" dirty="0">
                <a:solidFill>
                  <a:srgbClr val="1B2733"/>
                </a:solidFill>
              </a:rPr>
              <a:t>rung 0  ·  DecisionTree</a:t>
            </a:r>
            <a:endParaRPr lang="en-US" sz="1150" dirty="0"/>
          </a:p>
        </p:txBody>
      </p:sp>
      <p:sp>
        <p:nvSpPr>
          <p:cNvPr id="14" name="B · TREE-BASED rung 1"/>
          <p:cNvSpPr/>
          <p:nvPr/>
        </p:nvSpPr>
        <p:spPr>
          <a:xfrm>
            <a:off x="4572000" y="2980944"/>
            <a:ext cx="3154680" cy="420624"/>
          </a:xfrm>
          <a:prstGeom prst="roundRect">
            <a:avLst>
              <a:gd name="adj" fmla="val 17391"/>
            </a:avLst>
          </a:prstGeom>
          <a:solidFill>
            <a:srgbClr val="FFFFFF"/>
          </a:solidFill>
          <a:ln w="12700">
            <a:solidFill>
              <a:srgbClr val="5B8C5A"/>
            </a:solidFill>
            <a:prstDash val="solid"/>
          </a:ln>
        </p:spPr>
      </p:sp>
      <p:sp>
        <p:nvSpPr>
          <p:cNvPr id="15" name="B · TREE-BASED rung text 1"/>
          <p:cNvSpPr txBox="1"/>
          <p:nvPr/>
        </p:nvSpPr>
        <p:spPr>
          <a:xfrm>
            <a:off x="4572000" y="2980944"/>
            <a:ext cx="3154680" cy="420624"/>
          </a:xfrm>
          <a:prstGeom prst="rect">
            <a:avLst/>
          </a:prstGeom>
          <a:noFill/>
          <a:ln/>
        </p:spPr>
        <p:txBody>
          <a:bodyPr wrap="square" lIns="0" tIns="0" rIns="0" bIns="0" rtlCol="0" anchor="ctr"/>
          <a:lstStyle/>
          <a:p>
            <a:pPr algn="ctr" indent="0" marL="0">
              <a:buNone/>
            </a:pPr>
            <a:r>
              <a:rPr lang="en-US" sz="1150" dirty="0">
                <a:solidFill>
                  <a:srgbClr val="1B2733"/>
                </a:solidFill>
              </a:rPr>
              <a:t>rung 1  ·  RandomForest</a:t>
            </a:r>
            <a:endParaRPr lang="en-US" sz="1150" dirty="0"/>
          </a:p>
        </p:txBody>
      </p:sp>
      <p:sp>
        <p:nvSpPr>
          <p:cNvPr id="16" name="B · TREE-BASED rung 2"/>
          <p:cNvSpPr/>
          <p:nvPr/>
        </p:nvSpPr>
        <p:spPr>
          <a:xfrm>
            <a:off x="4572000" y="2414016"/>
            <a:ext cx="3154680" cy="420624"/>
          </a:xfrm>
          <a:prstGeom prst="roundRect">
            <a:avLst>
              <a:gd name="adj" fmla="val 17391"/>
            </a:avLst>
          </a:prstGeom>
          <a:solidFill>
            <a:srgbClr val="5B8C5A"/>
          </a:solidFill>
          <a:ln w="12700">
            <a:solidFill>
              <a:srgbClr val="5B8C5A"/>
            </a:solidFill>
            <a:prstDash val="solid"/>
          </a:ln>
        </p:spPr>
      </p:sp>
      <p:sp>
        <p:nvSpPr>
          <p:cNvPr id="17" name="B · TREE-BASED rung text 2"/>
          <p:cNvSpPr txBox="1"/>
          <p:nvPr/>
        </p:nvSpPr>
        <p:spPr>
          <a:xfrm>
            <a:off x="4572000" y="2414016"/>
            <a:ext cx="3154680" cy="420624"/>
          </a:xfrm>
          <a:prstGeom prst="rect">
            <a:avLst/>
          </a:prstGeom>
          <a:noFill/>
          <a:ln/>
        </p:spPr>
        <p:txBody>
          <a:bodyPr wrap="square" lIns="0" tIns="0" rIns="0" bIns="0" rtlCol="0" anchor="ctr"/>
          <a:lstStyle/>
          <a:p>
            <a:pPr algn="ctr" indent="0" marL="0">
              <a:buNone/>
            </a:pPr>
            <a:r>
              <a:rPr lang="en-US" sz="1150" b="1" dirty="0">
                <a:solidFill>
                  <a:srgbClr val="FFFFFF"/>
                </a:solidFill>
              </a:rPr>
              <a:t>rung 2  ·  HistGradientBoosting</a:t>
            </a:r>
            <a:endParaRPr lang="en-US" sz="1150" dirty="0"/>
          </a:p>
        </p:txBody>
      </p:sp>
      <p:sp>
        <p:nvSpPr>
          <p:cNvPr id="18" name="C · ENSEMBLE card"/>
          <p:cNvSpPr/>
          <p:nvPr/>
        </p:nvSpPr>
        <p:spPr>
          <a:xfrm>
            <a:off x="8138160" y="1691640"/>
            <a:ext cx="3611880" cy="2743200"/>
          </a:xfrm>
          <a:prstGeom prst="roundRect">
            <a:avLst>
              <a:gd name="adj" fmla="val 4000"/>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9" name="C · ENSEMBLE kicker"/>
          <p:cNvSpPr txBox="1"/>
          <p:nvPr/>
        </p:nvSpPr>
        <p:spPr>
          <a:xfrm>
            <a:off x="8321040" y="1801368"/>
            <a:ext cx="3291840" cy="274320"/>
          </a:xfrm>
          <a:prstGeom prst="rect">
            <a:avLst/>
          </a:prstGeom>
          <a:noFill/>
          <a:ln/>
        </p:spPr>
        <p:txBody>
          <a:bodyPr wrap="square" lIns="0" tIns="0" rIns="0" bIns="0" rtlCol="0" anchor="ctr"/>
          <a:lstStyle/>
          <a:p>
            <a:pPr indent="0" marL="0">
              <a:buNone/>
            </a:pPr>
            <a:r>
              <a:rPr lang="en-US" sz="1050" b="1" spc="100" kern="0" dirty="0">
                <a:solidFill>
                  <a:srgbClr val="C08B2E"/>
                </a:solidFill>
              </a:rPr>
              <a:t>C · ENSEMBLE</a:t>
            </a:r>
            <a:endParaRPr lang="en-US" sz="1050" dirty="0"/>
          </a:p>
        </p:txBody>
      </p:sp>
      <p:sp>
        <p:nvSpPr>
          <p:cNvPr id="20" name="C · ENSEMBLE rung 0"/>
          <p:cNvSpPr/>
          <p:nvPr/>
        </p:nvSpPr>
        <p:spPr>
          <a:xfrm>
            <a:off x="8366760" y="3547872"/>
            <a:ext cx="3154680" cy="420624"/>
          </a:xfrm>
          <a:prstGeom prst="roundRect">
            <a:avLst>
              <a:gd name="adj" fmla="val 17391"/>
            </a:avLst>
          </a:prstGeom>
          <a:solidFill>
            <a:srgbClr val="FFFFFF"/>
          </a:solidFill>
          <a:ln w="12700">
            <a:solidFill>
              <a:srgbClr val="C08B2E"/>
            </a:solidFill>
            <a:prstDash val="solid"/>
          </a:ln>
        </p:spPr>
      </p:sp>
      <p:sp>
        <p:nvSpPr>
          <p:cNvPr id="21" name="C · ENSEMBLE rung text 0"/>
          <p:cNvSpPr txBox="1"/>
          <p:nvPr/>
        </p:nvSpPr>
        <p:spPr>
          <a:xfrm>
            <a:off x="8366760" y="3547872"/>
            <a:ext cx="3154680" cy="420624"/>
          </a:xfrm>
          <a:prstGeom prst="rect">
            <a:avLst/>
          </a:prstGeom>
          <a:noFill/>
          <a:ln/>
        </p:spPr>
        <p:txBody>
          <a:bodyPr wrap="square" lIns="0" tIns="0" rIns="0" bIns="0" rtlCol="0" anchor="ctr"/>
          <a:lstStyle/>
          <a:p>
            <a:pPr algn="ctr" indent="0" marL="0">
              <a:buNone/>
            </a:pPr>
            <a:r>
              <a:rPr lang="en-US" sz="1150" dirty="0">
                <a:solidFill>
                  <a:srgbClr val="1B2733"/>
                </a:solidFill>
              </a:rPr>
              <a:t>rung 0  ·  Voting (A + B)</a:t>
            </a:r>
            <a:endParaRPr lang="en-US" sz="1150" dirty="0"/>
          </a:p>
        </p:txBody>
      </p:sp>
      <p:sp>
        <p:nvSpPr>
          <p:cNvPr id="22" name="C · ENSEMBLE rung 1"/>
          <p:cNvSpPr/>
          <p:nvPr/>
        </p:nvSpPr>
        <p:spPr>
          <a:xfrm>
            <a:off x="8366760" y="2980944"/>
            <a:ext cx="3154680" cy="420624"/>
          </a:xfrm>
          <a:prstGeom prst="roundRect">
            <a:avLst>
              <a:gd name="adj" fmla="val 17391"/>
            </a:avLst>
          </a:prstGeom>
          <a:solidFill>
            <a:srgbClr val="C08B2E"/>
          </a:solidFill>
          <a:ln w="12700">
            <a:solidFill>
              <a:srgbClr val="C08B2E"/>
            </a:solidFill>
            <a:prstDash val="solid"/>
          </a:ln>
        </p:spPr>
      </p:sp>
      <p:sp>
        <p:nvSpPr>
          <p:cNvPr id="23" name="C · ENSEMBLE rung text 1"/>
          <p:cNvSpPr txBox="1"/>
          <p:nvPr/>
        </p:nvSpPr>
        <p:spPr>
          <a:xfrm>
            <a:off x="8366760" y="2980944"/>
            <a:ext cx="3154680" cy="420624"/>
          </a:xfrm>
          <a:prstGeom prst="rect">
            <a:avLst/>
          </a:prstGeom>
          <a:noFill/>
          <a:ln/>
        </p:spPr>
        <p:txBody>
          <a:bodyPr wrap="square" lIns="0" tIns="0" rIns="0" bIns="0" rtlCol="0" anchor="ctr"/>
          <a:lstStyle/>
          <a:p>
            <a:pPr algn="ctr" indent="0" marL="0">
              <a:buNone/>
            </a:pPr>
            <a:r>
              <a:rPr lang="en-US" sz="1150" b="1" dirty="0">
                <a:solidFill>
                  <a:srgbClr val="FFFFFF"/>
                </a:solidFill>
              </a:rPr>
              <a:t>rung 1  ·  Stacking (A + B)</a:t>
            </a:r>
            <a:endParaRPr lang="en-US" sz="1150" dirty="0"/>
          </a:p>
        </p:txBody>
      </p:sp>
      <p:sp>
        <p:nvSpPr>
          <p:cNvPr id="24" name="pipeline note"/>
          <p:cNvSpPr txBox="1"/>
          <p:nvPr/>
        </p:nvSpPr>
        <p:spPr>
          <a:xfrm>
            <a:off x="548640" y="4526280"/>
            <a:ext cx="11064240" cy="502920"/>
          </a:xfrm>
          <a:prstGeom prst="rect">
            <a:avLst/>
          </a:prstGeom>
          <a:noFill/>
          <a:ln/>
        </p:spPr>
        <p:txBody>
          <a:bodyPr wrap="square" lIns="0" tIns="0" rIns="0" bIns="0" rtlCol="0" anchor="ctr"/>
          <a:lstStyle/>
          <a:p>
            <a:pPr indent="0" marL="0">
              <a:buNone/>
            </a:pPr>
            <a:r>
              <a:rPr lang="en-US" sz="1150" dirty="0">
                <a:solidFill>
                  <a:srgbClr val="61707D"/>
                </a:solidFill>
              </a:rPr>
              <a:t>Every model is a scikit-learn Pipeline (imputation, one-hot with rare levels pooled, scaling for the linear family only). Search: RandomizedSearchCV, 30 draws, scored by five expanding-window folds. Seed 42 everywhere.</a:t>
            </a:r>
            <a:endParaRPr lang="en-US" sz="1150" dirty="0"/>
          </a:p>
        </p:txBody>
      </p:sp>
      <p:sp>
        <p:nvSpPr>
          <p:cNvPr id="25" name="Time is respected card"/>
          <p:cNvSpPr/>
          <p:nvPr/>
        </p:nvSpPr>
        <p:spPr>
          <a:xfrm>
            <a:off x="548640" y="5120640"/>
            <a:ext cx="3611880" cy="1005840"/>
          </a:xfrm>
          <a:prstGeom prst="roundRect">
            <a:avLst>
              <a:gd name="adj" fmla="val 10909"/>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26" name="Time is respected icon circle"/>
          <p:cNvSpPr/>
          <p:nvPr/>
        </p:nvSpPr>
        <p:spPr>
          <a:xfrm>
            <a:off x="685800" y="5285232"/>
            <a:ext cx="548640" cy="548640"/>
          </a:xfrm>
          <a:prstGeom prst="ellipse">
            <a:avLst/>
          </a:prstGeom>
          <a:solidFill>
            <a:srgbClr val="DCE6EF"/>
          </a:solidFill>
          <a:ln w="12700">
            <a:solidFill>
              <a:srgbClr val="DCE6EF"/>
            </a:solidFill>
            <a:prstDash val="solid"/>
          </a:ln>
        </p:spPr>
      </p:sp>
      <p:pic>
        <p:nvPicPr>
          <p:cNvPr id="27" name="Time is respected icon" descr="preencoded.png">    </p:cNvPr>
          <p:cNvPicPr>
            <a:picLocks noChangeAspect="1"/>
          </p:cNvPicPr>
          <p:nvPr/>
        </p:nvPicPr>
        <p:blipFill>
          <a:blip r:embed="rId1"/>
          <a:stretch>
            <a:fillRect/>
          </a:stretch>
        </p:blipFill>
        <p:spPr>
          <a:xfrm>
            <a:off x="828446" y="5427878"/>
            <a:ext cx="263347" cy="263347"/>
          </a:xfrm>
          <a:prstGeom prst="rect">
            <a:avLst/>
          </a:prstGeom>
        </p:spPr>
      </p:pic>
      <p:sp>
        <p:nvSpPr>
          <p:cNvPr id="28" name="Time is respected head"/>
          <p:cNvSpPr txBox="1"/>
          <p:nvPr/>
        </p:nvSpPr>
        <p:spPr>
          <a:xfrm>
            <a:off x="1371600" y="5193792"/>
            <a:ext cx="2697480" cy="274320"/>
          </a:xfrm>
          <a:prstGeom prst="rect">
            <a:avLst/>
          </a:prstGeom>
          <a:noFill/>
          <a:ln/>
        </p:spPr>
        <p:txBody>
          <a:bodyPr wrap="square" lIns="0" tIns="0" rIns="0" bIns="0" rtlCol="0" anchor="ctr"/>
          <a:lstStyle/>
          <a:p>
            <a:pPr indent="0" marL="0">
              <a:buNone/>
            </a:pPr>
            <a:r>
              <a:rPr lang="en-US" sz="1200" b="1" dirty="0">
                <a:solidFill>
                  <a:srgbClr val="1B2733"/>
                </a:solidFill>
              </a:rPr>
              <a:t>Time is respected</a:t>
            </a:r>
            <a:endParaRPr lang="en-US" sz="1200" dirty="0"/>
          </a:p>
        </p:txBody>
      </p:sp>
      <p:sp>
        <p:nvSpPr>
          <p:cNvPr id="29" name="Time is respected body"/>
          <p:cNvSpPr txBox="1"/>
          <p:nvPr/>
        </p:nvSpPr>
        <p:spPr>
          <a:xfrm>
            <a:off x="1371600" y="5458968"/>
            <a:ext cx="2697480" cy="640080"/>
          </a:xfrm>
          <a:prstGeom prst="rect">
            <a:avLst/>
          </a:prstGeom>
          <a:noFill/>
          <a:ln/>
        </p:spPr>
        <p:txBody>
          <a:bodyPr wrap="square" lIns="0" tIns="0" rIns="0" bIns="0" rtlCol="0" anchor="t"/>
          <a:lstStyle/>
          <a:p>
            <a:pPr indent="0" marL="0">
              <a:buNone/>
            </a:pPr>
            <a:r>
              <a:rPr lang="en-US" sz="950" dirty="0">
                <a:solidFill>
                  <a:srgbClr val="61707D"/>
                </a:solidFill>
              </a:rPr>
              <a:t>TimeSeriesSplit ×5 for tuning; shuffled k-fold shown only as a contrast exhibit</a:t>
            </a:r>
            <a:endParaRPr lang="en-US" sz="950" dirty="0"/>
          </a:p>
        </p:txBody>
      </p:sp>
      <p:sp>
        <p:nvSpPr>
          <p:cNvPr id="30" name="Select by rank, not by score card"/>
          <p:cNvSpPr/>
          <p:nvPr/>
        </p:nvSpPr>
        <p:spPr>
          <a:xfrm>
            <a:off x="4343400" y="5120640"/>
            <a:ext cx="3611880" cy="1005840"/>
          </a:xfrm>
          <a:prstGeom prst="roundRect">
            <a:avLst>
              <a:gd name="adj" fmla="val 10909"/>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31" name="Select by rank, not by score icon circle"/>
          <p:cNvSpPr/>
          <p:nvPr/>
        </p:nvSpPr>
        <p:spPr>
          <a:xfrm>
            <a:off x="4480560" y="5285232"/>
            <a:ext cx="548640" cy="548640"/>
          </a:xfrm>
          <a:prstGeom prst="ellipse">
            <a:avLst/>
          </a:prstGeom>
          <a:solidFill>
            <a:srgbClr val="DCE6EF"/>
          </a:solidFill>
          <a:ln w="12700">
            <a:solidFill>
              <a:srgbClr val="DCE6EF"/>
            </a:solidFill>
            <a:prstDash val="solid"/>
          </a:ln>
        </p:spPr>
      </p:sp>
      <p:pic>
        <p:nvPicPr>
          <p:cNvPr id="32" name="Select by rank, not by score icon" descr="preencoded.png">    </p:cNvPr>
          <p:cNvPicPr>
            <a:picLocks noChangeAspect="1"/>
          </p:cNvPicPr>
          <p:nvPr/>
        </p:nvPicPr>
        <p:blipFill>
          <a:blip r:embed="rId2"/>
          <a:stretch>
            <a:fillRect/>
          </a:stretch>
        </p:blipFill>
        <p:spPr>
          <a:xfrm>
            <a:off x="4623206" y="5427878"/>
            <a:ext cx="263347" cy="263347"/>
          </a:xfrm>
          <a:prstGeom prst="rect">
            <a:avLst/>
          </a:prstGeom>
        </p:spPr>
      </p:pic>
      <p:sp>
        <p:nvSpPr>
          <p:cNvPr id="33" name="Select by rank, not by score head"/>
          <p:cNvSpPr txBox="1"/>
          <p:nvPr/>
        </p:nvSpPr>
        <p:spPr>
          <a:xfrm>
            <a:off x="5166360" y="5193792"/>
            <a:ext cx="2697480" cy="274320"/>
          </a:xfrm>
          <a:prstGeom prst="rect">
            <a:avLst/>
          </a:prstGeom>
          <a:noFill/>
          <a:ln/>
        </p:spPr>
        <p:txBody>
          <a:bodyPr wrap="square" lIns="0" tIns="0" rIns="0" bIns="0" rtlCol="0" anchor="ctr"/>
          <a:lstStyle/>
          <a:p>
            <a:pPr indent="0" marL="0">
              <a:buNone/>
            </a:pPr>
            <a:r>
              <a:rPr lang="en-US" sz="1200" b="1" dirty="0">
                <a:solidFill>
                  <a:srgbClr val="1B2733"/>
                </a:solidFill>
              </a:rPr>
              <a:t>Select by rank, not by score</a:t>
            </a:r>
            <a:endParaRPr lang="en-US" sz="1200" dirty="0"/>
          </a:p>
        </p:txBody>
      </p:sp>
      <p:sp>
        <p:nvSpPr>
          <p:cNvPr id="34" name="Select by rank, not by score body"/>
          <p:cNvSpPr txBox="1"/>
          <p:nvPr/>
        </p:nvSpPr>
        <p:spPr>
          <a:xfrm>
            <a:off x="5166360" y="5458968"/>
            <a:ext cx="2697480" cy="640080"/>
          </a:xfrm>
          <a:prstGeom prst="rect">
            <a:avLst/>
          </a:prstGeom>
          <a:noFill/>
          <a:ln/>
        </p:spPr>
        <p:txBody>
          <a:bodyPr wrap="square" lIns="0" tIns="0" rIns="0" bIns="0" rtlCol="0" anchor="t"/>
          <a:lstStyle/>
          <a:p>
            <a:pPr indent="0" marL="0">
              <a:buNone/>
            </a:pPr>
            <a:r>
              <a:rPr lang="en-US" sz="950" dirty="0">
                <a:solidFill>
                  <a:srgbClr val="61707D"/>
                </a:solidFill>
              </a:rPr>
              <a:t>Windows differ in difficulty more than models do, so candidates are ranked within each of the 3 most recent windows</a:t>
            </a:r>
            <a:endParaRPr lang="en-US" sz="950" dirty="0"/>
          </a:p>
        </p:txBody>
      </p:sp>
      <p:sp>
        <p:nvSpPr>
          <p:cNvPr id="35" name="Metrics match the action card"/>
          <p:cNvSpPr/>
          <p:nvPr/>
        </p:nvSpPr>
        <p:spPr>
          <a:xfrm>
            <a:off x="8138160" y="5120640"/>
            <a:ext cx="3611880" cy="1005840"/>
          </a:xfrm>
          <a:prstGeom prst="roundRect">
            <a:avLst>
              <a:gd name="adj" fmla="val 10909"/>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36" name="Metrics match the action icon circle"/>
          <p:cNvSpPr/>
          <p:nvPr/>
        </p:nvSpPr>
        <p:spPr>
          <a:xfrm>
            <a:off x="8275320" y="5285232"/>
            <a:ext cx="548640" cy="548640"/>
          </a:xfrm>
          <a:prstGeom prst="ellipse">
            <a:avLst/>
          </a:prstGeom>
          <a:solidFill>
            <a:srgbClr val="DCE6EF"/>
          </a:solidFill>
          <a:ln w="12700">
            <a:solidFill>
              <a:srgbClr val="DCE6EF"/>
            </a:solidFill>
            <a:prstDash val="solid"/>
          </a:ln>
        </p:spPr>
      </p:sp>
      <p:pic>
        <p:nvPicPr>
          <p:cNvPr id="37" name="Metrics match the action icon" descr="preencoded.png">    </p:cNvPr>
          <p:cNvPicPr>
            <a:picLocks noChangeAspect="1"/>
          </p:cNvPicPr>
          <p:nvPr/>
        </p:nvPicPr>
        <p:blipFill>
          <a:blip r:embed="rId3"/>
          <a:stretch>
            <a:fillRect/>
          </a:stretch>
        </p:blipFill>
        <p:spPr>
          <a:xfrm>
            <a:off x="8417966" y="5427878"/>
            <a:ext cx="263347" cy="263347"/>
          </a:xfrm>
          <a:prstGeom prst="rect">
            <a:avLst/>
          </a:prstGeom>
        </p:spPr>
      </p:pic>
      <p:sp>
        <p:nvSpPr>
          <p:cNvPr id="38" name="Metrics match the action head"/>
          <p:cNvSpPr txBox="1"/>
          <p:nvPr/>
        </p:nvSpPr>
        <p:spPr>
          <a:xfrm>
            <a:off x="8961120" y="5193792"/>
            <a:ext cx="2697480" cy="274320"/>
          </a:xfrm>
          <a:prstGeom prst="rect">
            <a:avLst/>
          </a:prstGeom>
          <a:noFill/>
          <a:ln/>
        </p:spPr>
        <p:txBody>
          <a:bodyPr wrap="square" lIns="0" tIns="0" rIns="0" bIns="0" rtlCol="0" anchor="ctr"/>
          <a:lstStyle/>
          <a:p>
            <a:pPr indent="0" marL="0">
              <a:buNone/>
            </a:pPr>
            <a:r>
              <a:rPr lang="en-US" sz="1200" b="1" dirty="0">
                <a:solidFill>
                  <a:srgbClr val="1B2733"/>
                </a:solidFill>
              </a:rPr>
              <a:t>Metrics match the action</a:t>
            </a:r>
            <a:endParaRPr lang="en-US" sz="1200" dirty="0"/>
          </a:p>
        </p:txBody>
      </p:sp>
      <p:sp>
        <p:nvSpPr>
          <p:cNvPr id="39" name="Metrics match the action body"/>
          <p:cNvSpPr txBox="1"/>
          <p:nvPr/>
        </p:nvSpPr>
        <p:spPr>
          <a:xfrm>
            <a:off x="8961120" y="5458968"/>
            <a:ext cx="2697480" cy="640080"/>
          </a:xfrm>
          <a:prstGeom prst="rect">
            <a:avLst/>
          </a:prstGeom>
          <a:noFill/>
          <a:ln/>
        </p:spPr>
        <p:txBody>
          <a:bodyPr wrap="square" lIns="0" tIns="0" rIns="0" bIns="0" rtlCol="0" anchor="t"/>
          <a:lstStyle/>
          <a:p>
            <a:pPr indent="0" marL="0">
              <a:buNone/>
            </a:pPr>
            <a:r>
              <a:rPr lang="en-US" sz="950" dirty="0">
                <a:solidFill>
                  <a:srgbClr val="61707D"/>
                </a:solidFill>
              </a:rPr>
              <a:t>PR-AUC against its floor for choosing; Precision@K for the team's day; calibrated probabilities for the cost layer</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000" b="1" dirty="0">
                <a:solidFill>
                  <a:srgbClr val="1B2733"/>
                </a:solidFill>
              </a:rPr>
              <a:t>Problem 1 — lead time, and a late flag that needs no model of its own</a:t>
            </a:r>
            <a:endParaRPr lang="en-US" sz="3000" dirty="0"/>
          </a:p>
        </p:txBody>
      </p:sp>
      <p:sp>
        <p:nvSpPr>
          <p:cNvPr id="3" name="subtitle"/>
          <p:cNvSpPr txBox="1"/>
          <p:nvPr/>
        </p:nvSpPr>
        <p:spPr>
          <a:xfrm>
            <a:off x="548640" y="1097280"/>
            <a:ext cx="11091672" cy="411480"/>
          </a:xfrm>
          <a:prstGeom prst="rect">
            <a:avLst/>
          </a:prstGeom>
          <a:noFill/>
          <a:ln/>
        </p:spPr>
        <p:txBody>
          <a:bodyPr wrap="square" lIns="0" tIns="0" rIns="0" bIns="0" rtlCol="0" anchor="ctr"/>
          <a:lstStyle/>
          <a:p>
            <a:pPr indent="0" marL="0">
              <a:buNone/>
            </a:pPr>
            <a:r>
              <a:rPr lang="en-US" sz="1500" dirty="0">
                <a:solidFill>
                  <a:srgbClr val="61707D"/>
                </a:solidFill>
              </a:rPr>
              <a:t>Held-out test window, July–August 2018; every candidate scored once</a:t>
            </a:r>
            <a:endParaRPr lang="en-US" sz="1500" dirty="0"/>
          </a:p>
        </p:txBody>
      </p:sp>
      <p:sp>
        <p:nvSpPr>
          <p:cNvPr id="4" name="chart card"/>
          <p:cNvSpPr/>
          <p:nvPr/>
        </p:nvSpPr>
        <p:spPr>
          <a:xfrm>
            <a:off x="548640" y="1691640"/>
            <a:ext cx="6675120" cy="4434840"/>
          </a:xfrm>
          <a:prstGeom prst="roundRect">
            <a:avLst>
              <a:gd name="adj" fmla="val 2474"/>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5" name="chart title"/>
          <p:cNvSpPr txBox="1"/>
          <p:nvPr/>
        </p:nvSpPr>
        <p:spPr>
          <a:xfrm>
            <a:off x="777240" y="1783080"/>
            <a:ext cx="6217920" cy="274320"/>
          </a:xfrm>
          <a:prstGeom prst="rect">
            <a:avLst/>
          </a:prstGeom>
          <a:noFill/>
          <a:ln/>
        </p:spPr>
        <p:txBody>
          <a:bodyPr wrap="square" lIns="0" tIns="0" rIns="0" bIns="0" rtlCol="0" anchor="ctr"/>
          <a:lstStyle/>
          <a:p>
            <a:pPr indent="0" marL="0">
              <a:buNone/>
            </a:pPr>
            <a:r>
              <a:rPr lang="en-US" sz="1100" b="1" dirty="0">
                <a:solidFill>
                  <a:srgbClr val="1B2733"/>
                </a:solidFill>
              </a:rPr>
              <a:t>Test MAE in days, lower is better</a:t>
            </a:r>
            <a:endParaRPr lang="en-US" sz="1100" dirty="0"/>
          </a:p>
        </p:txBody>
      </p:sp>
      <p:graphicFrame>
        <p:nvGraphicFramePr>
          <p:cNvPr id="6" name="Chart 0" descr=""/>
          <p:cNvGraphicFramePr/>
          <p:nvPr/>
        </p:nvGraphicFramePr>
        <p:xfrm>
          <a:off x="685800" y="2057400"/>
          <a:ext cx="6400800" cy="3931920"/>
        </p:xfrm>
        <a:graphic xmlns:a="http://schemas.openxmlformats.org/drawingml/2006/main">
          <a:graphicData uri="http://schemas.openxmlformats.org/drawingml/2006/chart">
            <c:chart xmlns:c="http://schemas.openxmlformats.org/drawingml/2006/chart" r:id="rId1"/>
          </a:graphicData>
        </a:graphic>
      </p:graphicFrame>
      <p:sp>
        <p:nvSpPr>
          <p:cNvPr id="7" name="kpi mae card"/>
          <p:cNvSpPr/>
          <p:nvPr/>
        </p:nvSpPr>
        <p:spPr>
          <a:xfrm>
            <a:off x="7498080" y="1691640"/>
            <a:ext cx="4114800" cy="1325880"/>
          </a:xfrm>
          <a:prstGeom prst="roundRect">
            <a:avLst>
              <a:gd name="adj" fmla="val 8276"/>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8" name="kpi mae mark"/>
          <p:cNvSpPr/>
          <p:nvPr/>
        </p:nvSpPr>
        <p:spPr>
          <a:xfrm>
            <a:off x="7607808" y="1856232"/>
            <a:ext cx="64008" cy="996696"/>
          </a:xfrm>
          <a:prstGeom prst="roundRect">
            <a:avLst>
              <a:gd name="adj" fmla="val 42857"/>
            </a:avLst>
          </a:prstGeom>
          <a:solidFill>
            <a:srgbClr val="2F6F9F"/>
          </a:solidFill>
          <a:ln w="12700">
            <a:solidFill>
              <a:srgbClr val="2F6F9F"/>
            </a:solidFill>
            <a:prstDash val="solid"/>
          </a:ln>
        </p:spPr>
      </p:sp>
      <p:sp>
        <p:nvSpPr>
          <p:cNvPr id="9" name="kpi mae label"/>
          <p:cNvSpPr txBox="1"/>
          <p:nvPr/>
        </p:nvSpPr>
        <p:spPr>
          <a:xfrm>
            <a:off x="7790688" y="1801368"/>
            <a:ext cx="3703320" cy="274320"/>
          </a:xfrm>
          <a:prstGeom prst="rect">
            <a:avLst/>
          </a:prstGeom>
          <a:noFill/>
          <a:ln/>
        </p:spPr>
        <p:txBody>
          <a:bodyPr wrap="square" lIns="0" tIns="0" rIns="0" bIns="0" rtlCol="0" anchor="ctr"/>
          <a:lstStyle/>
          <a:p>
            <a:pPr indent="0" marL="0">
              <a:buNone/>
            </a:pPr>
            <a:r>
              <a:rPr lang="en-US" sz="950" b="1" spc="100" kern="0" dirty="0">
                <a:solidFill>
                  <a:srgbClr val="61707D"/>
                </a:solidFill>
              </a:rPr>
              <a:t>MEAN ABSOLUTE ERROR</a:t>
            </a:r>
            <a:endParaRPr lang="en-US" sz="950" dirty="0"/>
          </a:p>
        </p:txBody>
      </p:sp>
      <p:sp>
        <p:nvSpPr>
          <p:cNvPr id="10" name="kpi mae value"/>
          <p:cNvSpPr txBox="1"/>
          <p:nvPr/>
        </p:nvSpPr>
        <p:spPr>
          <a:xfrm>
            <a:off x="7790688" y="2057400"/>
            <a:ext cx="3703320" cy="566928"/>
          </a:xfrm>
          <a:prstGeom prst="rect">
            <a:avLst/>
          </a:prstGeom>
          <a:noFill/>
          <a:ln/>
        </p:spPr>
        <p:txBody>
          <a:bodyPr wrap="square" lIns="0" tIns="0" rIns="0" bIns="0" rtlCol="0" anchor="ctr"/>
          <a:lstStyle/>
          <a:p>
            <a:pPr indent="0" marL="0">
              <a:buNone/>
            </a:pPr>
            <a:r>
              <a:rPr lang="en-US" sz="2600" b="1" dirty="0">
                <a:solidFill>
                  <a:srgbClr val="1B2733"/>
                </a:solidFill>
              </a:rPr>
              <a:t>3.90 days</a:t>
            </a:r>
            <a:endParaRPr lang="en-US" sz="2600" dirty="0"/>
          </a:p>
        </p:txBody>
      </p:sp>
      <p:sp>
        <p:nvSpPr>
          <p:cNvPr id="11" name="kpi mae sub"/>
          <p:cNvSpPr txBox="1"/>
          <p:nvPr/>
        </p:nvSpPr>
        <p:spPr>
          <a:xfrm>
            <a:off x="7790688" y="2542032"/>
            <a:ext cx="3703320" cy="384048"/>
          </a:xfrm>
          <a:prstGeom prst="rect">
            <a:avLst/>
          </a:prstGeom>
          <a:noFill/>
          <a:ln/>
        </p:spPr>
        <p:txBody>
          <a:bodyPr wrap="square" lIns="0" tIns="0" rIns="0" bIns="0" rtlCol="0" anchor="t"/>
          <a:lstStyle/>
          <a:p>
            <a:pPr indent="0" marL="0">
              <a:buNone/>
            </a:pPr>
            <a:r>
              <a:rPr lang="en-US" sz="1050" dirty="0">
                <a:solidFill>
                  <a:srgbClr val="61707D"/>
                </a:solidFill>
              </a:rPr>
              <a:t>41% below a constant fitted on the past, 60% below the platform's own promised date (9.79 d)</a:t>
            </a:r>
            <a:endParaRPr lang="en-US" sz="1050" dirty="0"/>
          </a:p>
        </p:txBody>
      </p:sp>
      <p:sp>
        <p:nvSpPr>
          <p:cNvPr id="12" name="kpi flag card"/>
          <p:cNvSpPr/>
          <p:nvPr/>
        </p:nvSpPr>
        <p:spPr>
          <a:xfrm>
            <a:off x="7498080" y="3154680"/>
            <a:ext cx="4114800" cy="1325880"/>
          </a:xfrm>
          <a:prstGeom prst="roundRect">
            <a:avLst>
              <a:gd name="adj" fmla="val 8276"/>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3" name="kpi flag mark"/>
          <p:cNvSpPr/>
          <p:nvPr/>
        </p:nvSpPr>
        <p:spPr>
          <a:xfrm>
            <a:off x="7607808" y="3319272"/>
            <a:ext cx="64008" cy="996696"/>
          </a:xfrm>
          <a:prstGeom prst="roundRect">
            <a:avLst>
              <a:gd name="adj" fmla="val 42857"/>
            </a:avLst>
          </a:prstGeom>
          <a:solidFill>
            <a:srgbClr val="C1666B"/>
          </a:solidFill>
          <a:ln w="12700">
            <a:solidFill>
              <a:srgbClr val="C1666B"/>
            </a:solidFill>
            <a:prstDash val="solid"/>
          </a:ln>
        </p:spPr>
      </p:sp>
      <p:sp>
        <p:nvSpPr>
          <p:cNvPr id="14" name="kpi flag label"/>
          <p:cNvSpPr txBox="1"/>
          <p:nvPr/>
        </p:nvSpPr>
        <p:spPr>
          <a:xfrm>
            <a:off x="7790688" y="3264408"/>
            <a:ext cx="3703320" cy="274320"/>
          </a:xfrm>
          <a:prstGeom prst="rect">
            <a:avLst/>
          </a:prstGeom>
          <a:noFill/>
          <a:ln/>
        </p:spPr>
        <p:txBody>
          <a:bodyPr wrap="square" lIns="0" tIns="0" rIns="0" bIns="0" rtlCol="0" anchor="ctr"/>
          <a:lstStyle/>
          <a:p>
            <a:pPr indent="0" marL="0">
              <a:buNone/>
            </a:pPr>
            <a:r>
              <a:rPr lang="en-US" sz="950" b="1" spc="100" kern="0" dirty="0">
                <a:solidFill>
                  <a:srgbClr val="61707D"/>
                </a:solidFill>
              </a:rPr>
              <a:t>THE LATE FLAG: DERIVED VS DIRECT</a:t>
            </a:r>
            <a:endParaRPr lang="en-US" sz="950" dirty="0"/>
          </a:p>
        </p:txBody>
      </p:sp>
      <p:sp>
        <p:nvSpPr>
          <p:cNvPr id="15" name="kpi flag value"/>
          <p:cNvSpPr txBox="1"/>
          <p:nvPr/>
        </p:nvSpPr>
        <p:spPr>
          <a:xfrm>
            <a:off x="7790688" y="3520440"/>
            <a:ext cx="3703320" cy="566928"/>
          </a:xfrm>
          <a:prstGeom prst="rect">
            <a:avLst/>
          </a:prstGeom>
          <a:noFill/>
          <a:ln/>
        </p:spPr>
        <p:txBody>
          <a:bodyPr wrap="square" lIns="0" tIns="0" rIns="0" bIns="0" rtlCol="0" anchor="ctr"/>
          <a:lstStyle/>
          <a:p>
            <a:pPr indent="0" marL="0">
              <a:buNone/>
            </a:pPr>
            <a:r>
              <a:rPr lang="en-US" sz="2600" b="1" dirty="0">
                <a:solidFill>
                  <a:srgbClr val="1B2733"/>
                </a:solidFill>
              </a:rPr>
              <a:t>2.89× vs 1.24×</a:t>
            </a:r>
            <a:endParaRPr lang="en-US" sz="2600" dirty="0"/>
          </a:p>
        </p:txBody>
      </p:sp>
      <p:sp>
        <p:nvSpPr>
          <p:cNvPr id="16" name="kpi flag sub"/>
          <p:cNvSpPr txBox="1"/>
          <p:nvPr/>
        </p:nvSpPr>
        <p:spPr>
          <a:xfrm>
            <a:off x="7790688" y="4005072"/>
            <a:ext cx="3703320" cy="384048"/>
          </a:xfrm>
          <a:prstGeom prst="rect">
            <a:avLst/>
          </a:prstGeom>
          <a:noFill/>
          <a:ln/>
        </p:spPr>
        <p:txBody>
          <a:bodyPr wrap="square" lIns="0" tIns="0" rIns="0" bIns="0" rtlCol="0" anchor="t"/>
          <a:lstStyle/>
          <a:p>
            <a:pPr indent="0" marL="0">
              <a:buNone/>
            </a:pPr>
            <a:r>
              <a:rPr lang="en-US" sz="1050" dirty="0">
                <a:solidFill>
                  <a:srgbClr val="61707D"/>
                </a:solidFill>
              </a:rPr>
              <a:t>lift over the no-skill PR floor. Thresholding the regression against the promise beats every classifier trained on the binary label (ROC-AUC 0.782 vs 0.584)</a:t>
            </a:r>
            <a:endParaRPr lang="en-US" sz="1050" dirty="0"/>
          </a:p>
        </p:txBody>
      </p:sp>
      <p:sp>
        <p:nvSpPr>
          <p:cNvPr id="17" name="why card"/>
          <p:cNvSpPr/>
          <p:nvPr/>
        </p:nvSpPr>
        <p:spPr>
          <a:xfrm>
            <a:off x="7498080" y="4617720"/>
            <a:ext cx="4114800" cy="1508760"/>
          </a:xfrm>
          <a:prstGeom prst="roundRect">
            <a:avLst>
              <a:gd name="adj" fmla="val 7273"/>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8" name="why kicker"/>
          <p:cNvSpPr txBox="1"/>
          <p:nvPr/>
        </p:nvSpPr>
        <p:spPr>
          <a:xfrm>
            <a:off x="7726680" y="4709160"/>
            <a:ext cx="3749040" cy="274320"/>
          </a:xfrm>
          <a:prstGeom prst="rect">
            <a:avLst/>
          </a:prstGeom>
          <a:noFill/>
          <a:ln/>
        </p:spPr>
        <p:txBody>
          <a:bodyPr wrap="square" lIns="0" tIns="0" rIns="0" bIns="0" rtlCol="0" anchor="ctr"/>
          <a:lstStyle/>
          <a:p>
            <a:pPr indent="0" marL="0">
              <a:buNone/>
            </a:pPr>
            <a:r>
              <a:rPr lang="en-US" sz="1000" b="1" spc="100" kern="0" dirty="0">
                <a:solidFill>
                  <a:srgbClr val="C08B2E"/>
                </a:solidFill>
              </a:rPr>
              <a:t>WHY THE BLEND WINS</a:t>
            </a:r>
            <a:endParaRPr lang="en-US" sz="1000" dirty="0"/>
          </a:p>
        </p:txBody>
      </p:sp>
      <p:sp>
        <p:nvSpPr>
          <p:cNvPr id="19" name="why text"/>
          <p:cNvSpPr txBox="1"/>
          <p:nvPr/>
        </p:nvSpPr>
        <p:spPr>
          <a:xfrm>
            <a:off x="7726680" y="4983480"/>
            <a:ext cx="3749040" cy="1097280"/>
          </a:xfrm>
          <a:prstGeom prst="rect">
            <a:avLst/>
          </a:prstGeom>
          <a:noFill/>
          <a:ln/>
        </p:spPr>
        <p:txBody>
          <a:bodyPr wrap="square" lIns="0" tIns="0" rIns="0" bIns="0" rtlCol="0" anchor="t"/>
          <a:lstStyle/>
          <a:p>
            <a:pPr indent="0" marL="0">
              <a:buNone/>
            </a:pPr>
            <a:r>
              <a:rPr lang="en-US" sz="1050" dirty="0">
                <a:solidFill>
                  <a:srgbClr val="1B2733"/>
                </a:solidFill>
              </a:rPr>
              <a:t>A tree cannot predict outside the targets it was fitted on, and test-window lead times are shorter than anything common in training. The linear member extrapolates the level; averaging (1:2) lets one member cover the other's exact failure. Ridge does not beat plain least squares — regularisation bought nothing here.</a:t>
            </a:r>
            <a:endParaRPr lang="en-US" sz="10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000" b="1" dirty="0">
                <a:solidFill>
                  <a:srgbClr val="1B2733"/>
                </a:solidFill>
              </a:rPr>
              <a:t>Problem 2 — low-review risk at delivery</a:t>
            </a:r>
            <a:endParaRPr lang="en-US" sz="3000" dirty="0"/>
          </a:p>
        </p:txBody>
      </p:sp>
      <p:sp>
        <p:nvSpPr>
          <p:cNvPr id="3" name="subtitle"/>
          <p:cNvSpPr txBox="1"/>
          <p:nvPr/>
        </p:nvSpPr>
        <p:spPr>
          <a:xfrm>
            <a:off x="548640" y="1097280"/>
            <a:ext cx="11091672" cy="411480"/>
          </a:xfrm>
          <a:prstGeom prst="rect">
            <a:avLst/>
          </a:prstGeom>
          <a:noFill/>
          <a:ln/>
        </p:spPr>
        <p:txBody>
          <a:bodyPr wrap="square" lIns="0" tIns="0" rIns="0" bIns="0" rtlCol="0" anchor="ctr"/>
          <a:lstStyle/>
          <a:p>
            <a:pPr indent="0" marL="0">
              <a:buNone/>
            </a:pPr>
            <a:r>
              <a:rPr lang="en-US" sz="1500" dirty="0">
                <a:solidFill>
                  <a:srgbClr val="61707D"/>
                </a:solidFill>
              </a:rPr>
              <a:t>Every candidate on the held-out window, with the fold-to-fold spread the Phase 2 evaluation asked for</a:t>
            </a:r>
            <a:endParaRPr lang="en-US" sz="1500" dirty="0"/>
          </a:p>
        </p:txBody>
      </p:sp>
      <p:sp>
        <p:nvSpPr>
          <p:cNvPr id="4" name="chart card"/>
          <p:cNvSpPr/>
          <p:nvPr/>
        </p:nvSpPr>
        <p:spPr>
          <a:xfrm>
            <a:off x="548640" y="1691640"/>
            <a:ext cx="6035040" cy="4434840"/>
          </a:xfrm>
          <a:prstGeom prst="roundRect">
            <a:avLst>
              <a:gd name="adj" fmla="val 2474"/>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5" name="chart title"/>
          <p:cNvSpPr txBox="1"/>
          <p:nvPr/>
        </p:nvSpPr>
        <p:spPr>
          <a:xfrm>
            <a:off x="777240" y="1783080"/>
            <a:ext cx="5669280" cy="274320"/>
          </a:xfrm>
          <a:prstGeom prst="rect">
            <a:avLst/>
          </a:prstGeom>
          <a:noFill/>
          <a:ln/>
        </p:spPr>
        <p:txBody>
          <a:bodyPr wrap="square" lIns="0" tIns="0" rIns="0" bIns="0" rtlCol="0" anchor="ctr"/>
          <a:lstStyle/>
          <a:p>
            <a:pPr indent="0" marL="0">
              <a:buNone/>
            </a:pPr>
            <a:r>
              <a:rPr lang="en-US" sz="1100" b="1" dirty="0">
                <a:solidFill>
                  <a:srgbClr val="1B2733"/>
                </a:solidFill>
              </a:rPr>
              <a:t>Test PR-AUC, higher is better  ·  no-skill floor 0.110</a:t>
            </a:r>
            <a:endParaRPr lang="en-US" sz="1100" dirty="0"/>
          </a:p>
        </p:txBody>
      </p:sp>
      <p:graphicFrame>
        <p:nvGraphicFramePr>
          <p:cNvPr id="6" name="Chart 0" descr=""/>
          <p:cNvGraphicFramePr/>
          <p:nvPr/>
        </p:nvGraphicFramePr>
        <p:xfrm>
          <a:off x="685800" y="2057400"/>
          <a:ext cx="5760720" cy="3931920"/>
        </p:xfrm>
        <a:graphic xmlns:a="http://schemas.openxmlformats.org/drawingml/2006/main">
          <a:graphicData uri="http://schemas.openxmlformats.org/drawingml/2006/chart">
            <c:chart xmlns:c="http://schemas.openxmlformats.org/drawingml/2006/chart" r:id="rId1"/>
          </a:graphicData>
        </a:graphic>
      </p:graphicFrame>
      <p:sp>
        <p:nvSpPr>
          <p:cNvPr id="7" name="kpi roc card"/>
          <p:cNvSpPr/>
          <p:nvPr/>
        </p:nvSpPr>
        <p:spPr>
          <a:xfrm>
            <a:off x="6858000" y="1691640"/>
            <a:ext cx="2286000" cy="1417320"/>
          </a:xfrm>
          <a:prstGeom prst="roundRect">
            <a:avLst>
              <a:gd name="adj" fmla="val 7742"/>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8" name="kpi roc mark"/>
          <p:cNvSpPr/>
          <p:nvPr/>
        </p:nvSpPr>
        <p:spPr>
          <a:xfrm>
            <a:off x="6967728" y="1856232"/>
            <a:ext cx="64008" cy="1088136"/>
          </a:xfrm>
          <a:prstGeom prst="roundRect">
            <a:avLst>
              <a:gd name="adj" fmla="val 42857"/>
            </a:avLst>
          </a:prstGeom>
          <a:solidFill>
            <a:srgbClr val="5B8C5A"/>
          </a:solidFill>
          <a:ln w="12700">
            <a:solidFill>
              <a:srgbClr val="5B8C5A"/>
            </a:solidFill>
            <a:prstDash val="solid"/>
          </a:ln>
        </p:spPr>
      </p:sp>
      <p:sp>
        <p:nvSpPr>
          <p:cNvPr id="9" name="kpi roc label"/>
          <p:cNvSpPr txBox="1"/>
          <p:nvPr/>
        </p:nvSpPr>
        <p:spPr>
          <a:xfrm>
            <a:off x="7150608" y="1801368"/>
            <a:ext cx="1874520" cy="274320"/>
          </a:xfrm>
          <a:prstGeom prst="rect">
            <a:avLst/>
          </a:prstGeom>
          <a:noFill/>
          <a:ln/>
        </p:spPr>
        <p:txBody>
          <a:bodyPr wrap="square" lIns="0" tIns="0" rIns="0" bIns="0" rtlCol="0" anchor="ctr"/>
          <a:lstStyle/>
          <a:p>
            <a:pPr indent="0" marL="0">
              <a:buNone/>
            </a:pPr>
            <a:r>
              <a:rPr lang="en-US" sz="950" b="1" spc="100" kern="0" dirty="0">
                <a:solidFill>
                  <a:srgbClr val="61707D"/>
                </a:solidFill>
              </a:rPr>
              <a:t>ROC-AUC</a:t>
            </a:r>
            <a:endParaRPr lang="en-US" sz="950" dirty="0"/>
          </a:p>
        </p:txBody>
      </p:sp>
      <p:sp>
        <p:nvSpPr>
          <p:cNvPr id="10" name="kpi roc value"/>
          <p:cNvSpPr txBox="1"/>
          <p:nvPr/>
        </p:nvSpPr>
        <p:spPr>
          <a:xfrm>
            <a:off x="7150608" y="2057400"/>
            <a:ext cx="1874520" cy="566928"/>
          </a:xfrm>
          <a:prstGeom prst="rect">
            <a:avLst/>
          </a:prstGeom>
          <a:noFill/>
          <a:ln/>
        </p:spPr>
        <p:txBody>
          <a:bodyPr wrap="square" lIns="0" tIns="0" rIns="0" bIns="0" rtlCol="0" anchor="ctr"/>
          <a:lstStyle/>
          <a:p>
            <a:pPr indent="0" marL="0">
              <a:buNone/>
            </a:pPr>
            <a:r>
              <a:rPr lang="en-US" sz="2600" b="1" dirty="0">
                <a:solidFill>
                  <a:srgbClr val="1B2733"/>
                </a:solidFill>
              </a:rPr>
              <a:t>0.749</a:t>
            </a:r>
            <a:endParaRPr lang="en-US" sz="2600" dirty="0"/>
          </a:p>
        </p:txBody>
      </p:sp>
      <p:sp>
        <p:nvSpPr>
          <p:cNvPr id="11" name="kpi roc sub"/>
          <p:cNvSpPr txBox="1"/>
          <p:nvPr/>
        </p:nvSpPr>
        <p:spPr>
          <a:xfrm>
            <a:off x="7150608" y="2633472"/>
            <a:ext cx="1874520" cy="384048"/>
          </a:xfrm>
          <a:prstGeom prst="rect">
            <a:avLst/>
          </a:prstGeom>
          <a:noFill/>
          <a:ln/>
        </p:spPr>
        <p:txBody>
          <a:bodyPr wrap="square" lIns="0" tIns="0" rIns="0" bIns="0" rtlCol="0" anchor="t"/>
          <a:lstStyle/>
          <a:p>
            <a:pPr indent="0" marL="0">
              <a:buNone/>
            </a:pPr>
            <a:r>
              <a:rPr lang="en-US" sz="1050" dirty="0">
                <a:solidFill>
                  <a:srgbClr val="61707D"/>
                </a:solidFill>
              </a:rPr>
              <a:t>balanced accuracy 0.681</a:t>
            </a:r>
            <a:endParaRPr lang="en-US" sz="1050" dirty="0"/>
          </a:p>
        </p:txBody>
      </p:sp>
      <p:sp>
        <p:nvSpPr>
          <p:cNvPr id="12" name="kpi lift card"/>
          <p:cNvSpPr/>
          <p:nvPr/>
        </p:nvSpPr>
        <p:spPr>
          <a:xfrm>
            <a:off x="9326880" y="1691640"/>
            <a:ext cx="2286000" cy="1417320"/>
          </a:xfrm>
          <a:prstGeom prst="roundRect">
            <a:avLst>
              <a:gd name="adj" fmla="val 7742"/>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3" name="kpi lift mark"/>
          <p:cNvSpPr/>
          <p:nvPr/>
        </p:nvSpPr>
        <p:spPr>
          <a:xfrm>
            <a:off x="9436608" y="1856232"/>
            <a:ext cx="64008" cy="1088136"/>
          </a:xfrm>
          <a:prstGeom prst="roundRect">
            <a:avLst>
              <a:gd name="adj" fmla="val 42857"/>
            </a:avLst>
          </a:prstGeom>
          <a:solidFill>
            <a:srgbClr val="5B8C5A"/>
          </a:solidFill>
          <a:ln w="12700">
            <a:solidFill>
              <a:srgbClr val="5B8C5A"/>
            </a:solidFill>
            <a:prstDash val="solid"/>
          </a:ln>
        </p:spPr>
      </p:sp>
      <p:sp>
        <p:nvSpPr>
          <p:cNvPr id="14" name="kpi lift label"/>
          <p:cNvSpPr txBox="1"/>
          <p:nvPr/>
        </p:nvSpPr>
        <p:spPr>
          <a:xfrm>
            <a:off x="9619488" y="1801368"/>
            <a:ext cx="1874520" cy="274320"/>
          </a:xfrm>
          <a:prstGeom prst="rect">
            <a:avLst/>
          </a:prstGeom>
          <a:noFill/>
          <a:ln/>
        </p:spPr>
        <p:txBody>
          <a:bodyPr wrap="square" lIns="0" tIns="0" rIns="0" bIns="0" rtlCol="0" anchor="ctr"/>
          <a:lstStyle/>
          <a:p>
            <a:pPr indent="0" marL="0">
              <a:buNone/>
            </a:pPr>
            <a:r>
              <a:rPr lang="en-US" sz="950" b="1" spc="100" kern="0" dirty="0">
                <a:solidFill>
                  <a:srgbClr val="61707D"/>
                </a:solidFill>
              </a:rPr>
              <a:t>PR-AUC LIFT</a:t>
            </a:r>
            <a:endParaRPr lang="en-US" sz="950" dirty="0"/>
          </a:p>
        </p:txBody>
      </p:sp>
      <p:sp>
        <p:nvSpPr>
          <p:cNvPr id="15" name="kpi lift value"/>
          <p:cNvSpPr txBox="1"/>
          <p:nvPr/>
        </p:nvSpPr>
        <p:spPr>
          <a:xfrm>
            <a:off x="9619488" y="2057400"/>
            <a:ext cx="1874520" cy="566928"/>
          </a:xfrm>
          <a:prstGeom prst="rect">
            <a:avLst/>
          </a:prstGeom>
          <a:noFill/>
          <a:ln/>
        </p:spPr>
        <p:txBody>
          <a:bodyPr wrap="square" lIns="0" tIns="0" rIns="0" bIns="0" rtlCol="0" anchor="ctr"/>
          <a:lstStyle/>
          <a:p>
            <a:pPr indent="0" marL="0">
              <a:buNone/>
            </a:pPr>
            <a:r>
              <a:rPr lang="en-US" sz="2600" b="1" dirty="0">
                <a:solidFill>
                  <a:srgbClr val="1B2733"/>
                </a:solidFill>
              </a:rPr>
              <a:t>3.75×</a:t>
            </a:r>
            <a:endParaRPr lang="en-US" sz="2600" dirty="0"/>
          </a:p>
        </p:txBody>
      </p:sp>
      <p:sp>
        <p:nvSpPr>
          <p:cNvPr id="16" name="kpi lift sub"/>
          <p:cNvSpPr txBox="1"/>
          <p:nvPr/>
        </p:nvSpPr>
        <p:spPr>
          <a:xfrm>
            <a:off x="9619488" y="2633472"/>
            <a:ext cx="1874520" cy="384048"/>
          </a:xfrm>
          <a:prstGeom prst="rect">
            <a:avLst/>
          </a:prstGeom>
          <a:noFill/>
          <a:ln/>
        </p:spPr>
        <p:txBody>
          <a:bodyPr wrap="square" lIns="0" tIns="0" rIns="0" bIns="0" rtlCol="0" anchor="t"/>
          <a:lstStyle/>
          <a:p>
            <a:pPr indent="0" marL="0">
              <a:buNone/>
            </a:pPr>
            <a:r>
              <a:rPr lang="en-US" sz="1050" dirty="0">
                <a:solidFill>
                  <a:srgbClr val="61707D"/>
                </a:solidFill>
              </a:rPr>
              <a:t>0.414 vs a 0.110 floor; 0.415 on 12,617 unseen customers</a:t>
            </a:r>
            <a:endParaRPr lang="en-US" sz="1050" dirty="0"/>
          </a:p>
        </p:txBody>
      </p:sp>
      <p:sp>
        <p:nvSpPr>
          <p:cNvPr id="17" name="fold card"/>
          <p:cNvSpPr/>
          <p:nvPr/>
        </p:nvSpPr>
        <p:spPr>
          <a:xfrm>
            <a:off x="6858000" y="3200400"/>
            <a:ext cx="4754880" cy="1371600"/>
          </a:xfrm>
          <a:prstGeom prst="roundRect">
            <a:avLst>
              <a:gd name="adj" fmla="val 8000"/>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8" name="fold kicker"/>
          <p:cNvSpPr txBox="1"/>
          <p:nvPr/>
        </p:nvSpPr>
        <p:spPr>
          <a:xfrm>
            <a:off x="7086600" y="3273552"/>
            <a:ext cx="4389120" cy="274320"/>
          </a:xfrm>
          <a:prstGeom prst="rect">
            <a:avLst/>
          </a:prstGeom>
          <a:noFill/>
          <a:ln/>
        </p:spPr>
        <p:txBody>
          <a:bodyPr wrap="square" lIns="0" tIns="0" rIns="0" bIns="0" rtlCol="0" anchor="ctr"/>
          <a:lstStyle/>
          <a:p>
            <a:pPr indent="0" marL="0">
              <a:buNone/>
            </a:pPr>
            <a:r>
              <a:rPr lang="en-US" sz="1000" b="1" spc="100" kern="0" dirty="0">
                <a:solidFill>
                  <a:srgbClr val="2F6F9F"/>
                </a:solidFill>
              </a:rPr>
              <a:t>FOLD-TO-FOLD VARIATION</a:t>
            </a:r>
            <a:endParaRPr lang="en-US" sz="1000" dirty="0"/>
          </a:p>
        </p:txBody>
      </p:sp>
      <p:sp>
        <p:nvSpPr>
          <p:cNvPr id="19" name="fold text"/>
          <p:cNvSpPr txBox="1"/>
          <p:nvPr/>
        </p:nvSpPr>
        <p:spPr>
          <a:xfrm>
            <a:off x="7086600" y="3529584"/>
            <a:ext cx="4389120" cy="1005840"/>
          </a:xfrm>
          <a:prstGeom prst="rect">
            <a:avLst/>
          </a:prstGeom>
          <a:noFill/>
          <a:ln/>
        </p:spPr>
        <p:txBody>
          <a:bodyPr wrap="square" lIns="0" tIns="0" rIns="0" bIns="0" rtlCol="0" anchor="t"/>
          <a:lstStyle/>
          <a:p>
            <a:pPr indent="0" marL="0">
              <a:buNone/>
            </a:pPr>
            <a:r>
              <a:rPr lang="en-US" sz="1800" b="1" dirty="0">
                <a:solidFill>
                  <a:srgbClr val="1B2733"/>
                </a:solidFill>
              </a:rPr>
              <a:t>±0.09 </a:t>
            </a:r>
            <a:pPr indent="0" marL="0">
              <a:buNone/>
            </a:pPr>
            <a:r>
              <a:rPr lang="en-US" sz="1050" dirty="0">
                <a:solidFill>
                  <a:srgbClr val="1B2733"/>
                </a:solidFill>
              </a:rPr>
              <a:t>spread across the five folds, </a:t>
            </a:r>
            <a:pPr indent="0" marL="0">
              <a:buNone/>
            </a:pPr>
            <a:r>
              <a:rPr lang="en-US" sz="1800" b="1" dirty="0">
                <a:solidFill>
                  <a:srgbClr val="1B2733"/>
                </a:solidFill>
              </a:rPr>
              <a:t>&lt; 0.001 </a:t>
            </a:r>
            <a:pPr indent="0" marL="0">
              <a:buNone/>
            </a:pPr>
            <a:r>
              <a:rPr lang="en-US" sz="1050" dirty="0">
                <a:solidFill>
                  <a:srgbClr val="1B2733"/>
                </a:solidFill>
              </a:rPr>
              <a:t>between the best three trees. The windows differ far more than the models — so we rank within windows. Deployed: the StackingClassifier the pre-registered rule chose (mean rank 1.67 vs 2.00); the single boosted model is a statistical tie.</a:t>
            </a:r>
            <a:endParaRPr lang="en-US" sz="1050" dirty="0"/>
          </a:p>
        </p:txBody>
      </p:sp>
      <p:sp>
        <p:nvSpPr>
          <p:cNvPr id="20" name="weight card"/>
          <p:cNvSpPr/>
          <p:nvPr/>
        </p:nvSpPr>
        <p:spPr>
          <a:xfrm>
            <a:off x="6858000" y="4709160"/>
            <a:ext cx="4754880" cy="1417320"/>
          </a:xfrm>
          <a:prstGeom prst="roundRect">
            <a:avLst>
              <a:gd name="adj" fmla="val 7742"/>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21" name="weight kicker"/>
          <p:cNvSpPr txBox="1"/>
          <p:nvPr/>
        </p:nvSpPr>
        <p:spPr>
          <a:xfrm>
            <a:off x="7086600" y="4782312"/>
            <a:ext cx="4389120" cy="274320"/>
          </a:xfrm>
          <a:prstGeom prst="rect">
            <a:avLst/>
          </a:prstGeom>
          <a:noFill/>
          <a:ln/>
        </p:spPr>
        <p:txBody>
          <a:bodyPr wrap="square" lIns="0" tIns="0" rIns="0" bIns="0" rtlCol="0" anchor="ctr"/>
          <a:lstStyle/>
          <a:p>
            <a:pPr indent="0" marL="0">
              <a:buNone/>
            </a:pPr>
            <a:r>
              <a:rPr lang="en-US" sz="1000" b="1" spc="100" kern="0" dirty="0">
                <a:solidFill>
                  <a:srgbClr val="C1666B"/>
                </a:solidFill>
              </a:rPr>
              <a:t>CLASS WEIGHTING: THE ABLATION PHASE 1 PROMISED</a:t>
            </a:r>
            <a:endParaRPr lang="en-US" sz="1000" dirty="0"/>
          </a:p>
        </p:txBody>
      </p:sp>
      <p:sp>
        <p:nvSpPr>
          <p:cNvPr id="22" name="weight text"/>
          <p:cNvSpPr txBox="1"/>
          <p:nvPr/>
        </p:nvSpPr>
        <p:spPr>
          <a:xfrm>
            <a:off x="7086600" y="5038344"/>
            <a:ext cx="4389120" cy="1051560"/>
          </a:xfrm>
          <a:prstGeom prst="rect">
            <a:avLst/>
          </a:prstGeom>
          <a:noFill/>
          <a:ln/>
        </p:spPr>
        <p:txBody>
          <a:bodyPr wrap="square" lIns="0" tIns="0" rIns="0" bIns="0" rtlCol="0" anchor="t"/>
          <a:lstStyle/>
          <a:p>
            <a:pPr indent="0" marL="0">
              <a:buNone/>
            </a:pPr>
            <a:r>
              <a:rPr lang="en-US" sz="1050" dirty="0">
                <a:solidFill>
                  <a:srgbClr val="1B2733"/>
                </a:solidFill>
              </a:rPr>
              <a:t>Weighting the loss: PR-AUC 0.415 → 0.411 (no gain), Brier 0.078 → 0.133, mean predicted risk 0.12 → 0.34 against an actual 0.11. It inflates every customer's risk threefold. We fit on the true prior and tune the threshold on validation instead (0.19).</a:t>
            </a:r>
            <a:endParaRPr lang="en-US" sz="10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000" b="1" dirty="0">
                <a:solidFill>
                  <a:srgbClr val="1B2733"/>
                </a:solidFill>
              </a:rPr>
              <a:t>Evaluate the way the team works: the top of a ranked list</a:t>
            </a:r>
            <a:endParaRPr lang="en-US" sz="3000" dirty="0"/>
          </a:p>
        </p:txBody>
      </p:sp>
      <p:sp>
        <p:nvSpPr>
          <p:cNvPr id="3" name="subtitle"/>
          <p:cNvSpPr txBox="1"/>
          <p:nvPr/>
        </p:nvSpPr>
        <p:spPr>
          <a:xfrm>
            <a:off x="548640" y="1097280"/>
            <a:ext cx="11091672" cy="411480"/>
          </a:xfrm>
          <a:prstGeom prst="rect">
            <a:avLst/>
          </a:prstGeom>
          <a:noFill/>
          <a:ln/>
        </p:spPr>
        <p:txBody>
          <a:bodyPr wrap="square" lIns="0" tIns="0" rIns="0" bIns="0" rtlCol="0" anchor="ctr"/>
          <a:lstStyle/>
          <a:p>
            <a:pPr indent="0" marL="0">
              <a:buNone/>
            </a:pPr>
            <a:r>
              <a:rPr lang="en-US" sz="1500" dirty="0">
                <a:solidFill>
                  <a:srgbClr val="61707D"/>
                </a:solidFill>
              </a:rPr>
              <a:t>A team contacts the K riskiest deliveries it can reach in a day — so Precision@K and Recall@K describe its day</a:t>
            </a:r>
            <a:endParaRPr lang="en-US" sz="1500" dirty="0"/>
          </a:p>
        </p:txBody>
      </p:sp>
      <p:sp>
        <p:nvSpPr>
          <p:cNvPr id="4" name="chart card"/>
          <p:cNvSpPr/>
          <p:nvPr/>
        </p:nvSpPr>
        <p:spPr>
          <a:xfrm>
            <a:off x="548640" y="1691640"/>
            <a:ext cx="6400800" cy="4434840"/>
          </a:xfrm>
          <a:prstGeom prst="roundRect">
            <a:avLst>
              <a:gd name="adj" fmla="val 2474"/>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5" name="chart title"/>
          <p:cNvSpPr txBox="1"/>
          <p:nvPr/>
        </p:nvSpPr>
        <p:spPr>
          <a:xfrm>
            <a:off x="777240" y="1783080"/>
            <a:ext cx="6035040" cy="274320"/>
          </a:xfrm>
          <a:prstGeom prst="rect">
            <a:avLst/>
          </a:prstGeom>
          <a:noFill/>
          <a:ln/>
        </p:spPr>
        <p:txBody>
          <a:bodyPr wrap="square" lIns="0" tIns="0" rIns="0" bIns="0" rtlCol="0" anchor="ctr"/>
          <a:lstStyle/>
          <a:p>
            <a:pPr indent="0" marL="0">
              <a:buNone/>
            </a:pPr>
            <a:r>
              <a:rPr lang="en-US" sz="1100" b="1" dirty="0">
                <a:solidFill>
                  <a:srgbClr val="1B2733"/>
                </a:solidFill>
              </a:rPr>
              <a:t>Review-risk list on the test window: precision and recall of the top K% of deliveries</a:t>
            </a:r>
            <a:endParaRPr lang="en-US" sz="1100" dirty="0"/>
          </a:p>
        </p:txBody>
      </p:sp>
      <p:graphicFrame>
        <p:nvGraphicFramePr>
          <p:cNvPr id="6" name="Chart 0" descr=""/>
          <p:cNvGraphicFramePr/>
          <p:nvPr/>
        </p:nvGraphicFramePr>
        <p:xfrm>
          <a:off x="685800" y="2103120"/>
          <a:ext cx="6126480" cy="3886200"/>
        </p:xfrm>
        <a:graphic xmlns:a="http://schemas.openxmlformats.org/drawingml/2006/main">
          <a:graphicData uri="http://schemas.openxmlformats.org/drawingml/2006/chart">
            <c:chart xmlns:c="http://schemas.openxmlformats.org/drawingml/2006/chart" r:id="rId1"/>
          </a:graphicData>
        </a:graphic>
      </p:graphicFrame>
      <p:sp>
        <p:nvSpPr>
          <p:cNvPr id="7" name="kpi top5 card"/>
          <p:cNvSpPr/>
          <p:nvPr/>
        </p:nvSpPr>
        <p:spPr>
          <a:xfrm>
            <a:off x="7223760" y="1691640"/>
            <a:ext cx="4389120" cy="1280160"/>
          </a:xfrm>
          <a:prstGeom prst="roundRect">
            <a:avLst>
              <a:gd name="adj" fmla="val 8571"/>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8" name="kpi top5 mark"/>
          <p:cNvSpPr/>
          <p:nvPr/>
        </p:nvSpPr>
        <p:spPr>
          <a:xfrm>
            <a:off x="7333488" y="1856232"/>
            <a:ext cx="64008" cy="950976"/>
          </a:xfrm>
          <a:prstGeom prst="roundRect">
            <a:avLst>
              <a:gd name="adj" fmla="val 42857"/>
            </a:avLst>
          </a:prstGeom>
          <a:solidFill>
            <a:srgbClr val="5B8C5A"/>
          </a:solidFill>
          <a:ln w="12700">
            <a:solidFill>
              <a:srgbClr val="5B8C5A"/>
            </a:solidFill>
            <a:prstDash val="solid"/>
          </a:ln>
        </p:spPr>
      </p:sp>
      <p:sp>
        <p:nvSpPr>
          <p:cNvPr id="9" name="kpi top5 label"/>
          <p:cNvSpPr txBox="1"/>
          <p:nvPr/>
        </p:nvSpPr>
        <p:spPr>
          <a:xfrm>
            <a:off x="7516368" y="1801368"/>
            <a:ext cx="3977640" cy="274320"/>
          </a:xfrm>
          <a:prstGeom prst="rect">
            <a:avLst/>
          </a:prstGeom>
          <a:noFill/>
          <a:ln/>
        </p:spPr>
        <p:txBody>
          <a:bodyPr wrap="square" lIns="0" tIns="0" rIns="0" bIns="0" rtlCol="0" anchor="ctr"/>
          <a:lstStyle/>
          <a:p>
            <a:pPr indent="0" marL="0">
              <a:buNone/>
            </a:pPr>
            <a:r>
              <a:rPr lang="en-US" sz="950" b="1" spc="100" kern="0" dirty="0">
                <a:solidFill>
                  <a:srgbClr val="61707D"/>
                </a:solidFill>
              </a:rPr>
              <a:t>TOP 5% OF DELIVERIES (≈10 CONTACTS A DAY)</a:t>
            </a:r>
            <a:endParaRPr lang="en-US" sz="950" dirty="0"/>
          </a:p>
        </p:txBody>
      </p:sp>
      <p:sp>
        <p:nvSpPr>
          <p:cNvPr id="10" name="kpi top5 value"/>
          <p:cNvSpPr txBox="1"/>
          <p:nvPr/>
        </p:nvSpPr>
        <p:spPr>
          <a:xfrm>
            <a:off x="7516368" y="2057400"/>
            <a:ext cx="3977640" cy="566928"/>
          </a:xfrm>
          <a:prstGeom prst="rect">
            <a:avLst/>
          </a:prstGeom>
          <a:noFill/>
          <a:ln/>
        </p:spPr>
        <p:txBody>
          <a:bodyPr wrap="square" lIns="0" tIns="0" rIns="0" bIns="0" rtlCol="0" anchor="ctr"/>
          <a:lstStyle/>
          <a:p>
            <a:pPr indent="0" marL="0">
              <a:buNone/>
            </a:pPr>
            <a:r>
              <a:rPr lang="en-US" sz="2600" b="1" dirty="0">
                <a:solidFill>
                  <a:srgbClr val="1B2733"/>
                </a:solidFill>
              </a:rPr>
              <a:t>0.678  ·  0.307</a:t>
            </a:r>
            <a:endParaRPr lang="en-US" sz="2600" dirty="0"/>
          </a:p>
        </p:txBody>
      </p:sp>
      <p:sp>
        <p:nvSpPr>
          <p:cNvPr id="11" name="kpi top5 sub"/>
          <p:cNvSpPr txBox="1"/>
          <p:nvPr/>
        </p:nvSpPr>
        <p:spPr>
          <a:xfrm>
            <a:off x="7516368" y="2496312"/>
            <a:ext cx="3977640" cy="384048"/>
          </a:xfrm>
          <a:prstGeom prst="rect">
            <a:avLst/>
          </a:prstGeom>
          <a:noFill/>
          <a:ln/>
        </p:spPr>
        <p:txBody>
          <a:bodyPr wrap="square" lIns="0" tIns="0" rIns="0" bIns="0" rtlCol="0" anchor="t"/>
          <a:lstStyle/>
          <a:p>
            <a:pPr indent="0" marL="0">
              <a:buNone/>
            </a:pPr>
            <a:r>
              <a:rPr lang="en-US" sz="1050" dirty="0">
                <a:solidFill>
                  <a:srgbClr val="61707D"/>
                </a:solidFill>
              </a:rPr>
              <a:t>two contacts in three reach a would-be 1–2 star reviewer, covering 31% of them; cut per day, 0.572</a:t>
            </a:r>
            <a:endParaRPr lang="en-US" sz="1050" dirty="0"/>
          </a:p>
        </p:txBody>
      </p:sp>
      <p:sp>
        <p:nvSpPr>
          <p:cNvPr id="12" name="kpi be card"/>
          <p:cNvSpPr/>
          <p:nvPr/>
        </p:nvSpPr>
        <p:spPr>
          <a:xfrm>
            <a:off x="7223760" y="3108960"/>
            <a:ext cx="4389120" cy="1280160"/>
          </a:xfrm>
          <a:prstGeom prst="roundRect">
            <a:avLst>
              <a:gd name="adj" fmla="val 8571"/>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3" name="kpi be mark"/>
          <p:cNvSpPr/>
          <p:nvPr/>
        </p:nvSpPr>
        <p:spPr>
          <a:xfrm>
            <a:off x="7333488" y="3273552"/>
            <a:ext cx="64008" cy="950976"/>
          </a:xfrm>
          <a:prstGeom prst="roundRect">
            <a:avLst>
              <a:gd name="adj" fmla="val 42857"/>
            </a:avLst>
          </a:prstGeom>
          <a:solidFill>
            <a:srgbClr val="2F6F9F"/>
          </a:solidFill>
          <a:ln w="12700">
            <a:solidFill>
              <a:srgbClr val="2F6F9F"/>
            </a:solidFill>
            <a:prstDash val="solid"/>
          </a:ln>
        </p:spPr>
      </p:sp>
      <p:sp>
        <p:nvSpPr>
          <p:cNvPr id="14" name="kpi be label"/>
          <p:cNvSpPr txBox="1"/>
          <p:nvPr/>
        </p:nvSpPr>
        <p:spPr>
          <a:xfrm>
            <a:off x="7516368" y="3218688"/>
            <a:ext cx="3977640" cy="274320"/>
          </a:xfrm>
          <a:prstGeom prst="rect">
            <a:avLst/>
          </a:prstGeom>
          <a:noFill/>
          <a:ln/>
        </p:spPr>
        <p:txBody>
          <a:bodyPr wrap="square" lIns="0" tIns="0" rIns="0" bIns="0" rtlCol="0" anchor="ctr"/>
          <a:lstStyle/>
          <a:p>
            <a:pPr indent="0" marL="0">
              <a:buNone/>
            </a:pPr>
            <a:r>
              <a:rPr lang="en-US" sz="950" b="1" spc="100" kern="0" dirty="0">
                <a:solidFill>
                  <a:srgbClr val="61707D"/>
                </a:solidFill>
              </a:rPr>
              <a:t>BREAK-EVEN PRECISION (R$5 CONTACT : R$40 REVIEW)</a:t>
            </a:r>
            <a:endParaRPr lang="en-US" sz="950" dirty="0"/>
          </a:p>
        </p:txBody>
      </p:sp>
      <p:sp>
        <p:nvSpPr>
          <p:cNvPr id="15" name="kpi be value"/>
          <p:cNvSpPr txBox="1"/>
          <p:nvPr/>
        </p:nvSpPr>
        <p:spPr>
          <a:xfrm>
            <a:off x="7516368" y="3474720"/>
            <a:ext cx="3977640" cy="566928"/>
          </a:xfrm>
          <a:prstGeom prst="rect">
            <a:avLst/>
          </a:prstGeom>
          <a:noFill/>
          <a:ln/>
        </p:spPr>
        <p:txBody>
          <a:bodyPr wrap="square" lIns="0" tIns="0" rIns="0" bIns="0" rtlCol="0" anchor="ctr"/>
          <a:lstStyle/>
          <a:p>
            <a:pPr indent="0" marL="0">
              <a:buNone/>
            </a:pPr>
            <a:r>
              <a:rPr lang="en-US" sz="2600" b="1" dirty="0">
                <a:solidFill>
                  <a:srgbClr val="1B2733"/>
                </a:solidFill>
              </a:rPr>
              <a:t>0.125</a:t>
            </a:r>
            <a:endParaRPr lang="en-US" sz="2600" dirty="0"/>
          </a:p>
        </p:txBody>
      </p:sp>
      <p:sp>
        <p:nvSpPr>
          <p:cNvPr id="16" name="kpi be sub"/>
          <p:cNvSpPr txBox="1"/>
          <p:nvPr/>
        </p:nvSpPr>
        <p:spPr>
          <a:xfrm>
            <a:off x="7516368" y="3913632"/>
            <a:ext cx="3977640" cy="384048"/>
          </a:xfrm>
          <a:prstGeom prst="rect">
            <a:avLst/>
          </a:prstGeom>
          <a:noFill/>
          <a:ln/>
        </p:spPr>
        <p:txBody>
          <a:bodyPr wrap="square" lIns="0" tIns="0" rIns="0" bIns="0" rtlCol="0" anchor="t"/>
          <a:lstStyle/>
          <a:p>
            <a:pPr indent="0" marL="0">
              <a:buNone/>
            </a:pPr>
            <a:r>
              <a:rPr lang="en-US" sz="1050" dirty="0">
                <a:solidFill>
                  <a:srgbClr val="61707D"/>
                </a:solidFill>
              </a:rPr>
              <a:t>cleared at every capacity up to half of all deliveries — capacity, not the threshold, is what binds</a:t>
            </a:r>
            <a:endParaRPr lang="en-US" sz="1050" dirty="0"/>
          </a:p>
        </p:txBody>
      </p:sp>
      <p:sp>
        <p:nvSpPr>
          <p:cNvPr id="17" name="kpi late card"/>
          <p:cNvSpPr/>
          <p:nvPr/>
        </p:nvSpPr>
        <p:spPr>
          <a:xfrm>
            <a:off x="7223760" y="4526280"/>
            <a:ext cx="4389120" cy="1600200"/>
          </a:xfrm>
          <a:prstGeom prst="roundRect">
            <a:avLst>
              <a:gd name="adj" fmla="val 6857"/>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8" name="kpi late mark"/>
          <p:cNvSpPr/>
          <p:nvPr/>
        </p:nvSpPr>
        <p:spPr>
          <a:xfrm>
            <a:off x="7333488" y="4690872"/>
            <a:ext cx="64008" cy="1271016"/>
          </a:xfrm>
          <a:prstGeom prst="roundRect">
            <a:avLst>
              <a:gd name="adj" fmla="val 42857"/>
            </a:avLst>
          </a:prstGeom>
          <a:solidFill>
            <a:srgbClr val="C1666B"/>
          </a:solidFill>
          <a:ln w="12700">
            <a:solidFill>
              <a:srgbClr val="C1666B"/>
            </a:solidFill>
            <a:prstDash val="solid"/>
          </a:ln>
        </p:spPr>
      </p:sp>
      <p:sp>
        <p:nvSpPr>
          <p:cNvPr id="19" name="kpi late label"/>
          <p:cNvSpPr txBox="1"/>
          <p:nvPr/>
        </p:nvSpPr>
        <p:spPr>
          <a:xfrm>
            <a:off x="7516368" y="4636008"/>
            <a:ext cx="3977640" cy="274320"/>
          </a:xfrm>
          <a:prstGeom prst="rect">
            <a:avLst/>
          </a:prstGeom>
          <a:noFill/>
          <a:ln/>
        </p:spPr>
        <p:txBody>
          <a:bodyPr wrap="square" lIns="0" tIns="0" rIns="0" bIns="0" rtlCol="0" anchor="ctr"/>
          <a:lstStyle/>
          <a:p>
            <a:pPr indent="0" marL="0">
              <a:buNone/>
            </a:pPr>
            <a:r>
              <a:rPr lang="en-US" sz="950" b="1" spc="100" kern="0" dirty="0">
                <a:solidFill>
                  <a:srgbClr val="61707D"/>
                </a:solidFill>
              </a:rPr>
              <a:t>THE LATE FLAG NEVER PAYS FOR AN EXPEDITE</a:t>
            </a:r>
            <a:endParaRPr lang="en-US" sz="950" dirty="0"/>
          </a:p>
        </p:txBody>
      </p:sp>
      <p:sp>
        <p:nvSpPr>
          <p:cNvPr id="20" name="kpi late value"/>
          <p:cNvSpPr txBox="1"/>
          <p:nvPr/>
        </p:nvSpPr>
        <p:spPr>
          <a:xfrm>
            <a:off x="7516368" y="4892040"/>
            <a:ext cx="3977640" cy="566928"/>
          </a:xfrm>
          <a:prstGeom prst="rect">
            <a:avLst/>
          </a:prstGeom>
          <a:noFill/>
          <a:ln/>
        </p:spPr>
        <p:txBody>
          <a:bodyPr wrap="square" lIns="0" tIns="0" rIns="0" bIns="0" rtlCol="0" anchor="ctr"/>
          <a:lstStyle/>
          <a:p>
            <a:pPr indent="0" marL="0">
              <a:buNone/>
            </a:pPr>
            <a:r>
              <a:rPr lang="en-US" sz="2600" b="1" dirty="0">
                <a:solidFill>
                  <a:srgbClr val="1B2733"/>
                </a:solidFill>
              </a:rPr>
              <a:t>0.29 &lt; 0.30</a:t>
            </a:r>
            <a:endParaRPr lang="en-US" sz="2600" dirty="0"/>
          </a:p>
        </p:txBody>
      </p:sp>
      <p:sp>
        <p:nvSpPr>
          <p:cNvPr id="21" name="kpi late sub"/>
          <p:cNvSpPr txBox="1"/>
          <p:nvPr/>
        </p:nvSpPr>
        <p:spPr>
          <a:xfrm>
            <a:off x="7516368" y="5650992"/>
            <a:ext cx="3977640" cy="384048"/>
          </a:xfrm>
          <a:prstGeom prst="rect">
            <a:avLst/>
          </a:prstGeom>
          <a:noFill/>
          <a:ln/>
        </p:spPr>
        <p:txBody>
          <a:bodyPr wrap="square" lIns="0" tIns="0" rIns="0" bIns="0" rtlCol="0" anchor="t"/>
          <a:lstStyle/>
          <a:p>
            <a:pPr indent="0" marL="0">
              <a:buNone/>
            </a:pPr>
            <a:r>
              <a:rPr lang="en-US" sz="1050" dirty="0">
                <a:solidFill>
                  <a:srgbClr val="61707D"/>
                </a:solidFill>
              </a:rPr>
              <a:t>its precision peaks at 0.27–0.29 and falls with volume; a R$12 expedite needs 0.30. Informative (ROC-AUC 0.78), and still not worth paying to act on — re-quote and pre-warn instead</a:t>
            </a:r>
            <a:endParaRPr lang="en-US" sz="10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000" b="1" dirty="0">
                <a:solidFill>
                  <a:srgbClr val="1B2733"/>
                </a:solidFill>
              </a:rPr>
              <a:t>Deployed: team10-it5006-olist.streamlit.app</a:t>
            </a:r>
            <a:endParaRPr lang="en-US" sz="3000" dirty="0"/>
          </a:p>
        </p:txBody>
      </p:sp>
      <p:sp>
        <p:nvSpPr>
          <p:cNvPr id="3" name="subtitle"/>
          <p:cNvSpPr txBox="1"/>
          <p:nvPr/>
        </p:nvSpPr>
        <p:spPr>
          <a:xfrm>
            <a:off x="548640" y="1097280"/>
            <a:ext cx="11091672" cy="411480"/>
          </a:xfrm>
          <a:prstGeom prst="rect">
            <a:avLst/>
          </a:prstGeom>
          <a:noFill/>
          <a:ln/>
        </p:spPr>
        <p:txBody>
          <a:bodyPr wrap="square" lIns="0" tIns="0" rIns="0" bIns="0" rtlCol="0" anchor="ctr"/>
          <a:lstStyle/>
          <a:p>
            <a:pPr indent="0" marL="0">
              <a:buNone/>
            </a:pPr>
            <a:r>
              <a:rPr lang="en-US" sz="1500" dirty="0">
                <a:solidFill>
                  <a:srgbClr val="61707D"/>
                </a:solidFill>
              </a:rPr>
              <a:t>Streamlit Community Cloud · Python 3.12 · scores single orders and CSV files, returns a ranked triage list</a:t>
            </a:r>
            <a:endParaRPr lang="en-US" sz="1500" dirty="0"/>
          </a:p>
        </p:txBody>
      </p:sp>
      <p:sp>
        <p:nvSpPr>
          <p:cNvPr id="4" name="shot card"/>
          <p:cNvSpPr/>
          <p:nvPr/>
        </p:nvSpPr>
        <p:spPr>
          <a:xfrm>
            <a:off x="548640" y="1691640"/>
            <a:ext cx="7315200" cy="4434840"/>
          </a:xfrm>
          <a:prstGeom prst="roundRect">
            <a:avLst>
              <a:gd name="adj" fmla="val 2474"/>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pic>
        <p:nvPicPr>
          <p:cNvPr id="5" name="predict tab screenshot" descr="E:\2025 NUS\IT5006\deck_build\img\05_predict.png">    </p:cNvPr>
          <p:cNvPicPr>
            <a:picLocks noChangeAspect="1"/>
          </p:cNvPicPr>
          <p:nvPr/>
        </p:nvPicPr>
        <p:blipFill>
          <a:blip r:embed="rId1"/>
          <a:stretch>
            <a:fillRect/>
          </a:stretch>
        </p:blipFill>
        <p:spPr>
          <a:xfrm>
            <a:off x="658368" y="1801368"/>
            <a:ext cx="7095744" cy="4215384"/>
          </a:xfrm>
          <a:prstGeom prst="rect">
            <a:avLst/>
          </a:prstGeom>
        </p:spPr>
      </p:pic>
      <p:sp>
        <p:nvSpPr>
          <p:cNvPr id="6" name="Eight tabs icon circle"/>
          <p:cNvSpPr/>
          <p:nvPr/>
        </p:nvSpPr>
        <p:spPr>
          <a:xfrm>
            <a:off x="8138160" y="1737360"/>
            <a:ext cx="502920" cy="502920"/>
          </a:xfrm>
          <a:prstGeom prst="ellipse">
            <a:avLst/>
          </a:prstGeom>
          <a:solidFill>
            <a:srgbClr val="DCE6EF"/>
          </a:solidFill>
          <a:ln w="12700">
            <a:solidFill>
              <a:srgbClr val="DCE6EF"/>
            </a:solidFill>
            <a:prstDash val="solid"/>
          </a:ln>
        </p:spPr>
      </p:sp>
      <p:pic>
        <p:nvPicPr>
          <p:cNvPr id="7" name="Eight tabs icon" descr="preencoded.png">    </p:cNvPr>
          <p:cNvPicPr>
            <a:picLocks noChangeAspect="1"/>
          </p:cNvPicPr>
          <p:nvPr/>
        </p:nvPicPr>
        <p:blipFill>
          <a:blip r:embed="rId2"/>
          <a:stretch>
            <a:fillRect/>
          </a:stretch>
        </p:blipFill>
        <p:spPr>
          <a:xfrm>
            <a:off x="8268919" y="1868119"/>
            <a:ext cx="241402" cy="241402"/>
          </a:xfrm>
          <a:prstGeom prst="rect">
            <a:avLst/>
          </a:prstGeom>
        </p:spPr>
      </p:pic>
      <p:sp>
        <p:nvSpPr>
          <p:cNvPr id="8" name="Eight tabs head"/>
          <p:cNvSpPr txBox="1"/>
          <p:nvPr/>
        </p:nvSpPr>
        <p:spPr>
          <a:xfrm>
            <a:off x="8778240" y="1691640"/>
            <a:ext cx="2880360" cy="274320"/>
          </a:xfrm>
          <a:prstGeom prst="rect">
            <a:avLst/>
          </a:prstGeom>
          <a:noFill/>
          <a:ln/>
        </p:spPr>
        <p:txBody>
          <a:bodyPr wrap="square" lIns="0" tIns="0" rIns="0" bIns="0" rtlCol="0" anchor="ctr"/>
          <a:lstStyle/>
          <a:p>
            <a:pPr indent="0" marL="0">
              <a:buNone/>
            </a:pPr>
            <a:r>
              <a:rPr lang="en-US" sz="1250" b="1" dirty="0">
                <a:solidFill>
                  <a:srgbClr val="1B2733"/>
                </a:solidFill>
              </a:rPr>
              <a:t>Eight tabs</a:t>
            </a:r>
            <a:endParaRPr lang="en-US" sz="1250" dirty="0"/>
          </a:p>
        </p:txBody>
      </p:sp>
      <p:sp>
        <p:nvSpPr>
          <p:cNvPr id="9" name="Eight tabs body"/>
          <p:cNvSpPr txBox="1"/>
          <p:nvPr/>
        </p:nvSpPr>
        <p:spPr>
          <a:xfrm>
            <a:off x="8778240" y="1965960"/>
            <a:ext cx="2880360" cy="777240"/>
          </a:xfrm>
          <a:prstGeom prst="rect">
            <a:avLst/>
          </a:prstGeom>
          <a:noFill/>
          <a:ln/>
        </p:spPr>
        <p:txBody>
          <a:bodyPr wrap="square" lIns="0" tIns="0" rIns="0" bIns="0" rtlCol="0" anchor="t"/>
          <a:lstStyle/>
          <a:p>
            <a:pPr indent="0" marL="0">
              <a:buNone/>
            </a:pPr>
            <a:r>
              <a:rPr lang="en-US" sz="1000" dirty="0">
                <a:solidFill>
                  <a:srgbClr val="61707D"/>
                </a:solidFill>
              </a:rPr>
              <a:t>five exploratory views with filters, Predict, Replay a day, Model card</a:t>
            </a:r>
            <a:endParaRPr lang="en-US" sz="1000" dirty="0"/>
          </a:p>
        </p:txBody>
      </p:sp>
      <p:sp>
        <p:nvSpPr>
          <p:cNvPr id="10" name="One feature pipeline icon circle"/>
          <p:cNvSpPr/>
          <p:nvPr/>
        </p:nvSpPr>
        <p:spPr>
          <a:xfrm>
            <a:off x="8138160" y="2852928"/>
            <a:ext cx="502920" cy="502920"/>
          </a:xfrm>
          <a:prstGeom prst="ellipse">
            <a:avLst/>
          </a:prstGeom>
          <a:solidFill>
            <a:srgbClr val="DCE6EF"/>
          </a:solidFill>
          <a:ln w="12700">
            <a:solidFill>
              <a:srgbClr val="DCE6EF"/>
            </a:solidFill>
            <a:prstDash val="solid"/>
          </a:ln>
        </p:spPr>
      </p:sp>
      <p:pic>
        <p:nvPicPr>
          <p:cNvPr id="11" name="One feature pipeline icon" descr="preencoded.png">    </p:cNvPr>
          <p:cNvPicPr>
            <a:picLocks noChangeAspect="1"/>
          </p:cNvPicPr>
          <p:nvPr/>
        </p:nvPicPr>
        <p:blipFill>
          <a:blip r:embed="rId3"/>
          <a:stretch>
            <a:fillRect/>
          </a:stretch>
        </p:blipFill>
        <p:spPr>
          <a:xfrm>
            <a:off x="8268919" y="2983687"/>
            <a:ext cx="241402" cy="241402"/>
          </a:xfrm>
          <a:prstGeom prst="rect">
            <a:avLst/>
          </a:prstGeom>
        </p:spPr>
      </p:pic>
      <p:sp>
        <p:nvSpPr>
          <p:cNvPr id="12" name="One feature pipeline head"/>
          <p:cNvSpPr txBox="1"/>
          <p:nvPr/>
        </p:nvSpPr>
        <p:spPr>
          <a:xfrm>
            <a:off x="8778240" y="2807208"/>
            <a:ext cx="2880360" cy="274320"/>
          </a:xfrm>
          <a:prstGeom prst="rect">
            <a:avLst/>
          </a:prstGeom>
          <a:noFill/>
          <a:ln/>
        </p:spPr>
        <p:txBody>
          <a:bodyPr wrap="square" lIns="0" tIns="0" rIns="0" bIns="0" rtlCol="0" anchor="ctr"/>
          <a:lstStyle/>
          <a:p>
            <a:pPr indent="0" marL="0">
              <a:buNone/>
            </a:pPr>
            <a:r>
              <a:rPr lang="en-US" sz="1250" b="1" dirty="0">
                <a:solidFill>
                  <a:srgbClr val="1B2733"/>
                </a:solidFill>
              </a:rPr>
              <a:t>One feature pipeline</a:t>
            </a:r>
            <a:endParaRPr lang="en-US" sz="1250" dirty="0"/>
          </a:p>
        </p:txBody>
      </p:sp>
      <p:sp>
        <p:nvSpPr>
          <p:cNvPr id="13" name="One feature pipeline body"/>
          <p:cNvSpPr txBox="1"/>
          <p:nvPr/>
        </p:nvSpPr>
        <p:spPr>
          <a:xfrm>
            <a:off x="8778240" y="3081528"/>
            <a:ext cx="2880360" cy="777240"/>
          </a:xfrm>
          <a:prstGeom prst="rect">
            <a:avLst/>
          </a:prstGeom>
          <a:noFill/>
          <a:ln/>
        </p:spPr>
        <p:txBody>
          <a:bodyPr wrap="square" lIns="0" tIns="0" rIns="0" bIns="0" rtlCol="0" anchor="t"/>
          <a:lstStyle/>
          <a:p>
            <a:pPr indent="0" marL="0">
              <a:buNone/>
            </a:pPr>
            <a:r>
              <a:rPr lang="en-US" sz="1000" dirty="0">
                <a:solidFill>
                  <a:srgbClr val="61707D"/>
                </a:solidFill>
              </a:rPr>
              <a:t>a form or CSV row runs through the same src/features.py builders the models were fitted on — nothing is reimplemented</a:t>
            </a:r>
            <a:endParaRPr lang="en-US" sz="1000" dirty="0"/>
          </a:p>
        </p:txBody>
      </p:sp>
      <p:sp>
        <p:nvSpPr>
          <p:cNvPr id="14" name="Small and honest icon circle"/>
          <p:cNvSpPr/>
          <p:nvPr/>
        </p:nvSpPr>
        <p:spPr>
          <a:xfrm>
            <a:off x="8138160" y="3968496"/>
            <a:ext cx="502920" cy="502920"/>
          </a:xfrm>
          <a:prstGeom prst="ellipse">
            <a:avLst/>
          </a:prstGeom>
          <a:solidFill>
            <a:srgbClr val="DCE6EF"/>
          </a:solidFill>
          <a:ln w="12700">
            <a:solidFill>
              <a:srgbClr val="DCE6EF"/>
            </a:solidFill>
            <a:prstDash val="solid"/>
          </a:ln>
        </p:spPr>
      </p:sp>
      <p:pic>
        <p:nvPicPr>
          <p:cNvPr id="15" name="Small and honest icon" descr="preencoded.png">    </p:cNvPr>
          <p:cNvPicPr>
            <a:picLocks noChangeAspect="1"/>
          </p:cNvPicPr>
          <p:nvPr/>
        </p:nvPicPr>
        <p:blipFill>
          <a:blip r:embed="rId4"/>
          <a:stretch>
            <a:fillRect/>
          </a:stretch>
        </p:blipFill>
        <p:spPr>
          <a:xfrm>
            <a:off x="8268919" y="4099255"/>
            <a:ext cx="241402" cy="241402"/>
          </a:xfrm>
          <a:prstGeom prst="rect">
            <a:avLst/>
          </a:prstGeom>
        </p:spPr>
      </p:pic>
      <p:sp>
        <p:nvSpPr>
          <p:cNvPr id="16" name="Small and honest head"/>
          <p:cNvSpPr txBox="1"/>
          <p:nvPr/>
        </p:nvSpPr>
        <p:spPr>
          <a:xfrm>
            <a:off x="8778240" y="3922776"/>
            <a:ext cx="2880360" cy="274320"/>
          </a:xfrm>
          <a:prstGeom prst="rect">
            <a:avLst/>
          </a:prstGeom>
          <a:noFill/>
          <a:ln/>
        </p:spPr>
        <p:txBody>
          <a:bodyPr wrap="square" lIns="0" tIns="0" rIns="0" bIns="0" rtlCol="0" anchor="ctr"/>
          <a:lstStyle/>
          <a:p>
            <a:pPr indent="0" marL="0">
              <a:buNone/>
            </a:pPr>
            <a:r>
              <a:rPr lang="en-US" sz="1250" b="1" dirty="0">
                <a:solidFill>
                  <a:srgbClr val="1B2733"/>
                </a:solidFill>
              </a:rPr>
              <a:t>Small and honest</a:t>
            </a:r>
            <a:endParaRPr lang="en-US" sz="1250" dirty="0"/>
          </a:p>
        </p:txBody>
      </p:sp>
      <p:sp>
        <p:nvSpPr>
          <p:cNvPr id="17" name="Small and honest body"/>
          <p:cNvSpPr txBox="1"/>
          <p:nvPr/>
        </p:nvSpPr>
        <p:spPr>
          <a:xfrm>
            <a:off x="8778240" y="4197096"/>
            <a:ext cx="2880360" cy="777240"/>
          </a:xfrm>
          <a:prstGeom prst="rect">
            <a:avLst/>
          </a:prstGeom>
          <a:noFill/>
          <a:ln/>
        </p:spPr>
        <p:txBody>
          <a:bodyPr wrap="square" lIns="0" tIns="0" rIns="0" bIns="0" rtlCol="0" anchor="t"/>
          <a:lstStyle/>
          <a:p>
            <a:pPr indent="0" marL="0">
              <a:buNone/>
            </a:pPr>
            <a:r>
              <a:rPr lang="en-US" sz="1000" dirty="0">
                <a:solidFill>
                  <a:srgbClr val="61707D"/>
                </a:solidFill>
              </a:rPr>
              <a:t>three artifacts under 1 MB, loaded lazily; scikit-learn version pinned and checked; ten edge cases handled with specific messages</a:t>
            </a:r>
            <a:endParaRPr lang="en-US" sz="1000" dirty="0"/>
          </a:p>
        </p:txBody>
      </p:sp>
      <p:sp>
        <p:nvSpPr>
          <p:cNvPr id="18" name="Triage list icon circle"/>
          <p:cNvSpPr/>
          <p:nvPr/>
        </p:nvSpPr>
        <p:spPr>
          <a:xfrm>
            <a:off x="8138160" y="5084064"/>
            <a:ext cx="502920" cy="502920"/>
          </a:xfrm>
          <a:prstGeom prst="ellipse">
            <a:avLst/>
          </a:prstGeom>
          <a:solidFill>
            <a:srgbClr val="DCE6EF"/>
          </a:solidFill>
          <a:ln w="12700">
            <a:solidFill>
              <a:srgbClr val="DCE6EF"/>
            </a:solidFill>
            <a:prstDash val="solid"/>
          </a:ln>
        </p:spPr>
      </p:sp>
      <p:pic>
        <p:nvPicPr>
          <p:cNvPr id="19" name="Triage list icon" descr="preencoded.png">    </p:cNvPr>
          <p:cNvPicPr>
            <a:picLocks noChangeAspect="1"/>
          </p:cNvPicPr>
          <p:nvPr/>
        </p:nvPicPr>
        <p:blipFill>
          <a:blip r:embed="rId5"/>
          <a:stretch>
            <a:fillRect/>
          </a:stretch>
        </p:blipFill>
        <p:spPr>
          <a:xfrm>
            <a:off x="8268919" y="5214823"/>
            <a:ext cx="241402" cy="241402"/>
          </a:xfrm>
          <a:prstGeom prst="rect">
            <a:avLst/>
          </a:prstGeom>
        </p:spPr>
      </p:pic>
      <p:sp>
        <p:nvSpPr>
          <p:cNvPr id="20" name="Triage list head"/>
          <p:cNvSpPr txBox="1"/>
          <p:nvPr/>
        </p:nvSpPr>
        <p:spPr>
          <a:xfrm>
            <a:off x="8778240" y="5038344"/>
            <a:ext cx="2880360" cy="274320"/>
          </a:xfrm>
          <a:prstGeom prst="rect">
            <a:avLst/>
          </a:prstGeom>
          <a:noFill/>
          <a:ln/>
        </p:spPr>
        <p:txBody>
          <a:bodyPr wrap="square" lIns="0" tIns="0" rIns="0" bIns="0" rtlCol="0" anchor="ctr"/>
          <a:lstStyle/>
          <a:p>
            <a:pPr indent="0" marL="0">
              <a:buNone/>
            </a:pPr>
            <a:r>
              <a:rPr lang="en-US" sz="1250" b="1" dirty="0">
                <a:solidFill>
                  <a:srgbClr val="1B2733"/>
                </a:solidFill>
              </a:rPr>
              <a:t>Triage list</a:t>
            </a:r>
            <a:endParaRPr lang="en-US" sz="1250" dirty="0"/>
          </a:p>
        </p:txBody>
      </p:sp>
      <p:sp>
        <p:nvSpPr>
          <p:cNvPr id="21" name="Triage list body"/>
          <p:cNvSpPr txBox="1"/>
          <p:nvPr/>
        </p:nvSpPr>
        <p:spPr>
          <a:xfrm>
            <a:off x="8778240" y="5312664"/>
            <a:ext cx="2880360" cy="777240"/>
          </a:xfrm>
          <a:prstGeom prst="rect">
            <a:avLst/>
          </a:prstGeom>
          <a:noFill/>
          <a:ln/>
        </p:spPr>
        <p:txBody>
          <a:bodyPr wrap="square" lIns="0" tIns="0" rIns="0" bIns="0" rtlCol="0" anchor="t"/>
          <a:lstStyle/>
          <a:p>
            <a:pPr indent="0" marL="0">
              <a:buNone/>
            </a:pPr>
            <a:r>
              <a:rPr lang="en-US" sz="1000" dirty="0">
                <a:solidFill>
                  <a:srgbClr val="61707D"/>
                </a:solidFill>
              </a:rPr>
              <a:t>upload a day's orders, enter the team's capacity K, get the top-K marked with the precision that K achieved on the held-out window</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000" b="1" dirty="0">
                <a:solidFill>
                  <a:srgbClr val="1B2733"/>
                </a:solidFill>
              </a:rPr>
              <a:t>Replay any day of the held-out window — then reveal what happened</a:t>
            </a:r>
            <a:endParaRPr lang="en-US" sz="3000" dirty="0"/>
          </a:p>
        </p:txBody>
      </p:sp>
      <p:sp>
        <p:nvSpPr>
          <p:cNvPr id="3" name="subtitle"/>
          <p:cNvSpPr txBox="1"/>
          <p:nvPr/>
        </p:nvSpPr>
        <p:spPr>
          <a:xfrm>
            <a:off x="548640" y="1097280"/>
            <a:ext cx="11091672" cy="411480"/>
          </a:xfrm>
          <a:prstGeom prst="rect">
            <a:avLst/>
          </a:prstGeom>
          <a:noFill/>
          <a:ln/>
        </p:spPr>
        <p:txBody>
          <a:bodyPr wrap="square" lIns="0" tIns="0" rIns="0" bIns="0" rtlCol="0" anchor="ctr"/>
          <a:lstStyle/>
          <a:p>
            <a:pPr indent="0" marL="0">
              <a:buNone/>
            </a:pPr>
            <a:r>
              <a:rPr lang="en-US" sz="1500" dirty="0">
                <a:solidFill>
                  <a:srgbClr val="61707D"/>
                </a:solidFill>
              </a:rPr>
              <a:t>The brief's "held-out historical records simulating new orders", made inspectable</a:t>
            </a:r>
            <a:endParaRPr lang="en-US" sz="1500" dirty="0"/>
          </a:p>
        </p:txBody>
      </p:sp>
      <p:sp>
        <p:nvSpPr>
          <p:cNvPr id="4" name="shot card"/>
          <p:cNvSpPr/>
          <p:nvPr/>
        </p:nvSpPr>
        <p:spPr>
          <a:xfrm>
            <a:off x="548640" y="1691640"/>
            <a:ext cx="7315200" cy="4434840"/>
          </a:xfrm>
          <a:prstGeom prst="roundRect">
            <a:avLst>
              <a:gd name="adj" fmla="val 2474"/>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pic>
        <p:nvPicPr>
          <p:cNvPr id="5" name="replay tab screenshot" descr="E:\2025 NUS\IT5006\deck_build\img\07_replay.png">    </p:cNvPr>
          <p:cNvPicPr>
            <a:picLocks noChangeAspect="1"/>
          </p:cNvPicPr>
          <p:nvPr/>
        </p:nvPicPr>
        <p:blipFill>
          <a:blip r:embed="rId1"/>
          <a:stretch>
            <a:fillRect/>
          </a:stretch>
        </p:blipFill>
        <p:spPr>
          <a:xfrm>
            <a:off x="658368" y="1801368"/>
            <a:ext cx="7095744" cy="4215384"/>
          </a:xfrm>
          <a:prstGeom prst="rect">
            <a:avLst/>
          </a:prstGeom>
        </p:spPr>
      </p:pic>
      <p:sp>
        <p:nvSpPr>
          <p:cNvPr id="6" name="kpi replay card"/>
          <p:cNvSpPr/>
          <p:nvPr/>
        </p:nvSpPr>
        <p:spPr>
          <a:xfrm>
            <a:off x="8138160" y="1691640"/>
            <a:ext cx="3474720" cy="1463040"/>
          </a:xfrm>
          <a:prstGeom prst="roundRect">
            <a:avLst>
              <a:gd name="adj" fmla="val 7500"/>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7" name="kpi replay mark"/>
          <p:cNvSpPr/>
          <p:nvPr/>
        </p:nvSpPr>
        <p:spPr>
          <a:xfrm>
            <a:off x="8247888" y="1856232"/>
            <a:ext cx="64008" cy="1133856"/>
          </a:xfrm>
          <a:prstGeom prst="roundRect">
            <a:avLst>
              <a:gd name="adj" fmla="val 42857"/>
            </a:avLst>
          </a:prstGeom>
          <a:solidFill>
            <a:srgbClr val="C1666B"/>
          </a:solidFill>
          <a:ln w="12700">
            <a:solidFill>
              <a:srgbClr val="C1666B"/>
            </a:solidFill>
            <a:prstDash val="solid"/>
          </a:ln>
        </p:spPr>
      </p:sp>
      <p:sp>
        <p:nvSpPr>
          <p:cNvPr id="8" name="kpi replay label"/>
          <p:cNvSpPr txBox="1"/>
          <p:nvPr/>
        </p:nvSpPr>
        <p:spPr>
          <a:xfrm>
            <a:off x="8430768" y="1801368"/>
            <a:ext cx="3063240" cy="274320"/>
          </a:xfrm>
          <a:prstGeom prst="rect">
            <a:avLst/>
          </a:prstGeom>
          <a:noFill/>
          <a:ln/>
        </p:spPr>
        <p:txBody>
          <a:bodyPr wrap="square" lIns="0" tIns="0" rIns="0" bIns="0" rtlCol="0" anchor="ctr"/>
          <a:lstStyle/>
          <a:p>
            <a:pPr indent="0" marL="0">
              <a:buNone/>
            </a:pPr>
            <a:r>
              <a:rPr lang="en-US" sz="950" b="1" spc="100" kern="0" dirty="0">
                <a:solidFill>
                  <a:srgbClr val="61707D"/>
                </a:solidFill>
              </a:rPr>
              <a:t>16 JULY 2018, CAPACITY 10</a:t>
            </a:r>
            <a:endParaRPr lang="en-US" sz="950" dirty="0"/>
          </a:p>
        </p:txBody>
      </p:sp>
      <p:sp>
        <p:nvSpPr>
          <p:cNvPr id="9" name="kpi replay value"/>
          <p:cNvSpPr txBox="1"/>
          <p:nvPr/>
        </p:nvSpPr>
        <p:spPr>
          <a:xfrm>
            <a:off x="8430768" y="2057400"/>
            <a:ext cx="3063240" cy="566928"/>
          </a:xfrm>
          <a:prstGeom prst="rect">
            <a:avLst/>
          </a:prstGeom>
          <a:noFill/>
          <a:ln/>
        </p:spPr>
        <p:txBody>
          <a:bodyPr wrap="square" lIns="0" tIns="0" rIns="0" bIns="0" rtlCol="0" anchor="ctr"/>
          <a:lstStyle/>
          <a:p>
            <a:pPr indent="0" marL="0">
              <a:buNone/>
            </a:pPr>
            <a:r>
              <a:rPr lang="en-US" sz="2600" b="1" dirty="0">
                <a:solidFill>
                  <a:srgbClr val="1B2733"/>
                </a:solidFill>
              </a:rPr>
              <a:t>8 of 10</a:t>
            </a:r>
            <a:endParaRPr lang="en-US" sz="2600" dirty="0"/>
          </a:p>
        </p:txBody>
      </p:sp>
      <p:sp>
        <p:nvSpPr>
          <p:cNvPr id="10" name="kpi replay sub"/>
          <p:cNvSpPr txBox="1"/>
          <p:nvPr/>
        </p:nvSpPr>
        <p:spPr>
          <a:xfrm>
            <a:off x="8430768" y="2679192"/>
            <a:ext cx="3063240" cy="384048"/>
          </a:xfrm>
          <a:prstGeom prst="rect">
            <a:avLst/>
          </a:prstGeom>
          <a:noFill/>
          <a:ln/>
        </p:spPr>
        <p:txBody>
          <a:bodyPr wrap="square" lIns="0" tIns="0" rIns="0" bIns="0" rtlCol="0" anchor="t"/>
          <a:lstStyle/>
          <a:p>
            <a:pPr indent="0" marL="0">
              <a:buNone/>
            </a:pPr>
            <a:r>
              <a:rPr lang="en-US" sz="1050" dirty="0">
                <a:solidFill>
                  <a:srgbClr val="61707D"/>
                </a:solidFill>
              </a:rPr>
              <a:t>of the ten riskiest orders placed that day, eight really left a 1–2 star review; the panel beside it shows the same capacity on all 62 test days</a:t>
            </a:r>
            <a:endParaRPr lang="en-US" sz="1050" dirty="0"/>
          </a:p>
        </p:txBody>
      </p:sp>
      <p:sp>
        <p:nvSpPr>
          <p:cNvPr id="11" name="card card"/>
          <p:cNvSpPr/>
          <p:nvPr/>
        </p:nvSpPr>
        <p:spPr>
          <a:xfrm>
            <a:off x="8138160" y="3291840"/>
            <a:ext cx="3474720" cy="2834640"/>
          </a:xfrm>
          <a:prstGeom prst="roundRect">
            <a:avLst>
              <a:gd name="adj" fmla="val 3871"/>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2" name="card kicker"/>
          <p:cNvSpPr txBox="1"/>
          <p:nvPr/>
        </p:nvSpPr>
        <p:spPr>
          <a:xfrm>
            <a:off x="8321040" y="3401568"/>
            <a:ext cx="3108960" cy="274320"/>
          </a:xfrm>
          <a:prstGeom prst="rect">
            <a:avLst/>
          </a:prstGeom>
          <a:noFill/>
          <a:ln/>
        </p:spPr>
        <p:txBody>
          <a:bodyPr wrap="square" lIns="0" tIns="0" rIns="0" bIns="0" rtlCol="0" anchor="ctr"/>
          <a:lstStyle/>
          <a:p>
            <a:pPr indent="0" marL="0">
              <a:buNone/>
            </a:pPr>
            <a:r>
              <a:rPr lang="en-US" sz="1000" b="1" spc="100" kern="0" dirty="0">
                <a:solidFill>
                  <a:srgbClr val="2F6F9F"/>
                </a:solidFill>
              </a:rPr>
              <a:t>MODEL CARD</a:t>
            </a:r>
            <a:endParaRPr lang="en-US" sz="1000" dirty="0"/>
          </a:p>
        </p:txBody>
      </p:sp>
      <p:sp>
        <p:nvSpPr>
          <p:cNvPr id="13" name="card bullets"/>
          <p:cNvSpPr txBox="1"/>
          <p:nvPr/>
        </p:nvSpPr>
        <p:spPr>
          <a:xfrm>
            <a:off x="8321040" y="3703320"/>
            <a:ext cx="3154680" cy="237744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1B2733"/>
                </a:solidFill>
              </a:rPr>
              <a:t>What is deployed, read from the pickles: VotingRegressor (1A), the derived late flag (1B), StackingClassifier (2)</a:t>
            </a:r>
            <a:endParaRPr lang="en-US" sz="1050" dirty="0"/>
          </a:p>
          <a:p>
            <a:pPr marL="177800" indent="-177800">
              <a:spcAft>
                <a:spcPts val="400"/>
              </a:spcAft>
              <a:buSzPct val="100000"/>
              <a:buChar char="•"/>
            </a:pPr>
            <a:r>
              <a:rPr lang="en-US" sz="1050" dirty="0">
                <a:solidFill>
                  <a:srgbClr val="1B2733"/>
                </a:solidFill>
              </a:rPr>
              <a:t>Every searched model's selected hyperparameters</a:t>
            </a:r>
            <a:endParaRPr lang="en-US" sz="1050" dirty="0"/>
          </a:p>
          <a:p>
            <a:pPr marL="177800" indent="-177800">
              <a:spcAft>
                <a:spcPts val="400"/>
              </a:spcAft>
              <a:buSzPct val="100000"/>
              <a:buChar char="•"/>
            </a:pPr>
            <a:r>
              <a:rPr lang="en-US" sz="1050" dirty="0">
                <a:solidFill>
                  <a:srgbClr val="1B2733"/>
                </a:solidFill>
              </a:rPr>
              <a:t>The fold-to-fold table and chart for every candidate</a:t>
            </a:r>
            <a:endParaRPr lang="en-US" sz="1050" dirty="0"/>
          </a:p>
          <a:p>
            <a:pPr marL="177800" indent="-177800">
              <a:spcAft>
                <a:spcPts val="400"/>
              </a:spcAft>
              <a:buSzPct val="100000"/>
              <a:buChar char="•"/>
            </a:pPr>
            <a:r>
              <a:rPr lang="en-US" sz="1050" dirty="0">
                <a:solidFill>
                  <a:srgbClr val="1B2733"/>
                </a:solidFill>
              </a:rPr>
              <a:t>Precision@K / Recall@K; where not to trust the models</a:t>
            </a:r>
            <a:endParaRPr lang="en-US" sz="1050" dirty="0"/>
          </a:p>
          <a:p>
            <a:pPr marL="177800" indent="-177800">
              <a:spcAft>
                <a:spcPts val="400"/>
              </a:spcAft>
              <a:buSzPct val="100000"/>
              <a:buChar char="•"/>
            </a:pPr>
            <a:r>
              <a:rPr lang="en-US" sz="1050" dirty="0">
                <a:solidFill>
                  <a:srgbClr val="1B2733"/>
                </a:solidFill>
              </a:rPr>
              <a:t>A calculator for the outreach pilot</a:t>
            </a:r>
            <a:endParaRPr lang="en-US" sz="10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000" b="1" dirty="0">
                <a:solidFill>
                  <a:srgbClr val="1B2733"/>
                </a:solidFill>
              </a:rPr>
              <a:t>Recommendations: cheap levers at checkout, a ranked list at delivery</a:t>
            </a:r>
            <a:endParaRPr lang="en-US" sz="3000" dirty="0"/>
          </a:p>
        </p:txBody>
      </p:sp>
      <p:sp>
        <p:nvSpPr>
          <p:cNvPr id="3" name="subtitle"/>
          <p:cNvSpPr txBox="1"/>
          <p:nvPr/>
        </p:nvSpPr>
        <p:spPr>
          <a:xfrm>
            <a:off x="548640" y="1097280"/>
            <a:ext cx="11091672" cy="411480"/>
          </a:xfrm>
          <a:prstGeom prst="rect">
            <a:avLst/>
          </a:prstGeom>
          <a:noFill/>
          <a:ln/>
        </p:spPr>
        <p:txBody>
          <a:bodyPr wrap="square" lIns="0" tIns="0" rIns="0" bIns="0" rtlCol="0" anchor="ctr"/>
          <a:lstStyle/>
          <a:p>
            <a:pPr indent="0" marL="0">
              <a:buNone/>
            </a:pPr>
            <a:r>
              <a:rPr lang="en-US" sz="1500" dirty="0">
                <a:solidFill>
                  <a:srgbClr val="61707D"/>
                </a:solidFill>
              </a:rPr>
              <a:t>Each action with its trigger and its cost — and the experiment that would validate the business case</a:t>
            </a:r>
            <a:endParaRPr lang="en-US" sz="1500" dirty="0"/>
          </a:p>
        </p:txBody>
      </p:sp>
      <p:graphicFrame>
        <p:nvGraphicFramePr>
          <p:cNvPr id="12" name="levers table"/>
          <p:cNvGraphicFramePr>
            <a:graphicFrameLocks noGrp="1"/>
          </p:cNvGraphicFramePr>
          <p:nvPr>
            <p:extLst>
              <p:ext uri="{D42A27DB-BD31-4B8C-83A1-F6EECF244321}">
                <p14:modId xmlns:p14="http://schemas.microsoft.com/office/powerpoint/2010/main" val="1579011935"/>
              </p:ext>
            </p:extLst>
          </p:nvPr>
        </p:nvGraphicFramePr>
        <p:xfrm>
          <a:off x="548640" y="1691640"/>
          <a:ext cx="6949440" cy="914400"/>
        </p:xfrm>
        <a:graphic>
          <a:graphicData uri="http://schemas.openxmlformats.org/drawingml/2006/table">
            <a:tbl>
              <a:tblPr/>
              <a:tblGrid>
                <a:gridCol w="1600200"/>
                <a:gridCol w="1965960"/>
                <a:gridCol w="2697480"/>
                <a:gridCol w="685800"/>
              </a:tblGrid>
              <a:tr h="4754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Who</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1B2733"/>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Lever</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1B2733"/>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Trigger</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1B2733"/>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Cost</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1B2733"/>
                    </a:solidFill>
                  </a:tcPr>
                </a:tc>
              </a:tr>
              <a:tr h="475488">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Operations, at checkout</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Re-quote the promised date with the estimate</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every order · MAE 3.90 d vs the promise's 9.79</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r>
              <a:tr h="475488">
                <a:tc>
                  <a:txBody>
                    <a:bodyPr/>
                    <a:lstStyle/>
                    <a:p>
                      <a:pPr indent="0" marL="0">
                        <a:buNone/>
                      </a:pP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Pre-warn the buyer</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late risk ≥ 0.11 · catches 5 in 6 of the orders that will miss</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near zero</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r>
              <a:tr h="475488">
                <a:tc>
                  <a:txBody>
                    <a:bodyPr/>
                    <a:lstStyle/>
                    <a:p>
                      <a:pPr indent="0" marL="0">
                        <a:buNone/>
                      </a:pP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Expedite freight</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only where precision &gt; 0.30 — it never is · manual review of the top 1–2% only</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R$12</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r>
              <a:tr h="475488">
                <a:tc>
                  <a:txBody>
                    <a:bodyPr/>
                    <a:lstStyle/>
                    <a:p>
                      <a:pPr indent="0" marL="0">
                        <a:buNone/>
                      </a:pP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Monitor sellers, routes, carrier</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track-record features and the weekly late series as early warning</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analyst time</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Customer experience, at delivery</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Contact before the review is written</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the day's deliveries ranked by risk, worked top-down to capacity K</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R$5</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Platform</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Refit monthly; monitor predicted vs realised lead time</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the drift is the dominant risk to both models</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FFFFFF"/>
                    </a:solidFill>
                  </a:tcPr>
                </a:tc>
              </a:tr>
            </a:tbl>
          </a:graphicData>
        </a:graphic>
      </p:graphicFrame>
      <p:sp>
        <p:nvSpPr>
          <p:cNvPr id="5" name="kpi impact card"/>
          <p:cNvSpPr/>
          <p:nvPr/>
        </p:nvSpPr>
        <p:spPr>
          <a:xfrm>
            <a:off x="7772400" y="1691640"/>
            <a:ext cx="3840480" cy="1325880"/>
          </a:xfrm>
          <a:prstGeom prst="roundRect">
            <a:avLst>
              <a:gd name="adj" fmla="val 8276"/>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6" name="kpi impact mark"/>
          <p:cNvSpPr/>
          <p:nvPr/>
        </p:nvSpPr>
        <p:spPr>
          <a:xfrm>
            <a:off x="7882128" y="1856232"/>
            <a:ext cx="64008" cy="996696"/>
          </a:xfrm>
          <a:prstGeom prst="roundRect">
            <a:avLst>
              <a:gd name="adj" fmla="val 42857"/>
            </a:avLst>
          </a:prstGeom>
          <a:solidFill>
            <a:srgbClr val="5B8C5A"/>
          </a:solidFill>
          <a:ln w="12700">
            <a:solidFill>
              <a:srgbClr val="5B8C5A"/>
            </a:solidFill>
            <a:prstDash val="solid"/>
          </a:ln>
        </p:spPr>
      </p:sp>
      <p:sp>
        <p:nvSpPr>
          <p:cNvPr id="7" name="kpi impact label"/>
          <p:cNvSpPr txBox="1"/>
          <p:nvPr/>
        </p:nvSpPr>
        <p:spPr>
          <a:xfrm>
            <a:off x="8065008" y="1801368"/>
            <a:ext cx="3429000" cy="274320"/>
          </a:xfrm>
          <a:prstGeom prst="rect">
            <a:avLst/>
          </a:prstGeom>
          <a:noFill/>
          <a:ln/>
        </p:spPr>
        <p:txBody>
          <a:bodyPr wrap="square" lIns="0" tIns="0" rIns="0" bIns="0" rtlCol="0" anchor="ctr"/>
          <a:lstStyle/>
          <a:p>
            <a:pPr indent="0" marL="0">
              <a:buNone/>
            </a:pPr>
            <a:r>
              <a:rPr lang="en-US" sz="950" b="1" spc="100" kern="0" dirty="0">
                <a:solidFill>
                  <a:srgbClr val="61707D"/>
                </a:solidFill>
              </a:rPr>
              <a:t>PER 1,000 DELIVERED ORDERS</a:t>
            </a:r>
            <a:endParaRPr lang="en-US" sz="950" dirty="0"/>
          </a:p>
        </p:txBody>
      </p:sp>
      <p:sp>
        <p:nvSpPr>
          <p:cNvPr id="8" name="kpi impact value"/>
          <p:cNvSpPr txBox="1"/>
          <p:nvPr/>
        </p:nvSpPr>
        <p:spPr>
          <a:xfrm>
            <a:off x="8065008" y="2057400"/>
            <a:ext cx="3429000" cy="566928"/>
          </a:xfrm>
          <a:prstGeom prst="rect">
            <a:avLst/>
          </a:prstGeom>
          <a:noFill/>
          <a:ln/>
        </p:spPr>
        <p:txBody>
          <a:bodyPr wrap="square" lIns="0" tIns="0" rIns="0" bIns="0" rtlCol="0" anchor="ctr"/>
          <a:lstStyle/>
          <a:p>
            <a:pPr indent="0" marL="0">
              <a:buNone/>
            </a:pPr>
            <a:r>
              <a:rPr lang="en-US" sz="2600" b="1" dirty="0">
                <a:solidFill>
                  <a:srgbClr val="1B2733"/>
                </a:solidFill>
              </a:rPr>
              <a:t>R$1,466</a:t>
            </a:r>
            <a:endParaRPr lang="en-US" sz="2600" dirty="0"/>
          </a:p>
        </p:txBody>
      </p:sp>
      <p:sp>
        <p:nvSpPr>
          <p:cNvPr id="9" name="kpi impact sub"/>
          <p:cNvSpPr txBox="1"/>
          <p:nvPr/>
        </p:nvSpPr>
        <p:spPr>
          <a:xfrm>
            <a:off x="8065008" y="2542032"/>
            <a:ext cx="3429000" cy="384048"/>
          </a:xfrm>
          <a:prstGeom prst="rect">
            <a:avLst/>
          </a:prstGeom>
          <a:noFill/>
          <a:ln/>
        </p:spPr>
        <p:txBody>
          <a:bodyPr wrap="square" lIns="0" tIns="0" rIns="0" bIns="0" rtlCol="0" anchor="t"/>
          <a:lstStyle/>
          <a:p>
            <a:pPr indent="0" marL="0">
              <a:buNone/>
            </a:pPr>
            <a:r>
              <a:rPr lang="en-US" sz="1050" dirty="0">
                <a:solidFill>
                  <a:srgbClr val="61707D"/>
                </a:solidFill>
              </a:rPr>
              <a:t>net benefit of the review-risk list at the cost optimum (flagging 15%); a 5% capacity still captures R$1,107</a:t>
            </a:r>
            <a:endParaRPr lang="en-US" sz="1050" dirty="0"/>
          </a:p>
        </p:txBody>
      </p:sp>
      <p:sp>
        <p:nvSpPr>
          <p:cNvPr id="10" name="pilot card"/>
          <p:cNvSpPr/>
          <p:nvPr/>
        </p:nvSpPr>
        <p:spPr>
          <a:xfrm>
            <a:off x="7772400" y="3154680"/>
            <a:ext cx="3840480" cy="2971800"/>
          </a:xfrm>
          <a:prstGeom prst="roundRect">
            <a:avLst>
              <a:gd name="adj" fmla="val 3692"/>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1" name="pilot icon circle"/>
          <p:cNvSpPr/>
          <p:nvPr/>
        </p:nvSpPr>
        <p:spPr>
          <a:xfrm>
            <a:off x="7955280" y="3291840"/>
            <a:ext cx="502920" cy="502920"/>
          </a:xfrm>
          <a:prstGeom prst="ellipse">
            <a:avLst/>
          </a:prstGeom>
          <a:solidFill>
            <a:srgbClr val="FDF3F3"/>
          </a:solidFill>
          <a:ln w="12700">
            <a:solidFill>
              <a:srgbClr val="FDF3F3"/>
            </a:solidFill>
            <a:prstDash val="solid"/>
          </a:ln>
        </p:spPr>
      </p:sp>
      <p:pic>
        <p:nvPicPr>
          <p:cNvPr id="12" name="pilot icon" descr="preencoded.png">    </p:cNvPr>
          <p:cNvPicPr>
            <a:picLocks noChangeAspect="1"/>
          </p:cNvPicPr>
          <p:nvPr/>
        </p:nvPicPr>
        <p:blipFill>
          <a:blip r:embed="rId1"/>
          <a:stretch>
            <a:fillRect/>
          </a:stretch>
        </p:blipFill>
        <p:spPr>
          <a:xfrm>
            <a:off x="8086039" y="3422599"/>
            <a:ext cx="241402" cy="241402"/>
          </a:xfrm>
          <a:prstGeom prst="rect">
            <a:avLst/>
          </a:prstGeom>
        </p:spPr>
      </p:pic>
      <p:sp>
        <p:nvSpPr>
          <p:cNvPr id="13" name="pilot kicker"/>
          <p:cNvSpPr txBox="1"/>
          <p:nvPr/>
        </p:nvSpPr>
        <p:spPr>
          <a:xfrm>
            <a:off x="8549640" y="3310128"/>
            <a:ext cx="3017520" cy="457200"/>
          </a:xfrm>
          <a:prstGeom prst="rect">
            <a:avLst/>
          </a:prstGeom>
          <a:noFill/>
          <a:ln/>
        </p:spPr>
        <p:txBody>
          <a:bodyPr wrap="square" lIns="0" tIns="0" rIns="0" bIns="0" rtlCol="0" anchor="ctr"/>
          <a:lstStyle/>
          <a:p>
            <a:pPr indent="0" marL="0">
              <a:buNone/>
            </a:pPr>
            <a:r>
              <a:rPr lang="en-US" sz="1000" b="1" spc="100" kern="0" dirty="0">
                <a:solidFill>
                  <a:srgbClr val="C1666B"/>
                </a:solidFill>
              </a:rPr>
              <a:t>THE PILOT THAT TESTS THE ASSUMPTION</a:t>
            </a:r>
            <a:endParaRPr lang="en-US" sz="1000" dirty="0"/>
          </a:p>
        </p:txBody>
      </p:sp>
      <p:sp>
        <p:nvSpPr>
          <p:cNvPr id="14" name="pilot bullets"/>
          <p:cNvSpPr txBox="1"/>
          <p:nvPr/>
        </p:nvSpPr>
        <p:spPr>
          <a:xfrm>
            <a:off x="7955280" y="3886200"/>
            <a:ext cx="3520440" cy="21945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1B2733"/>
                </a:solidFill>
              </a:rPr>
              <a:t>The reais figure assumes a contact prevents the review it reaches — nobody in this data was ever contacted</a:t>
            </a:r>
            <a:endParaRPr lang="en-US" sz="1050" dirty="0"/>
          </a:p>
          <a:p>
            <a:pPr marL="177800" indent="-177800">
              <a:spcAft>
                <a:spcPts val="400"/>
              </a:spcAft>
              <a:buSzPct val="100000"/>
              <a:buChar char="•"/>
            </a:pPr>
            <a:r>
              <a:rPr lang="en-US" sz="1050" dirty="0">
                <a:solidFill>
                  <a:srgbClr val="1B2733"/>
                </a:solidFill>
              </a:rPr>
              <a:t>Randomise inside each day's top-K: contact half, leave half; compare the 1–2 star rate</a:t>
            </a:r>
            <a:endParaRPr lang="en-US" sz="1050" dirty="0"/>
          </a:p>
          <a:p>
            <a:pPr marL="177800" indent="-177800">
              <a:spcAft>
                <a:spcPts val="400"/>
              </a:spcAft>
              <a:buSzPct val="100000"/>
              <a:buChar char="•"/>
            </a:pPr>
            <a:r>
              <a:rPr lang="en-US" sz="1050" dirty="0">
                <a:solidFill>
                  <a:srgbClr val="1B2733"/>
                </a:solidFill>
              </a:rPr>
              <a:t>Control rate is already known: 57% at ten a day. Break-even: avert 1 review in 5 (21.9%)</a:t>
            </a:r>
            <a:endParaRPr lang="en-US" sz="1050" dirty="0"/>
          </a:p>
          <a:p>
            <a:pPr marL="177800" indent="-177800">
              <a:spcAft>
                <a:spcPts val="400"/>
              </a:spcAft>
              <a:buSzPct val="100000"/>
              <a:buChar char="•"/>
            </a:pPr>
            <a:r>
              <a:rPr lang="en-US" sz="1050" dirty="0">
                <a:solidFill>
                  <a:srgbClr val="1B2733"/>
                </a:solidFill>
              </a:rPr>
              <a:t>Six weeks at ten contacts a day detects a 1-in-4 effect (191 per arm, 80% power)</a:t>
            </a:r>
            <a:endParaRPr lang="en-US" sz="1050" dirty="0"/>
          </a:p>
          <a:p>
            <a:pPr marL="177800" indent="-177800">
              <a:spcAft>
                <a:spcPts val="400"/>
              </a:spcAft>
              <a:buSzPct val="100000"/>
              <a:buChar char="•"/>
            </a:pPr>
            <a:r>
              <a:rPr lang="en-US" sz="1050" dirty="0">
                <a:solidFill>
                  <a:srgbClr val="1B2733"/>
                </a:solidFill>
              </a:rPr>
              <a:t>Primary outcome: the 1–2 star rate in each arm; secondary: the realised benefit per contact, which replaces the assumed R$40</a:t>
            </a:r>
            <a:endParaRPr lang="en-US" sz="10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000" b="1" dirty="0">
                <a:solidFill>
                  <a:srgbClr val="1B2733"/>
                </a:solidFill>
              </a:rPr>
              <a:t>Limitations — and what we learned about method</a:t>
            </a:r>
            <a:endParaRPr lang="en-US" sz="3000" dirty="0"/>
          </a:p>
        </p:txBody>
      </p:sp>
      <p:sp>
        <p:nvSpPr>
          <p:cNvPr id="3" name="subtitle"/>
          <p:cNvSpPr txBox="1"/>
          <p:nvPr/>
        </p:nvSpPr>
        <p:spPr>
          <a:xfrm>
            <a:off x="548640" y="1097280"/>
            <a:ext cx="11091672" cy="411480"/>
          </a:xfrm>
          <a:prstGeom prst="rect">
            <a:avLst/>
          </a:prstGeom>
          <a:noFill/>
          <a:ln/>
        </p:spPr>
        <p:txBody>
          <a:bodyPr wrap="square" lIns="0" tIns="0" rIns="0" bIns="0" rtlCol="0" anchor="ctr"/>
          <a:lstStyle/>
          <a:p>
            <a:pPr indent="0" marL="0">
              <a:buNone/>
            </a:pPr>
            <a:r>
              <a:rPr lang="en-US" sz="1500" dirty="0">
                <a:solidFill>
                  <a:srgbClr val="61707D"/>
                </a:solidFill>
              </a:rPr>
              <a:t>Stated before the numbers were, and carried into the deployment plan</a:t>
            </a:r>
            <a:endParaRPr lang="en-US" sz="1500" dirty="0"/>
          </a:p>
        </p:txBody>
      </p:sp>
      <p:sp>
        <p:nvSpPr>
          <p:cNvPr id="4" name="A moving target card"/>
          <p:cNvSpPr/>
          <p:nvPr/>
        </p:nvSpPr>
        <p:spPr>
          <a:xfrm>
            <a:off x="548640" y="1691640"/>
            <a:ext cx="2697480" cy="2240280"/>
          </a:xfrm>
          <a:prstGeom prst="roundRect">
            <a:avLst>
              <a:gd name="adj" fmla="val 4898"/>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5" name="A moving target icon circle"/>
          <p:cNvSpPr/>
          <p:nvPr/>
        </p:nvSpPr>
        <p:spPr>
          <a:xfrm>
            <a:off x="731520" y="1828800"/>
            <a:ext cx="548640" cy="548640"/>
          </a:xfrm>
          <a:prstGeom prst="ellipse">
            <a:avLst/>
          </a:prstGeom>
          <a:solidFill>
            <a:srgbClr val="2F6F9F"/>
          </a:solidFill>
          <a:ln w="12700">
            <a:solidFill>
              <a:srgbClr val="2F6F9F"/>
            </a:solidFill>
            <a:prstDash val="solid"/>
          </a:ln>
        </p:spPr>
      </p:sp>
      <p:pic>
        <p:nvPicPr>
          <p:cNvPr id="6" name="A moving target icon" descr="preencoded.png">    </p:cNvPr>
          <p:cNvPicPr>
            <a:picLocks noChangeAspect="1"/>
          </p:cNvPicPr>
          <p:nvPr/>
        </p:nvPicPr>
        <p:blipFill>
          <a:blip r:embed="rId1"/>
          <a:stretch>
            <a:fillRect/>
          </a:stretch>
        </p:blipFill>
        <p:spPr>
          <a:xfrm>
            <a:off x="874166" y="1971446"/>
            <a:ext cx="263347" cy="263347"/>
          </a:xfrm>
          <a:prstGeom prst="rect">
            <a:avLst/>
          </a:prstGeom>
        </p:spPr>
      </p:pic>
      <p:sp>
        <p:nvSpPr>
          <p:cNvPr id="7" name="A moving target head"/>
          <p:cNvSpPr txBox="1"/>
          <p:nvPr/>
        </p:nvSpPr>
        <p:spPr>
          <a:xfrm>
            <a:off x="731520" y="2468880"/>
            <a:ext cx="2377440" cy="320040"/>
          </a:xfrm>
          <a:prstGeom prst="rect">
            <a:avLst/>
          </a:prstGeom>
          <a:noFill/>
          <a:ln/>
        </p:spPr>
        <p:txBody>
          <a:bodyPr wrap="square" lIns="0" tIns="0" rIns="0" bIns="0" rtlCol="0" anchor="ctr"/>
          <a:lstStyle/>
          <a:p>
            <a:pPr indent="0" marL="0">
              <a:buNone/>
            </a:pPr>
            <a:r>
              <a:rPr lang="en-US" sz="1300" b="1" dirty="0">
                <a:solidFill>
                  <a:srgbClr val="1B2733"/>
                </a:solidFill>
              </a:rPr>
              <a:t>A moving target</a:t>
            </a:r>
            <a:endParaRPr lang="en-US" sz="1300" dirty="0"/>
          </a:p>
        </p:txBody>
      </p:sp>
      <p:sp>
        <p:nvSpPr>
          <p:cNvPr id="8" name="A moving target body"/>
          <p:cNvSpPr txBox="1"/>
          <p:nvPr/>
        </p:nvSpPr>
        <p:spPr>
          <a:xfrm>
            <a:off x="731520" y="2788920"/>
            <a:ext cx="2377440" cy="1371600"/>
          </a:xfrm>
          <a:prstGeom prst="rect">
            <a:avLst/>
          </a:prstGeom>
          <a:noFill/>
          <a:ln/>
        </p:spPr>
        <p:txBody>
          <a:bodyPr wrap="square" lIns="0" tIns="0" rIns="0" bIns="0" rtlCol="0" anchor="t"/>
          <a:lstStyle/>
          <a:p>
            <a:pPr indent="0" marL="0">
              <a:buNone/>
            </a:pPr>
            <a:r>
              <a:rPr lang="en-US" sz="1000" dirty="0">
                <a:solidFill>
                  <a:srgbClr val="61707D"/>
                </a:solidFill>
              </a:rPr>
              <a:t>Lead time fell 5.3 days between training and test; the regression over-predicts everywhere, most in the North (+4.8 d). Refit monthly; recalibrate with it.</a:t>
            </a:r>
            <a:endParaRPr lang="en-US" sz="1000" dirty="0"/>
          </a:p>
        </p:txBody>
      </p:sp>
      <p:sp>
        <p:nvSpPr>
          <p:cNvPr id="9" name="Shocks no order can see card"/>
          <p:cNvSpPr/>
          <p:nvPr/>
        </p:nvSpPr>
        <p:spPr>
          <a:xfrm>
            <a:off x="3337560" y="1691640"/>
            <a:ext cx="2697480" cy="2240280"/>
          </a:xfrm>
          <a:prstGeom prst="roundRect">
            <a:avLst>
              <a:gd name="adj" fmla="val 4898"/>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0" name="Shocks no order can see icon circle"/>
          <p:cNvSpPr/>
          <p:nvPr/>
        </p:nvSpPr>
        <p:spPr>
          <a:xfrm>
            <a:off x="3520440" y="1828800"/>
            <a:ext cx="548640" cy="548640"/>
          </a:xfrm>
          <a:prstGeom prst="ellipse">
            <a:avLst/>
          </a:prstGeom>
          <a:solidFill>
            <a:srgbClr val="C08B2E"/>
          </a:solidFill>
          <a:ln w="12700">
            <a:solidFill>
              <a:srgbClr val="C08B2E"/>
            </a:solidFill>
            <a:prstDash val="solid"/>
          </a:ln>
        </p:spPr>
      </p:sp>
      <p:pic>
        <p:nvPicPr>
          <p:cNvPr id="11" name="Shocks no order can see icon" descr="preencoded.png">    </p:cNvPr>
          <p:cNvPicPr>
            <a:picLocks noChangeAspect="1"/>
          </p:cNvPicPr>
          <p:nvPr/>
        </p:nvPicPr>
        <p:blipFill>
          <a:blip r:embed="rId2"/>
          <a:stretch>
            <a:fillRect/>
          </a:stretch>
        </p:blipFill>
        <p:spPr>
          <a:xfrm>
            <a:off x="3663086" y="1971446"/>
            <a:ext cx="263347" cy="263347"/>
          </a:xfrm>
          <a:prstGeom prst="rect">
            <a:avLst/>
          </a:prstGeom>
        </p:spPr>
      </p:pic>
      <p:sp>
        <p:nvSpPr>
          <p:cNvPr id="12" name="Shocks no order can see head"/>
          <p:cNvSpPr txBox="1"/>
          <p:nvPr/>
        </p:nvSpPr>
        <p:spPr>
          <a:xfrm>
            <a:off x="3520440" y="2468880"/>
            <a:ext cx="2377440" cy="320040"/>
          </a:xfrm>
          <a:prstGeom prst="rect">
            <a:avLst/>
          </a:prstGeom>
          <a:noFill/>
          <a:ln/>
        </p:spPr>
        <p:txBody>
          <a:bodyPr wrap="square" lIns="0" tIns="0" rIns="0" bIns="0" rtlCol="0" anchor="ctr"/>
          <a:lstStyle/>
          <a:p>
            <a:pPr indent="0" marL="0">
              <a:buNone/>
            </a:pPr>
            <a:r>
              <a:rPr lang="en-US" sz="1300" b="1" dirty="0">
                <a:solidFill>
                  <a:srgbClr val="1B2733"/>
                </a:solidFill>
              </a:rPr>
              <a:t>Shocks no order can see</a:t>
            </a:r>
            <a:endParaRPr lang="en-US" sz="1300" dirty="0"/>
          </a:p>
        </p:txBody>
      </p:sp>
      <p:sp>
        <p:nvSpPr>
          <p:cNvPr id="13" name="Shocks no order can see body"/>
          <p:cNvSpPr txBox="1"/>
          <p:nvPr/>
        </p:nvSpPr>
        <p:spPr>
          <a:xfrm>
            <a:off x="3520440" y="2788920"/>
            <a:ext cx="2377440" cy="1371600"/>
          </a:xfrm>
          <a:prstGeom prst="rect">
            <a:avLst/>
          </a:prstGeom>
          <a:noFill/>
          <a:ln/>
        </p:spPr>
        <p:txBody>
          <a:bodyPr wrap="square" lIns="0" tIns="0" rIns="0" bIns="0" rtlCol="0" anchor="t"/>
          <a:lstStyle/>
          <a:p>
            <a:pPr indent="0" marL="0">
              <a:buNone/>
            </a:pPr>
            <a:r>
              <a:rPr lang="en-US" sz="1000" dirty="0">
                <a:solidFill>
                  <a:srgbClr val="61707D"/>
                </a:solidFill>
              </a:rPr>
              <a:t>Black Friday, a carrier slowdown, a national strike — carrier capacity and promising policy, not order attributes. The late flag's ceiling is real.</a:t>
            </a:r>
            <a:endParaRPr lang="en-US" sz="1000" dirty="0"/>
          </a:p>
        </p:txBody>
      </p:sp>
      <p:sp>
        <p:nvSpPr>
          <p:cNvPr id="14" name="A benefit that is assumed card"/>
          <p:cNvSpPr/>
          <p:nvPr/>
        </p:nvSpPr>
        <p:spPr>
          <a:xfrm>
            <a:off x="6126480" y="1691640"/>
            <a:ext cx="2697480" cy="2240280"/>
          </a:xfrm>
          <a:prstGeom prst="roundRect">
            <a:avLst>
              <a:gd name="adj" fmla="val 4898"/>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15" name="A benefit that is assumed icon circle"/>
          <p:cNvSpPr/>
          <p:nvPr/>
        </p:nvSpPr>
        <p:spPr>
          <a:xfrm>
            <a:off x="6309360" y="1828800"/>
            <a:ext cx="548640" cy="548640"/>
          </a:xfrm>
          <a:prstGeom prst="ellipse">
            <a:avLst/>
          </a:prstGeom>
          <a:solidFill>
            <a:srgbClr val="C1666B"/>
          </a:solidFill>
          <a:ln w="12700">
            <a:solidFill>
              <a:srgbClr val="C1666B"/>
            </a:solidFill>
            <a:prstDash val="solid"/>
          </a:ln>
        </p:spPr>
      </p:sp>
      <p:pic>
        <p:nvPicPr>
          <p:cNvPr id="16" name="A benefit that is assumed icon" descr="preencoded.png">    </p:cNvPr>
          <p:cNvPicPr>
            <a:picLocks noChangeAspect="1"/>
          </p:cNvPicPr>
          <p:nvPr/>
        </p:nvPicPr>
        <p:blipFill>
          <a:blip r:embed="rId3"/>
          <a:stretch>
            <a:fillRect/>
          </a:stretch>
        </p:blipFill>
        <p:spPr>
          <a:xfrm>
            <a:off x="6452006" y="1971446"/>
            <a:ext cx="263347" cy="263347"/>
          </a:xfrm>
          <a:prstGeom prst="rect">
            <a:avLst/>
          </a:prstGeom>
        </p:spPr>
      </p:pic>
      <p:sp>
        <p:nvSpPr>
          <p:cNvPr id="17" name="A benefit that is assumed head"/>
          <p:cNvSpPr txBox="1"/>
          <p:nvPr/>
        </p:nvSpPr>
        <p:spPr>
          <a:xfrm>
            <a:off x="6309360" y="2468880"/>
            <a:ext cx="2377440" cy="320040"/>
          </a:xfrm>
          <a:prstGeom prst="rect">
            <a:avLst/>
          </a:prstGeom>
          <a:noFill/>
          <a:ln/>
        </p:spPr>
        <p:txBody>
          <a:bodyPr wrap="square" lIns="0" tIns="0" rIns="0" bIns="0" rtlCol="0" anchor="ctr"/>
          <a:lstStyle/>
          <a:p>
            <a:pPr indent="0" marL="0">
              <a:buNone/>
            </a:pPr>
            <a:r>
              <a:rPr lang="en-US" sz="1300" b="1" dirty="0">
                <a:solidFill>
                  <a:srgbClr val="1B2733"/>
                </a:solidFill>
              </a:rPr>
              <a:t>A benefit that is assumed</a:t>
            </a:r>
            <a:endParaRPr lang="en-US" sz="1300" dirty="0"/>
          </a:p>
        </p:txBody>
      </p:sp>
      <p:sp>
        <p:nvSpPr>
          <p:cNvPr id="18" name="A benefit that is assumed body"/>
          <p:cNvSpPr txBox="1"/>
          <p:nvPr/>
        </p:nvSpPr>
        <p:spPr>
          <a:xfrm>
            <a:off x="6309360" y="2788920"/>
            <a:ext cx="2377440" cy="1371600"/>
          </a:xfrm>
          <a:prstGeom prst="rect">
            <a:avLst/>
          </a:prstGeom>
          <a:noFill/>
          <a:ln/>
        </p:spPr>
        <p:txBody>
          <a:bodyPr wrap="square" lIns="0" tIns="0" rIns="0" bIns="0" rtlCol="0" anchor="t"/>
          <a:lstStyle/>
          <a:p>
            <a:pPr indent="0" marL="0">
              <a:buNone/>
            </a:pPr>
            <a:r>
              <a:rPr lang="en-US" sz="1000" dirty="0">
                <a:solidFill>
                  <a:srgbClr val="61707D"/>
                </a:solidFill>
              </a:rPr>
              <a:t>The cost analysis values a contact at the review it prevents; the data contains no contacts. Pilot before scaling.</a:t>
            </a:r>
            <a:endParaRPr lang="en-US" sz="1000" dirty="0"/>
          </a:p>
        </p:txBody>
      </p:sp>
      <p:sp>
        <p:nvSpPr>
          <p:cNvPr id="19" name="A rating is not satisfaction card"/>
          <p:cNvSpPr/>
          <p:nvPr/>
        </p:nvSpPr>
        <p:spPr>
          <a:xfrm>
            <a:off x="8915400" y="1691640"/>
            <a:ext cx="2697480" cy="2240280"/>
          </a:xfrm>
          <a:prstGeom prst="roundRect">
            <a:avLst>
              <a:gd name="adj" fmla="val 4898"/>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20" name="A rating is not satisfaction icon circle"/>
          <p:cNvSpPr/>
          <p:nvPr/>
        </p:nvSpPr>
        <p:spPr>
          <a:xfrm>
            <a:off x="9098280" y="1828800"/>
            <a:ext cx="548640" cy="548640"/>
          </a:xfrm>
          <a:prstGeom prst="ellipse">
            <a:avLst/>
          </a:prstGeom>
          <a:solidFill>
            <a:srgbClr val="5B8C5A"/>
          </a:solidFill>
          <a:ln w="12700">
            <a:solidFill>
              <a:srgbClr val="5B8C5A"/>
            </a:solidFill>
            <a:prstDash val="solid"/>
          </a:ln>
        </p:spPr>
      </p:sp>
      <p:pic>
        <p:nvPicPr>
          <p:cNvPr id="21" name="A rating is not satisfaction icon" descr="preencoded.png">    </p:cNvPr>
          <p:cNvPicPr>
            <a:picLocks noChangeAspect="1"/>
          </p:cNvPicPr>
          <p:nvPr/>
        </p:nvPicPr>
        <p:blipFill>
          <a:blip r:embed="rId4"/>
          <a:stretch>
            <a:fillRect/>
          </a:stretch>
        </p:blipFill>
        <p:spPr>
          <a:xfrm>
            <a:off x="9240926" y="1971446"/>
            <a:ext cx="263347" cy="263347"/>
          </a:xfrm>
          <a:prstGeom prst="rect">
            <a:avLst/>
          </a:prstGeom>
        </p:spPr>
      </p:pic>
      <p:sp>
        <p:nvSpPr>
          <p:cNvPr id="22" name="A rating is not satisfaction head"/>
          <p:cNvSpPr txBox="1"/>
          <p:nvPr/>
        </p:nvSpPr>
        <p:spPr>
          <a:xfrm>
            <a:off x="9098280" y="2468880"/>
            <a:ext cx="2377440" cy="320040"/>
          </a:xfrm>
          <a:prstGeom prst="rect">
            <a:avLst/>
          </a:prstGeom>
          <a:noFill/>
          <a:ln/>
        </p:spPr>
        <p:txBody>
          <a:bodyPr wrap="square" lIns="0" tIns="0" rIns="0" bIns="0" rtlCol="0" anchor="ctr"/>
          <a:lstStyle/>
          <a:p>
            <a:pPr indent="0" marL="0">
              <a:buNone/>
            </a:pPr>
            <a:r>
              <a:rPr lang="en-US" sz="1300" b="1" dirty="0">
                <a:solidFill>
                  <a:srgbClr val="1B2733"/>
                </a:solidFill>
              </a:rPr>
              <a:t>A rating is not satisfaction</a:t>
            </a:r>
            <a:endParaRPr lang="en-US" sz="1300" dirty="0"/>
          </a:p>
        </p:txBody>
      </p:sp>
      <p:sp>
        <p:nvSpPr>
          <p:cNvPr id="23" name="A rating is not satisfaction body"/>
          <p:cNvSpPr txBox="1"/>
          <p:nvPr/>
        </p:nvSpPr>
        <p:spPr>
          <a:xfrm>
            <a:off x="9098280" y="2788920"/>
            <a:ext cx="2377440" cy="1371600"/>
          </a:xfrm>
          <a:prstGeom prst="rect">
            <a:avLst/>
          </a:prstGeom>
          <a:noFill/>
          <a:ln/>
        </p:spPr>
        <p:txBody>
          <a:bodyPr wrap="square" lIns="0" tIns="0" rIns="0" bIns="0" rtlCol="0" anchor="t"/>
          <a:lstStyle/>
          <a:p>
            <a:pPr indent="0" marL="0">
              <a:buNone/>
            </a:pPr>
            <a:r>
              <a:rPr lang="en-US" sz="1000" dirty="0">
                <a:solidFill>
                  <a:srgbClr val="61707D"/>
                </a:solidFill>
              </a:rPr>
              <a:t>Reviews are self-selected and J-shaped; the quietly dissatisfied customer never appears. Triage scores, not entitlements — never to penalise a seller.</a:t>
            </a:r>
            <a:endParaRPr lang="en-US" sz="1000" dirty="0"/>
          </a:p>
        </p:txBody>
      </p:sp>
      <p:sp>
        <p:nvSpPr>
          <p:cNvPr id="24" name="method card"/>
          <p:cNvSpPr/>
          <p:nvPr/>
        </p:nvSpPr>
        <p:spPr>
          <a:xfrm>
            <a:off x="548640" y="4114800"/>
            <a:ext cx="11064240" cy="2011680"/>
          </a:xfrm>
          <a:prstGeom prst="roundRect">
            <a:avLst>
              <a:gd name="adj" fmla="val 5455"/>
            </a:avLst>
          </a:prstGeom>
          <a:solidFill>
            <a:srgbClr val="FFFFFF"/>
          </a:solidFill>
          <a:ln w="9525">
            <a:solidFill>
              <a:srgbClr val="E3E8ED"/>
            </a:solidFill>
            <a:prstDash val="solid"/>
          </a:ln>
          <a:effectLst>
            <a:outerShdw sx="100000" sy="100000" kx="0" ky="0" algn="bl" rotWithShape="0" blurRad="76200" dist="25400" dir="5400000">
              <a:srgbClr val="9AA5B1">
                <a:alpha val="25000"/>
              </a:srgbClr>
            </a:outerShdw>
          </a:effectLst>
        </p:spPr>
      </p:sp>
      <p:sp>
        <p:nvSpPr>
          <p:cNvPr id="25" name="method kicker"/>
          <p:cNvSpPr txBox="1"/>
          <p:nvPr/>
        </p:nvSpPr>
        <p:spPr>
          <a:xfrm>
            <a:off x="777240" y="4224528"/>
            <a:ext cx="10607040" cy="274320"/>
          </a:xfrm>
          <a:prstGeom prst="rect">
            <a:avLst/>
          </a:prstGeom>
          <a:noFill/>
          <a:ln/>
        </p:spPr>
        <p:txBody>
          <a:bodyPr wrap="square" lIns="0" tIns="0" rIns="0" bIns="0" rtlCol="0" anchor="ctr"/>
          <a:lstStyle/>
          <a:p>
            <a:pPr indent="0" marL="0">
              <a:buNone/>
            </a:pPr>
            <a:r>
              <a:rPr lang="en-US" sz="1000" b="1" spc="100" kern="0" dirty="0">
                <a:solidFill>
                  <a:srgbClr val="2F6F9F"/>
                </a:solidFill>
              </a:rPr>
              <a:t>FOUR METHOD FINDINGS THAT TRAVEL BEYOND THIS DATASET</a:t>
            </a:r>
            <a:endParaRPr lang="en-US" sz="1000" dirty="0"/>
          </a:p>
        </p:txBody>
      </p:sp>
      <p:sp>
        <p:nvSpPr>
          <p:cNvPr id="26" name="method bullets"/>
          <p:cNvSpPr txBox="1"/>
          <p:nvPr/>
        </p:nvSpPr>
        <p:spPr>
          <a:xfrm>
            <a:off x="777240" y="4526280"/>
            <a:ext cx="10607040" cy="155448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733"/>
                </a:solidFill>
              </a:rPr>
              <a:t>Cross-validation inside a drifting period reorders the candidates against the forward window, and its fold-to-fold spread is wider than the gaps between them — select by rank on recent windows, and report when even that fails (it did, once).</a:t>
            </a:r>
            <a:endParaRPr lang="en-US" sz="1100" dirty="0"/>
          </a:p>
          <a:p>
            <a:pPr marL="177800" indent="-177800">
              <a:spcAft>
                <a:spcPts val="400"/>
              </a:spcAft>
              <a:buSzPct val="100000"/>
              <a:buChar char="•"/>
            </a:pPr>
            <a:r>
              <a:rPr lang="en-US" sz="1100" dirty="0">
                <a:solidFill>
                  <a:srgbClr val="1B2733"/>
                </a:solidFill>
              </a:rPr>
              <a:t>Weighting the loss for imbalance leaves ranking unchanged and inflates risk threefold — move the threshold instead.</a:t>
            </a:r>
            <a:endParaRPr lang="en-US" sz="1100" dirty="0"/>
          </a:p>
          <a:p>
            <a:pPr marL="177800" indent="-177800">
              <a:spcAft>
                <a:spcPts val="400"/>
              </a:spcAft>
              <a:buSzPct val="100000"/>
              <a:buChar char="•"/>
            </a:pPr>
            <a:r>
              <a:rPr lang="en-US" sz="1100" dirty="0">
                <a:solidFill>
                  <a:srgbClr val="1B2733"/>
                </a:solidFill>
              </a:rPr>
              <a:t>Raw PR-AUC is not comparable across periods with different base rates; its lift over the floor is.</a:t>
            </a:r>
            <a:endParaRPr lang="en-US" sz="1100" dirty="0"/>
          </a:p>
          <a:p>
            <a:pPr marL="177800" indent="-177800">
              <a:spcAft>
                <a:spcPts val="400"/>
              </a:spcAft>
              <a:buSzPct val="100000"/>
              <a:buChar char="•"/>
            </a:pPr>
            <a:r>
              <a:rPr lang="en-US" sz="1100" dirty="0">
                <a:solidFill>
                  <a:srgbClr val="1B2733"/>
                </a:solidFill>
              </a:rPr>
              <a:t>The most useful business results were negative: an informative flag that does not justify an expensive action, and a policy worth testing before it is worth anything.</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707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731520" y="1371600"/>
            <a:ext cx="10515600" cy="914400"/>
          </a:xfrm>
          <a:prstGeom prst="rect">
            <a:avLst/>
          </a:prstGeom>
          <a:noFill/>
          <a:ln/>
        </p:spPr>
        <p:txBody>
          <a:bodyPr wrap="square" lIns="0" tIns="0" rIns="0" bIns="0" rtlCol="0" anchor="ctr"/>
          <a:lstStyle/>
          <a:p>
            <a:pPr indent="0" marL="0">
              <a:buNone/>
            </a:pPr>
            <a:r>
              <a:rPr lang="en-US" sz="4400" b="1" dirty="0">
                <a:solidFill>
                  <a:srgbClr val="FFFFFF"/>
                </a:solidFill>
              </a:rPr>
              <a:t>Thank you</a:t>
            </a:r>
            <a:endParaRPr lang="en-US" sz="4400" dirty="0"/>
          </a:p>
        </p:txBody>
      </p:sp>
      <p:sp>
        <p:nvSpPr>
          <p:cNvPr id="3" name="subtitle"/>
          <p:cNvSpPr txBox="1"/>
          <p:nvPr/>
        </p:nvSpPr>
        <p:spPr>
          <a:xfrm>
            <a:off x="731520" y="2286000"/>
            <a:ext cx="10058400" cy="548640"/>
          </a:xfrm>
          <a:prstGeom prst="rect">
            <a:avLst/>
          </a:prstGeom>
          <a:noFill/>
          <a:ln/>
        </p:spPr>
        <p:txBody>
          <a:bodyPr wrap="square" lIns="0" tIns="0" rIns="0" bIns="0" rtlCol="0" anchor="ctr"/>
          <a:lstStyle/>
          <a:p>
            <a:pPr indent="0" marL="0">
              <a:buNone/>
            </a:pPr>
            <a:r>
              <a:rPr lang="en-US" sz="1800" dirty="0">
                <a:solidFill>
                  <a:srgbClr val="DCE6EF"/>
                </a:solidFill>
              </a:rPr>
              <a:t>Two prediction moments, one decision chain, a deployed application — and an experiment to run next.</a:t>
            </a:r>
            <a:endParaRPr lang="en-US" sz="1800" dirty="0"/>
          </a:p>
        </p:txBody>
      </p:sp>
      <p:sp>
        <p:nvSpPr>
          <p:cNvPr id="4" name="Live application icon circle"/>
          <p:cNvSpPr/>
          <p:nvPr/>
        </p:nvSpPr>
        <p:spPr>
          <a:xfrm>
            <a:off x="731520" y="3200400"/>
            <a:ext cx="548640" cy="548640"/>
          </a:xfrm>
          <a:prstGeom prst="ellipse">
            <a:avLst/>
          </a:prstGeom>
          <a:solidFill>
            <a:srgbClr val="243447"/>
          </a:solidFill>
          <a:ln w="12700">
            <a:solidFill>
              <a:srgbClr val="243447"/>
            </a:solidFill>
            <a:prstDash val="solid"/>
          </a:ln>
        </p:spPr>
      </p:sp>
      <p:pic>
        <p:nvPicPr>
          <p:cNvPr id="5" name="Live application icon" descr="preencoded.png">    </p:cNvPr>
          <p:cNvPicPr>
            <a:picLocks noChangeAspect="1"/>
          </p:cNvPicPr>
          <p:nvPr/>
        </p:nvPicPr>
        <p:blipFill>
          <a:blip r:embed="rId1"/>
          <a:stretch>
            <a:fillRect/>
          </a:stretch>
        </p:blipFill>
        <p:spPr>
          <a:xfrm>
            <a:off x="874166" y="3343046"/>
            <a:ext cx="263347" cy="263347"/>
          </a:xfrm>
          <a:prstGeom prst="rect">
            <a:avLst/>
          </a:prstGeom>
        </p:spPr>
      </p:pic>
      <p:sp>
        <p:nvSpPr>
          <p:cNvPr id="6" name="Live application label"/>
          <p:cNvSpPr txBox="1"/>
          <p:nvPr/>
        </p:nvSpPr>
        <p:spPr>
          <a:xfrm>
            <a:off x="1463040" y="3182112"/>
            <a:ext cx="9144000" cy="274320"/>
          </a:xfrm>
          <a:prstGeom prst="rect">
            <a:avLst/>
          </a:prstGeom>
          <a:noFill/>
          <a:ln/>
        </p:spPr>
        <p:txBody>
          <a:bodyPr wrap="square" lIns="0" tIns="0" rIns="0" bIns="0" rtlCol="0" anchor="ctr"/>
          <a:lstStyle/>
          <a:p>
            <a:pPr indent="0" marL="0">
              <a:buNone/>
            </a:pPr>
            <a:r>
              <a:rPr lang="en-US" sz="1200" dirty="0">
                <a:solidFill>
                  <a:srgbClr val="DCE6EF"/>
                </a:solidFill>
              </a:rPr>
              <a:t>Live application</a:t>
            </a:r>
            <a:endParaRPr lang="en-US" sz="1200" dirty="0"/>
          </a:p>
        </p:txBody>
      </p:sp>
      <p:sp>
        <p:nvSpPr>
          <p:cNvPr id="7" name="Live application url">
            <a:hlinkClick r:id="rId2" tooltip=""/>
          </p:cNvPr>
          <p:cNvSpPr txBox="1"/>
          <p:nvPr/>
        </p:nvSpPr>
        <p:spPr>
          <a:xfrm>
            <a:off x="1463040" y="3438144"/>
            <a:ext cx="10058400" cy="320040"/>
          </a:xfrm>
          <a:prstGeom prst="rect">
            <a:avLst/>
          </a:prstGeom>
          <a:noFill/>
          <a:ln/>
        </p:spPr>
        <p:txBody>
          <a:bodyPr wrap="square" lIns="0" tIns="0" rIns="0" bIns="0" rtlCol="0" anchor="ctr"/>
          <a:lstStyle/>
          <a:p>
            <a:pPr indent="0" marL="0">
              <a:buNone/>
            </a:pPr>
            <a:r>
              <a:rPr lang="en-US" sz="15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https://team10-it5006-olist.streamlit.app</a:t>
            </a:r>
            <a:endParaRPr lang="en-US" sz="1500" dirty="0"/>
          </a:p>
        </p:txBody>
      </p:sp>
      <p:sp>
        <p:nvSpPr>
          <p:cNvPr id="8" name="Repository, notebooks, report icon circle"/>
          <p:cNvSpPr/>
          <p:nvPr/>
        </p:nvSpPr>
        <p:spPr>
          <a:xfrm>
            <a:off x="731520" y="4160520"/>
            <a:ext cx="548640" cy="548640"/>
          </a:xfrm>
          <a:prstGeom prst="ellipse">
            <a:avLst/>
          </a:prstGeom>
          <a:solidFill>
            <a:srgbClr val="243447"/>
          </a:solidFill>
          <a:ln w="12700">
            <a:solidFill>
              <a:srgbClr val="243447"/>
            </a:solidFill>
            <a:prstDash val="solid"/>
          </a:ln>
        </p:spPr>
      </p:sp>
      <p:pic>
        <p:nvPicPr>
          <p:cNvPr id="9" name="Repository, notebooks, report icon" descr="preencoded.png">    </p:cNvPr>
          <p:cNvPicPr>
            <a:picLocks noChangeAspect="1"/>
          </p:cNvPicPr>
          <p:nvPr/>
        </p:nvPicPr>
        <p:blipFill>
          <a:blip r:embed="rId3"/>
          <a:stretch>
            <a:fillRect/>
          </a:stretch>
        </p:blipFill>
        <p:spPr>
          <a:xfrm>
            <a:off x="874166" y="4303166"/>
            <a:ext cx="263347" cy="263347"/>
          </a:xfrm>
          <a:prstGeom prst="rect">
            <a:avLst/>
          </a:prstGeom>
        </p:spPr>
      </p:pic>
      <p:sp>
        <p:nvSpPr>
          <p:cNvPr id="10" name="Repository, notebooks, report label"/>
          <p:cNvSpPr txBox="1"/>
          <p:nvPr/>
        </p:nvSpPr>
        <p:spPr>
          <a:xfrm>
            <a:off x="1463040" y="4142232"/>
            <a:ext cx="9144000" cy="274320"/>
          </a:xfrm>
          <a:prstGeom prst="rect">
            <a:avLst/>
          </a:prstGeom>
          <a:noFill/>
          <a:ln/>
        </p:spPr>
        <p:txBody>
          <a:bodyPr wrap="square" lIns="0" tIns="0" rIns="0" bIns="0" rtlCol="0" anchor="ctr"/>
          <a:lstStyle/>
          <a:p>
            <a:pPr indent="0" marL="0">
              <a:buNone/>
            </a:pPr>
            <a:r>
              <a:rPr lang="en-US" sz="1200" dirty="0">
                <a:solidFill>
                  <a:srgbClr val="DCE6EF"/>
                </a:solidFill>
              </a:rPr>
              <a:t>Repository, notebooks, report</a:t>
            </a:r>
            <a:endParaRPr lang="en-US" sz="1200" dirty="0"/>
          </a:p>
        </p:txBody>
      </p:sp>
      <p:sp>
        <p:nvSpPr>
          <p:cNvPr id="11" name="Repository, notebooks, report url">
            <a:hlinkClick r:id="rId4" tooltip=""/>
          </p:cNvPr>
          <p:cNvSpPr txBox="1"/>
          <p:nvPr/>
        </p:nvSpPr>
        <p:spPr>
          <a:xfrm>
            <a:off x="1463040" y="4398264"/>
            <a:ext cx="10058400" cy="320040"/>
          </a:xfrm>
          <a:prstGeom prst="rect">
            <a:avLst/>
          </a:prstGeom>
          <a:noFill/>
          <a:ln/>
        </p:spPr>
        <p:txBody>
          <a:bodyPr wrap="square" lIns="0" tIns="0" rIns="0" bIns="0" rtlCol="0" anchor="ctr"/>
          <a:lstStyle/>
          <a:p>
            <a:pPr indent="0" marL="0">
              <a:buNone/>
            </a:pPr>
            <a:r>
              <a:rPr lang="en-US" sz="1500" b="1" u="sng" dirty="0">
                <a:solidFill>
                  <a:srgbClr val="FFFFFF"/>
                </a:solidFill>
                <a:hlinkClick r:id="rId4" invalidUrl="" action="" tgtFrame="" tooltip="" history="1" highlightClick="0" endSnd="0">
                  <a:extLst>
                    <a:ext uri="{A12FA001-AC4F-418D-AE19-62706E023703}">
                      <ahyp:hlinkClr xmlns:ahyp="http://schemas.microsoft.com/office/drawing/2018/hyperlinkcolor" val="tx"/>
                    </a:ext>
                  </a:extLst>
                </a:hlinkClick>
              </a:rPr>
              <a:t>https://github.com/gengyuzccc-cell/Team10_IT5006_Ecommerce_Analytics_AY2627Sem1</a:t>
            </a:r>
            <a:endParaRPr lang="en-US" sz="1500" dirty="0"/>
          </a:p>
        </p:txBody>
      </p:sp>
      <p:sp>
        <p:nvSpPr>
          <p:cNvPr id="12" name="team"/>
          <p:cNvSpPr txBox="1"/>
          <p:nvPr/>
        </p:nvSpPr>
        <p:spPr>
          <a:xfrm>
            <a:off x="731520" y="5669280"/>
            <a:ext cx="10515600" cy="365760"/>
          </a:xfrm>
          <a:prstGeom prst="rect">
            <a:avLst/>
          </a:prstGeom>
          <a:noFill/>
          <a:ln/>
        </p:spPr>
        <p:txBody>
          <a:bodyPr wrap="square" lIns="0" tIns="0" rIns="0" bIns="0" rtlCol="0" anchor="ctr"/>
          <a:lstStyle/>
          <a:p>
            <a:pPr indent="0" marL="0">
              <a:buNone/>
            </a:pPr>
            <a:r>
              <a:rPr lang="en-US" sz="1300" dirty="0">
                <a:solidFill>
                  <a:srgbClr val="DCE6EF"/>
                </a:solidFill>
              </a:rPr>
              <a:t>Pan Pinyou  ·  Li Yudan  ·  Zhu Gengyu   —   Group 10, IT5006, National University of Singapore</a:t>
            </a:r>
            <a:endParaRPr lang="en-US" sz="1300" dirty="0"/>
          </a:p>
        </p:txBody>
      </p:sp>
      <p:sp>
        <p:nvSpPr>
          <p:cNvPr id="13" name="questions"/>
          <p:cNvSpPr txBox="1"/>
          <p:nvPr/>
        </p:nvSpPr>
        <p:spPr>
          <a:xfrm>
            <a:off x="731520" y="5074920"/>
            <a:ext cx="5486400" cy="457200"/>
          </a:xfrm>
          <a:prstGeom prst="rect">
            <a:avLst/>
          </a:prstGeom>
          <a:noFill/>
          <a:ln/>
        </p:spPr>
        <p:txBody>
          <a:bodyPr wrap="square" lIns="0" tIns="0" rIns="0" bIns="0" rtlCol="0" anchor="ctr"/>
          <a:lstStyle/>
          <a:p>
            <a:pPr indent="0" marL="0">
              <a:buNone/>
            </a:pPr>
            <a:r>
              <a:rPr lang="en-US" sz="2200" b="1" dirty="0">
                <a:solidFill>
                  <a:srgbClr val="C08B2E"/>
                </a:solidFill>
              </a:rPr>
              <a:t>Questions?</a:t>
            </a:r>
            <a:endParaRPr lang="en-US" sz="2200" dirty="0"/>
          </a:p>
        </p:txBody>
      </p:sp>
    </p:spTree>
  </p:cSld>
  <p:clrMapOvr>
    <a:masterClrMapping/>
  </p:clrMapOvr>
</p:sld>
</file>

<file path=ppt/theme/theme1.xml><?xml version="1.0" encoding="utf-8"?>
<a:theme xmlns:a="http://schemas.openxmlformats.org/drawingml/2006/main" name="Olist Group 10">
  <a:themeElements>
    <a:clrScheme name="Olist Group 10">
      <a:dk1>
        <a:srgbClr val="1B2733"/>
      </a:dk1>
      <a:lt1>
        <a:srgbClr val="FFFFFF"/>
      </a:lt1>
      <a:dk2>
        <a:srgbClr val="61707D"/>
      </a:dk2>
      <a:lt2>
        <a:srgbClr val="F5F7F9"/>
      </a:lt2>
      <a:accent1>
        <a:srgbClr val="2F6F9F"/>
      </a:accent1>
      <a:accent2>
        <a:srgbClr val="C1666B"/>
      </a:accent2>
      <a:accent3>
        <a:srgbClr val="C08B2E"/>
      </a:accent3>
      <a:accent4>
        <a:srgbClr val="5B8C5A"/>
      </a:accent4>
      <a:accent5>
        <a:srgbClr val="7A6C9B"/>
      </a:accent5>
      <a:accent6>
        <a:srgbClr val="3F8E8C"/>
      </a:accent6>
      <a:hlink>
        <a:srgbClr val="2F6F9F"/>
      </a:hlink>
      <a:folHlink>
        <a:srgbClr val="61707D"/>
      </a:folHlink>
    </a:clrScheme>
    <a:fontScheme name="Olist Group 10">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delivery performance and satisfaction risk on the Olist marketplace</dc:title>
  <dc:subject>IT5006 Phase 3 final presentation</dc:subject>
  <dc:creator>Group 10 - Pan Pinyou, Li Yudan, Zhu Gengyu</dc:creator>
  <cp:lastModifiedBy>Group 10 - Pan Pinyou, Li Yudan, Zhu Gengyu</cp:lastModifiedBy>
  <cp:revision>1</cp:revision>
  <dcterms:created xsi:type="dcterms:W3CDTF">2026-10-26T17:04:28Z</dcterms:created>
  <dcterms:modified xsi:type="dcterms:W3CDTF">2026-10-26T17:04:28Z</dcterms:modified>
</cp:coreProperties>
</file>