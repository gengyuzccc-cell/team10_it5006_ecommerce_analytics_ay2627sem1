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embeddedFontLst>
    <p:embeddedFont>
      <p:font typeface="Georgia" panose="02040502050405020303" pitchFamily="18" charset="0"/>
      <p:regular r:id="rId24"/>
      <p:bold r:id="rId25"/>
      <p:italic r:id="rId26"/>
      <p:boldItalic r:id="rId27"/>
    </p:embeddedFont>
    <p:embeddedFont>
      <p:font typeface="Segoe UI" panose="020B0502040204020203" pitchFamily="34" charset="0"/>
      <p:regular r:id="rId28"/>
      <p:bold r:id="rId29"/>
      <p:italic r:id="rId30"/>
      <p:boldItalic r:id="rId31"/>
    </p:embeddedFont>
    <p:embeddedFont>
      <p:font typeface="Segoe UI Light" panose="020B0502040204020203" pitchFamily="34" charset="0"/>
      <p:regular r:id="rId32"/>
      <p:italic r:id="rId33"/>
    </p:embeddedFont>
    <p:embeddedFont>
      <p:font typeface="Segoe UI Semibold" panose="020B0702040204020203" pitchFamily="34" charset="0"/>
      <p:bold r:id="rId34"/>
      <p:boldItalic r:id="rId3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 late</c:v>
                </c:pt>
              </c:strCache>
            </c:strRef>
          </c:tx>
          <c:spPr>
            <a:solidFill>
              <a:srgbClr val="4C6A90"/>
            </a:solidFill>
            <a:effectLst/>
          </c:spPr>
          <c:invertIfNegative val="0"/>
          <c:dPt>
            <c:idx val="0"/>
            <c:invertIfNegative val="0"/>
            <c:bubble3D val="0"/>
            <c:extLst>
              <c:ext xmlns:c16="http://schemas.microsoft.com/office/drawing/2014/chart" uri="{C3380CC4-5D6E-409C-BE32-E72D297353CC}">
                <c16:uniqueId val="{00000001-E0BE-4FA6-853C-4CF059ECF56A}"/>
              </c:ext>
            </c:extLst>
          </c:dPt>
          <c:dPt>
            <c:idx val="1"/>
            <c:invertIfNegative val="0"/>
            <c:bubble3D val="0"/>
            <c:extLst>
              <c:ext xmlns:c16="http://schemas.microsoft.com/office/drawing/2014/chart" uri="{C3380CC4-5D6E-409C-BE32-E72D297353CC}">
                <c16:uniqueId val="{00000003-E0BE-4FA6-853C-4CF059ECF56A}"/>
              </c:ext>
            </c:extLst>
          </c:dPt>
          <c:dPt>
            <c:idx val="2"/>
            <c:invertIfNegative val="0"/>
            <c:bubble3D val="0"/>
            <c:extLst>
              <c:ext xmlns:c16="http://schemas.microsoft.com/office/drawing/2014/chart" uri="{C3380CC4-5D6E-409C-BE32-E72D297353CC}">
                <c16:uniqueId val="{00000005-E0BE-4FA6-853C-4CF059ECF56A}"/>
              </c:ext>
            </c:extLst>
          </c:dPt>
          <c:dPt>
            <c:idx val="3"/>
            <c:invertIfNegative val="0"/>
            <c:bubble3D val="0"/>
            <c:extLst>
              <c:ext xmlns:c16="http://schemas.microsoft.com/office/drawing/2014/chart" uri="{C3380CC4-5D6E-409C-BE32-E72D297353CC}">
                <c16:uniqueId val="{00000007-E0BE-4FA6-853C-4CF059ECF56A}"/>
              </c:ext>
            </c:extLst>
          </c:dPt>
          <c:dPt>
            <c:idx val="4"/>
            <c:invertIfNegative val="0"/>
            <c:bubble3D val="0"/>
            <c:extLst>
              <c:ext xmlns:c16="http://schemas.microsoft.com/office/drawing/2014/chart" uri="{C3380CC4-5D6E-409C-BE32-E72D297353CC}">
                <c16:uniqueId val="{00000009-E0BE-4FA6-853C-4CF059ECF56A}"/>
              </c:ext>
            </c:extLst>
          </c:dPt>
          <c:dPt>
            <c:idx val="5"/>
            <c:invertIfNegative val="0"/>
            <c:bubble3D val="0"/>
            <c:extLst>
              <c:ext xmlns:c16="http://schemas.microsoft.com/office/drawing/2014/chart" uri="{C3380CC4-5D6E-409C-BE32-E72D297353CC}">
                <c16:uniqueId val="{0000000B-E0BE-4FA6-853C-4CF059ECF56A}"/>
              </c:ext>
            </c:extLst>
          </c:dPt>
          <c:dPt>
            <c:idx val="6"/>
            <c:invertIfNegative val="0"/>
            <c:bubble3D val="0"/>
            <c:extLst>
              <c:ext xmlns:c16="http://schemas.microsoft.com/office/drawing/2014/chart" uri="{C3380CC4-5D6E-409C-BE32-E72D297353CC}">
                <c16:uniqueId val="{0000000D-E0BE-4FA6-853C-4CF059ECF56A}"/>
              </c:ext>
            </c:extLst>
          </c:dPt>
          <c:dPt>
            <c:idx val="7"/>
            <c:invertIfNegative val="0"/>
            <c:bubble3D val="0"/>
            <c:extLst>
              <c:ext xmlns:c16="http://schemas.microsoft.com/office/drawing/2014/chart" uri="{C3380CC4-5D6E-409C-BE32-E72D297353CC}">
                <c16:uniqueId val="{0000000F-E0BE-4FA6-853C-4CF059ECF56A}"/>
              </c:ext>
            </c:extLst>
          </c:dPt>
          <c:dPt>
            <c:idx val="8"/>
            <c:invertIfNegative val="0"/>
            <c:bubble3D val="0"/>
            <c:extLst>
              <c:ext xmlns:c16="http://schemas.microsoft.com/office/drawing/2014/chart" uri="{C3380CC4-5D6E-409C-BE32-E72D297353CC}">
                <c16:uniqueId val="{00000011-E0BE-4FA6-853C-4CF059ECF56A}"/>
              </c:ext>
            </c:extLst>
          </c:dPt>
          <c:dPt>
            <c:idx val="9"/>
            <c:invertIfNegative val="0"/>
            <c:bubble3D val="0"/>
            <c:extLst>
              <c:ext xmlns:c16="http://schemas.microsoft.com/office/drawing/2014/chart" uri="{C3380CC4-5D6E-409C-BE32-E72D297353CC}">
                <c16:uniqueId val="{00000013-E0BE-4FA6-853C-4CF059ECF56A}"/>
              </c:ext>
            </c:extLst>
          </c:dPt>
          <c:dPt>
            <c:idx val="10"/>
            <c:invertIfNegative val="0"/>
            <c:bubble3D val="0"/>
            <c:spPr>
              <a:solidFill>
                <a:srgbClr val="E3B868"/>
              </a:solidFill>
              <a:effectLst/>
            </c:spPr>
            <c:extLst>
              <c:ext xmlns:c16="http://schemas.microsoft.com/office/drawing/2014/chart" uri="{C3380CC4-5D6E-409C-BE32-E72D297353CC}">
                <c16:uniqueId val="{00000015-E0BE-4FA6-853C-4CF059ECF56A}"/>
              </c:ext>
            </c:extLst>
          </c:dPt>
          <c:dPt>
            <c:idx val="11"/>
            <c:invertIfNegative val="0"/>
            <c:bubble3D val="0"/>
            <c:extLst>
              <c:ext xmlns:c16="http://schemas.microsoft.com/office/drawing/2014/chart" uri="{C3380CC4-5D6E-409C-BE32-E72D297353CC}">
                <c16:uniqueId val="{00000017-E0BE-4FA6-853C-4CF059ECF56A}"/>
              </c:ext>
            </c:extLst>
          </c:dPt>
          <c:dPt>
            <c:idx val="12"/>
            <c:invertIfNegative val="0"/>
            <c:bubble3D val="0"/>
            <c:extLst>
              <c:ext xmlns:c16="http://schemas.microsoft.com/office/drawing/2014/chart" uri="{C3380CC4-5D6E-409C-BE32-E72D297353CC}">
                <c16:uniqueId val="{00000019-E0BE-4FA6-853C-4CF059ECF56A}"/>
              </c:ext>
            </c:extLst>
          </c:dPt>
          <c:dPt>
            <c:idx val="13"/>
            <c:invertIfNegative val="0"/>
            <c:bubble3D val="0"/>
            <c:spPr>
              <a:solidFill>
                <a:srgbClr val="EE9196"/>
              </a:solidFill>
              <a:effectLst/>
            </c:spPr>
            <c:extLst>
              <c:ext xmlns:c16="http://schemas.microsoft.com/office/drawing/2014/chart" uri="{C3380CC4-5D6E-409C-BE32-E72D297353CC}">
                <c16:uniqueId val="{0000001B-E0BE-4FA6-853C-4CF059ECF56A}"/>
              </c:ext>
            </c:extLst>
          </c:dPt>
          <c:dPt>
            <c:idx val="14"/>
            <c:invertIfNegative val="0"/>
            <c:bubble3D val="0"/>
            <c:spPr>
              <a:solidFill>
                <a:srgbClr val="EE9196"/>
              </a:solidFill>
              <a:effectLst/>
            </c:spPr>
            <c:extLst>
              <c:ext xmlns:c16="http://schemas.microsoft.com/office/drawing/2014/chart" uri="{C3380CC4-5D6E-409C-BE32-E72D297353CC}">
                <c16:uniqueId val="{0000001D-E0BE-4FA6-853C-4CF059ECF56A}"/>
              </c:ext>
            </c:extLst>
          </c:dPt>
          <c:dPt>
            <c:idx val="15"/>
            <c:invertIfNegative val="0"/>
            <c:bubble3D val="0"/>
            <c:extLst>
              <c:ext xmlns:c16="http://schemas.microsoft.com/office/drawing/2014/chart" uri="{C3380CC4-5D6E-409C-BE32-E72D297353CC}">
                <c16:uniqueId val="{0000001F-E0BE-4FA6-853C-4CF059ECF56A}"/>
              </c:ext>
            </c:extLst>
          </c:dPt>
          <c:dPt>
            <c:idx val="16"/>
            <c:invertIfNegative val="0"/>
            <c:bubble3D val="0"/>
            <c:extLst>
              <c:ext xmlns:c16="http://schemas.microsoft.com/office/drawing/2014/chart" uri="{C3380CC4-5D6E-409C-BE32-E72D297353CC}">
                <c16:uniqueId val="{00000021-E0BE-4FA6-853C-4CF059ECF56A}"/>
              </c:ext>
            </c:extLst>
          </c:dPt>
          <c:dPt>
            <c:idx val="17"/>
            <c:invertIfNegative val="0"/>
            <c:bubble3D val="0"/>
            <c:spPr>
              <a:solidFill>
                <a:srgbClr val="97C796"/>
              </a:solidFill>
              <a:effectLst/>
            </c:spPr>
            <c:extLst>
              <c:ext xmlns:c16="http://schemas.microsoft.com/office/drawing/2014/chart" uri="{C3380CC4-5D6E-409C-BE32-E72D297353CC}">
                <c16:uniqueId val="{00000023-E0BE-4FA6-853C-4CF059ECF56A}"/>
              </c:ext>
            </c:extLst>
          </c:dPt>
          <c:dPt>
            <c:idx val="18"/>
            <c:invertIfNegative val="0"/>
            <c:bubble3D val="0"/>
            <c:extLst>
              <c:ext xmlns:c16="http://schemas.microsoft.com/office/drawing/2014/chart" uri="{C3380CC4-5D6E-409C-BE32-E72D297353CC}">
                <c16:uniqueId val="{00000025-E0BE-4FA6-853C-4CF059ECF56A}"/>
              </c:ext>
            </c:extLst>
          </c:dPt>
          <c:dPt>
            <c:idx val="19"/>
            <c:invertIfNegative val="0"/>
            <c:bubble3D val="0"/>
            <c:extLst>
              <c:ext xmlns:c16="http://schemas.microsoft.com/office/drawing/2014/chart" uri="{C3380CC4-5D6E-409C-BE32-E72D297353CC}">
                <c16:uniqueId val="{00000027-E0BE-4FA6-853C-4CF059ECF56A}"/>
              </c:ext>
            </c:extLst>
          </c:dPt>
          <c:cat>
            <c:strRef>
              <c:f>Sheet1!$A$2:$A$21</c:f>
              <c:strCache>
                <c:ptCount val="20"/>
                <c:pt idx="0">
                  <c:v>Jan 17</c:v>
                </c:pt>
                <c:pt idx="1">
                  <c:v>Feb 17</c:v>
                </c:pt>
                <c:pt idx="2">
                  <c:v>Mar 17</c:v>
                </c:pt>
                <c:pt idx="3">
                  <c:v>Apr 17</c:v>
                </c:pt>
                <c:pt idx="4">
                  <c:v>May 17</c:v>
                </c:pt>
                <c:pt idx="5">
                  <c:v>Jun 17</c:v>
                </c:pt>
                <c:pt idx="6">
                  <c:v>Jul 17</c:v>
                </c:pt>
                <c:pt idx="7">
                  <c:v>Aug 17</c:v>
                </c:pt>
                <c:pt idx="8">
                  <c:v>Sep 17</c:v>
                </c:pt>
                <c:pt idx="9">
                  <c:v>Oct 17</c:v>
                </c:pt>
                <c:pt idx="10">
                  <c:v>Nov 17</c:v>
                </c:pt>
                <c:pt idx="11">
                  <c:v>Dec 17</c:v>
                </c:pt>
                <c:pt idx="12">
                  <c:v>Jan 18</c:v>
                </c:pt>
                <c:pt idx="13">
                  <c:v>Feb 18</c:v>
                </c:pt>
                <c:pt idx="14">
                  <c:v>Mar 18</c:v>
                </c:pt>
                <c:pt idx="15">
                  <c:v>Apr 18</c:v>
                </c:pt>
                <c:pt idx="16">
                  <c:v>May 18</c:v>
                </c:pt>
                <c:pt idx="17">
                  <c:v>Jun 18</c:v>
                </c:pt>
                <c:pt idx="18">
                  <c:v>Jul 18</c:v>
                </c:pt>
                <c:pt idx="19">
                  <c:v>Aug 18</c:v>
                </c:pt>
              </c:strCache>
            </c:strRef>
          </c:cat>
          <c:val>
            <c:numRef>
              <c:f>Sheet1!$B$2:$B$21</c:f>
              <c:numCache>
                <c:formatCode>General</c:formatCode>
                <c:ptCount val="20"/>
                <c:pt idx="0">
                  <c:v>3.0667E-2</c:v>
                </c:pt>
                <c:pt idx="1">
                  <c:v>3.2063000000000001E-2</c:v>
                </c:pt>
                <c:pt idx="2">
                  <c:v>5.5773999999999997E-2</c:v>
                </c:pt>
                <c:pt idx="3">
                  <c:v>7.8592999999999996E-2</c:v>
                </c:pt>
                <c:pt idx="4">
                  <c:v>3.6107E-2</c:v>
                </c:pt>
                <c:pt idx="5">
                  <c:v>3.8595999999999998E-2</c:v>
                </c:pt>
                <c:pt idx="6">
                  <c:v>3.4348999999999998E-2</c:v>
                </c:pt>
                <c:pt idx="7">
                  <c:v>3.3149999999999999E-2</c:v>
                </c:pt>
                <c:pt idx="8">
                  <c:v>5.2047999999999997E-2</c:v>
                </c:pt>
                <c:pt idx="9">
                  <c:v>5.2925000000000007E-2</c:v>
                </c:pt>
                <c:pt idx="10">
                  <c:v>0.14311199999999999</c:v>
                </c:pt>
                <c:pt idx="11">
                  <c:v>8.3802000000000001E-2</c:v>
                </c:pt>
                <c:pt idx="12">
                  <c:v>6.5639000000000003E-2</c:v>
                </c:pt>
                <c:pt idx="13">
                  <c:v>0.16000599999999998</c:v>
                </c:pt>
                <c:pt idx="14">
                  <c:v>0.21362300000000001</c:v>
                </c:pt>
                <c:pt idx="15">
                  <c:v>5.3103999999999998E-2</c:v>
                </c:pt>
                <c:pt idx="16">
                  <c:v>8.2383000000000012E-2</c:v>
                </c:pt>
                <c:pt idx="17">
                  <c:v>1.3614999999999999E-2</c:v>
                </c:pt>
                <c:pt idx="18">
                  <c:v>4.4833999999999999E-2</c:v>
                </c:pt>
                <c:pt idx="19">
                  <c:v>0.10392099999999999</c:v>
                </c:pt>
              </c:numCache>
            </c:numRef>
          </c:val>
          <c:extLst>
            <c:ext xmlns:c16="http://schemas.microsoft.com/office/drawing/2014/chart" uri="{C3380CC4-5D6E-409C-BE32-E72D297353CC}">
              <c16:uniqueId val="{00000028-E0BE-4FA6-853C-4CF059ECF56A}"/>
            </c:ext>
          </c:extLst>
        </c:ser>
        <c:dLbls>
          <c:showLegendKey val="0"/>
          <c:showVal val="0"/>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700000"/>
          <a:lstStyle/>
          <a:p>
            <a:pPr>
              <a:defRPr sz="1000" b="0" i="0" u="none" strike="noStrike">
                <a:solidFill>
                  <a:srgbClr val="93A6BC"/>
                </a:solidFill>
                <a:latin typeface="+mn-lt"/>
              </a:defRPr>
            </a:pPr>
            <a:endParaRPr lang="en-US"/>
          </a:p>
        </c:txPr>
        <c:crossAx val="2094734552"/>
        <c:crosses val="autoZero"/>
        <c:auto val="1"/>
        <c:lblAlgn val="ctr"/>
        <c:lblOffset val="100"/>
        <c:noMultiLvlLbl val="1"/>
      </c:catAx>
      <c:valAx>
        <c:axId val="2094734552"/>
        <c:scaling>
          <c:orientation val="minMax"/>
          <c:max val="0.25"/>
          <c:min val="0"/>
        </c:scaling>
        <c:delete val="0"/>
        <c:axPos val="l"/>
        <c:majorGridlines>
          <c:spPr>
            <a:ln w="6350" cap="flat">
              <a:solidFill>
                <a:srgbClr val="2A3F5C"/>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93A6BC"/>
                </a:solidFill>
                <a:latin typeface="+mn-lt"/>
              </a:defRPr>
            </a:pPr>
            <a:endParaRPr lang="en-US"/>
          </a:p>
        </c:txPr>
        <c:crossAx val="2094734554"/>
        <c:crosses val="autoZero"/>
        <c:crossBetween val="between"/>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MAE</c:v>
                </c:pt>
              </c:strCache>
            </c:strRef>
          </c:tx>
          <c:spPr>
            <a:solidFill>
              <a:srgbClr val="C9D1D9"/>
            </a:solidFill>
            <a:effectLst/>
          </c:spPr>
          <c:invertIfNegative val="0"/>
          <c:dPt>
            <c:idx val="0"/>
            <c:invertIfNegative val="0"/>
            <c:bubble3D val="0"/>
            <c:extLst>
              <c:ext xmlns:c16="http://schemas.microsoft.com/office/drawing/2014/chart" uri="{C3380CC4-5D6E-409C-BE32-E72D297353CC}">
                <c16:uniqueId val="{00000001-8196-4D85-8522-41F57CA25D35}"/>
              </c:ext>
            </c:extLst>
          </c:dPt>
          <c:dPt>
            <c:idx val="1"/>
            <c:invertIfNegative val="0"/>
            <c:bubble3D val="0"/>
            <c:extLst>
              <c:ext xmlns:c16="http://schemas.microsoft.com/office/drawing/2014/chart" uri="{C3380CC4-5D6E-409C-BE32-E72D297353CC}">
                <c16:uniqueId val="{00000003-8196-4D85-8522-41F57CA25D35}"/>
              </c:ext>
            </c:extLst>
          </c:dPt>
          <c:dPt>
            <c:idx val="2"/>
            <c:invertIfNegative val="0"/>
            <c:bubble3D val="0"/>
            <c:spPr>
              <a:solidFill>
                <a:srgbClr val="9DC3E2"/>
              </a:solidFill>
              <a:effectLst/>
            </c:spPr>
            <c:extLst>
              <c:ext xmlns:c16="http://schemas.microsoft.com/office/drawing/2014/chart" uri="{C3380CC4-5D6E-409C-BE32-E72D297353CC}">
                <c16:uniqueId val="{00000005-8196-4D85-8522-41F57CA25D35}"/>
              </c:ext>
            </c:extLst>
          </c:dPt>
          <c:dPt>
            <c:idx val="3"/>
            <c:invertIfNegative val="0"/>
            <c:bubble3D val="0"/>
            <c:spPr>
              <a:solidFill>
                <a:srgbClr val="9DC3E2"/>
              </a:solidFill>
              <a:effectLst/>
            </c:spPr>
            <c:extLst>
              <c:ext xmlns:c16="http://schemas.microsoft.com/office/drawing/2014/chart" uri="{C3380CC4-5D6E-409C-BE32-E72D297353CC}">
                <c16:uniqueId val="{00000007-8196-4D85-8522-41F57CA25D35}"/>
              </c:ext>
            </c:extLst>
          </c:dPt>
          <c:dPt>
            <c:idx val="4"/>
            <c:invertIfNegative val="0"/>
            <c:bubble3D val="0"/>
            <c:spPr>
              <a:solidFill>
                <a:srgbClr val="9DC3E2"/>
              </a:solidFill>
              <a:effectLst/>
            </c:spPr>
            <c:extLst>
              <c:ext xmlns:c16="http://schemas.microsoft.com/office/drawing/2014/chart" uri="{C3380CC4-5D6E-409C-BE32-E72D297353CC}">
                <c16:uniqueId val="{00000009-8196-4D85-8522-41F57CA25D35}"/>
              </c:ext>
            </c:extLst>
          </c:dPt>
          <c:dPt>
            <c:idx val="5"/>
            <c:invertIfNegative val="0"/>
            <c:bubble3D val="0"/>
            <c:spPr>
              <a:solidFill>
                <a:srgbClr val="9DC3E2"/>
              </a:solidFill>
              <a:effectLst/>
            </c:spPr>
            <c:extLst>
              <c:ext xmlns:c16="http://schemas.microsoft.com/office/drawing/2014/chart" uri="{C3380CC4-5D6E-409C-BE32-E72D297353CC}">
                <c16:uniqueId val="{0000000B-8196-4D85-8522-41F57CA25D35}"/>
              </c:ext>
            </c:extLst>
          </c:dPt>
          <c:dPt>
            <c:idx val="6"/>
            <c:invertIfNegative val="0"/>
            <c:bubble3D val="0"/>
            <c:spPr>
              <a:solidFill>
                <a:srgbClr val="9DC3E2"/>
              </a:solidFill>
              <a:effectLst/>
            </c:spPr>
            <c:extLst>
              <c:ext xmlns:c16="http://schemas.microsoft.com/office/drawing/2014/chart" uri="{C3380CC4-5D6E-409C-BE32-E72D297353CC}">
                <c16:uniqueId val="{0000000D-8196-4D85-8522-41F57CA25D35}"/>
              </c:ext>
            </c:extLst>
          </c:dPt>
          <c:dPt>
            <c:idx val="7"/>
            <c:invertIfNegative val="0"/>
            <c:bubble3D val="0"/>
            <c:spPr>
              <a:solidFill>
                <a:srgbClr val="9DC3E2"/>
              </a:solidFill>
              <a:effectLst/>
            </c:spPr>
            <c:extLst>
              <c:ext xmlns:c16="http://schemas.microsoft.com/office/drawing/2014/chart" uri="{C3380CC4-5D6E-409C-BE32-E72D297353CC}">
                <c16:uniqueId val="{0000000F-8196-4D85-8522-41F57CA25D35}"/>
              </c:ext>
            </c:extLst>
          </c:dPt>
          <c:dPt>
            <c:idx val="8"/>
            <c:invertIfNegative val="0"/>
            <c:bubble3D val="0"/>
            <c:spPr>
              <a:solidFill>
                <a:srgbClr val="2F6F9F"/>
              </a:solidFill>
              <a:effectLst/>
            </c:spPr>
            <c:extLst>
              <c:ext xmlns:c16="http://schemas.microsoft.com/office/drawing/2014/chart" uri="{C3380CC4-5D6E-409C-BE32-E72D297353CC}">
                <c16:uniqueId val="{00000011-8196-4D85-8522-41F57CA25D35}"/>
              </c:ext>
            </c:extLst>
          </c:dPt>
          <c:dLbls>
            <c:numFmt formatCode="0.00" sourceLinked="0"/>
            <c:spPr>
              <a:noFill/>
              <a:ln>
                <a:noFill/>
              </a:ln>
              <a:effectLst/>
            </c:spPr>
            <c:txPr>
              <a:bodyPr/>
              <a:lstStyle/>
              <a:p>
                <a:pPr>
                  <a:defRPr sz="1000" b="0" i="0" u="none" strike="noStrike">
                    <a:solidFill>
                      <a:srgbClr val="16222F"/>
                    </a:solidFill>
                    <a:latin typeface="+mn-lt"/>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Olist's promise</c:v>
                </c:pt>
                <c:pt idx="1">
                  <c:v>Training-period mean</c:v>
                </c:pt>
                <c:pt idx="2">
                  <c:v>Decision tree</c:v>
                </c:pt>
                <c:pt idx="3">
                  <c:v>Random forest</c:v>
                </c:pt>
                <c:pt idx="4">
                  <c:v>Ridge</c:v>
                </c:pt>
                <c:pt idx="5">
                  <c:v>Linear regression</c:v>
                </c:pt>
                <c:pt idx="6">
                  <c:v>HistGradientBoosting</c:v>
                </c:pt>
                <c:pt idx="7">
                  <c:v>Stacking (A+B)</c:v>
                </c:pt>
                <c:pt idx="8">
                  <c:v>Voting (A+B), deployed</c:v>
                </c:pt>
              </c:strCache>
            </c:strRef>
          </c:cat>
          <c:val>
            <c:numRef>
              <c:f>Sheet1!$B$2:$B$10</c:f>
              <c:numCache>
                <c:formatCode>General</c:formatCode>
                <c:ptCount val="9"/>
                <c:pt idx="0">
                  <c:v>9.7884203624893686</c:v>
                </c:pt>
                <c:pt idx="1">
                  <c:v>6.6452052901981293</c:v>
                </c:pt>
                <c:pt idx="2">
                  <c:v>6.1157513304275151</c:v>
                </c:pt>
                <c:pt idx="3">
                  <c:v>4.9557293107579676</c:v>
                </c:pt>
                <c:pt idx="4">
                  <c:v>4.30933572891787</c:v>
                </c:pt>
                <c:pt idx="5">
                  <c:v>4.1812887376578916</c:v>
                </c:pt>
                <c:pt idx="6">
                  <c:v>4.1414507700447816</c:v>
                </c:pt>
                <c:pt idx="7">
                  <c:v>4.1208060278566077</c:v>
                </c:pt>
                <c:pt idx="8">
                  <c:v>3.8980242822060078</c:v>
                </c:pt>
              </c:numCache>
            </c:numRef>
          </c:val>
          <c:extLst>
            <c:ext xmlns:c16="http://schemas.microsoft.com/office/drawing/2014/chart" uri="{C3380CC4-5D6E-409C-BE32-E72D297353CC}">
              <c16:uniqueId val="{00000012-8196-4D85-8522-41F57CA25D3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lineChart>
        <c:grouping val="standard"/>
        <c:varyColors val="0"/>
        <c:ser>
          <c:idx val="0"/>
          <c:order val="0"/>
          <c:tx>
            <c:strRef>
              <c:f>Sheet1!$B$1</c:f>
              <c:strCache>
                <c:ptCount val="1"/>
                <c:pt idx="0">
                  <c:v>precision@K</c:v>
                </c:pt>
              </c:strCache>
            </c:strRef>
          </c:tx>
          <c:spPr>
            <a:ln w="31750" cap="flat">
              <a:solidFill>
                <a:srgbClr val="2F6F9F"/>
              </a:solidFill>
              <a:prstDash val="solid"/>
              <a:round/>
            </a:ln>
            <a:effectLst/>
          </c:spPr>
          <c:marker>
            <c:symbol val="circle"/>
            <c:size val="6"/>
            <c:spPr>
              <a:solidFill>
                <a:srgbClr val="2F6F9F"/>
              </a:solidFill>
              <a:ln w="9525" cap="flat">
                <a:solidFill>
                  <a:srgbClr val="2F6F9F"/>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Sheet1!$B$2:$B$13</c:f>
              <c:numCache>
                <c:formatCode>General</c:formatCode>
                <c:ptCount val="12"/>
                <c:pt idx="0">
                  <c:v>0.70542635658914732</c:v>
                </c:pt>
                <c:pt idx="1">
                  <c:v>0.70038910505836571</c:v>
                </c:pt>
                <c:pt idx="2">
                  <c:v>0.70207253886010368</c:v>
                </c:pt>
                <c:pt idx="3">
                  <c:v>0.67807153965785383</c:v>
                </c:pt>
                <c:pt idx="4">
                  <c:v>0.57987551867219922</c:v>
                </c:pt>
                <c:pt idx="5">
                  <c:v>0.47511664074650078</c:v>
                </c:pt>
                <c:pt idx="6">
                  <c:v>0.36929460580912865</c:v>
                </c:pt>
                <c:pt idx="7">
                  <c:v>0.30027226760015557</c:v>
                </c:pt>
                <c:pt idx="8">
                  <c:v>0.26322339763534536</c:v>
                </c:pt>
                <c:pt idx="9">
                  <c:v>0.23573651452282157</c:v>
                </c:pt>
                <c:pt idx="10">
                  <c:v>0.19564371839751069</c:v>
                </c:pt>
                <c:pt idx="11">
                  <c:v>0.16925948973242066</c:v>
                </c:pt>
              </c:numCache>
            </c:numRef>
          </c:val>
          <c:smooth val="0"/>
          <c:extLst>
            <c:ext xmlns:c16="http://schemas.microsoft.com/office/drawing/2014/chart" uri="{C3380CC4-5D6E-409C-BE32-E72D297353CC}">
              <c16:uniqueId val="{00000000-6E84-4BC2-8717-60EE017725D9}"/>
            </c:ext>
          </c:extLst>
        </c:ser>
        <c:ser>
          <c:idx val="1"/>
          <c:order val="1"/>
          <c:tx>
            <c:strRef>
              <c:f>Sheet1!$C$1</c:f>
              <c:strCache>
                <c:ptCount val="1"/>
                <c:pt idx="0">
                  <c:v>recall@K</c:v>
                </c:pt>
              </c:strCache>
            </c:strRef>
          </c:tx>
          <c:spPr>
            <a:ln w="31750" cap="flat">
              <a:solidFill>
                <a:srgbClr val="C1666B"/>
              </a:solidFill>
              <a:prstDash val="solid"/>
              <a:round/>
            </a:ln>
            <a:effectLst/>
          </c:spPr>
          <c:marker>
            <c:symbol val="circle"/>
            <c:size val="6"/>
            <c:spPr>
              <a:solidFill>
                <a:srgbClr val="C1666B"/>
              </a:solidFill>
              <a:ln w="9525" cap="flat">
                <a:solidFill>
                  <a:srgbClr val="C1666B"/>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Sheet1!$C$2:$C$13</c:f>
              <c:numCache>
                <c:formatCode>General</c:formatCode>
                <c:ptCount val="12"/>
                <c:pt idx="0">
                  <c:v>6.4174894217207332E-2</c:v>
                </c:pt>
                <c:pt idx="1">
                  <c:v>0.12693935119887165</c:v>
                </c:pt>
                <c:pt idx="2">
                  <c:v>0.19111424541607899</c:v>
                </c:pt>
                <c:pt idx="3">
                  <c:v>0.30747531734837802</c:v>
                </c:pt>
                <c:pt idx="4">
                  <c:v>0.39421720733427362</c:v>
                </c:pt>
                <c:pt idx="5">
                  <c:v>0.4308885754583921</c:v>
                </c:pt>
                <c:pt idx="6">
                  <c:v>0.50211565585331452</c:v>
                </c:pt>
                <c:pt idx="7">
                  <c:v>0.54442877291960512</c:v>
                </c:pt>
                <c:pt idx="8">
                  <c:v>0.59661495063469672</c:v>
                </c:pt>
                <c:pt idx="9">
                  <c:v>0.64104372355430184</c:v>
                </c:pt>
                <c:pt idx="10">
                  <c:v>0.70944992947813823</c:v>
                </c:pt>
                <c:pt idx="11">
                  <c:v>0.767277856135402</c:v>
                </c:pt>
              </c:numCache>
            </c:numRef>
          </c:val>
          <c:smooth val="0"/>
          <c:extLst>
            <c:ext xmlns:c16="http://schemas.microsoft.com/office/drawing/2014/chart" uri="{C3380CC4-5D6E-409C-BE32-E72D297353CC}">
              <c16:uniqueId val="{00000001-6E84-4BC2-8717-60EE017725D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6B7885"/>
                    </a:solidFill>
                    <a:latin typeface="+mn-lt"/>
                  </a:defRPr>
                </a:pPr>
                <a:r>
                  <a:rPr sz="1000" b="0" i="0" u="none" strike="noStrike">
                    <a:solidFill>
                      <a:srgbClr val="6B7885"/>
                    </a:solidFill>
                    <a:latin typeface="+mn-lt"/>
                  </a:rPr>
                  <a:t>capacity: share of the day's deliveries contacted</a:t>
                </a:r>
              </a:p>
            </c:rich>
          </c:tx>
          <c:overlay val="0"/>
        </c:title>
        <c:numFmt formatCode="General" sourceLinked="1"/>
        <c:majorTickMark val="out"/>
        <c:minorTickMark val="none"/>
        <c:tickLblPos val="low"/>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0.8"/>
          <c:min val="0"/>
        </c:scaling>
        <c:delete val="0"/>
        <c:axPos val="l"/>
        <c:majorGridlines>
          <c:spPr>
            <a:ln w="6350" cap="flat">
              <a:solidFill>
                <a:srgbClr val="E2E7EC"/>
              </a:solidFill>
              <a:prstDash val="solid"/>
              <a:round/>
            </a:ln>
          </c:spPr>
        </c:majorGridlines>
        <c:numFmt formatCode="0.0" sourceLinked="0"/>
        <c:majorTickMark val="out"/>
        <c:minorTickMark val="none"/>
        <c:tickLblPos val="nextTo"/>
        <c:spPr>
          <a:ln w="12700" cap="flat">
            <a:noFill/>
            <a:prstDash val="solid"/>
            <a:round/>
          </a:ln>
        </c:spPr>
        <c:txPr>
          <a:bodyPr/>
          <a:lstStyle/>
          <a:p>
            <a:pPr>
              <a:defRPr sz="950" b="0" i="0" u="none" strike="noStrike">
                <a:solidFill>
                  <a:srgbClr val="6B7885"/>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000">
              <a:solidFill>
                <a:srgbClr val="6B788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956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[0:00–0:23]  Pan Pinyou
Good evening, we are Group 10. Our data: about a hundred thousand orders from Olist, a Brazilian online marketplace. Our project is about something every online shopper knows: a late parcel, and the bad review that follows. Our question: can Olist catch that bad review before it is written?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[0:23–1:18]  Pan Pinyou
Let me start with one real order from our test data. On the sixteenth of July 2018, a customer in São Gonçalo, near Rio, bought a health-and-beauty product from a seller in São Luís, more than two thousand kilometres away. Olist promised delivery by the seventh of August. That date passed; the parcel was still on the road. Two days later Olist emailed the review survey, as it does for almost every parcel past its promised date. On the eleventh the customer answered, still waiting: one star. [CLICK] And the parcel? It arrived on the seventeenth, ten days late. By then the review was almost six days old. The review arrived before the parcel did.
(Stage: one click reveals the punchline once the five dates are on screen.)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[1:18–2:07]  Pan Pinyou
This is not one unlucky customer. Across ninety-five thousand delivered orders, about nine per cent of customers give one or two stars when the parcel is on time. When it is late, fifty-four per cent do, and the later, the angrier: past a week late, almost four in five. One parcel in twelve is late, yet those parcels produce a third of all bad reviews. And the timestamps showed us something new: eighty-seven per cent of those bad reviews are written before the parcel arrives, because the survey goes out once the promised date has passed. By the time the parcel lands, the damage is done.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[2:07–2:57]  Pan Pinyou
That told us where to act: before the review, at three moments. At checkout, operations can see which promises are likely to break, and quote an honest date or warn the buyer early. On the promised date, if the parcel isn't there, customer care can reach the customer first, and ask for the review after it arrives: no model needed, just the calendar. And at delivery: two thirds of bad reviews come from on-time parcels, written about two days later, so there is still time to call the riskiest. Today Olist finds out only at the last step; our job was to move that knowledge earlier. Li Yudan will show you how.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[2:57–3:49]  Li Yudan
Thank you. Why is this hard? Because the ground kept moving. Olist halved its delivery time within six months, from seventeen days to eight, so last year's patterns are wrong this year. Lateness jumps with events no single order reveals: Black Friday, a carrier slowdown in February and March, a national truckers' strike in May. And it is easy to fool yourself: give a model one column from the future, like the actual delivery date, and it scores a perfect one-point-zero, and is useless. So we trained on 2017 to April 2018, and judged everything on July and August 2018, two months the models had never seen.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[3:49–4:33]  Li Yudan
So what did we build? An early-warning system in three pieces. First, a delivery forecast that runs at checkout: how many days the parcel will take, and how likely the promise is to break. Second, a review-risk score that runs at delivery: how likely this customer is to give one or two stars. Third, a live web app that anyone on the team can open. Under the hood these are standard tree-ensemble models from scikit-learn. Every team has good models; the hard part, and the part that made the difference, was choosing the moment and the action.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[4:33–5:22]  Li Yudan
Does it work? At checkout, first: honest dates. Olist's promise is off by almost ten days on average, because it is padded on purpose. Our forecast is off by under four: sixty per cent closer. Second: an early-warning list. The riskiest ten per cent of orders hold thirty-five per cent of all late parcels, three and a half times better than chance; our São Gonçalo order was already number twenty-three that day. But we also learned what not to do: even the riskiest parcels are late less than thirty per cent of the time, so paying twelve reais to rush them would lose money.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[5:22–6:08]  Li Yudan
At delivery: imagine the team can make ten calls a day. Calling at random, eleven of every hundred calls reach someone about to give one or two stars. With our list it is fifty-seven: five times better. But remember the timestamps: twenty-two of those fifty-seven had already written while waiting for a late parcel; thirty-five can still be reached. That is why the promised date matters for late parcels, while the call list catches the on-time ones. At five reais a call against forty per bad review, calling pays from thirteen hits per hundred. We reach thirty-five. Zhu Gengyu will show it live.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[6:08–7:08]  Zhu Gengyu
Here it is, live: the Replay tab. Because the data ends in 2018, it replays any day from the two test months as the team would have seen it, with the outcomes hidden until you reveal them. Let's take the sixteenth of July, ten calls. [CLICK] Eight of the ten customers on the list really did give one or two stars. Four could still have been reached at delivery; four had already written while waiting for a late parcel. And number one on the list, at eighty-five per cent risk, is the order we started with. To be fair, this was a good day: across all sixty-two test days, the list averages fifty-seven out of a hundred.
(Stage: one click reveals "8 of 10". If the room has internet, the blue button opens the live app: Replay a day, 16 July 2018, capacity 10, then switch on Reveal. Otherwise talk over the screenshot.)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[7:08–7:55]  Zhu Gengyu
So what should Olist do on Monday? Four things. One: show customers our forecast, not the padded promise. It is free, and sixty per cent closer to reality. Two: when a promise breaks, speak first: apologise with a new date, and send the survey after the parcel arrives. Three: every morning, call the ten riskiest deliveries, at about five reais a call. And four, the one we didn't expect: don't pay to expedite on our flag; at twelve reais a parcel it never pays back. Behind all four: refit the models monthly and watch the weekly late rate. The next strike won't announce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[7:55–8:49]  Zhu Gengyu
What is it worth? With our stated assumptions, five reais per call and forty per bad review, the call list is worth up to seven hundred and seventy-five reais per thousand delivered orders, counting only customers we can still reach. But here is the honest catch: in the data, nobody was ever called, so history cannot tell us whether a call changes a review. So we recommend an experiment, not a rollout. Every morning, take the ten riskiest deliveries; call five at random, leave five. After six weeks, if the called group's one- and two-star rate drops from fifty-seven to about forty-five per cent, the calls pay for themselves. Run the same split for late parcels on their promised date.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[8:49–9:23]  Zhu Gengyu
Three things we learned. First: timing beats modelling. Every team can fit a good model; our biggest gain was discovering when the review gets written. Second: judge on the future. Delivery got twice as fast, and models chosen on old months would have misled us. Third: say what the data can't know. Strikes, slowdowns, and whether a call actually helps. That is why our plan ends with monitoring, monthly refits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[9:23–9:43]  Zhu Gengyu
So: the review arrived before the parcel. With honest dates, a word before the survey and ten calls a day, Olist can get there first. Thank you. The app and the code are one scan away, and we are happy to take your questions.
(Stage: during questions, click a button on the right to jump to a backup slide; each backup slide has a Back button.)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chronological split (train Jan 2017 – Apr 2018, validation May – Jun 2018, test Jul – Aug 2018, scored once for models already chosen). The 227 customers on both sides are removed from a clean subset, where the review model scores 0.415 against 0.414 overall. A guard blocks every post-outcome column for each prediction moment; one leaked column takes ROC-AUC from 0.589 to 1.000. 60 automated checks.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reviews come before parcels: review_creation_date is when Olist sent the survey, review_answer_timestamp when the customer answered. For late parcels the survey goes out once the promised date passes (99%), and 87% of their 1–2 star reviews were answered before the delivery timestamp.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models: three families as ladders; deployed Voting for lead time, derived flag for lateness, Stacking for review risk. The single boosted model ties the stack; the stack is kept because the selection rule was fixed before the test window was scored.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lead-time MAE 3.90 days against the promise's 9.79. The derived late flag (forecast against promise) beats a dedicated classifier, 2.89x against 1.24x the no-skill PR-AUC. At the 11% threshold it catches 83% of late parcels but warns 45% of buyers. Its precision never clears the 0.30 break-even of a R$12 expedite, so: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ROC-AUC 0.749 and PR-AUC 0.414 (3.75x the 0.110 floor); 0.415 on customers never seen in training. Precision: 63% at five calls a day, 57% at ten, 44% at twenty. On on-time parcels alone the score still ranks well (ROC-AUC 0.711; the top 5% are 54% unhappy, 5.7x the base rate), so it is not only restating lateness.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R$5 and R$40 come from: stated assumptions; R$40 stands in for the seller-sales damage of a bad rating (Deshpande and Pendem 2023). The verdict rests on break-even precision, which leaves a wide margin.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drift (lead time fell 5.3 days between training and test; the forecast over-predicts by +1.2 days in the Southeast to +4.8 in the North), shocks no order reveals, a rating is not satisfaction, and the score is for triage, not for judging sellers. Next: the two-arm pilot, a test of sending the survey after arrival, carrier tracking data, weekly refits during peaks.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besides Replay a day, the Predict tab scores one order at checkout (forecast days, risk of missing the promise, advice) and ranks a whole CSV file into a call list; the Model card states exactly which estimators are deployed, with test metrics, fold-to-fold spread, where not to trust them and a pilot calculator.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8.png"/><Relationship Id="rId7" Type="http://schemas.openxmlformats.org/officeDocument/2006/relationships/image" Target="../media/image6.png"/><Relationship Id="rId12" Type="http://schemas.openxmlformats.org/officeDocument/2006/relationships/slide" Target="slide1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slide" Target="slide7.xml"/><Relationship Id="rId5" Type="http://schemas.openxmlformats.org/officeDocument/2006/relationships/image" Target="../media/image4.png"/><Relationship Id="rId10" Type="http://schemas.openxmlformats.org/officeDocument/2006/relationships/slide" Target="slide4.xml"/><Relationship Id="rId4" Type="http://schemas.openxmlformats.org/officeDocument/2006/relationships/image" Target="../media/image3.png"/><Relationship Id="rId9" Type="http://schemas.openxmlformats.org/officeDocument/2006/relationships/slide" Target="slide2.xml"/></Relationships>
</file>

<file path=ppt/slides/_rels/slide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slide" Target="slide7.xml"/><Relationship Id="rId3" Type="http://schemas.openxmlformats.org/officeDocument/2006/relationships/image" Target="../media/image13.png"/><Relationship Id="rId7" Type="http://schemas.openxmlformats.org/officeDocument/2006/relationships/chart" Target="../charts/chart1.xml"/><Relationship Id="rId12" Type="http://schemas.openxmlformats.org/officeDocument/2006/relationships/slide" Target="slide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2.xml"/><Relationship Id="rId5" Type="http://schemas.openxmlformats.org/officeDocument/2006/relationships/image" Target="../media/image15.png"/><Relationship Id="rId10" Type="http://schemas.openxmlformats.org/officeDocument/2006/relationships/image" Target="../media/image19.png"/><Relationship Id="rId4" Type="http://schemas.openxmlformats.org/officeDocument/2006/relationships/image" Target="../media/image14.png"/><Relationship Id="rId9" Type="http://schemas.openxmlformats.org/officeDocument/2006/relationships/image" Target="../media/image18.png"/><Relationship Id="rId14" Type="http://schemas.openxmlformats.org/officeDocument/2006/relationships/slide" Target="slide10.xml"/></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slide" Target="slide2.xml"/><Relationship Id="rId3" Type="http://schemas.openxmlformats.org/officeDocument/2006/relationships/image" Target="../media/image3.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slide" Target="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25.png"/><Relationship Id="rId5" Type="http://schemas.openxmlformats.org/officeDocument/2006/relationships/image" Target="../media/image5.png"/><Relationship Id="rId15" Type="http://schemas.openxmlformats.org/officeDocument/2006/relationships/slide" Target="slide7.xml"/><Relationship Id="rId10" Type="http://schemas.openxmlformats.org/officeDocument/2006/relationships/image" Target="../media/image24.png"/><Relationship Id="rId4" Type="http://schemas.openxmlformats.org/officeDocument/2006/relationships/image" Target="../media/image20.png"/><Relationship Id="rId9" Type="http://schemas.openxmlformats.org/officeDocument/2006/relationships/image" Target="../media/image23.png"/><Relationship Id="rId14" Type="http://schemas.openxmlformats.org/officeDocument/2006/relationships/slide" Target="slide4.xml"/></Relationships>
</file>

<file path=ppt/slides/_rels/slide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8.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9.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13.png"/><Relationship Id="rId7" Type="http://schemas.openxmlformats.org/officeDocument/2006/relationships/image" Target="../media/image27.png"/><Relationship Id="rId12" Type="http://schemas.openxmlformats.org/officeDocument/2006/relationships/slide" Target="slide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7.xml"/><Relationship Id="rId5" Type="http://schemas.openxmlformats.org/officeDocument/2006/relationships/image" Target="../media/image5.png"/><Relationship Id="rId10" Type="http://schemas.openxmlformats.org/officeDocument/2006/relationships/slide" Target="slide4.xml"/><Relationship Id="rId4" Type="http://schemas.openxmlformats.org/officeDocument/2006/relationships/image" Target="../media/image14.png"/><Relationship Id="rId9" Type="http://schemas.openxmlformats.org/officeDocument/2006/relationships/slide" Target="slide2.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slide" Target="slide7.xml"/><Relationship Id="rId3" Type="http://schemas.openxmlformats.org/officeDocument/2006/relationships/image" Target="../media/image3.png"/><Relationship Id="rId7" Type="http://schemas.openxmlformats.org/officeDocument/2006/relationships/image" Target="../media/image28.png"/><Relationship Id="rId12"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2.xml"/><Relationship Id="rId5" Type="http://schemas.openxmlformats.org/officeDocument/2006/relationships/image" Target="../media/image5.png"/><Relationship Id="rId10" Type="http://schemas.openxmlformats.org/officeDocument/2006/relationships/image" Target="../media/image31.png"/><Relationship Id="rId4" Type="http://schemas.openxmlformats.org/officeDocument/2006/relationships/image" Target="../media/image4.png"/><Relationship Id="rId9" Type="http://schemas.openxmlformats.org/officeDocument/2006/relationships/image" Target="../media/image30.png"/><Relationship Id="rId14" Type="http://schemas.openxmlformats.org/officeDocument/2006/relationships/slide" Target="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slide" Target="slide10.xml"/><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slide" Target="slide7.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4.xml"/><Relationship Id="rId5" Type="http://schemas.openxmlformats.org/officeDocument/2006/relationships/image" Target="../media/image5.png"/><Relationship Id="rId10" Type="http://schemas.openxmlformats.org/officeDocument/2006/relationships/slide" Target="slide2.xml"/><Relationship Id="rId4" Type="http://schemas.openxmlformats.org/officeDocument/2006/relationships/image" Target="../media/image4.png"/><Relationship Id="rId9"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slide" Target="slide16.xml"/><Relationship Id="rId18" Type="http://schemas.openxmlformats.org/officeDocument/2006/relationships/slide" Target="slide21.xml"/><Relationship Id="rId3" Type="http://schemas.openxmlformats.org/officeDocument/2006/relationships/image" Target="../media/image3.png"/><Relationship Id="rId7" Type="http://schemas.openxmlformats.org/officeDocument/2006/relationships/hyperlink" Target="https://team10-it5006-olist.streamlit.app/" TargetMode="External"/><Relationship Id="rId12" Type="http://schemas.openxmlformats.org/officeDocument/2006/relationships/slide" Target="slide15.xml"/><Relationship Id="rId17" Type="http://schemas.openxmlformats.org/officeDocument/2006/relationships/slide" Target="slide20.xml"/><Relationship Id="rId2" Type="http://schemas.openxmlformats.org/officeDocument/2006/relationships/notesSlide" Target="../notesSlides/notesSlide13.xml"/><Relationship Id="rId16" Type="http://schemas.openxmlformats.org/officeDocument/2006/relationships/slide" Target="slide19.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slide" Target="slide14.xml"/><Relationship Id="rId5" Type="http://schemas.openxmlformats.org/officeDocument/2006/relationships/image" Target="../media/image5.png"/><Relationship Id="rId15" Type="http://schemas.openxmlformats.org/officeDocument/2006/relationships/slide" Target="slide18.xml"/><Relationship Id="rId10" Type="http://schemas.openxmlformats.org/officeDocument/2006/relationships/image" Target="../media/image34.png"/><Relationship Id="rId4" Type="http://schemas.openxmlformats.org/officeDocument/2006/relationships/image" Target="../media/image4.png"/><Relationship Id="rId9" Type="http://schemas.openxmlformats.org/officeDocument/2006/relationships/hyperlink" Target="https://github.com/gengyuzccc-cell/Team10_IT5006_Ecommerce_Analytics_AY2627Sem1" TargetMode="External"/><Relationship Id="rId14" Type="http://schemas.openxmlformats.org/officeDocument/2006/relationships/slide" Target="slide17.xml"/></Relationships>
</file>

<file path=ppt/slides/_rels/slide1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19.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1 map 1" descr="E:\2025 NUS\IT5006\deck_build\img\map_full.png"/>
          <p:cNvPicPr>
            <a:picLocks noChangeAspect="1"/>
          </p:cNvPicPr>
          <p:nvPr/>
        </p:nvPicPr>
        <p:blipFill>
          <a:blip r:embed="rId3"/>
          <a:stretch>
            <a:fillRect/>
          </a:stretch>
        </p:blipFill>
        <p:spPr>
          <a:xfrm>
            <a:off x="5897880" y="292608"/>
            <a:ext cx="6006785" cy="6172200"/>
          </a:xfrm>
          <a:prstGeom prst="rect">
            <a:avLst/>
          </a:prstGeom>
        </p:spPr>
      </p:pic>
      <p:sp>
        <p:nvSpPr>
          <p:cNvPr id="3" name="s1 text 2"/>
          <p:cNvSpPr txBox="1"/>
          <p:nvPr/>
        </p:nvSpPr>
        <p:spPr>
          <a:xfrm>
            <a:off x="6949440" y="6419088"/>
            <a:ext cx="4690872" cy="237744"/>
          </a:xfrm>
          <a:prstGeom prst="rect">
            <a:avLst/>
          </a:prstGeom>
          <a:noFill/>
          <a:ln/>
        </p:spPr>
        <p:txBody>
          <a:bodyPr wrap="square" lIns="0" tIns="0" rIns="0" bIns="0" rtlCol="0" anchor="t"/>
          <a:lstStyle/>
          <a:p>
            <a:pPr marL="0" indent="0" algn="r">
              <a:buNone/>
            </a:pPr>
            <a:r>
              <a:rPr lang="en-US" sz="850" dirty="0">
                <a:solidFill>
                  <a:srgbClr val="93A6BC"/>
                </a:solidFill>
                <a:latin typeface="Segoe UI" pitchFamily="34" charset="0"/>
                <a:ea typeface="Segoe UI" pitchFamily="34" charset="-122"/>
                <a:cs typeface="Segoe UI" pitchFamily="34" charset="-120"/>
              </a:rPr>
              <a:t>Each dot is a postcode with Olist customers (blue) or sellers (gold)</a:t>
            </a:r>
            <a:endParaRPr lang="en-US" sz="850" dirty="0"/>
          </a:p>
        </p:txBody>
      </p:sp>
      <p:sp>
        <p:nvSpPr>
          <p:cNvPr id="4" name="s1 text 3"/>
          <p:cNvSpPr txBox="1"/>
          <p:nvPr/>
        </p:nvSpPr>
        <p:spPr>
          <a:xfrm>
            <a:off x="731520" y="731520"/>
            <a:ext cx="64008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IT5006 FUNDAMENTALS OF DATA ANALYTICS  ·  GROUP 10</a:t>
            </a:r>
            <a:endParaRPr lang="en-US" sz="1050" dirty="0"/>
          </a:p>
        </p:txBody>
      </p:sp>
      <p:sp>
        <p:nvSpPr>
          <p:cNvPr id="5" name="s1 text 4"/>
          <p:cNvSpPr txBox="1"/>
          <p:nvPr/>
        </p:nvSpPr>
        <p:spPr>
          <a:xfrm>
            <a:off x="731520" y="1143000"/>
            <a:ext cx="6583680" cy="1783080"/>
          </a:xfrm>
          <a:prstGeom prst="rect">
            <a:avLst/>
          </a:prstGeom>
          <a:noFill/>
          <a:ln/>
        </p:spPr>
        <p:txBody>
          <a:bodyPr wrap="square" lIns="0" tIns="0" rIns="0" bIns="0" rtlCol="0" anchor="t"/>
          <a:lstStyle/>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Catch the bad review</a:t>
            </a:r>
            <a:endParaRPr lang="en-US" sz="4600" dirty="0"/>
          </a:p>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before it's written</a:t>
            </a:r>
            <a:endParaRPr lang="en-US" sz="4600" dirty="0"/>
          </a:p>
        </p:txBody>
      </p:sp>
      <p:sp>
        <p:nvSpPr>
          <p:cNvPr id="6" name="s1 text 5"/>
          <p:cNvSpPr txBox="1"/>
          <p:nvPr/>
        </p:nvSpPr>
        <p:spPr>
          <a:xfrm>
            <a:off x="731520" y="2834640"/>
            <a:ext cx="5486400" cy="777240"/>
          </a:xfrm>
          <a:prstGeom prst="rect">
            <a:avLst/>
          </a:prstGeom>
          <a:noFill/>
          <a:ln/>
        </p:spPr>
        <p:txBody>
          <a:bodyPr wrap="square" lIns="0" tIns="0" rIns="0" bIns="0" rtlCol="0" anchor="t"/>
          <a:lstStyle/>
          <a:p>
            <a:pPr marL="0" indent="0">
              <a:buNone/>
            </a:pPr>
            <a:r>
              <a:rPr lang="en-US" sz="1550" dirty="0">
                <a:solidFill>
                  <a:srgbClr val="C9D6E3"/>
                </a:solidFill>
                <a:latin typeface="Segoe UI" pitchFamily="34" charset="0"/>
                <a:ea typeface="Segoe UI" pitchFamily="34" charset="-122"/>
                <a:cs typeface="Segoe UI" pitchFamily="34" charset="-120"/>
              </a:rPr>
              <a:t>Predicting late deliveries and unhappy customers on Brazil's Olist marketplace — and acting at the right moment</a:t>
            </a:r>
            <a:endParaRPr lang="en-US" sz="1550" dirty="0"/>
          </a:p>
        </p:txBody>
      </p:sp>
      <p:sp>
        <p:nvSpPr>
          <p:cNvPr id="7" name="s1 line 6"/>
          <p:cNvSpPr/>
          <p:nvPr/>
        </p:nvSpPr>
        <p:spPr>
          <a:xfrm>
            <a:off x="1014984" y="4261104"/>
            <a:ext cx="3977640" cy="0"/>
          </a:xfrm>
          <a:prstGeom prst="line">
            <a:avLst/>
          </a:prstGeom>
          <a:noFill/>
          <a:ln w="19050">
            <a:solidFill>
              <a:srgbClr val="2D4464"/>
            </a:solidFill>
            <a:prstDash val="solid"/>
          </a:ln>
        </p:spPr>
      </p:sp>
      <p:sp>
        <p:nvSpPr>
          <p:cNvPr id="8" name="!!n1"/>
          <p:cNvSpPr/>
          <p:nvPr/>
        </p:nvSpPr>
        <p:spPr>
          <a:xfrm>
            <a:off x="731520" y="3977640"/>
            <a:ext cx="566928" cy="566928"/>
          </a:xfrm>
          <a:prstGeom prst="ellipse">
            <a:avLst/>
          </a:prstGeom>
          <a:solidFill>
            <a:srgbClr val="2F6F9F"/>
          </a:solidFill>
          <a:ln w="12700">
            <a:solidFill>
              <a:srgbClr val="2F6F9F"/>
            </a:solidFill>
            <a:prstDash val="solid"/>
          </a:ln>
        </p:spPr>
      </p:sp>
      <p:pic>
        <p:nvPicPr>
          <p:cNvPr id="9" name="!!i1" descr="preencoded.png"/>
          <p:cNvPicPr>
            <a:picLocks noChangeAspect="1"/>
          </p:cNvPicPr>
          <p:nvPr/>
        </p:nvPicPr>
        <p:blipFill>
          <a:blip r:embed="rId4"/>
          <a:stretch>
            <a:fillRect/>
          </a:stretch>
        </p:blipFill>
        <p:spPr>
          <a:xfrm>
            <a:off x="878921" y="4125041"/>
            <a:ext cx="272125" cy="272125"/>
          </a:xfrm>
          <a:prstGeom prst="rect">
            <a:avLst/>
          </a:prstGeom>
        </p:spPr>
      </p:pic>
      <p:sp>
        <p:nvSpPr>
          <p:cNvPr id="10" name="s1 text 7"/>
          <p:cNvSpPr txBox="1"/>
          <p:nvPr/>
        </p:nvSpPr>
        <p:spPr>
          <a:xfrm>
            <a:off x="36576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Checkout</a:t>
            </a:r>
            <a:endParaRPr lang="en-US" sz="1050" dirty="0"/>
          </a:p>
        </p:txBody>
      </p:sp>
      <p:sp>
        <p:nvSpPr>
          <p:cNvPr id="11" name="!!n2"/>
          <p:cNvSpPr/>
          <p:nvPr/>
        </p:nvSpPr>
        <p:spPr>
          <a:xfrm>
            <a:off x="2057400" y="3977640"/>
            <a:ext cx="566928" cy="566928"/>
          </a:xfrm>
          <a:prstGeom prst="ellipse">
            <a:avLst/>
          </a:prstGeom>
          <a:solidFill>
            <a:srgbClr val="C08B2E"/>
          </a:solidFill>
          <a:ln w="12700">
            <a:solidFill>
              <a:srgbClr val="C08B2E"/>
            </a:solidFill>
            <a:prstDash val="solid"/>
          </a:ln>
        </p:spPr>
      </p:sp>
      <p:pic>
        <p:nvPicPr>
          <p:cNvPr id="12" name="!!i2" descr="preencoded.png"/>
          <p:cNvPicPr>
            <a:picLocks noChangeAspect="1"/>
          </p:cNvPicPr>
          <p:nvPr/>
        </p:nvPicPr>
        <p:blipFill>
          <a:blip r:embed="rId5"/>
          <a:stretch>
            <a:fillRect/>
          </a:stretch>
        </p:blipFill>
        <p:spPr>
          <a:xfrm>
            <a:off x="2204801" y="4125041"/>
            <a:ext cx="272125" cy="272125"/>
          </a:xfrm>
          <a:prstGeom prst="rect">
            <a:avLst/>
          </a:prstGeom>
        </p:spPr>
      </p:pic>
      <p:sp>
        <p:nvSpPr>
          <p:cNvPr id="13" name="s1 text 8"/>
          <p:cNvSpPr txBox="1"/>
          <p:nvPr/>
        </p:nvSpPr>
        <p:spPr>
          <a:xfrm>
            <a:off x="169164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Promised date</a:t>
            </a:r>
            <a:endParaRPr lang="en-US" sz="1050" dirty="0"/>
          </a:p>
        </p:txBody>
      </p:sp>
      <p:sp>
        <p:nvSpPr>
          <p:cNvPr id="14" name="!!n3"/>
          <p:cNvSpPr/>
          <p:nvPr/>
        </p:nvSpPr>
        <p:spPr>
          <a:xfrm>
            <a:off x="3383280" y="3977640"/>
            <a:ext cx="566928" cy="566928"/>
          </a:xfrm>
          <a:prstGeom prst="ellipse">
            <a:avLst/>
          </a:prstGeom>
          <a:solidFill>
            <a:srgbClr val="5B8C5A"/>
          </a:solidFill>
          <a:ln w="12700">
            <a:solidFill>
              <a:srgbClr val="5B8C5A"/>
            </a:solidFill>
            <a:prstDash val="solid"/>
          </a:ln>
        </p:spPr>
      </p:sp>
      <p:pic>
        <p:nvPicPr>
          <p:cNvPr id="15" name="!!i3" descr="preencoded.png"/>
          <p:cNvPicPr>
            <a:picLocks noChangeAspect="1"/>
          </p:cNvPicPr>
          <p:nvPr/>
        </p:nvPicPr>
        <p:blipFill>
          <a:blip r:embed="rId6"/>
          <a:stretch>
            <a:fillRect/>
          </a:stretch>
        </p:blipFill>
        <p:spPr>
          <a:xfrm>
            <a:off x="3530681" y="4125041"/>
            <a:ext cx="272125" cy="272125"/>
          </a:xfrm>
          <a:prstGeom prst="rect">
            <a:avLst/>
          </a:prstGeom>
        </p:spPr>
      </p:pic>
      <p:sp>
        <p:nvSpPr>
          <p:cNvPr id="16" name="s1 text 9"/>
          <p:cNvSpPr txBox="1"/>
          <p:nvPr/>
        </p:nvSpPr>
        <p:spPr>
          <a:xfrm>
            <a:off x="301752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Delivery</a:t>
            </a:r>
            <a:endParaRPr lang="en-US" sz="1050" dirty="0"/>
          </a:p>
        </p:txBody>
      </p:sp>
      <p:sp>
        <p:nvSpPr>
          <p:cNvPr id="17" name="!!n4"/>
          <p:cNvSpPr/>
          <p:nvPr/>
        </p:nvSpPr>
        <p:spPr>
          <a:xfrm>
            <a:off x="4709160" y="3977640"/>
            <a:ext cx="566928" cy="566928"/>
          </a:xfrm>
          <a:prstGeom prst="ellipse">
            <a:avLst/>
          </a:prstGeom>
          <a:solidFill>
            <a:srgbClr val="C1666B"/>
          </a:solidFill>
          <a:ln w="12700">
            <a:solidFill>
              <a:srgbClr val="C1666B"/>
            </a:solidFill>
            <a:prstDash val="solid"/>
          </a:ln>
        </p:spPr>
      </p:sp>
      <p:pic>
        <p:nvPicPr>
          <p:cNvPr id="18" name="!!i4" descr="preencoded.png"/>
          <p:cNvPicPr>
            <a:picLocks noChangeAspect="1"/>
          </p:cNvPicPr>
          <p:nvPr/>
        </p:nvPicPr>
        <p:blipFill>
          <a:blip r:embed="rId7"/>
          <a:stretch>
            <a:fillRect/>
          </a:stretch>
        </p:blipFill>
        <p:spPr>
          <a:xfrm>
            <a:off x="4856561" y="4125041"/>
            <a:ext cx="272125" cy="272125"/>
          </a:xfrm>
          <a:prstGeom prst="rect">
            <a:avLst/>
          </a:prstGeom>
        </p:spPr>
      </p:pic>
      <p:sp>
        <p:nvSpPr>
          <p:cNvPr id="19" name="s1 text 10"/>
          <p:cNvSpPr txBox="1"/>
          <p:nvPr/>
        </p:nvSpPr>
        <p:spPr>
          <a:xfrm>
            <a:off x="434340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Review</a:t>
            </a:r>
            <a:endParaRPr lang="en-US" sz="1050" dirty="0"/>
          </a:p>
        </p:txBody>
      </p:sp>
      <p:grpSp>
        <p:nvGrpSpPr>
          <p:cNvPr id="25" name="s1 people">
            <a:extLst>
              <a:ext uri="{FF2B5EF4-FFF2-40B4-BE49-F238E27FC236}">
                <a16:creationId xmlns:a16="http://schemas.microsoft.com/office/drawing/2014/main" id="{6B3E9AE4-3CEB-F7E1-C5D9-C51FED37D0B4}"/>
              </a:ext>
            </a:extLst>
          </p:cNvPr>
          <p:cNvGrpSpPr/>
          <p:nvPr/>
        </p:nvGrpSpPr>
        <p:grpSpPr>
          <a:xfrm>
            <a:off x="731520" y="5349240"/>
            <a:ext cx="5943600" cy="612648"/>
            <a:chOff x="731520" y="5349240"/>
            <a:chExt cx="5943600" cy="612648"/>
          </a:xfrm>
        </p:grpSpPr>
        <p:sp>
          <p:nvSpPr>
            <p:cNvPr id="20" name="s1 text 11"/>
            <p:cNvSpPr txBox="1"/>
            <p:nvPr/>
          </p:nvSpPr>
          <p:spPr>
            <a:xfrm>
              <a:off x="731520" y="5349240"/>
              <a:ext cx="5943600" cy="329184"/>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Pan Pinyou   ·   Li Yudan   ·   Zhu Gengyu</a:t>
              </a:r>
              <a:endParaRPr lang="en-US" sz="1500" dirty="0"/>
            </a:p>
          </p:txBody>
        </p:sp>
        <p:sp>
          <p:nvSpPr>
            <p:cNvPr id="21" name="s1 text 12"/>
            <p:cNvSpPr txBox="1"/>
            <p:nvPr/>
          </p:nvSpPr>
          <p:spPr>
            <a:xfrm>
              <a:off x="731520" y="5687568"/>
              <a:ext cx="5943600" cy="274320"/>
            </a:xfrm>
            <a:prstGeom prst="rect">
              <a:avLst/>
            </a:prstGeom>
            <a:noFill/>
            <a:ln/>
          </p:spPr>
          <p:txBody>
            <a:bodyPr wrap="square" lIns="0" tIns="0" rIns="0" bIns="0" rtlCol="0" anchor="t"/>
            <a:lstStyle/>
            <a:p>
              <a:pPr marL="0" indent="0">
                <a:buNone/>
              </a:pPr>
              <a:r>
                <a:rPr lang="en-US" sz="1150" dirty="0">
                  <a:solidFill>
                    <a:srgbClr val="93A6BC"/>
                  </a:solidFill>
                  <a:latin typeface="Segoe UI" pitchFamily="34" charset="0"/>
                  <a:ea typeface="Segoe UI" pitchFamily="34" charset="-122"/>
                  <a:cs typeface="Segoe UI" pitchFamily="34" charset="-120"/>
                </a:rPr>
                <a:t>National University of Singapore   ·   November 2026</a:t>
              </a:r>
              <a:endParaRPr lang="en-US" sz="1150" dirty="0"/>
            </a:p>
          </p:txBody>
        </p:sp>
      </p:grpSp>
      <p:grpSp>
        <p:nvGrpSpPr>
          <p:cNvPr id="26" name="s1 qr">
            <a:extLst>
              <a:ext uri="{FF2B5EF4-FFF2-40B4-BE49-F238E27FC236}">
                <a16:creationId xmlns:a16="http://schemas.microsoft.com/office/drawing/2014/main" id="{47E98001-49AB-3E72-3485-4F0C5E5AAC20}"/>
              </a:ext>
            </a:extLst>
          </p:cNvPr>
          <p:cNvGrpSpPr/>
          <p:nvPr/>
        </p:nvGrpSpPr>
        <p:grpSpPr>
          <a:xfrm>
            <a:off x="10442448" y="4864608"/>
            <a:ext cx="1197864" cy="1417320"/>
            <a:chOff x="10442448" y="4864608"/>
            <a:chExt cx="1197864" cy="1417320"/>
          </a:xfrm>
        </p:grpSpPr>
        <p:sp>
          <p:nvSpPr>
            <p:cNvPr id="22" name="s1 panel 13"/>
            <p:cNvSpPr/>
            <p:nvPr/>
          </p:nvSpPr>
          <p:spPr>
            <a:xfrm>
              <a:off x="10442448" y="4864608"/>
              <a:ext cx="1197864" cy="1417320"/>
            </a:xfrm>
            <a:prstGeom prst="roundRect">
              <a:avLst>
                <a:gd name="adj" fmla="val 7634"/>
              </a:avLst>
            </a:prstGeom>
            <a:solidFill>
              <a:srgbClr val="FFFFFF"/>
            </a:solidFill>
            <a:ln w="12700">
              <a:solidFill>
                <a:srgbClr val="FFFFFF">
                  <a:alpha val="0"/>
                </a:srgbClr>
              </a:solidFill>
              <a:prstDash val="solid"/>
            </a:ln>
          </p:spPr>
        </p:sp>
        <p:pic>
          <p:nvPicPr>
            <p:cNvPr id="23" name="s1 qr 14" descr="preencoded.png">
              <a:hlinkClick r:id="rId8" highlightClick="1"/>
            </p:cNvPr>
            <p:cNvPicPr>
              <a:picLocks noChangeAspect="1"/>
            </p:cNvPicPr>
            <p:nvPr/>
          </p:nvPicPr>
          <p:blipFill>
            <a:blip r:embed="rId9"/>
            <a:stretch>
              <a:fillRect/>
            </a:stretch>
          </p:blipFill>
          <p:spPr>
            <a:xfrm>
              <a:off x="10515600" y="4937760"/>
              <a:ext cx="1051560" cy="1051560"/>
            </a:xfrm>
            <a:prstGeom prst="rect">
              <a:avLst/>
            </a:prstGeom>
          </p:spPr>
        </p:pic>
        <p:sp>
          <p:nvSpPr>
            <p:cNvPr id="24" name="s1 text 15"/>
            <p:cNvSpPr txBox="1"/>
            <p:nvPr/>
          </p:nvSpPr>
          <p:spPr>
            <a:xfrm>
              <a:off x="10442448" y="6016752"/>
              <a:ext cx="1197864"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try the live app</a:t>
              </a:r>
              <a:endParaRPr lang="en-US" sz="850" dirty="0"/>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42"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700"/>
                                        <p:tgtEl>
                                          <p:spTgt spid="5"/>
                                        </p:tgtEl>
                                      </p:cBhvr>
                                    </p:animEffect>
                                    <p:anim calcmode="lin" valueType="num">
                                      <p:cBhvr>
                                        <p:cTn id="14" dur="700" fill="hold"/>
                                        <p:tgtEl>
                                          <p:spTgt spid="5"/>
                                        </p:tgtEl>
                                        <p:attrNameLst>
                                          <p:attrName>ppt_x</p:attrName>
                                        </p:attrNameLst>
                                      </p:cBhvr>
                                      <p:tavLst>
                                        <p:tav tm="0">
                                          <p:val>
                                            <p:strVal val="#ppt_x"/>
                                          </p:val>
                                        </p:tav>
                                        <p:tav tm="100000">
                                          <p:val>
                                            <p:strVal val="#ppt_x"/>
                                          </p:val>
                                        </p:tav>
                                      </p:tavLst>
                                    </p:anim>
                                    <p:anim calcmode="lin" valueType="num">
                                      <p:cBhvr>
                                        <p:cTn id="15" dur="7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par>
                          <p:cTn id="20" fill="hold">
                            <p:stCondLst>
                              <p:cond delay="1500"/>
                            </p:stCondLst>
                            <p:childTnLst>
                              <p:par>
                                <p:cTn id="21" presetID="53" presetClass="entr" presetSubtype="16"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400" fill="hold"/>
                                        <p:tgtEl>
                                          <p:spTgt spid="8"/>
                                        </p:tgtEl>
                                        <p:attrNameLst>
                                          <p:attrName>ppt_w</p:attrName>
                                        </p:attrNameLst>
                                      </p:cBhvr>
                                      <p:tavLst>
                                        <p:tav tm="0">
                                          <p:val>
                                            <p:fltVal val="0"/>
                                          </p:val>
                                        </p:tav>
                                        <p:tav tm="100000">
                                          <p:val>
                                            <p:strVal val="#ppt_w"/>
                                          </p:val>
                                        </p:tav>
                                      </p:tavLst>
                                    </p:anim>
                                    <p:anim calcmode="lin" valueType="num">
                                      <p:cBhvr>
                                        <p:cTn id="24" dur="400" fill="hold"/>
                                        <p:tgtEl>
                                          <p:spTgt spid="8"/>
                                        </p:tgtEl>
                                        <p:attrNameLst>
                                          <p:attrName>ppt_h</p:attrName>
                                        </p:attrNameLst>
                                      </p:cBhvr>
                                      <p:tavLst>
                                        <p:tav tm="0">
                                          <p:val>
                                            <p:fltVal val="0"/>
                                          </p:val>
                                        </p:tav>
                                        <p:tav tm="100000">
                                          <p:val>
                                            <p:strVal val="#ppt_h"/>
                                          </p:val>
                                        </p:tav>
                                      </p:tavLst>
                                    </p:anim>
                                    <p:animEffect transition="in" filter="fade">
                                      <p:cBhvr>
                                        <p:cTn id="25" dur="400"/>
                                        <p:tgtEl>
                                          <p:spTgt spid="8"/>
                                        </p:tgtEl>
                                      </p:cBhvr>
                                    </p:animEffect>
                                  </p:childTnLst>
                                </p:cTn>
                              </p:par>
                              <p:par>
                                <p:cTn id="26" presetID="53" presetClass="entr" presetSubtype="16"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p:cTn id="28" dur="400" fill="hold"/>
                                        <p:tgtEl>
                                          <p:spTgt spid="9"/>
                                        </p:tgtEl>
                                        <p:attrNameLst>
                                          <p:attrName>ppt_w</p:attrName>
                                        </p:attrNameLst>
                                      </p:cBhvr>
                                      <p:tavLst>
                                        <p:tav tm="0">
                                          <p:val>
                                            <p:fltVal val="0"/>
                                          </p:val>
                                        </p:tav>
                                        <p:tav tm="100000">
                                          <p:val>
                                            <p:strVal val="#ppt_w"/>
                                          </p:val>
                                        </p:tav>
                                      </p:tavLst>
                                    </p:anim>
                                    <p:anim calcmode="lin" valueType="num">
                                      <p:cBhvr>
                                        <p:cTn id="29" dur="400" fill="hold"/>
                                        <p:tgtEl>
                                          <p:spTgt spid="9"/>
                                        </p:tgtEl>
                                        <p:attrNameLst>
                                          <p:attrName>ppt_h</p:attrName>
                                        </p:attrNameLst>
                                      </p:cBhvr>
                                      <p:tavLst>
                                        <p:tav tm="0">
                                          <p:val>
                                            <p:fltVal val="0"/>
                                          </p:val>
                                        </p:tav>
                                        <p:tav tm="100000">
                                          <p:val>
                                            <p:strVal val="#ppt_h"/>
                                          </p:val>
                                        </p:tav>
                                      </p:tavLst>
                                    </p:anim>
                                    <p:animEffect transition="in" filter="fade">
                                      <p:cBhvr>
                                        <p:cTn id="30" dur="400"/>
                                        <p:tgtEl>
                                          <p:spTgt spid="9"/>
                                        </p:tgtEl>
                                      </p:cBhvr>
                                    </p:animEffect>
                                  </p:childTnLst>
                                </p:cTn>
                              </p:par>
                              <p:par>
                                <p:cTn id="31" presetID="10" presetClass="entr" presetSubtype="0" fill="hold" grpId="0" nodeType="with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400"/>
                                        <p:tgtEl>
                                          <p:spTgt spid="10"/>
                                        </p:tgtEl>
                                      </p:cBhvr>
                                    </p:animEffect>
                                  </p:childTnLst>
                                </p:cTn>
                              </p:par>
                              <p:par>
                                <p:cTn id="34" presetID="53" presetClass="entr" presetSubtype="16" fill="hold" nodeType="withEffect">
                                  <p:stCondLst>
                                    <p:cond delay="150"/>
                                  </p:stCondLst>
                                  <p:childTnLst>
                                    <p:set>
                                      <p:cBhvr>
                                        <p:cTn id="35" dur="1" fill="hold">
                                          <p:stCondLst>
                                            <p:cond delay="0"/>
                                          </p:stCondLst>
                                        </p:cTn>
                                        <p:tgtEl>
                                          <p:spTgt spid="11"/>
                                        </p:tgtEl>
                                        <p:attrNameLst>
                                          <p:attrName>style.visibility</p:attrName>
                                        </p:attrNameLst>
                                      </p:cBhvr>
                                      <p:to>
                                        <p:strVal val="visible"/>
                                      </p:to>
                                    </p:set>
                                    <p:anim calcmode="lin" valueType="num">
                                      <p:cBhvr>
                                        <p:cTn id="36" dur="400" fill="hold"/>
                                        <p:tgtEl>
                                          <p:spTgt spid="11"/>
                                        </p:tgtEl>
                                        <p:attrNameLst>
                                          <p:attrName>ppt_w</p:attrName>
                                        </p:attrNameLst>
                                      </p:cBhvr>
                                      <p:tavLst>
                                        <p:tav tm="0">
                                          <p:val>
                                            <p:fltVal val="0"/>
                                          </p:val>
                                        </p:tav>
                                        <p:tav tm="100000">
                                          <p:val>
                                            <p:strVal val="#ppt_w"/>
                                          </p:val>
                                        </p:tav>
                                      </p:tavLst>
                                    </p:anim>
                                    <p:anim calcmode="lin" valueType="num">
                                      <p:cBhvr>
                                        <p:cTn id="37" dur="400" fill="hold"/>
                                        <p:tgtEl>
                                          <p:spTgt spid="11"/>
                                        </p:tgtEl>
                                        <p:attrNameLst>
                                          <p:attrName>ppt_h</p:attrName>
                                        </p:attrNameLst>
                                      </p:cBhvr>
                                      <p:tavLst>
                                        <p:tav tm="0">
                                          <p:val>
                                            <p:fltVal val="0"/>
                                          </p:val>
                                        </p:tav>
                                        <p:tav tm="100000">
                                          <p:val>
                                            <p:strVal val="#ppt_h"/>
                                          </p:val>
                                        </p:tav>
                                      </p:tavLst>
                                    </p:anim>
                                    <p:animEffect transition="in" filter="fade">
                                      <p:cBhvr>
                                        <p:cTn id="38" dur="400"/>
                                        <p:tgtEl>
                                          <p:spTgt spid="11"/>
                                        </p:tgtEl>
                                      </p:cBhvr>
                                    </p:animEffect>
                                  </p:childTnLst>
                                </p:cTn>
                              </p:par>
                              <p:par>
                                <p:cTn id="39" presetID="53" presetClass="entr" presetSubtype="16" fill="hold" nodeType="withEffect">
                                  <p:stCondLst>
                                    <p:cond delay="150"/>
                                  </p:stCondLst>
                                  <p:childTnLst>
                                    <p:set>
                                      <p:cBhvr>
                                        <p:cTn id="40" dur="1" fill="hold">
                                          <p:stCondLst>
                                            <p:cond delay="0"/>
                                          </p:stCondLst>
                                        </p:cTn>
                                        <p:tgtEl>
                                          <p:spTgt spid="12"/>
                                        </p:tgtEl>
                                        <p:attrNameLst>
                                          <p:attrName>style.visibility</p:attrName>
                                        </p:attrNameLst>
                                      </p:cBhvr>
                                      <p:to>
                                        <p:strVal val="visible"/>
                                      </p:to>
                                    </p:set>
                                    <p:anim calcmode="lin" valueType="num">
                                      <p:cBhvr>
                                        <p:cTn id="41" dur="400" fill="hold"/>
                                        <p:tgtEl>
                                          <p:spTgt spid="12"/>
                                        </p:tgtEl>
                                        <p:attrNameLst>
                                          <p:attrName>ppt_w</p:attrName>
                                        </p:attrNameLst>
                                      </p:cBhvr>
                                      <p:tavLst>
                                        <p:tav tm="0">
                                          <p:val>
                                            <p:fltVal val="0"/>
                                          </p:val>
                                        </p:tav>
                                        <p:tav tm="100000">
                                          <p:val>
                                            <p:strVal val="#ppt_w"/>
                                          </p:val>
                                        </p:tav>
                                      </p:tavLst>
                                    </p:anim>
                                    <p:anim calcmode="lin" valueType="num">
                                      <p:cBhvr>
                                        <p:cTn id="42" dur="400" fill="hold"/>
                                        <p:tgtEl>
                                          <p:spTgt spid="12"/>
                                        </p:tgtEl>
                                        <p:attrNameLst>
                                          <p:attrName>ppt_h</p:attrName>
                                        </p:attrNameLst>
                                      </p:cBhvr>
                                      <p:tavLst>
                                        <p:tav tm="0">
                                          <p:val>
                                            <p:fltVal val="0"/>
                                          </p:val>
                                        </p:tav>
                                        <p:tav tm="100000">
                                          <p:val>
                                            <p:strVal val="#ppt_h"/>
                                          </p:val>
                                        </p:tav>
                                      </p:tavLst>
                                    </p:anim>
                                    <p:animEffect transition="in" filter="fade">
                                      <p:cBhvr>
                                        <p:cTn id="43" dur="400"/>
                                        <p:tgtEl>
                                          <p:spTgt spid="12"/>
                                        </p:tgtEl>
                                      </p:cBhvr>
                                    </p:animEffect>
                                  </p:childTnLst>
                                </p:cTn>
                              </p:par>
                              <p:par>
                                <p:cTn id="44" presetID="10" presetClass="entr" presetSubtype="0"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00"/>
                                        <p:tgtEl>
                                          <p:spTgt spid="13"/>
                                        </p:tgtEl>
                                      </p:cBhvr>
                                    </p:animEffect>
                                  </p:childTnLst>
                                </p:cTn>
                              </p:par>
                              <p:par>
                                <p:cTn id="47" presetID="53" presetClass="entr" presetSubtype="16" fill="hold" nodeType="withEffect">
                                  <p:stCondLst>
                                    <p:cond delay="300"/>
                                  </p:stCondLst>
                                  <p:childTnLst>
                                    <p:set>
                                      <p:cBhvr>
                                        <p:cTn id="48" dur="1" fill="hold">
                                          <p:stCondLst>
                                            <p:cond delay="0"/>
                                          </p:stCondLst>
                                        </p:cTn>
                                        <p:tgtEl>
                                          <p:spTgt spid="14"/>
                                        </p:tgtEl>
                                        <p:attrNameLst>
                                          <p:attrName>style.visibility</p:attrName>
                                        </p:attrNameLst>
                                      </p:cBhvr>
                                      <p:to>
                                        <p:strVal val="visible"/>
                                      </p:to>
                                    </p:set>
                                    <p:anim calcmode="lin" valueType="num">
                                      <p:cBhvr>
                                        <p:cTn id="49" dur="400" fill="hold"/>
                                        <p:tgtEl>
                                          <p:spTgt spid="14"/>
                                        </p:tgtEl>
                                        <p:attrNameLst>
                                          <p:attrName>ppt_w</p:attrName>
                                        </p:attrNameLst>
                                      </p:cBhvr>
                                      <p:tavLst>
                                        <p:tav tm="0">
                                          <p:val>
                                            <p:fltVal val="0"/>
                                          </p:val>
                                        </p:tav>
                                        <p:tav tm="100000">
                                          <p:val>
                                            <p:strVal val="#ppt_w"/>
                                          </p:val>
                                        </p:tav>
                                      </p:tavLst>
                                    </p:anim>
                                    <p:anim calcmode="lin" valueType="num">
                                      <p:cBhvr>
                                        <p:cTn id="50" dur="400" fill="hold"/>
                                        <p:tgtEl>
                                          <p:spTgt spid="14"/>
                                        </p:tgtEl>
                                        <p:attrNameLst>
                                          <p:attrName>ppt_h</p:attrName>
                                        </p:attrNameLst>
                                      </p:cBhvr>
                                      <p:tavLst>
                                        <p:tav tm="0">
                                          <p:val>
                                            <p:fltVal val="0"/>
                                          </p:val>
                                        </p:tav>
                                        <p:tav tm="100000">
                                          <p:val>
                                            <p:strVal val="#ppt_h"/>
                                          </p:val>
                                        </p:tav>
                                      </p:tavLst>
                                    </p:anim>
                                    <p:animEffect transition="in" filter="fade">
                                      <p:cBhvr>
                                        <p:cTn id="51" dur="400"/>
                                        <p:tgtEl>
                                          <p:spTgt spid="14"/>
                                        </p:tgtEl>
                                      </p:cBhvr>
                                    </p:animEffect>
                                  </p:childTnLst>
                                </p:cTn>
                              </p:par>
                              <p:par>
                                <p:cTn id="52" presetID="53" presetClass="entr" presetSubtype="16" fill="hold" nodeType="withEffect">
                                  <p:stCondLst>
                                    <p:cond delay="30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00" fill="hold"/>
                                        <p:tgtEl>
                                          <p:spTgt spid="15"/>
                                        </p:tgtEl>
                                        <p:attrNameLst>
                                          <p:attrName>ppt_w</p:attrName>
                                        </p:attrNameLst>
                                      </p:cBhvr>
                                      <p:tavLst>
                                        <p:tav tm="0">
                                          <p:val>
                                            <p:fltVal val="0"/>
                                          </p:val>
                                        </p:tav>
                                        <p:tav tm="100000">
                                          <p:val>
                                            <p:strVal val="#ppt_w"/>
                                          </p:val>
                                        </p:tav>
                                      </p:tavLst>
                                    </p:anim>
                                    <p:anim calcmode="lin" valueType="num">
                                      <p:cBhvr>
                                        <p:cTn id="55" dur="400" fill="hold"/>
                                        <p:tgtEl>
                                          <p:spTgt spid="15"/>
                                        </p:tgtEl>
                                        <p:attrNameLst>
                                          <p:attrName>ppt_h</p:attrName>
                                        </p:attrNameLst>
                                      </p:cBhvr>
                                      <p:tavLst>
                                        <p:tav tm="0">
                                          <p:val>
                                            <p:fltVal val="0"/>
                                          </p:val>
                                        </p:tav>
                                        <p:tav tm="100000">
                                          <p:val>
                                            <p:strVal val="#ppt_h"/>
                                          </p:val>
                                        </p:tav>
                                      </p:tavLst>
                                    </p:anim>
                                    <p:animEffect transition="in" filter="fade">
                                      <p:cBhvr>
                                        <p:cTn id="56" dur="400"/>
                                        <p:tgtEl>
                                          <p:spTgt spid="15"/>
                                        </p:tgtEl>
                                      </p:cBhvr>
                                    </p:animEffect>
                                  </p:childTnLst>
                                </p:cTn>
                              </p:par>
                              <p:par>
                                <p:cTn id="57" presetID="10" presetClass="entr" presetSubtype="0" fill="hold" grpId="0" nodeType="withEffect">
                                  <p:stCondLst>
                                    <p:cond delay="4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00"/>
                                        <p:tgtEl>
                                          <p:spTgt spid="16"/>
                                        </p:tgtEl>
                                      </p:cBhvr>
                                    </p:animEffect>
                                  </p:childTnLst>
                                </p:cTn>
                              </p:par>
                              <p:par>
                                <p:cTn id="60" presetID="53" presetClass="entr" presetSubtype="16" fill="hold" nodeType="withEffect">
                                  <p:stCondLst>
                                    <p:cond delay="45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00" fill="hold"/>
                                        <p:tgtEl>
                                          <p:spTgt spid="17"/>
                                        </p:tgtEl>
                                        <p:attrNameLst>
                                          <p:attrName>ppt_w</p:attrName>
                                        </p:attrNameLst>
                                      </p:cBhvr>
                                      <p:tavLst>
                                        <p:tav tm="0">
                                          <p:val>
                                            <p:fltVal val="0"/>
                                          </p:val>
                                        </p:tav>
                                        <p:tav tm="100000">
                                          <p:val>
                                            <p:strVal val="#ppt_w"/>
                                          </p:val>
                                        </p:tav>
                                      </p:tavLst>
                                    </p:anim>
                                    <p:anim calcmode="lin" valueType="num">
                                      <p:cBhvr>
                                        <p:cTn id="63" dur="400" fill="hold"/>
                                        <p:tgtEl>
                                          <p:spTgt spid="17"/>
                                        </p:tgtEl>
                                        <p:attrNameLst>
                                          <p:attrName>ppt_h</p:attrName>
                                        </p:attrNameLst>
                                      </p:cBhvr>
                                      <p:tavLst>
                                        <p:tav tm="0">
                                          <p:val>
                                            <p:fltVal val="0"/>
                                          </p:val>
                                        </p:tav>
                                        <p:tav tm="100000">
                                          <p:val>
                                            <p:strVal val="#ppt_h"/>
                                          </p:val>
                                        </p:tav>
                                      </p:tavLst>
                                    </p:anim>
                                    <p:animEffect transition="in" filter="fade">
                                      <p:cBhvr>
                                        <p:cTn id="64" dur="400"/>
                                        <p:tgtEl>
                                          <p:spTgt spid="17"/>
                                        </p:tgtEl>
                                      </p:cBhvr>
                                    </p:animEffect>
                                  </p:childTnLst>
                                </p:cTn>
                              </p:par>
                              <p:par>
                                <p:cTn id="65" presetID="53" presetClass="entr" presetSubtype="16" fill="hold" nodeType="withEffect">
                                  <p:stCondLst>
                                    <p:cond delay="450"/>
                                  </p:stCondLst>
                                  <p:childTnLst>
                                    <p:set>
                                      <p:cBhvr>
                                        <p:cTn id="66" dur="1" fill="hold">
                                          <p:stCondLst>
                                            <p:cond delay="0"/>
                                          </p:stCondLst>
                                        </p:cTn>
                                        <p:tgtEl>
                                          <p:spTgt spid="18"/>
                                        </p:tgtEl>
                                        <p:attrNameLst>
                                          <p:attrName>style.visibility</p:attrName>
                                        </p:attrNameLst>
                                      </p:cBhvr>
                                      <p:to>
                                        <p:strVal val="visible"/>
                                      </p:to>
                                    </p:set>
                                    <p:anim calcmode="lin" valueType="num">
                                      <p:cBhvr>
                                        <p:cTn id="67" dur="400" fill="hold"/>
                                        <p:tgtEl>
                                          <p:spTgt spid="18"/>
                                        </p:tgtEl>
                                        <p:attrNameLst>
                                          <p:attrName>ppt_w</p:attrName>
                                        </p:attrNameLst>
                                      </p:cBhvr>
                                      <p:tavLst>
                                        <p:tav tm="0">
                                          <p:val>
                                            <p:fltVal val="0"/>
                                          </p:val>
                                        </p:tav>
                                        <p:tav tm="100000">
                                          <p:val>
                                            <p:strVal val="#ppt_w"/>
                                          </p:val>
                                        </p:tav>
                                      </p:tavLst>
                                    </p:anim>
                                    <p:anim calcmode="lin" valueType="num">
                                      <p:cBhvr>
                                        <p:cTn id="68" dur="400" fill="hold"/>
                                        <p:tgtEl>
                                          <p:spTgt spid="18"/>
                                        </p:tgtEl>
                                        <p:attrNameLst>
                                          <p:attrName>ppt_h</p:attrName>
                                        </p:attrNameLst>
                                      </p:cBhvr>
                                      <p:tavLst>
                                        <p:tav tm="0">
                                          <p:val>
                                            <p:fltVal val="0"/>
                                          </p:val>
                                        </p:tav>
                                        <p:tav tm="100000">
                                          <p:val>
                                            <p:strVal val="#ppt_h"/>
                                          </p:val>
                                        </p:tav>
                                      </p:tavLst>
                                    </p:anim>
                                    <p:animEffect transition="in" filter="fade">
                                      <p:cBhvr>
                                        <p:cTn id="69" dur="400"/>
                                        <p:tgtEl>
                                          <p:spTgt spid="18"/>
                                        </p:tgtEl>
                                      </p:cBhvr>
                                    </p:animEffect>
                                  </p:childTnLst>
                                </p:cTn>
                              </p:par>
                              <p:par>
                                <p:cTn id="70" presetID="10" presetClass="entr" presetSubtype="0" fill="hold" grpId="0" nodeType="withEffect">
                                  <p:stCondLst>
                                    <p:cond delay="55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400"/>
                                        <p:tgtEl>
                                          <p:spTgt spid="19"/>
                                        </p:tgtEl>
                                      </p:cBhvr>
                                    </p:animEffect>
                                  </p:childTnLst>
                                </p:cTn>
                              </p:par>
                            </p:childTnLst>
                          </p:cTn>
                        </p:par>
                        <p:par>
                          <p:cTn id="73" fill="hold">
                            <p:stCondLst>
                              <p:cond delay="2450"/>
                            </p:stCondLst>
                            <p:childTnLst>
                              <p:par>
                                <p:cTn id="74" presetID="10" presetClass="entr" presetSubtype="0" fill="hold"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0" grpId="0" animBg="1"/>
      <p:bldP spid="13" grpId="0" animBg="1"/>
      <p:bldP spid="16" grpId="0" animBg="1"/>
      <p:bldP spid="1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E9196"/>
                </a:solidFill>
                <a:latin typeface="Segoe UI Semibold" pitchFamily="34" charset="0"/>
                <a:ea typeface="Segoe UI Semibold" pitchFamily="34" charset="-122"/>
                <a:cs typeface="Segoe UI Semibold" pitchFamily="34" charset="-120"/>
              </a:rPr>
              <a:t>THE PROBLEM  ·  ONE REAL ORDER FROM OUR TEST DATA</a:t>
            </a:r>
            <a:endParaRPr lang="en-US" sz="1000" dirty="0"/>
          </a:p>
        </p:txBody>
      </p:sp>
      <p:sp>
        <p:nvSpPr>
          <p:cNvPr id="3" name="s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This review arrived before the parcel did</a:t>
            </a:r>
            <a:endParaRPr lang="en-US" sz="2900" dirty="0"/>
          </a:p>
        </p:txBody>
      </p:sp>
      <p:sp>
        <p:nvSpPr>
          <p:cNvPr id="4" name="s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Order e1320973  ·  health &amp; beauty, R$65 + R$28 freight  ·  never seen by the models during training</a:t>
            </a:r>
            <a:endParaRPr lang="en-US" sz="1300" dirty="0"/>
          </a:p>
        </p:txBody>
      </p:sp>
      <p:pic>
        <p:nvPicPr>
          <p:cNvPr id="5" name="s2 map 1" descr="E:\2025 NUS\IT5006\deck_build\img\map_route_crop.png"/>
          <p:cNvPicPr>
            <a:picLocks noChangeAspect="1"/>
          </p:cNvPicPr>
          <p:nvPr/>
        </p:nvPicPr>
        <p:blipFill>
          <a:blip r:embed="rId3"/>
          <a:stretch>
            <a:fillRect/>
          </a:stretch>
        </p:blipFill>
        <p:spPr>
          <a:xfrm>
            <a:off x="914400" y="1691640"/>
            <a:ext cx="3139068" cy="4572000"/>
          </a:xfrm>
          <a:prstGeom prst="rect">
            <a:avLst/>
          </a:prstGeom>
        </p:spPr>
      </p:pic>
      <p:grpSp>
        <p:nvGrpSpPr>
          <p:cNvPr id="43" name="s2 places">
            <a:extLst>
              <a:ext uri="{FF2B5EF4-FFF2-40B4-BE49-F238E27FC236}">
                <a16:creationId xmlns:a16="http://schemas.microsoft.com/office/drawing/2014/main" id="{50C91DED-D214-C6FC-9EF7-8E470B19762F}"/>
              </a:ext>
            </a:extLst>
          </p:cNvPr>
          <p:cNvGrpSpPr/>
          <p:nvPr/>
        </p:nvGrpSpPr>
        <p:grpSpPr>
          <a:xfrm>
            <a:off x="828373" y="1845998"/>
            <a:ext cx="4524003" cy="3454466"/>
            <a:chOff x="828373" y="1845998"/>
            <a:chExt cx="4524003" cy="3454466"/>
          </a:xfrm>
        </p:grpSpPr>
        <p:sp>
          <p:nvSpPr>
            <p:cNvPr id="6" name="s2 text 2"/>
            <p:cNvSpPr txBox="1"/>
            <p:nvPr/>
          </p:nvSpPr>
          <p:spPr>
            <a:xfrm>
              <a:off x="828373" y="1845998"/>
              <a:ext cx="1920240" cy="420624"/>
            </a:xfrm>
            <a:prstGeom prst="rect">
              <a:avLst/>
            </a:prstGeom>
            <a:noFill/>
            <a:ln/>
          </p:spPr>
          <p:txBody>
            <a:bodyPr wrap="square" lIns="0" tIns="0" rIns="0" bIns="0" rtlCol="0" anchor="t"/>
            <a:lstStyle/>
            <a:p>
              <a:pPr marL="0" indent="0" algn="r">
                <a:buNone/>
              </a:pPr>
              <a:r>
                <a:rPr lang="en-US" sz="1100" dirty="0">
                  <a:solidFill>
                    <a:srgbClr val="E3B868"/>
                  </a:solidFill>
                  <a:latin typeface="Segoe UI Semibold" pitchFamily="34" charset="0"/>
                  <a:ea typeface="Segoe UI Semibold" pitchFamily="34" charset="-122"/>
                  <a:cs typeface="Segoe UI Semibold" pitchFamily="34" charset="-120"/>
                </a:rPr>
                <a:t>São Luís, Maranhão
</a:t>
              </a:r>
              <a:r>
                <a:rPr lang="en-US" sz="1100" dirty="0">
                  <a:solidFill>
                    <a:srgbClr val="93A6BC"/>
                  </a:solidFill>
                  <a:latin typeface="Segoe UI" pitchFamily="34" charset="0"/>
                  <a:ea typeface="Segoe UI" pitchFamily="34" charset="-122"/>
                  <a:cs typeface="Segoe UI" pitchFamily="34" charset="-120"/>
                </a:rPr>
                <a:t>seller</a:t>
              </a:r>
              <a:endParaRPr lang="en-US" sz="1100" dirty="0"/>
            </a:p>
          </p:txBody>
        </p:sp>
        <p:sp>
          <p:nvSpPr>
            <p:cNvPr id="7" name="s2 text 3"/>
            <p:cNvSpPr txBox="1"/>
            <p:nvPr/>
          </p:nvSpPr>
          <p:spPr>
            <a:xfrm>
              <a:off x="3249256" y="4879840"/>
              <a:ext cx="2103120" cy="420624"/>
            </a:xfrm>
            <a:prstGeom prst="rect">
              <a:avLst/>
            </a:prstGeom>
            <a:noFill/>
            <a:ln/>
          </p:spPr>
          <p:txBody>
            <a:bodyPr wrap="square" lIns="0" tIns="0" rIns="0" bIns="0" rtlCol="0" anchor="t"/>
            <a:lstStyle/>
            <a:p>
              <a:pPr marL="0" indent="0">
                <a:buNone/>
              </a:pPr>
              <a:r>
                <a:rPr lang="en-US" sz="1100" dirty="0">
                  <a:solidFill>
                    <a:srgbClr val="EE9196"/>
                  </a:solidFill>
                  <a:latin typeface="Segoe UI Semibold" pitchFamily="34" charset="0"/>
                  <a:ea typeface="Segoe UI Semibold" pitchFamily="34" charset="-122"/>
                  <a:cs typeface="Segoe UI Semibold" pitchFamily="34" charset="-120"/>
                </a:rPr>
                <a:t>São Gonçalo, Rio de Janeiro
</a:t>
              </a:r>
              <a:r>
                <a:rPr lang="en-US" sz="1100" dirty="0">
                  <a:solidFill>
                    <a:srgbClr val="93A6BC"/>
                  </a:solidFill>
                  <a:latin typeface="Segoe UI" pitchFamily="34" charset="0"/>
                  <a:ea typeface="Segoe UI" pitchFamily="34" charset="-122"/>
                  <a:cs typeface="Segoe UI" pitchFamily="34" charset="-120"/>
                </a:rPr>
                <a:t>customer</a:t>
              </a:r>
              <a:endParaRPr lang="en-US" sz="1100" dirty="0"/>
            </a:p>
          </p:txBody>
        </p:sp>
        <p:sp>
          <p:nvSpPr>
            <p:cNvPr id="8" name="s2 text 4"/>
            <p:cNvSpPr txBox="1"/>
            <p:nvPr/>
          </p:nvSpPr>
          <p:spPr>
            <a:xfrm>
              <a:off x="3544833" y="3503755"/>
              <a:ext cx="1005840" cy="292608"/>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2,267 km</a:t>
              </a:r>
              <a:endParaRPr lang="en-US" sz="1300" dirty="0"/>
            </a:p>
          </p:txBody>
        </p:sp>
      </p:grpSp>
      <p:sp>
        <p:nvSpPr>
          <p:cNvPr id="9" name="s2 panel 5"/>
          <p:cNvSpPr/>
          <p:nvPr/>
        </p:nvSpPr>
        <p:spPr>
          <a:xfrm>
            <a:off x="5550408" y="4133088"/>
            <a:ext cx="6053328" cy="749808"/>
          </a:xfrm>
          <a:prstGeom prst="roundRect">
            <a:avLst>
              <a:gd name="adj" fmla="val 17073"/>
            </a:avLst>
          </a:prstGeom>
          <a:solidFill>
            <a:srgbClr val="C1666B">
              <a:alpha val="20000"/>
            </a:srgbClr>
          </a:solidFill>
          <a:ln w="12700">
            <a:solidFill>
              <a:srgbClr val="C1666B">
                <a:alpha val="0"/>
              </a:srgbClr>
            </a:solidFill>
            <a:prstDash val="solid"/>
          </a:ln>
        </p:spPr>
      </p:sp>
      <p:sp>
        <p:nvSpPr>
          <p:cNvPr id="10" name="s2 line 6"/>
          <p:cNvSpPr/>
          <p:nvPr/>
        </p:nvSpPr>
        <p:spPr>
          <a:xfrm>
            <a:off x="5971032" y="2039112"/>
            <a:ext cx="0" cy="3291840"/>
          </a:xfrm>
          <a:prstGeom prst="line">
            <a:avLst/>
          </a:prstGeom>
          <a:noFill/>
          <a:ln w="19050">
            <a:solidFill>
              <a:srgbClr val="2D4464"/>
            </a:solidFill>
            <a:prstDash val="solid"/>
          </a:ln>
        </p:spPr>
      </p:sp>
      <p:sp>
        <p:nvSpPr>
          <p:cNvPr id="11" name="!!n1"/>
          <p:cNvSpPr/>
          <p:nvPr/>
        </p:nvSpPr>
        <p:spPr>
          <a:xfrm>
            <a:off x="5715000" y="1783080"/>
            <a:ext cx="512064" cy="512064"/>
          </a:xfrm>
          <a:prstGeom prst="ellipse">
            <a:avLst/>
          </a:prstGeom>
          <a:solidFill>
            <a:srgbClr val="2F6F9F"/>
          </a:solidFill>
          <a:ln w="12700">
            <a:solidFill>
              <a:srgbClr val="2F6F9F"/>
            </a:solidFill>
            <a:prstDash val="solid"/>
          </a:ln>
        </p:spPr>
      </p:sp>
      <p:pic>
        <p:nvPicPr>
          <p:cNvPr id="12" name="!!i1" descr="preencoded.png"/>
          <p:cNvPicPr>
            <a:picLocks noChangeAspect="1"/>
          </p:cNvPicPr>
          <p:nvPr/>
        </p:nvPicPr>
        <p:blipFill>
          <a:blip r:embed="rId4"/>
          <a:stretch>
            <a:fillRect/>
          </a:stretch>
        </p:blipFill>
        <p:spPr>
          <a:xfrm>
            <a:off x="5848137" y="1916217"/>
            <a:ext cx="245791" cy="245791"/>
          </a:xfrm>
          <a:prstGeom prst="rect">
            <a:avLst/>
          </a:prstGeom>
        </p:spPr>
      </p:pic>
      <p:grpSp>
        <p:nvGrpSpPr>
          <p:cNvPr id="38" name="s2 row0">
            <a:extLst>
              <a:ext uri="{FF2B5EF4-FFF2-40B4-BE49-F238E27FC236}">
                <a16:creationId xmlns:a16="http://schemas.microsoft.com/office/drawing/2014/main" id="{1A4B039E-19FD-2371-1CED-00FECA820F08}"/>
              </a:ext>
            </a:extLst>
          </p:cNvPr>
          <p:cNvGrpSpPr/>
          <p:nvPr/>
        </p:nvGrpSpPr>
        <p:grpSpPr>
          <a:xfrm>
            <a:off x="6428232" y="1746504"/>
            <a:ext cx="5029200" cy="612648"/>
            <a:chOff x="6428232" y="1746504"/>
            <a:chExt cx="5029200" cy="612648"/>
          </a:xfrm>
        </p:grpSpPr>
        <p:sp>
          <p:nvSpPr>
            <p:cNvPr id="13" name="s2 text 7"/>
            <p:cNvSpPr txBox="1"/>
            <p:nvPr/>
          </p:nvSpPr>
          <p:spPr>
            <a:xfrm>
              <a:off x="6428232" y="1746504"/>
              <a:ext cx="4937760" cy="310896"/>
            </a:xfrm>
            <a:prstGeom prst="rect">
              <a:avLst/>
            </a:prstGeom>
            <a:noFill/>
            <a:ln/>
          </p:spPr>
          <p:txBody>
            <a:bodyPr wrap="square" lIns="0" tIns="0" rIns="0" bIns="0" rtlCol="0" anchor="t"/>
            <a:lstStyle/>
            <a:p>
              <a:pPr marL="0" indent="0">
                <a:buNone/>
              </a:pPr>
              <a:r>
                <a:rPr lang="en-US" sz="1600" dirty="0">
                  <a:solidFill>
                    <a:srgbClr val="86B6DC"/>
                  </a:solidFill>
                  <a:latin typeface="Segoe UI Semibold" pitchFamily="34" charset="0"/>
                  <a:ea typeface="Segoe UI Semibold" pitchFamily="34" charset="-122"/>
                  <a:cs typeface="Segoe UI Semibold" pitchFamily="34" charset="-120"/>
                </a:rPr>
                <a:t>16 Jul   </a:t>
              </a:r>
              <a:r>
                <a:rPr lang="en-US" sz="1050" dirty="0">
                  <a:solidFill>
                    <a:srgbClr val="93A6BC"/>
                  </a:solidFill>
                  <a:latin typeface="Segoe UI" pitchFamily="34" charset="0"/>
                  <a:ea typeface="Segoe UI" pitchFamily="34" charset="-122"/>
                  <a:cs typeface="Segoe UI" pitchFamily="34" charset="-120"/>
                </a:rPr>
                <a:t>day 0</a:t>
              </a:r>
              <a:endParaRPr lang="en-US" sz="1600" dirty="0"/>
            </a:p>
          </p:txBody>
        </p:sp>
        <p:sp>
          <p:nvSpPr>
            <p:cNvPr id="14" name="s2 text 8"/>
            <p:cNvSpPr txBox="1"/>
            <p:nvPr/>
          </p:nvSpPr>
          <p:spPr>
            <a:xfrm>
              <a:off x="6428232" y="204825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Bought. Promised by 7 August (21 days).</a:t>
              </a:r>
              <a:endParaRPr lang="en-US" sz="1250" dirty="0"/>
            </a:p>
          </p:txBody>
        </p:sp>
      </p:grpSp>
      <p:sp>
        <p:nvSpPr>
          <p:cNvPr id="15" name="!!n2"/>
          <p:cNvSpPr/>
          <p:nvPr/>
        </p:nvSpPr>
        <p:spPr>
          <a:xfrm>
            <a:off x="5715000" y="2606040"/>
            <a:ext cx="512064" cy="512064"/>
          </a:xfrm>
          <a:prstGeom prst="ellipse">
            <a:avLst/>
          </a:prstGeom>
          <a:solidFill>
            <a:srgbClr val="C08B2E"/>
          </a:solidFill>
          <a:ln w="12700">
            <a:solidFill>
              <a:srgbClr val="C08B2E"/>
            </a:solidFill>
            <a:prstDash val="solid"/>
          </a:ln>
        </p:spPr>
      </p:sp>
      <p:pic>
        <p:nvPicPr>
          <p:cNvPr id="16" name="!!i2" descr="preencoded.png"/>
          <p:cNvPicPr>
            <a:picLocks noChangeAspect="1"/>
          </p:cNvPicPr>
          <p:nvPr/>
        </p:nvPicPr>
        <p:blipFill>
          <a:blip r:embed="rId5"/>
          <a:stretch>
            <a:fillRect/>
          </a:stretch>
        </p:blipFill>
        <p:spPr>
          <a:xfrm>
            <a:off x="5848137" y="2739177"/>
            <a:ext cx="245791" cy="245791"/>
          </a:xfrm>
          <a:prstGeom prst="rect">
            <a:avLst/>
          </a:prstGeom>
        </p:spPr>
      </p:pic>
      <p:grpSp>
        <p:nvGrpSpPr>
          <p:cNvPr id="39" name="s2 row1">
            <a:extLst>
              <a:ext uri="{FF2B5EF4-FFF2-40B4-BE49-F238E27FC236}">
                <a16:creationId xmlns:a16="http://schemas.microsoft.com/office/drawing/2014/main" id="{DBFDD1A0-4352-D3A7-05B1-C5061301C5F2}"/>
              </a:ext>
            </a:extLst>
          </p:cNvPr>
          <p:cNvGrpSpPr/>
          <p:nvPr/>
        </p:nvGrpSpPr>
        <p:grpSpPr>
          <a:xfrm>
            <a:off x="6428232" y="2569464"/>
            <a:ext cx="5029200" cy="612648"/>
            <a:chOff x="6428232" y="2569464"/>
            <a:chExt cx="5029200" cy="612648"/>
          </a:xfrm>
        </p:grpSpPr>
        <p:sp>
          <p:nvSpPr>
            <p:cNvPr id="17" name="s2 text 9"/>
            <p:cNvSpPr txBox="1"/>
            <p:nvPr/>
          </p:nvSpPr>
          <p:spPr>
            <a:xfrm>
              <a:off x="6428232" y="2569464"/>
              <a:ext cx="4937760" cy="310896"/>
            </a:xfrm>
            <a:prstGeom prst="rect">
              <a:avLst/>
            </a:prstGeom>
            <a:noFill/>
            <a:ln/>
          </p:spPr>
          <p:txBody>
            <a:bodyPr wrap="square" lIns="0" tIns="0" rIns="0" bIns="0" rtlCol="0" anchor="t"/>
            <a:lstStyle/>
            <a:p>
              <a:pPr marL="0" indent="0">
                <a:buNone/>
              </a:pPr>
              <a:r>
                <a:rPr lang="en-US" sz="1600" dirty="0">
                  <a:solidFill>
                    <a:srgbClr val="E3B868"/>
                  </a:solidFill>
                  <a:latin typeface="Segoe UI Semibold" pitchFamily="34" charset="0"/>
                  <a:ea typeface="Segoe UI Semibold" pitchFamily="34" charset="-122"/>
                  <a:cs typeface="Segoe UI Semibold" pitchFamily="34" charset="-120"/>
                </a:rPr>
                <a:t>7 Aug   </a:t>
              </a:r>
              <a:r>
                <a:rPr lang="en-US" sz="1050" dirty="0">
                  <a:solidFill>
                    <a:srgbClr val="93A6BC"/>
                  </a:solidFill>
                  <a:latin typeface="Segoe UI" pitchFamily="34" charset="0"/>
                  <a:ea typeface="Segoe UI" pitchFamily="34" charset="-122"/>
                  <a:cs typeface="Segoe UI" pitchFamily="34" charset="-120"/>
                </a:rPr>
                <a:t>day 22</a:t>
              </a:r>
              <a:endParaRPr lang="en-US" sz="1600" dirty="0"/>
            </a:p>
          </p:txBody>
        </p:sp>
        <p:sp>
          <p:nvSpPr>
            <p:cNvPr id="18" name="s2 text 10"/>
            <p:cNvSpPr txBox="1"/>
            <p:nvPr/>
          </p:nvSpPr>
          <p:spPr>
            <a:xfrm>
              <a:off x="6428232" y="287121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Promised date passes. The parcel is still on the road.</a:t>
              </a:r>
              <a:endParaRPr lang="en-US" sz="1250" dirty="0"/>
            </a:p>
          </p:txBody>
        </p:sp>
      </p:grpSp>
      <p:grpSp>
        <p:nvGrpSpPr>
          <p:cNvPr id="40" name="s2 row2">
            <a:extLst>
              <a:ext uri="{FF2B5EF4-FFF2-40B4-BE49-F238E27FC236}">
                <a16:creationId xmlns:a16="http://schemas.microsoft.com/office/drawing/2014/main" id="{B9732533-8D82-7479-FA98-310244B3B8F3}"/>
              </a:ext>
            </a:extLst>
          </p:cNvPr>
          <p:cNvGrpSpPr/>
          <p:nvPr/>
        </p:nvGrpSpPr>
        <p:grpSpPr>
          <a:xfrm>
            <a:off x="5806440" y="3392424"/>
            <a:ext cx="5650992" cy="612648"/>
            <a:chOff x="5806440" y="3392424"/>
            <a:chExt cx="5650992" cy="612648"/>
          </a:xfrm>
        </p:grpSpPr>
        <p:sp>
          <p:nvSpPr>
            <p:cNvPr id="19" name="s2 icon circle 11"/>
            <p:cNvSpPr/>
            <p:nvPr/>
          </p:nvSpPr>
          <p:spPr>
            <a:xfrm>
              <a:off x="5806440" y="3520440"/>
              <a:ext cx="329184" cy="329184"/>
            </a:xfrm>
            <a:prstGeom prst="ellipse">
              <a:avLst/>
            </a:prstGeom>
            <a:solidFill>
              <a:srgbClr val="1A2C45"/>
            </a:solidFill>
            <a:ln w="12700">
              <a:solidFill>
                <a:srgbClr val="2D4464"/>
              </a:solidFill>
              <a:prstDash val="solid"/>
            </a:ln>
          </p:spPr>
        </p:sp>
        <p:pic>
          <p:nvPicPr>
            <p:cNvPr id="20" name="s2 icon 12" descr="preencoded.png"/>
            <p:cNvPicPr>
              <a:picLocks noChangeAspect="1"/>
            </p:cNvPicPr>
            <p:nvPr/>
          </p:nvPicPr>
          <p:blipFill>
            <a:blip r:embed="rId6"/>
            <a:stretch>
              <a:fillRect/>
            </a:stretch>
          </p:blipFill>
          <p:spPr>
            <a:xfrm>
              <a:off x="5895320" y="3609320"/>
              <a:ext cx="151425" cy="151425"/>
            </a:xfrm>
            <a:prstGeom prst="rect">
              <a:avLst/>
            </a:prstGeom>
          </p:spPr>
        </p:pic>
        <p:sp>
          <p:nvSpPr>
            <p:cNvPr id="21" name="s2 text 13"/>
            <p:cNvSpPr txBox="1"/>
            <p:nvPr/>
          </p:nvSpPr>
          <p:spPr>
            <a:xfrm>
              <a:off x="6428232" y="3392424"/>
              <a:ext cx="4937760" cy="310896"/>
            </a:xfrm>
            <a:prstGeom prst="rect">
              <a:avLst/>
            </a:prstGeom>
            <a:noFill/>
            <a:ln/>
          </p:spPr>
          <p:txBody>
            <a:bodyPr wrap="square" lIns="0" tIns="0" rIns="0" bIns="0" rtlCol="0" anchor="t"/>
            <a:lstStyle/>
            <a:p>
              <a:pPr marL="0" indent="0">
                <a:buNone/>
              </a:pPr>
              <a:r>
                <a:rPr lang="en-US" sz="1600" dirty="0">
                  <a:solidFill>
                    <a:srgbClr val="C9D6E3"/>
                  </a:solidFill>
                  <a:latin typeface="Segoe UI Semibold" pitchFamily="34" charset="0"/>
                  <a:ea typeface="Segoe UI Semibold" pitchFamily="34" charset="-122"/>
                  <a:cs typeface="Segoe UI Semibold" pitchFamily="34" charset="-120"/>
                </a:rPr>
                <a:t>9 Aug   </a:t>
              </a:r>
              <a:r>
                <a:rPr lang="en-US" sz="1050" dirty="0">
                  <a:solidFill>
                    <a:srgbClr val="93A6BC"/>
                  </a:solidFill>
                  <a:latin typeface="Segoe UI" pitchFamily="34" charset="0"/>
                  <a:ea typeface="Segoe UI" pitchFamily="34" charset="-122"/>
                  <a:cs typeface="Segoe UI" pitchFamily="34" charset="-120"/>
                </a:rPr>
                <a:t>day 24</a:t>
              </a:r>
              <a:endParaRPr lang="en-US" sz="1600" dirty="0"/>
            </a:p>
          </p:txBody>
        </p:sp>
        <p:sp>
          <p:nvSpPr>
            <p:cNvPr id="22" name="s2 text 14"/>
            <p:cNvSpPr txBox="1"/>
            <p:nvPr/>
          </p:nvSpPr>
          <p:spPr>
            <a:xfrm>
              <a:off x="6428232" y="369417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Olist emails the review survey.</a:t>
              </a:r>
              <a:endParaRPr lang="en-US" sz="1250" dirty="0"/>
            </a:p>
          </p:txBody>
        </p:sp>
      </p:grpSp>
      <p:sp>
        <p:nvSpPr>
          <p:cNvPr id="23" name="!!n4"/>
          <p:cNvSpPr/>
          <p:nvPr/>
        </p:nvSpPr>
        <p:spPr>
          <a:xfrm>
            <a:off x="5715000" y="4251960"/>
            <a:ext cx="512064" cy="512064"/>
          </a:xfrm>
          <a:prstGeom prst="ellipse">
            <a:avLst/>
          </a:prstGeom>
          <a:solidFill>
            <a:srgbClr val="C1666B"/>
          </a:solidFill>
          <a:ln w="12700">
            <a:solidFill>
              <a:srgbClr val="C1666B"/>
            </a:solidFill>
            <a:prstDash val="solid"/>
          </a:ln>
        </p:spPr>
      </p:sp>
      <p:pic>
        <p:nvPicPr>
          <p:cNvPr id="24" name="!!i4" descr="preencoded.png"/>
          <p:cNvPicPr>
            <a:picLocks noChangeAspect="1"/>
          </p:cNvPicPr>
          <p:nvPr/>
        </p:nvPicPr>
        <p:blipFill>
          <a:blip r:embed="rId7"/>
          <a:stretch>
            <a:fillRect/>
          </a:stretch>
        </p:blipFill>
        <p:spPr>
          <a:xfrm>
            <a:off x="5848137" y="4385097"/>
            <a:ext cx="245791" cy="245791"/>
          </a:xfrm>
          <a:prstGeom prst="rect">
            <a:avLst/>
          </a:prstGeom>
        </p:spPr>
      </p:pic>
      <p:grpSp>
        <p:nvGrpSpPr>
          <p:cNvPr id="41" name="s2 row3">
            <a:extLst>
              <a:ext uri="{FF2B5EF4-FFF2-40B4-BE49-F238E27FC236}">
                <a16:creationId xmlns:a16="http://schemas.microsoft.com/office/drawing/2014/main" id="{1DD10636-7AB6-9CA9-4FE4-6B690F1B2A69}"/>
              </a:ext>
            </a:extLst>
          </p:cNvPr>
          <p:cNvGrpSpPr/>
          <p:nvPr/>
        </p:nvGrpSpPr>
        <p:grpSpPr>
          <a:xfrm>
            <a:off x="6428232" y="4215384"/>
            <a:ext cx="5029200" cy="612648"/>
            <a:chOff x="6428232" y="4215384"/>
            <a:chExt cx="5029200" cy="612648"/>
          </a:xfrm>
        </p:grpSpPr>
        <p:sp>
          <p:nvSpPr>
            <p:cNvPr id="25" name="s2 text 15"/>
            <p:cNvSpPr txBox="1"/>
            <p:nvPr/>
          </p:nvSpPr>
          <p:spPr>
            <a:xfrm>
              <a:off x="6428232" y="4215384"/>
              <a:ext cx="4937760" cy="310896"/>
            </a:xfrm>
            <a:prstGeom prst="rect">
              <a:avLst/>
            </a:prstGeom>
            <a:noFill/>
            <a:ln/>
          </p:spPr>
          <p:txBody>
            <a:bodyPr wrap="square" lIns="0" tIns="0" rIns="0" bIns="0" rtlCol="0" anchor="t"/>
            <a:lstStyle/>
            <a:p>
              <a:pPr marL="0" indent="0">
                <a:buNone/>
              </a:pPr>
              <a:r>
                <a:rPr lang="en-US" sz="1600" dirty="0">
                  <a:solidFill>
                    <a:srgbClr val="EE9196"/>
                  </a:solidFill>
                  <a:latin typeface="Segoe UI Semibold" pitchFamily="34" charset="0"/>
                  <a:ea typeface="Segoe UI Semibold" pitchFamily="34" charset="-122"/>
                  <a:cs typeface="Segoe UI Semibold" pitchFamily="34" charset="-120"/>
                </a:rPr>
                <a:t>11 Aug   </a:t>
              </a:r>
              <a:r>
                <a:rPr lang="en-US" sz="1050" dirty="0">
                  <a:solidFill>
                    <a:srgbClr val="93A6BC"/>
                  </a:solidFill>
                  <a:latin typeface="Segoe UI" pitchFamily="34" charset="0"/>
                  <a:ea typeface="Segoe UI" pitchFamily="34" charset="-122"/>
                  <a:cs typeface="Segoe UI" pitchFamily="34" charset="-120"/>
                </a:rPr>
                <a:t>day 26</a:t>
              </a:r>
              <a:endParaRPr lang="en-US" sz="1600" dirty="0"/>
            </a:p>
          </p:txBody>
        </p:sp>
        <p:sp>
          <p:nvSpPr>
            <p:cNvPr id="26" name="s2 text 16"/>
            <p:cNvSpPr txBox="1"/>
            <p:nvPr/>
          </p:nvSpPr>
          <p:spPr>
            <a:xfrm>
              <a:off x="6428232" y="4517136"/>
              <a:ext cx="5029200" cy="310896"/>
            </a:xfrm>
            <a:prstGeom prst="rect">
              <a:avLst/>
            </a:prstGeom>
            <a:noFill/>
            <a:ln/>
          </p:spPr>
          <p:txBody>
            <a:bodyPr wrap="square" lIns="0" tIns="0" rIns="0" bIns="0" rtlCol="0" anchor="t"/>
            <a:lstStyle/>
            <a:p>
              <a:pPr marL="0" indent="0">
                <a:buNone/>
              </a:pPr>
              <a:r>
                <a:rPr lang="en-US" sz="1250" dirty="0">
                  <a:solidFill>
                    <a:srgbClr val="FFFFFF"/>
                  </a:solidFill>
                  <a:latin typeface="Segoe UI" pitchFamily="34" charset="0"/>
                  <a:ea typeface="Segoe UI" pitchFamily="34" charset="-122"/>
                  <a:cs typeface="Segoe UI" pitchFamily="34" charset="-120"/>
                </a:rPr>
                <a:t>★☆☆☆☆  The customer gives 1 star, still waiting.</a:t>
              </a:r>
              <a:endParaRPr lang="en-US" sz="1250" dirty="0"/>
            </a:p>
          </p:txBody>
        </p:sp>
      </p:grpSp>
      <p:sp>
        <p:nvSpPr>
          <p:cNvPr id="27" name="!!n3"/>
          <p:cNvSpPr/>
          <p:nvPr/>
        </p:nvSpPr>
        <p:spPr>
          <a:xfrm>
            <a:off x="5715000" y="5074920"/>
            <a:ext cx="512064" cy="512064"/>
          </a:xfrm>
          <a:prstGeom prst="ellipse">
            <a:avLst/>
          </a:prstGeom>
          <a:solidFill>
            <a:srgbClr val="5B8C5A"/>
          </a:solidFill>
          <a:ln w="12700">
            <a:solidFill>
              <a:srgbClr val="5B8C5A"/>
            </a:solidFill>
            <a:prstDash val="solid"/>
          </a:ln>
        </p:spPr>
      </p:sp>
      <p:pic>
        <p:nvPicPr>
          <p:cNvPr id="28" name="!!i3" descr="preencoded.png"/>
          <p:cNvPicPr>
            <a:picLocks noChangeAspect="1"/>
          </p:cNvPicPr>
          <p:nvPr/>
        </p:nvPicPr>
        <p:blipFill>
          <a:blip r:embed="rId8"/>
          <a:stretch>
            <a:fillRect/>
          </a:stretch>
        </p:blipFill>
        <p:spPr>
          <a:xfrm>
            <a:off x="5848137" y="5208057"/>
            <a:ext cx="245791" cy="245791"/>
          </a:xfrm>
          <a:prstGeom prst="rect">
            <a:avLst/>
          </a:prstGeom>
        </p:spPr>
      </p:pic>
      <p:grpSp>
        <p:nvGrpSpPr>
          <p:cNvPr id="42" name="s2 row4">
            <a:extLst>
              <a:ext uri="{FF2B5EF4-FFF2-40B4-BE49-F238E27FC236}">
                <a16:creationId xmlns:a16="http://schemas.microsoft.com/office/drawing/2014/main" id="{C0298B2C-0E62-7D5A-1D76-90E3B7DF701F}"/>
              </a:ext>
            </a:extLst>
          </p:cNvPr>
          <p:cNvGrpSpPr/>
          <p:nvPr/>
        </p:nvGrpSpPr>
        <p:grpSpPr>
          <a:xfrm>
            <a:off x="6428232" y="5038344"/>
            <a:ext cx="5029200" cy="612648"/>
            <a:chOff x="6428232" y="5038344"/>
            <a:chExt cx="5029200" cy="612648"/>
          </a:xfrm>
        </p:grpSpPr>
        <p:sp>
          <p:nvSpPr>
            <p:cNvPr id="29" name="s2 text 17"/>
            <p:cNvSpPr txBox="1"/>
            <p:nvPr/>
          </p:nvSpPr>
          <p:spPr>
            <a:xfrm>
              <a:off x="6428232" y="5038344"/>
              <a:ext cx="4937760" cy="310896"/>
            </a:xfrm>
            <a:prstGeom prst="rect">
              <a:avLst/>
            </a:prstGeom>
            <a:noFill/>
            <a:ln/>
          </p:spPr>
          <p:txBody>
            <a:bodyPr wrap="square" lIns="0" tIns="0" rIns="0" bIns="0" rtlCol="0" anchor="t"/>
            <a:lstStyle/>
            <a:p>
              <a:pPr marL="0" indent="0">
                <a:buNone/>
              </a:pPr>
              <a:r>
                <a:rPr lang="en-US" sz="1600" dirty="0">
                  <a:solidFill>
                    <a:srgbClr val="97C796"/>
                  </a:solidFill>
                  <a:latin typeface="Segoe UI Semibold" pitchFamily="34" charset="0"/>
                  <a:ea typeface="Segoe UI Semibold" pitchFamily="34" charset="-122"/>
                  <a:cs typeface="Segoe UI Semibold" pitchFamily="34" charset="-120"/>
                </a:rPr>
                <a:t>17 Aug   </a:t>
              </a:r>
              <a:r>
                <a:rPr lang="en-US" sz="1050" dirty="0">
                  <a:solidFill>
                    <a:srgbClr val="93A6BC"/>
                  </a:solidFill>
                  <a:latin typeface="Segoe UI" pitchFamily="34" charset="0"/>
                  <a:ea typeface="Segoe UI" pitchFamily="34" charset="-122"/>
                  <a:cs typeface="Segoe UI" pitchFamily="34" charset="-120"/>
                </a:rPr>
                <a:t>day 32</a:t>
              </a:r>
              <a:endParaRPr lang="en-US" sz="1600" dirty="0"/>
            </a:p>
          </p:txBody>
        </p:sp>
        <p:sp>
          <p:nvSpPr>
            <p:cNvPr id="30" name="s2 text 18"/>
            <p:cNvSpPr txBox="1"/>
            <p:nvPr/>
          </p:nvSpPr>
          <p:spPr>
            <a:xfrm>
              <a:off x="6428232" y="534009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The parcel finally arrives, 10 days late.</a:t>
              </a:r>
              <a:endParaRPr lang="en-US" sz="1250" dirty="0"/>
            </a:p>
          </p:txBody>
        </p:sp>
      </p:grpSp>
      <p:sp>
        <p:nvSpPr>
          <p:cNvPr id="31" name="s2 text 19"/>
          <p:cNvSpPr txBox="1"/>
          <p:nvPr/>
        </p:nvSpPr>
        <p:spPr>
          <a:xfrm>
            <a:off x="5577840" y="5815584"/>
            <a:ext cx="6080760" cy="402336"/>
          </a:xfrm>
          <a:prstGeom prst="rect">
            <a:avLst/>
          </a:prstGeom>
          <a:noFill/>
          <a:ln/>
        </p:spPr>
        <p:txBody>
          <a:bodyPr wrap="square" lIns="0" tIns="0" rIns="0" bIns="0" rtlCol="0" anchor="t"/>
          <a:lstStyle/>
          <a:p>
            <a:pPr marL="0" indent="0">
              <a:buNone/>
            </a:pPr>
            <a:r>
              <a:rPr lang="en-US" sz="1700" i="1" dirty="0">
                <a:solidFill>
                  <a:srgbClr val="EE9196"/>
                </a:solidFill>
                <a:latin typeface="Georgia" pitchFamily="34" charset="0"/>
                <a:ea typeface="Georgia" pitchFamily="34" charset="-122"/>
                <a:cs typeface="Georgia" pitchFamily="34" charset="-120"/>
              </a:rPr>
              <a:t>When the parcel arrived, its review was already six days old.</a:t>
            </a:r>
            <a:endParaRPr lang="en-US" sz="1700" dirty="0"/>
          </a:p>
        </p:txBody>
      </p:sp>
      <p:sp>
        <p:nvSpPr>
          <p:cNvPr id="32" name="s2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E9196"/>
                </a:solidFill>
                <a:latin typeface="Segoe UI Semibold" pitchFamily="34" charset="0"/>
                <a:ea typeface="Segoe UI Semibold" pitchFamily="34" charset="-122"/>
                <a:cs typeface="Segoe UI Semibold" pitchFamily="34" charset="-120"/>
              </a:rPr>
              <a:t>01  </a:t>
            </a:r>
            <a:r>
              <a:rPr lang="en-US" sz="950" dirty="0">
                <a:solidFill>
                  <a:srgbClr val="FFFFFF"/>
                </a:solidFill>
                <a:latin typeface="Segoe UI Semibold" pitchFamily="34" charset="0"/>
                <a:ea typeface="Segoe UI Semibold" pitchFamily="34" charset="-122"/>
                <a:cs typeface="Segoe UI Semibold" pitchFamily="34" charset="-120"/>
              </a:rPr>
              <a:t>The problem</a:t>
            </a:r>
            <a:endParaRPr lang="en-US" sz="950" dirty="0"/>
          </a:p>
        </p:txBody>
      </p:sp>
      <p:sp>
        <p:nvSpPr>
          <p:cNvPr id="33" name="s2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4" name="s2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5" name="s2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6" name="s2 nav marker"/>
          <p:cNvSpPr/>
          <p:nvPr/>
        </p:nvSpPr>
        <p:spPr>
          <a:xfrm>
            <a:off x="548640" y="6336792"/>
            <a:ext cx="201168" cy="36576"/>
          </a:xfrm>
          <a:prstGeom prst="roundRect">
            <a:avLst>
              <a:gd name="adj" fmla="val 50000"/>
            </a:avLst>
          </a:prstGeom>
          <a:solidFill>
            <a:srgbClr val="EE9196"/>
          </a:solidFill>
          <a:ln w="12700">
            <a:solidFill>
              <a:srgbClr val="EE9196">
                <a:alpha val="0"/>
              </a:srgbClr>
            </a:solidFill>
            <a:prstDash val="solid"/>
          </a:ln>
        </p:spPr>
      </p:sp>
      <p:sp>
        <p:nvSpPr>
          <p:cNvPr id="37" name="s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par>
                          <p:cTn id="8" fill="hold">
                            <p:stCondLst>
                              <p:cond delay="700"/>
                            </p:stCondLst>
                            <p:childTnLst>
                              <p:par>
                                <p:cTn id="9" presetID="10" presetClass="entr" presetSubtype="0" fill="hold" nodeType="after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par>
                          <p:cTn id="12" fill="hold">
                            <p:stCondLst>
                              <p:cond delay="1100"/>
                            </p:stCondLst>
                            <p:childTnLst>
                              <p:par>
                                <p:cTn id="13" presetID="42" presetClass="entr" presetSubtype="0" fill="hold" nodeType="afterEffect">
                                  <p:stCondLst>
                                    <p:cond delay="5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450"/>
                                        <p:tgtEl>
                                          <p:spTgt spid="38"/>
                                        </p:tgtEl>
                                      </p:cBhvr>
                                    </p:animEffect>
                                    <p:anim calcmode="lin" valueType="num">
                                      <p:cBhvr>
                                        <p:cTn id="16" dur="450" fill="hold"/>
                                        <p:tgtEl>
                                          <p:spTgt spid="38"/>
                                        </p:tgtEl>
                                        <p:attrNameLst>
                                          <p:attrName>ppt_x</p:attrName>
                                        </p:attrNameLst>
                                      </p:cBhvr>
                                      <p:tavLst>
                                        <p:tav tm="0">
                                          <p:val>
                                            <p:strVal val="#ppt_x"/>
                                          </p:val>
                                        </p:tav>
                                        <p:tav tm="100000">
                                          <p:val>
                                            <p:strVal val="#ppt_x"/>
                                          </p:val>
                                        </p:tav>
                                      </p:tavLst>
                                    </p:anim>
                                    <p:anim calcmode="lin" valueType="num">
                                      <p:cBhvr>
                                        <p:cTn id="17" dur="450" fill="hold"/>
                                        <p:tgtEl>
                                          <p:spTgt spid="38"/>
                                        </p:tgtEl>
                                        <p:attrNameLst>
                                          <p:attrName>ppt_y</p:attrName>
                                        </p:attrNameLst>
                                      </p:cBhvr>
                                      <p:tavLst>
                                        <p:tav tm="0">
                                          <p:val>
                                            <p:strVal val="#ppt_y+.1"/>
                                          </p:val>
                                        </p:tav>
                                        <p:tav tm="100000">
                                          <p:val>
                                            <p:strVal val="#ppt_y"/>
                                          </p:val>
                                        </p:tav>
                                      </p:tavLst>
                                    </p:anim>
                                  </p:childTnLst>
                                </p:cTn>
                              </p:par>
                            </p:childTnLst>
                          </p:cTn>
                        </p:par>
                        <p:par>
                          <p:cTn id="18" fill="hold">
                            <p:stCondLst>
                              <p:cond delay="1600"/>
                            </p:stCondLst>
                            <p:childTnLst>
                              <p:par>
                                <p:cTn id="19" presetID="42" presetClass="entr" presetSubtype="0" fill="hold" nodeType="afterEffect">
                                  <p:stCondLst>
                                    <p:cond delay="5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450"/>
                                        <p:tgtEl>
                                          <p:spTgt spid="39"/>
                                        </p:tgtEl>
                                      </p:cBhvr>
                                    </p:animEffect>
                                    <p:anim calcmode="lin" valueType="num">
                                      <p:cBhvr>
                                        <p:cTn id="22" dur="450" fill="hold"/>
                                        <p:tgtEl>
                                          <p:spTgt spid="39"/>
                                        </p:tgtEl>
                                        <p:attrNameLst>
                                          <p:attrName>ppt_x</p:attrName>
                                        </p:attrNameLst>
                                      </p:cBhvr>
                                      <p:tavLst>
                                        <p:tav tm="0">
                                          <p:val>
                                            <p:strVal val="#ppt_x"/>
                                          </p:val>
                                        </p:tav>
                                        <p:tav tm="100000">
                                          <p:val>
                                            <p:strVal val="#ppt_x"/>
                                          </p:val>
                                        </p:tav>
                                      </p:tavLst>
                                    </p:anim>
                                    <p:anim calcmode="lin" valueType="num">
                                      <p:cBhvr>
                                        <p:cTn id="23" dur="450" fill="hold"/>
                                        <p:tgtEl>
                                          <p:spTgt spid="39"/>
                                        </p:tgtEl>
                                        <p:attrNameLst>
                                          <p:attrName>ppt_y</p:attrName>
                                        </p:attrNameLst>
                                      </p:cBhvr>
                                      <p:tavLst>
                                        <p:tav tm="0">
                                          <p:val>
                                            <p:strVal val="#ppt_y+.1"/>
                                          </p:val>
                                        </p:tav>
                                        <p:tav tm="100000">
                                          <p:val>
                                            <p:strVal val="#ppt_y"/>
                                          </p:val>
                                        </p:tav>
                                      </p:tavLst>
                                    </p:anim>
                                  </p:childTnLst>
                                </p:cTn>
                              </p:par>
                            </p:childTnLst>
                          </p:cTn>
                        </p:par>
                        <p:par>
                          <p:cTn id="24" fill="hold">
                            <p:stCondLst>
                              <p:cond delay="2100"/>
                            </p:stCondLst>
                            <p:childTnLst>
                              <p:par>
                                <p:cTn id="25" presetID="42" presetClass="entr" presetSubtype="0" fill="hold" nodeType="afterEffect">
                                  <p:stCondLst>
                                    <p:cond delay="5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50"/>
                                        <p:tgtEl>
                                          <p:spTgt spid="40"/>
                                        </p:tgtEl>
                                      </p:cBhvr>
                                    </p:animEffect>
                                    <p:anim calcmode="lin" valueType="num">
                                      <p:cBhvr>
                                        <p:cTn id="28" dur="450" fill="hold"/>
                                        <p:tgtEl>
                                          <p:spTgt spid="40"/>
                                        </p:tgtEl>
                                        <p:attrNameLst>
                                          <p:attrName>ppt_x</p:attrName>
                                        </p:attrNameLst>
                                      </p:cBhvr>
                                      <p:tavLst>
                                        <p:tav tm="0">
                                          <p:val>
                                            <p:strVal val="#ppt_x"/>
                                          </p:val>
                                        </p:tav>
                                        <p:tav tm="100000">
                                          <p:val>
                                            <p:strVal val="#ppt_x"/>
                                          </p:val>
                                        </p:tav>
                                      </p:tavLst>
                                    </p:anim>
                                    <p:anim calcmode="lin" valueType="num">
                                      <p:cBhvr>
                                        <p:cTn id="29" dur="450" fill="hold"/>
                                        <p:tgtEl>
                                          <p:spTgt spid="40"/>
                                        </p:tgtEl>
                                        <p:attrNameLst>
                                          <p:attrName>ppt_y</p:attrName>
                                        </p:attrNameLst>
                                      </p:cBhvr>
                                      <p:tavLst>
                                        <p:tav tm="0">
                                          <p:val>
                                            <p:strVal val="#ppt_y+.1"/>
                                          </p:val>
                                        </p:tav>
                                        <p:tav tm="100000">
                                          <p:val>
                                            <p:strVal val="#ppt_y"/>
                                          </p:val>
                                        </p:tav>
                                      </p:tavLst>
                                    </p:anim>
                                  </p:childTnLst>
                                </p:cTn>
                              </p:par>
                            </p:childTnLst>
                          </p:cTn>
                        </p:par>
                        <p:par>
                          <p:cTn id="30" fill="hold">
                            <p:stCondLst>
                              <p:cond delay="2600"/>
                            </p:stCondLst>
                            <p:childTnLst>
                              <p:par>
                                <p:cTn id="31" presetID="42" presetClass="entr" presetSubtype="0" fill="hold" nodeType="afterEffect">
                                  <p:stCondLst>
                                    <p:cond delay="5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450"/>
                                        <p:tgtEl>
                                          <p:spTgt spid="41"/>
                                        </p:tgtEl>
                                      </p:cBhvr>
                                    </p:animEffect>
                                    <p:anim calcmode="lin" valueType="num">
                                      <p:cBhvr>
                                        <p:cTn id="34" dur="450" fill="hold"/>
                                        <p:tgtEl>
                                          <p:spTgt spid="41"/>
                                        </p:tgtEl>
                                        <p:attrNameLst>
                                          <p:attrName>ppt_x</p:attrName>
                                        </p:attrNameLst>
                                      </p:cBhvr>
                                      <p:tavLst>
                                        <p:tav tm="0">
                                          <p:val>
                                            <p:strVal val="#ppt_x"/>
                                          </p:val>
                                        </p:tav>
                                        <p:tav tm="100000">
                                          <p:val>
                                            <p:strVal val="#ppt_x"/>
                                          </p:val>
                                        </p:tav>
                                      </p:tavLst>
                                    </p:anim>
                                    <p:anim calcmode="lin" valueType="num">
                                      <p:cBhvr>
                                        <p:cTn id="35" dur="450" fill="hold"/>
                                        <p:tgtEl>
                                          <p:spTgt spid="41"/>
                                        </p:tgtEl>
                                        <p:attrNameLst>
                                          <p:attrName>ppt_y</p:attrName>
                                        </p:attrNameLst>
                                      </p:cBhvr>
                                      <p:tavLst>
                                        <p:tav tm="0">
                                          <p:val>
                                            <p:strVal val="#ppt_y+.1"/>
                                          </p:val>
                                        </p:tav>
                                        <p:tav tm="100000">
                                          <p:val>
                                            <p:strVal val="#ppt_y"/>
                                          </p:val>
                                        </p:tav>
                                      </p:tavLst>
                                    </p:anim>
                                  </p:childTnLst>
                                </p:cTn>
                              </p:par>
                              <p:par>
                                <p:cTn id="36" presetID="10" presetClass="entr" presetSubtype="0" fill="hold" nodeType="withEffect">
                                  <p:stCondLst>
                                    <p:cond delay="1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childTnLst>
                          </p:cTn>
                        </p:par>
                        <p:par>
                          <p:cTn id="39" fill="hold">
                            <p:stCondLst>
                              <p:cond delay="3200"/>
                            </p:stCondLst>
                            <p:childTnLst>
                              <p:par>
                                <p:cTn id="40" presetID="42" presetClass="entr" presetSubtype="0" fill="hold" nodeType="afterEffect">
                                  <p:stCondLst>
                                    <p:cond delay="5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50"/>
                                        <p:tgtEl>
                                          <p:spTgt spid="42"/>
                                        </p:tgtEl>
                                      </p:cBhvr>
                                    </p:animEffect>
                                    <p:anim calcmode="lin" valueType="num">
                                      <p:cBhvr>
                                        <p:cTn id="43" dur="450" fill="hold"/>
                                        <p:tgtEl>
                                          <p:spTgt spid="42"/>
                                        </p:tgtEl>
                                        <p:attrNameLst>
                                          <p:attrName>ppt_x</p:attrName>
                                        </p:attrNameLst>
                                      </p:cBhvr>
                                      <p:tavLst>
                                        <p:tav tm="0">
                                          <p:val>
                                            <p:strVal val="#ppt_x"/>
                                          </p:val>
                                        </p:tav>
                                        <p:tav tm="100000">
                                          <p:val>
                                            <p:strVal val="#ppt_x"/>
                                          </p:val>
                                        </p:tav>
                                      </p:tavLst>
                                    </p:anim>
                                    <p:anim calcmode="lin" valueType="num">
                                      <p:cBhvr>
                                        <p:cTn id="44" dur="45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600"/>
                                        <p:tgtEl>
                                          <p:spTgt spid="31"/>
                                        </p:tgtEl>
                                      </p:cBhvr>
                                    </p:animEffect>
                                    <p:anim calcmode="lin" valueType="num">
                                      <p:cBhvr>
                                        <p:cTn id="50" dur="600" fill="hold"/>
                                        <p:tgtEl>
                                          <p:spTgt spid="31"/>
                                        </p:tgtEl>
                                        <p:attrNameLst>
                                          <p:attrName>ppt_x</p:attrName>
                                        </p:attrNameLst>
                                      </p:cBhvr>
                                      <p:tavLst>
                                        <p:tav tm="0">
                                          <p:val>
                                            <p:strVal val="#ppt_x"/>
                                          </p:val>
                                        </p:tav>
                                        <p:tav tm="100000">
                                          <p:val>
                                            <p:strVal val="#ppt_x"/>
                                          </p:val>
                                        </p:tav>
                                      </p:tavLst>
                                    </p:anim>
                                    <p:anim calcmode="lin" valueType="num">
                                      <p:cBhvr>
                                        <p:cTn id="51" dur="6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3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THE PROBLEM  ·  THE PATTERN</a:t>
            </a:r>
            <a:endParaRPr lang="en-US" sz="1000" dirty="0"/>
          </a:p>
        </p:txBody>
      </p:sp>
      <p:sp>
        <p:nvSpPr>
          <p:cNvPr id="3" name="s3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A broken promise turns into a bad review</a:t>
            </a:r>
            <a:endParaRPr lang="en-US" sz="2900" dirty="0"/>
          </a:p>
        </p:txBody>
      </p:sp>
      <p:sp>
        <p:nvSpPr>
          <p:cNvPr id="4" name="s3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1–2★ review rate by how late the parcel was  ·  95,561 delivered and reviewed orders, January 2017 – August 2018</a:t>
            </a:r>
            <a:endParaRPr lang="en-US" sz="1300" dirty="0"/>
          </a:p>
        </p:txBody>
      </p:sp>
      <p:sp>
        <p:nvSpPr>
          <p:cNvPr id="5" name="s3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3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 review</a:t>
            </a:r>
            <a:endParaRPr lang="en-US" sz="850" dirty="0"/>
          </a:p>
        </p:txBody>
      </p:sp>
      <p:grpSp>
        <p:nvGrpSpPr>
          <p:cNvPr id="69" name="s3 numbers">
            <a:extLst>
              <a:ext uri="{FF2B5EF4-FFF2-40B4-BE49-F238E27FC236}">
                <a16:creationId xmlns:a16="http://schemas.microsoft.com/office/drawing/2014/main" id="{0C8AD1B3-C9CA-12F0-60E4-7E129C1AE978}"/>
              </a:ext>
            </a:extLst>
          </p:cNvPr>
          <p:cNvGrpSpPr/>
          <p:nvPr/>
        </p:nvGrpSpPr>
        <p:grpSpPr>
          <a:xfrm>
            <a:off x="502920" y="1828800"/>
            <a:ext cx="3566160" cy="1463040"/>
            <a:chOff x="502920" y="1828800"/>
            <a:chExt cx="3566160" cy="1463040"/>
          </a:xfrm>
        </p:grpSpPr>
        <p:sp>
          <p:nvSpPr>
            <p:cNvPr id="15" name="s3 text 1"/>
            <p:cNvSpPr txBox="1"/>
            <p:nvPr/>
          </p:nvSpPr>
          <p:spPr>
            <a:xfrm>
              <a:off x="548640" y="1828800"/>
              <a:ext cx="329184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1–2★ REVIEWS</a:t>
              </a:r>
              <a:endParaRPr lang="en-US" sz="950" dirty="0"/>
            </a:p>
          </p:txBody>
        </p:sp>
        <p:sp>
          <p:nvSpPr>
            <p:cNvPr id="16" name="s3 text 2"/>
            <p:cNvSpPr txBox="1"/>
            <p:nvPr/>
          </p:nvSpPr>
          <p:spPr>
            <a:xfrm>
              <a:off x="502920" y="2103120"/>
              <a:ext cx="1737360" cy="914400"/>
            </a:xfrm>
            <a:prstGeom prst="rect">
              <a:avLst/>
            </a:prstGeom>
            <a:noFill/>
            <a:ln/>
          </p:spPr>
          <p:txBody>
            <a:bodyPr wrap="square" lIns="0" tIns="0" rIns="0" bIns="0" rtlCol="0" anchor="ctr"/>
            <a:lstStyle/>
            <a:p>
              <a:pPr marL="0" indent="0">
                <a:buNone/>
              </a:pPr>
              <a:r>
                <a:rPr lang="en-US" sz="6400" dirty="0">
                  <a:solidFill>
                    <a:srgbClr val="2F6F9F"/>
                  </a:solidFill>
                  <a:latin typeface="Segoe UI Light" pitchFamily="34" charset="0"/>
                  <a:ea typeface="Segoe UI Light" pitchFamily="34" charset="-122"/>
                  <a:cs typeface="Segoe UI Light" pitchFamily="34" charset="-120"/>
                </a:rPr>
                <a:t>9%</a:t>
              </a:r>
              <a:endParaRPr lang="en-US" sz="6400" dirty="0"/>
            </a:p>
          </p:txBody>
        </p:sp>
        <p:sp>
          <p:nvSpPr>
            <p:cNvPr id="17" name="s3 text 3"/>
            <p:cNvSpPr txBox="1"/>
            <p:nvPr/>
          </p:nvSpPr>
          <p:spPr>
            <a:xfrm>
              <a:off x="54864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on time</a:t>
              </a:r>
              <a:endParaRPr lang="en-US" sz="1200" dirty="0"/>
            </a:p>
          </p:txBody>
        </p:sp>
        <p:sp>
          <p:nvSpPr>
            <p:cNvPr id="18" name="s3 text 4"/>
            <p:cNvSpPr txBox="1"/>
            <p:nvPr/>
          </p:nvSpPr>
          <p:spPr>
            <a:xfrm>
              <a:off x="2057400" y="2103120"/>
              <a:ext cx="2011680" cy="914400"/>
            </a:xfrm>
            <a:prstGeom prst="rect">
              <a:avLst/>
            </a:prstGeom>
            <a:noFill/>
            <a:ln/>
          </p:spPr>
          <p:txBody>
            <a:bodyPr wrap="square" lIns="0" tIns="0" rIns="0" bIns="0" rtlCol="0" anchor="ctr"/>
            <a:lstStyle/>
            <a:p>
              <a:pPr marL="0" indent="0">
                <a:buNone/>
              </a:pPr>
              <a:r>
                <a:rPr lang="en-US" sz="6400" dirty="0">
                  <a:solidFill>
                    <a:srgbClr val="C1666B"/>
                  </a:solidFill>
                  <a:latin typeface="Segoe UI Light" pitchFamily="34" charset="0"/>
                  <a:ea typeface="Segoe UI Light" pitchFamily="34" charset="-122"/>
                  <a:cs typeface="Segoe UI Light" pitchFamily="34" charset="-120"/>
                </a:rPr>
                <a:t>54%</a:t>
              </a:r>
              <a:endParaRPr lang="en-US" sz="6400" dirty="0"/>
            </a:p>
          </p:txBody>
        </p:sp>
        <p:sp>
          <p:nvSpPr>
            <p:cNvPr id="19" name="s3 text 5"/>
            <p:cNvSpPr txBox="1"/>
            <p:nvPr/>
          </p:nvSpPr>
          <p:spPr>
            <a:xfrm>
              <a:off x="210312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late</a:t>
              </a:r>
              <a:endParaRPr lang="en-US" sz="1200" dirty="0"/>
            </a:p>
          </p:txBody>
        </p:sp>
      </p:grpSp>
      <p:sp>
        <p:nvSpPr>
          <p:cNvPr id="20" name="s3 text 6"/>
          <p:cNvSpPr txBox="1"/>
          <p:nvPr/>
        </p:nvSpPr>
        <p:spPr>
          <a:xfrm>
            <a:off x="548640" y="3520440"/>
            <a:ext cx="3383280" cy="1005840"/>
          </a:xfrm>
          <a:prstGeom prst="rect">
            <a:avLst/>
          </a:prstGeom>
          <a:noFill/>
          <a:ln/>
        </p:spPr>
        <p:txBody>
          <a:bodyPr wrap="square" lIns="0" tIns="0" rIns="0" bIns="0" rtlCol="0" anchor="t"/>
          <a:lstStyle/>
          <a:p>
            <a:pPr marL="0" indent="0">
              <a:buNone/>
            </a:pPr>
            <a:r>
              <a:rPr lang="en-US" sz="1350" dirty="0">
                <a:solidFill>
                  <a:srgbClr val="16222F"/>
                </a:solidFill>
                <a:latin typeface="Segoe UI" pitchFamily="34" charset="0"/>
                <a:ea typeface="Segoe UI" pitchFamily="34" charset="-122"/>
                <a:cs typeface="Segoe UI" pitchFamily="34" charset="-120"/>
              </a:rPr>
              <a:t>A late parcel makes a 1–2★ review six times more likely — and the later it is, the angrier the review.</a:t>
            </a:r>
            <a:endParaRPr lang="en-US" sz="1350" dirty="0"/>
          </a:p>
        </p:txBody>
      </p:sp>
      <p:grpSp>
        <p:nvGrpSpPr>
          <p:cNvPr id="59" name="s3 cite">
            <a:extLst>
              <a:ext uri="{FF2B5EF4-FFF2-40B4-BE49-F238E27FC236}">
                <a16:creationId xmlns:a16="http://schemas.microsoft.com/office/drawing/2014/main" id="{2AE5157D-F1A8-2C13-D250-0C7787727F3B}"/>
              </a:ext>
            </a:extLst>
          </p:cNvPr>
          <p:cNvGrpSpPr/>
          <p:nvPr/>
        </p:nvGrpSpPr>
        <p:grpSpPr>
          <a:xfrm>
            <a:off x="548640" y="4983480"/>
            <a:ext cx="3383280" cy="1143000"/>
            <a:chOff x="548640" y="4983480"/>
            <a:chExt cx="3383280" cy="1143000"/>
          </a:xfrm>
        </p:grpSpPr>
        <p:sp>
          <p:nvSpPr>
            <p:cNvPr id="21" name="s3 panel 7"/>
            <p:cNvSpPr/>
            <p:nvPr/>
          </p:nvSpPr>
          <p:spPr>
            <a:xfrm>
              <a:off x="548640" y="4983480"/>
              <a:ext cx="3383280" cy="1143000"/>
            </a:xfrm>
            <a:prstGeom prst="roundRect">
              <a:avLst>
                <a:gd name="adj" fmla="val 9600"/>
              </a:avLst>
            </a:prstGeom>
            <a:solidFill>
              <a:srgbClr val="F2F4F7"/>
            </a:solidFill>
            <a:ln w="12700">
              <a:solidFill>
                <a:srgbClr val="F2F4F7">
                  <a:alpha val="0"/>
                </a:srgbClr>
              </a:solidFill>
              <a:prstDash val="solid"/>
            </a:ln>
          </p:spPr>
        </p:sp>
        <p:sp>
          <p:nvSpPr>
            <p:cNvPr id="22" name="s3 panel 8"/>
            <p:cNvSpPr/>
            <p:nvPr/>
          </p:nvSpPr>
          <p:spPr>
            <a:xfrm>
              <a:off x="548640" y="4983480"/>
              <a:ext cx="54864" cy="1143000"/>
            </a:xfrm>
            <a:prstGeom prst="roundRect">
              <a:avLst/>
            </a:prstGeom>
            <a:solidFill>
              <a:srgbClr val="C1666B"/>
            </a:solidFill>
            <a:ln w="12700">
              <a:solidFill>
                <a:srgbClr val="C1666B">
                  <a:alpha val="0"/>
                </a:srgbClr>
              </a:solidFill>
              <a:prstDash val="solid"/>
            </a:ln>
          </p:spPr>
        </p:sp>
        <p:sp>
          <p:nvSpPr>
            <p:cNvPr id="23" name="s3 text 9"/>
            <p:cNvSpPr txBox="1"/>
            <p:nvPr/>
          </p:nvSpPr>
          <p:spPr>
            <a:xfrm>
              <a:off x="777240" y="5120640"/>
              <a:ext cx="3017520" cy="914400"/>
            </a:xfrm>
            <a:prstGeom prst="rect">
              <a:avLst/>
            </a:prstGeom>
            <a:noFill/>
            <a:ln/>
          </p:spPr>
          <p:txBody>
            <a:bodyPr wrap="square" lIns="0" tIns="0" rIns="0" bIns="0" rtlCol="0" anchor="t"/>
            <a:lstStyle/>
            <a:p>
              <a:pPr marL="0" indent="0">
                <a:buNone/>
              </a:pPr>
              <a:r>
                <a:rPr lang="en-US" sz="1100" dirty="0">
                  <a:solidFill>
                    <a:srgbClr val="A3474D"/>
                  </a:solidFill>
                  <a:latin typeface="Segoe UI Semibold" pitchFamily="34" charset="0"/>
                  <a:ea typeface="Segoe UI Semibold" pitchFamily="34" charset="-122"/>
                  <a:cs typeface="Segoe UI Semibold" pitchFamily="34" charset="-120"/>
                </a:rPr>
                <a:t>Why it matters  </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Bad ratings cost sellers future sales (Deshpande &amp; Pendem, 2023), and Olist lives on its sellers.</a:t>
              </a:r>
              <a:endParaRPr lang="en-US" sz="1100" dirty="0"/>
            </a:p>
          </p:txBody>
        </p:sp>
      </p:grpSp>
      <p:grpSp>
        <p:nvGrpSpPr>
          <p:cNvPr id="70" name="s3 chartcard">
            <a:extLst>
              <a:ext uri="{FF2B5EF4-FFF2-40B4-BE49-F238E27FC236}">
                <a16:creationId xmlns:a16="http://schemas.microsoft.com/office/drawing/2014/main" id="{48CE08CC-B12C-34A0-F6B1-3FB539BFEF73}"/>
              </a:ext>
            </a:extLst>
          </p:cNvPr>
          <p:cNvGrpSpPr/>
          <p:nvPr/>
        </p:nvGrpSpPr>
        <p:grpSpPr>
          <a:xfrm>
            <a:off x="4160520" y="1783080"/>
            <a:ext cx="4343400" cy="4343400"/>
            <a:chOff x="4160520" y="1783080"/>
            <a:chExt cx="4343400" cy="4343400"/>
          </a:xfrm>
        </p:grpSpPr>
        <p:sp>
          <p:nvSpPr>
            <p:cNvPr id="24" name="s3 panel 10"/>
            <p:cNvSpPr/>
            <p:nvPr/>
          </p:nvSpPr>
          <p:spPr>
            <a:xfrm>
              <a:off x="4160520" y="1783080"/>
              <a:ext cx="434340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25" name="s3 text 11"/>
            <p:cNvSpPr txBox="1"/>
            <p:nvPr/>
          </p:nvSpPr>
          <p:spPr>
            <a:xfrm>
              <a:off x="4389120" y="1901952"/>
              <a:ext cx="3931920" cy="274320"/>
            </a:xfrm>
            <a:prstGeom prst="rect">
              <a:avLst/>
            </a:prstGeom>
            <a:noFill/>
            <a:ln/>
          </p:spPr>
          <p:txBody>
            <a:bodyPr wrap="square" lIns="0" tIns="0" rIns="0" bIns="0" rtlCol="0" anchor="t"/>
            <a:lstStyle/>
            <a:p>
              <a:pPr marL="0" indent="0">
                <a:buNone/>
              </a:pPr>
              <a:r>
                <a:rPr lang="en-US" sz="1150" dirty="0">
                  <a:solidFill>
                    <a:srgbClr val="16222F"/>
                  </a:solidFill>
                  <a:latin typeface="Segoe UI Semibold" pitchFamily="34" charset="0"/>
                  <a:ea typeface="Segoe UI Semibold" pitchFamily="34" charset="-122"/>
                  <a:cs typeface="Segoe UI Semibold" pitchFamily="34" charset="-120"/>
                </a:rPr>
                <a:t>1–2★ review rate, by delivery outcome</a:t>
              </a:r>
              <a:endParaRPr lang="en-US" sz="1150" dirty="0"/>
            </a:p>
          </p:txBody>
        </p:sp>
      </p:grpSp>
      <p:grpSp>
        <p:nvGrpSpPr>
          <p:cNvPr id="66" name="s3 cats">
            <a:extLst>
              <a:ext uri="{FF2B5EF4-FFF2-40B4-BE49-F238E27FC236}">
                <a16:creationId xmlns:a16="http://schemas.microsoft.com/office/drawing/2014/main" id="{D28F2316-E338-F85D-9F78-C74EF8B2CD14}"/>
              </a:ext>
            </a:extLst>
          </p:cNvPr>
          <p:cNvGrpSpPr/>
          <p:nvPr/>
        </p:nvGrpSpPr>
        <p:grpSpPr>
          <a:xfrm>
            <a:off x="4343400" y="5486400"/>
            <a:ext cx="3977640" cy="493776"/>
            <a:chOff x="4343400" y="5486400"/>
            <a:chExt cx="3977640" cy="493776"/>
          </a:xfrm>
        </p:grpSpPr>
        <p:sp>
          <p:nvSpPr>
            <p:cNvPr id="26" name="s3 line 12"/>
            <p:cNvSpPr/>
            <p:nvPr/>
          </p:nvSpPr>
          <p:spPr>
            <a:xfrm>
              <a:off x="4389120" y="5486400"/>
              <a:ext cx="3886200" cy="0"/>
            </a:xfrm>
            <a:prstGeom prst="line">
              <a:avLst/>
            </a:prstGeom>
            <a:noFill/>
            <a:ln w="12700">
              <a:solidFill>
                <a:srgbClr val="C9D1D9"/>
              </a:solidFill>
              <a:prstDash val="solid"/>
            </a:ln>
          </p:spPr>
        </p:sp>
        <p:sp>
          <p:nvSpPr>
            <p:cNvPr id="29" name="s3 text 15"/>
            <p:cNvSpPr txBox="1"/>
            <p:nvPr/>
          </p:nvSpPr>
          <p:spPr>
            <a:xfrm>
              <a:off x="43434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2" name="s3 text 18"/>
            <p:cNvSpPr txBox="1"/>
            <p:nvPr/>
          </p:nvSpPr>
          <p:spPr>
            <a:xfrm>
              <a:off x="49911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0–10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5" name="s3 text 21"/>
            <p:cNvSpPr txBox="1"/>
            <p:nvPr/>
          </p:nvSpPr>
          <p:spPr>
            <a:xfrm>
              <a:off x="56388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1–3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38" name="s3 text 24"/>
            <p:cNvSpPr txBox="1"/>
            <p:nvPr/>
          </p:nvSpPr>
          <p:spPr>
            <a:xfrm>
              <a:off x="62865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4–7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1" name="s3 text 27"/>
            <p:cNvSpPr txBox="1"/>
            <p:nvPr/>
          </p:nvSpPr>
          <p:spPr>
            <a:xfrm>
              <a:off x="69342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8–14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4" name="s3 text 30"/>
            <p:cNvSpPr txBox="1"/>
            <p:nvPr/>
          </p:nvSpPr>
          <p:spPr>
            <a:xfrm>
              <a:off x="75819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15+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grpSp>
      <p:grpSp>
        <p:nvGrpSpPr>
          <p:cNvPr id="60" name="s3 bar0">
            <a:extLst>
              <a:ext uri="{FF2B5EF4-FFF2-40B4-BE49-F238E27FC236}">
                <a16:creationId xmlns:a16="http://schemas.microsoft.com/office/drawing/2014/main" id="{8D40284E-BD6E-3EA3-973F-4522CF02DFF0}"/>
              </a:ext>
            </a:extLst>
          </p:cNvPr>
          <p:cNvGrpSpPr/>
          <p:nvPr/>
        </p:nvGrpSpPr>
        <p:grpSpPr>
          <a:xfrm>
            <a:off x="4347210" y="4882419"/>
            <a:ext cx="731520" cy="603981"/>
            <a:chOff x="4347210" y="4882419"/>
            <a:chExt cx="731520" cy="603981"/>
          </a:xfrm>
        </p:grpSpPr>
        <p:sp>
          <p:nvSpPr>
            <p:cNvPr id="27" name="s3 panel 13"/>
            <p:cNvSpPr/>
            <p:nvPr/>
          </p:nvSpPr>
          <p:spPr>
            <a:xfrm>
              <a:off x="4484370" y="5175027"/>
              <a:ext cx="457200" cy="311373"/>
            </a:xfrm>
            <a:prstGeom prst="roundRect">
              <a:avLst>
                <a:gd name="adj" fmla="val 11747"/>
              </a:avLst>
            </a:prstGeom>
            <a:solidFill>
              <a:srgbClr val="A9C3D9"/>
            </a:solidFill>
            <a:ln w="12700">
              <a:solidFill>
                <a:srgbClr val="A9C3D9">
                  <a:alpha val="0"/>
                </a:srgbClr>
              </a:solidFill>
              <a:prstDash val="solid"/>
            </a:ln>
          </p:spPr>
        </p:sp>
        <p:sp>
          <p:nvSpPr>
            <p:cNvPr id="28" name="s3 text 14"/>
            <p:cNvSpPr txBox="1"/>
            <p:nvPr/>
          </p:nvSpPr>
          <p:spPr>
            <a:xfrm>
              <a:off x="4347210" y="4882419"/>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9%</a:t>
              </a:r>
              <a:endParaRPr lang="en-US" sz="1100" dirty="0"/>
            </a:p>
          </p:txBody>
        </p:sp>
      </p:grpSp>
      <p:grpSp>
        <p:nvGrpSpPr>
          <p:cNvPr id="61" name="s3 bar1">
            <a:extLst>
              <a:ext uri="{FF2B5EF4-FFF2-40B4-BE49-F238E27FC236}">
                <a16:creationId xmlns:a16="http://schemas.microsoft.com/office/drawing/2014/main" id="{59C98733-C68B-619D-374E-306A0352DFE2}"/>
              </a:ext>
            </a:extLst>
          </p:cNvPr>
          <p:cNvGrpSpPr/>
          <p:nvPr/>
        </p:nvGrpSpPr>
        <p:grpSpPr>
          <a:xfrm>
            <a:off x="4994910" y="4856444"/>
            <a:ext cx="731520" cy="629956"/>
            <a:chOff x="4994910" y="4856444"/>
            <a:chExt cx="731520" cy="629956"/>
          </a:xfrm>
        </p:grpSpPr>
        <p:sp>
          <p:nvSpPr>
            <p:cNvPr id="30" name="s3 panel 16"/>
            <p:cNvSpPr/>
            <p:nvPr/>
          </p:nvSpPr>
          <p:spPr>
            <a:xfrm>
              <a:off x="5132070" y="5149052"/>
              <a:ext cx="457200" cy="337348"/>
            </a:xfrm>
            <a:prstGeom prst="roundRect">
              <a:avLst>
                <a:gd name="adj" fmla="val 10842"/>
              </a:avLst>
            </a:prstGeom>
            <a:solidFill>
              <a:srgbClr val="A9C3D9"/>
            </a:solidFill>
            <a:ln w="12700">
              <a:solidFill>
                <a:srgbClr val="A9C3D9">
                  <a:alpha val="0"/>
                </a:srgbClr>
              </a:solidFill>
              <a:prstDash val="solid"/>
            </a:ln>
          </p:spPr>
        </p:sp>
        <p:sp>
          <p:nvSpPr>
            <p:cNvPr id="31" name="s3 text 17"/>
            <p:cNvSpPr txBox="1"/>
            <p:nvPr/>
          </p:nvSpPr>
          <p:spPr>
            <a:xfrm>
              <a:off x="4994910" y="4856444"/>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10%</a:t>
              </a:r>
              <a:endParaRPr lang="en-US" sz="1100" dirty="0"/>
            </a:p>
          </p:txBody>
        </p:sp>
      </p:grpSp>
      <p:grpSp>
        <p:nvGrpSpPr>
          <p:cNvPr id="62" name="s3 bar2">
            <a:extLst>
              <a:ext uri="{FF2B5EF4-FFF2-40B4-BE49-F238E27FC236}">
                <a16:creationId xmlns:a16="http://schemas.microsoft.com/office/drawing/2014/main" id="{DFAC29E6-5E39-8536-C824-2B04F4699131}"/>
              </a:ext>
            </a:extLst>
          </p:cNvPr>
          <p:cNvGrpSpPr/>
          <p:nvPr/>
        </p:nvGrpSpPr>
        <p:grpSpPr>
          <a:xfrm>
            <a:off x="5642610" y="4526991"/>
            <a:ext cx="731520" cy="959409"/>
            <a:chOff x="5642610" y="4526991"/>
            <a:chExt cx="731520" cy="959409"/>
          </a:xfrm>
        </p:grpSpPr>
        <p:sp>
          <p:nvSpPr>
            <p:cNvPr id="33" name="s3 panel 19"/>
            <p:cNvSpPr/>
            <p:nvPr/>
          </p:nvSpPr>
          <p:spPr>
            <a:xfrm>
              <a:off x="5779770" y="4819599"/>
              <a:ext cx="457200" cy="666801"/>
            </a:xfrm>
            <a:prstGeom prst="roundRect">
              <a:avLst>
                <a:gd name="adj" fmla="val 8000"/>
              </a:avLst>
            </a:prstGeom>
            <a:solidFill>
              <a:srgbClr val="E7B4B7"/>
            </a:solidFill>
            <a:ln w="12700">
              <a:solidFill>
                <a:srgbClr val="E7B4B7">
                  <a:alpha val="0"/>
                </a:srgbClr>
              </a:solidFill>
              <a:prstDash val="solid"/>
            </a:ln>
          </p:spPr>
        </p:sp>
        <p:sp>
          <p:nvSpPr>
            <p:cNvPr id="34" name="s3 text 20"/>
            <p:cNvSpPr txBox="1"/>
            <p:nvPr/>
          </p:nvSpPr>
          <p:spPr>
            <a:xfrm>
              <a:off x="5642610" y="4526991"/>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19%</a:t>
              </a:r>
              <a:endParaRPr lang="en-US" sz="1100" dirty="0"/>
            </a:p>
          </p:txBody>
        </p:sp>
      </p:grpSp>
      <p:grpSp>
        <p:nvGrpSpPr>
          <p:cNvPr id="63" name="s3 bar3">
            <a:extLst>
              <a:ext uri="{FF2B5EF4-FFF2-40B4-BE49-F238E27FC236}">
                <a16:creationId xmlns:a16="http://schemas.microsoft.com/office/drawing/2014/main" id="{2BECB794-6B68-6AA6-7856-84418A056344}"/>
              </a:ext>
            </a:extLst>
          </p:cNvPr>
          <p:cNvGrpSpPr/>
          <p:nvPr/>
        </p:nvGrpSpPr>
        <p:grpSpPr>
          <a:xfrm>
            <a:off x="6290310" y="3056485"/>
            <a:ext cx="731520" cy="2429915"/>
            <a:chOff x="6290310" y="3056485"/>
            <a:chExt cx="731520" cy="2429915"/>
          </a:xfrm>
        </p:grpSpPr>
        <p:sp>
          <p:nvSpPr>
            <p:cNvPr id="36" name="s3 panel 22"/>
            <p:cNvSpPr/>
            <p:nvPr/>
          </p:nvSpPr>
          <p:spPr>
            <a:xfrm>
              <a:off x="6427470" y="3349093"/>
              <a:ext cx="457200" cy="2137307"/>
            </a:xfrm>
            <a:prstGeom prst="roundRect">
              <a:avLst>
                <a:gd name="adj" fmla="val 8000"/>
              </a:avLst>
            </a:prstGeom>
            <a:solidFill>
              <a:srgbClr val="D98A8F"/>
            </a:solidFill>
            <a:ln w="12700">
              <a:solidFill>
                <a:srgbClr val="D98A8F">
                  <a:alpha val="0"/>
                </a:srgbClr>
              </a:solidFill>
              <a:prstDash val="solid"/>
            </a:ln>
          </p:spPr>
        </p:sp>
        <p:sp>
          <p:nvSpPr>
            <p:cNvPr id="37" name="s3 text 23"/>
            <p:cNvSpPr txBox="1"/>
            <p:nvPr/>
          </p:nvSpPr>
          <p:spPr>
            <a:xfrm>
              <a:off x="6290310" y="30564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61%</a:t>
              </a:r>
              <a:endParaRPr lang="en-US" sz="1100" dirty="0"/>
            </a:p>
          </p:txBody>
        </p:sp>
      </p:grpSp>
      <p:grpSp>
        <p:nvGrpSpPr>
          <p:cNvPr id="64" name="s3 bar4">
            <a:extLst>
              <a:ext uri="{FF2B5EF4-FFF2-40B4-BE49-F238E27FC236}">
                <a16:creationId xmlns:a16="http://schemas.microsoft.com/office/drawing/2014/main" id="{C15490BE-C70D-4D1A-AECC-AB6459FD05FD}"/>
              </a:ext>
            </a:extLst>
          </p:cNvPr>
          <p:cNvGrpSpPr/>
          <p:nvPr/>
        </p:nvGrpSpPr>
        <p:grpSpPr>
          <a:xfrm>
            <a:off x="6938010" y="2475034"/>
            <a:ext cx="731520" cy="3011366"/>
            <a:chOff x="6938010" y="2475034"/>
            <a:chExt cx="731520" cy="3011366"/>
          </a:xfrm>
        </p:grpSpPr>
        <p:sp>
          <p:nvSpPr>
            <p:cNvPr id="39" name="s3 panel 25"/>
            <p:cNvSpPr/>
            <p:nvPr/>
          </p:nvSpPr>
          <p:spPr>
            <a:xfrm>
              <a:off x="7075170" y="2767642"/>
              <a:ext cx="457200" cy="2718758"/>
            </a:xfrm>
            <a:prstGeom prst="roundRect">
              <a:avLst>
                <a:gd name="adj" fmla="val 8000"/>
              </a:avLst>
            </a:prstGeom>
            <a:solidFill>
              <a:srgbClr val="C1666B"/>
            </a:solidFill>
            <a:ln w="12700">
              <a:solidFill>
                <a:srgbClr val="C1666B">
                  <a:alpha val="0"/>
                </a:srgbClr>
              </a:solidFill>
              <a:prstDash val="solid"/>
            </a:ln>
          </p:spPr>
        </p:sp>
        <p:sp>
          <p:nvSpPr>
            <p:cNvPr id="40" name="s3 text 26"/>
            <p:cNvSpPr txBox="1"/>
            <p:nvPr/>
          </p:nvSpPr>
          <p:spPr>
            <a:xfrm>
              <a:off x="6938010" y="2475034"/>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78%</a:t>
              </a:r>
              <a:endParaRPr lang="en-US" sz="1100" dirty="0"/>
            </a:p>
          </p:txBody>
        </p:sp>
      </p:grpSp>
      <p:grpSp>
        <p:nvGrpSpPr>
          <p:cNvPr id="65" name="s3 bar5">
            <a:extLst>
              <a:ext uri="{FF2B5EF4-FFF2-40B4-BE49-F238E27FC236}">
                <a16:creationId xmlns:a16="http://schemas.microsoft.com/office/drawing/2014/main" id="{B3288227-8A88-08B9-FA66-0D425F42255B}"/>
              </a:ext>
            </a:extLst>
          </p:cNvPr>
          <p:cNvGrpSpPr/>
          <p:nvPr/>
        </p:nvGrpSpPr>
        <p:grpSpPr>
          <a:xfrm>
            <a:off x="7585710" y="2452685"/>
            <a:ext cx="731520" cy="3033715"/>
            <a:chOff x="7585710" y="2452685"/>
            <a:chExt cx="731520" cy="3033715"/>
          </a:xfrm>
        </p:grpSpPr>
        <p:sp>
          <p:nvSpPr>
            <p:cNvPr id="42" name="s3 panel 28"/>
            <p:cNvSpPr/>
            <p:nvPr/>
          </p:nvSpPr>
          <p:spPr>
            <a:xfrm>
              <a:off x="7722870" y="2745293"/>
              <a:ext cx="457200" cy="2741107"/>
            </a:xfrm>
            <a:prstGeom prst="roundRect">
              <a:avLst>
                <a:gd name="adj" fmla="val 8000"/>
              </a:avLst>
            </a:prstGeom>
            <a:solidFill>
              <a:srgbClr val="A3474D"/>
            </a:solidFill>
            <a:ln w="12700">
              <a:solidFill>
                <a:srgbClr val="A3474D">
                  <a:alpha val="0"/>
                </a:srgbClr>
              </a:solidFill>
              <a:prstDash val="solid"/>
            </a:ln>
          </p:spPr>
        </p:sp>
        <p:sp>
          <p:nvSpPr>
            <p:cNvPr id="43" name="s3 text 29"/>
            <p:cNvSpPr txBox="1"/>
            <p:nvPr/>
          </p:nvSpPr>
          <p:spPr>
            <a:xfrm>
              <a:off x="7585710" y="24526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79%</a:t>
              </a:r>
              <a:endParaRPr lang="en-US" sz="1100" dirty="0"/>
            </a:p>
          </p:txBody>
        </p:sp>
      </p:grpSp>
      <p:grpSp>
        <p:nvGrpSpPr>
          <p:cNvPr id="67" name="s3 tileA">
            <a:extLst>
              <a:ext uri="{FF2B5EF4-FFF2-40B4-BE49-F238E27FC236}">
                <a16:creationId xmlns:a16="http://schemas.microsoft.com/office/drawing/2014/main" id="{896C717D-CD44-DBA4-7EBC-92F9AA88AE8B}"/>
              </a:ext>
            </a:extLst>
          </p:cNvPr>
          <p:cNvGrpSpPr/>
          <p:nvPr/>
        </p:nvGrpSpPr>
        <p:grpSpPr>
          <a:xfrm>
            <a:off x="8778240" y="1783080"/>
            <a:ext cx="2862072" cy="2103120"/>
            <a:chOff x="8778240" y="1783080"/>
            <a:chExt cx="2862072" cy="2103120"/>
          </a:xfrm>
        </p:grpSpPr>
        <p:sp>
          <p:nvSpPr>
            <p:cNvPr id="45" name="s3 tileA bg"/>
            <p:cNvSpPr/>
            <p:nvPr/>
          </p:nvSpPr>
          <p:spPr>
            <a:xfrm>
              <a:off x="8778240" y="1783080"/>
              <a:ext cx="2862072" cy="2103120"/>
            </a:xfrm>
            <a:prstGeom prst="roundRect">
              <a:avLst>
                <a:gd name="adj" fmla="val 5217"/>
              </a:avLst>
            </a:prstGeom>
            <a:solidFill>
              <a:srgbClr val="F9ECEC"/>
            </a:solidFill>
            <a:ln w="12700">
              <a:solidFill>
                <a:srgbClr val="F9ECEC">
                  <a:alpha val="0"/>
                </a:srgbClr>
              </a:solidFill>
              <a:prstDash val="solid"/>
            </a:ln>
          </p:spPr>
        </p:sp>
        <p:sp>
          <p:nvSpPr>
            <p:cNvPr id="46" name="s3 tileA label"/>
            <p:cNvSpPr txBox="1"/>
            <p:nvPr/>
          </p:nvSpPr>
          <p:spPr>
            <a:xfrm>
              <a:off x="9006840" y="1947672"/>
              <a:ext cx="245059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WRITTEN BEFORE ARRIVAL</a:t>
              </a:r>
              <a:endParaRPr lang="en-US" sz="900" dirty="0"/>
            </a:p>
          </p:txBody>
        </p:sp>
        <p:sp>
          <p:nvSpPr>
            <p:cNvPr id="47" name="s3 tileA value"/>
            <p:cNvSpPr txBox="1"/>
            <p:nvPr/>
          </p:nvSpPr>
          <p:spPr>
            <a:xfrm>
              <a:off x="9006840" y="2185416"/>
              <a:ext cx="2450592" cy="640080"/>
            </a:xfrm>
            <a:prstGeom prst="rect">
              <a:avLst/>
            </a:prstGeom>
            <a:noFill/>
            <a:ln/>
          </p:spPr>
          <p:txBody>
            <a:bodyPr wrap="square" lIns="0" tIns="0" rIns="0" bIns="0" rtlCol="0" anchor="ctr"/>
            <a:lstStyle/>
            <a:p>
              <a:pPr marL="0" indent="0">
                <a:buNone/>
              </a:pPr>
              <a:r>
                <a:rPr lang="en-US" sz="4400" dirty="0">
                  <a:solidFill>
                    <a:srgbClr val="A3474D"/>
                  </a:solidFill>
                  <a:latin typeface="Segoe UI Light" pitchFamily="34" charset="0"/>
                  <a:ea typeface="Segoe UI Light" pitchFamily="34" charset="-122"/>
                  <a:cs typeface="Segoe UI Light" pitchFamily="34" charset="-120"/>
                </a:rPr>
                <a:t>87%</a:t>
              </a:r>
              <a:endParaRPr lang="en-US" sz="4400" dirty="0"/>
            </a:p>
          </p:txBody>
        </p:sp>
        <p:sp>
          <p:nvSpPr>
            <p:cNvPr id="48" name="s3 tileA sub"/>
            <p:cNvSpPr txBox="1"/>
            <p:nvPr/>
          </p:nvSpPr>
          <p:spPr>
            <a:xfrm>
              <a:off x="9006840" y="288036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of the bad reviews on late parcels. Olist sends the survey once the promised date passes.</a:t>
              </a:r>
              <a:endParaRPr lang="en-US" sz="1150" dirty="0"/>
            </a:p>
          </p:txBody>
        </p:sp>
      </p:grpSp>
      <p:grpSp>
        <p:nvGrpSpPr>
          <p:cNvPr id="68" name="s3 tileB">
            <a:extLst>
              <a:ext uri="{FF2B5EF4-FFF2-40B4-BE49-F238E27FC236}">
                <a16:creationId xmlns:a16="http://schemas.microsoft.com/office/drawing/2014/main" id="{EC4B9B42-81B5-93C2-70C2-0C502F20D3C4}"/>
              </a:ext>
            </a:extLst>
          </p:cNvPr>
          <p:cNvGrpSpPr/>
          <p:nvPr/>
        </p:nvGrpSpPr>
        <p:grpSpPr>
          <a:xfrm>
            <a:off x="8778240" y="4023360"/>
            <a:ext cx="2862072" cy="2103120"/>
            <a:chOff x="8778240" y="4023360"/>
            <a:chExt cx="2862072" cy="2103120"/>
          </a:xfrm>
        </p:grpSpPr>
        <p:sp>
          <p:nvSpPr>
            <p:cNvPr id="49" name="s3 tileB bg"/>
            <p:cNvSpPr/>
            <p:nvPr/>
          </p:nvSpPr>
          <p:spPr>
            <a:xfrm>
              <a:off x="8778240" y="4023360"/>
              <a:ext cx="2862072" cy="2103120"/>
            </a:xfrm>
            <a:prstGeom prst="roundRect">
              <a:avLst>
                <a:gd name="adj" fmla="val 5217"/>
              </a:avLst>
            </a:prstGeom>
            <a:solidFill>
              <a:srgbClr val="F2F4F7"/>
            </a:solidFill>
            <a:ln w="12700">
              <a:solidFill>
                <a:srgbClr val="F2F4F7">
                  <a:alpha val="0"/>
                </a:srgbClr>
              </a:solidFill>
              <a:prstDash val="solid"/>
            </a:ln>
          </p:spPr>
        </p:sp>
        <p:sp>
          <p:nvSpPr>
            <p:cNvPr id="50" name="s3 tileB label"/>
            <p:cNvSpPr txBox="1"/>
            <p:nvPr/>
          </p:nvSpPr>
          <p:spPr>
            <a:xfrm>
              <a:off x="9006840" y="4187952"/>
              <a:ext cx="245059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LATE PARCELS</a:t>
              </a:r>
              <a:endParaRPr lang="en-US" sz="900" dirty="0"/>
            </a:p>
          </p:txBody>
        </p:sp>
        <p:sp>
          <p:nvSpPr>
            <p:cNvPr id="51" name="s3 tileB value"/>
            <p:cNvSpPr txBox="1"/>
            <p:nvPr/>
          </p:nvSpPr>
          <p:spPr>
            <a:xfrm>
              <a:off x="9006840" y="4425696"/>
              <a:ext cx="2450592" cy="640080"/>
            </a:xfrm>
            <a:prstGeom prst="rect">
              <a:avLst/>
            </a:prstGeom>
            <a:noFill/>
            <a:ln/>
          </p:spPr>
          <p:txBody>
            <a:bodyPr wrap="square" lIns="0" tIns="0" rIns="0" bIns="0" rtlCol="0" anchor="ctr"/>
            <a:lstStyle/>
            <a:p>
              <a:pPr marL="0" indent="0">
                <a:buNone/>
              </a:pPr>
              <a:r>
                <a:rPr lang="en-US" sz="4400" dirty="0">
                  <a:solidFill>
                    <a:srgbClr val="16222F"/>
                  </a:solidFill>
                  <a:latin typeface="Segoe UI Light" pitchFamily="34" charset="0"/>
                  <a:ea typeface="Segoe UI Light" pitchFamily="34" charset="-122"/>
                  <a:cs typeface="Segoe UI Light" pitchFamily="34" charset="-120"/>
                </a:rPr>
                <a:t>1 in 12</a:t>
              </a:r>
              <a:endParaRPr lang="en-US" sz="4400" dirty="0"/>
            </a:p>
          </p:txBody>
        </p:sp>
        <p:sp>
          <p:nvSpPr>
            <p:cNvPr id="52" name="s3 tileB sub"/>
            <p:cNvSpPr txBox="1"/>
            <p:nvPr/>
          </p:nvSpPr>
          <p:spPr>
            <a:xfrm>
              <a:off x="9006840" y="512064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orders arrives late, and produces 34% of all 1–2★ reviews.</a:t>
              </a:r>
              <a:endParaRPr lang="en-US" sz="1150" dirty="0"/>
            </a:p>
          </p:txBody>
        </p:sp>
      </p:grpSp>
      <p:sp>
        <p:nvSpPr>
          <p:cNvPr id="53" name="s3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474D"/>
                </a:solidFill>
                <a:latin typeface="Segoe UI Semibold" pitchFamily="34" charset="0"/>
                <a:ea typeface="Segoe UI Semibold" pitchFamily="34" charset="-122"/>
                <a:cs typeface="Segoe UI Semibold" pitchFamily="34" charset="-120"/>
              </a:rPr>
              <a:t>01  </a:t>
            </a:r>
            <a:r>
              <a:rPr lang="en-US" sz="950" dirty="0">
                <a:solidFill>
                  <a:srgbClr val="16222F"/>
                </a:solidFill>
                <a:latin typeface="Segoe UI Semibold" pitchFamily="34" charset="0"/>
                <a:ea typeface="Segoe UI Semibold" pitchFamily="34" charset="-122"/>
                <a:cs typeface="Segoe UI Semibold" pitchFamily="34" charset="-120"/>
              </a:rPr>
              <a:t>The problem</a:t>
            </a:r>
            <a:endParaRPr lang="en-US" sz="950" dirty="0"/>
          </a:p>
        </p:txBody>
      </p:sp>
      <p:sp>
        <p:nvSpPr>
          <p:cNvPr id="54" name="s3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55" name="s3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6" name="s3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7" name="s3 nav marker"/>
          <p:cNvSpPr/>
          <p:nvPr/>
        </p:nvSpPr>
        <p:spPr>
          <a:xfrm>
            <a:off x="548640" y="6336792"/>
            <a:ext cx="201168" cy="36576"/>
          </a:xfrm>
          <a:prstGeom prst="roundRect">
            <a:avLst>
              <a:gd name="adj" fmla="val 50000"/>
            </a:avLst>
          </a:prstGeom>
          <a:solidFill>
            <a:srgbClr val="C1666B"/>
          </a:solidFill>
          <a:ln w="12700">
            <a:solidFill>
              <a:srgbClr val="C1666B">
                <a:alpha val="0"/>
              </a:srgbClr>
            </a:solidFill>
            <a:prstDash val="solid"/>
          </a:ln>
        </p:spPr>
      </p:sp>
      <p:sp>
        <p:nvSpPr>
          <p:cNvPr id="58" name="s3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3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0" nodeType="afterEffect">
                                  <p:stCondLst>
                                    <p:cond delay="5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par>
                          <p:cTn id="14" fill="hold">
                            <p:stCondLst>
                              <p:cond delay="950"/>
                            </p:stCondLst>
                            <p:childTnLst>
                              <p:par>
                                <p:cTn id="15" presetID="10" presetClass="entr" presetSubtype="0" fill="hold" nodeType="afterEffect">
                                  <p:stCondLst>
                                    <p:cond delay="50"/>
                                  </p:stCondLst>
                                  <p:childTnLst>
                                    <p:set>
                                      <p:cBhvr>
                                        <p:cTn id="16" dur="1" fill="hold">
                                          <p:stCondLst>
                                            <p:cond delay="0"/>
                                          </p:stCondLst>
                                        </p:cTn>
                                        <p:tgtEl>
                                          <p:spTgt spid="70"/>
                                        </p:tgtEl>
                                        <p:attrNameLst>
                                          <p:attrName>style.visibility</p:attrName>
                                        </p:attrNameLst>
                                      </p:cBhvr>
                                      <p:to>
                                        <p:strVal val="visible"/>
                                      </p:to>
                                    </p:set>
                                    <p:animEffect transition="in" filter="fade">
                                      <p:cBhvr>
                                        <p:cTn id="17" dur="300"/>
                                        <p:tgtEl>
                                          <p:spTgt spid="70"/>
                                        </p:tgtEl>
                                      </p:cBhvr>
                                    </p:animEffect>
                                  </p:childTnLst>
                                </p:cTn>
                              </p:par>
                              <p:par>
                                <p:cTn id="18" presetID="10" presetClass="entr" presetSubtype="0" fill="hold" nodeType="withEffect">
                                  <p:stCondLst>
                                    <p:cond delay="5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300"/>
                                        <p:tgtEl>
                                          <p:spTgt spid="66"/>
                                        </p:tgtEl>
                                      </p:cBhvr>
                                    </p:animEffect>
                                  </p:childTnLst>
                                </p:cTn>
                              </p:par>
                            </p:childTnLst>
                          </p:cTn>
                        </p:par>
                        <p:par>
                          <p:cTn id="21" fill="hold">
                            <p:stCondLst>
                              <p:cond delay="1300"/>
                            </p:stCondLst>
                            <p:childTnLst>
                              <p:par>
                                <p:cTn id="22" presetID="22" presetClass="entr" presetSubtype="4" fill="hold" nodeType="after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wipe(down)">
                                      <p:cBhvr>
                                        <p:cTn id="24" dur="500"/>
                                        <p:tgtEl>
                                          <p:spTgt spid="60"/>
                                        </p:tgtEl>
                                      </p:cBhvr>
                                    </p:animEffect>
                                  </p:childTnLst>
                                </p:cTn>
                              </p:par>
                            </p:childTnLst>
                          </p:cTn>
                        </p:par>
                        <p:par>
                          <p:cTn id="25" fill="hold">
                            <p:stCondLst>
                              <p:cond delay="1800"/>
                            </p:stCondLst>
                            <p:childTnLst>
                              <p:par>
                                <p:cTn id="26" presetID="22" presetClass="entr" presetSubtype="4" fill="hold" nodeType="after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down)">
                                      <p:cBhvr>
                                        <p:cTn id="28" dur="500"/>
                                        <p:tgtEl>
                                          <p:spTgt spid="61"/>
                                        </p:tgtEl>
                                      </p:cBhvr>
                                    </p:animEffect>
                                  </p:childTnLst>
                                </p:cTn>
                              </p:par>
                            </p:childTnLst>
                          </p:cTn>
                        </p:par>
                        <p:par>
                          <p:cTn id="29" fill="hold">
                            <p:stCondLst>
                              <p:cond delay="2300"/>
                            </p:stCondLst>
                            <p:childTnLst>
                              <p:par>
                                <p:cTn id="30" presetID="22" presetClass="entr" presetSubtype="4" fill="hold" nodeType="after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wipe(down)">
                                      <p:cBhvr>
                                        <p:cTn id="32" dur="500"/>
                                        <p:tgtEl>
                                          <p:spTgt spid="62"/>
                                        </p:tgtEl>
                                      </p:cBhvr>
                                    </p:animEffect>
                                  </p:childTnLst>
                                </p:cTn>
                              </p:par>
                            </p:childTnLst>
                          </p:cTn>
                        </p:par>
                        <p:par>
                          <p:cTn id="33" fill="hold">
                            <p:stCondLst>
                              <p:cond delay="2800"/>
                            </p:stCondLst>
                            <p:childTnLst>
                              <p:par>
                                <p:cTn id="34" presetID="22" presetClass="entr" presetSubtype="4" fill="hold" nodeType="after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down)">
                                      <p:cBhvr>
                                        <p:cTn id="36" dur="500"/>
                                        <p:tgtEl>
                                          <p:spTgt spid="63"/>
                                        </p:tgtEl>
                                      </p:cBhvr>
                                    </p:animEffect>
                                  </p:childTnLst>
                                </p:cTn>
                              </p:par>
                            </p:childTnLst>
                          </p:cTn>
                        </p:par>
                        <p:par>
                          <p:cTn id="37" fill="hold">
                            <p:stCondLst>
                              <p:cond delay="3300"/>
                            </p:stCondLst>
                            <p:childTnLst>
                              <p:par>
                                <p:cTn id="38" presetID="22" presetClass="entr" presetSubtype="4" fill="hold" nodeType="after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down)">
                                      <p:cBhvr>
                                        <p:cTn id="40" dur="500"/>
                                        <p:tgtEl>
                                          <p:spTgt spid="64"/>
                                        </p:tgtEl>
                                      </p:cBhvr>
                                    </p:animEffect>
                                  </p:childTnLst>
                                </p:cTn>
                              </p:par>
                            </p:childTnLst>
                          </p:cTn>
                        </p:par>
                        <p:par>
                          <p:cTn id="41" fill="hold">
                            <p:stCondLst>
                              <p:cond delay="3800"/>
                            </p:stCondLst>
                            <p:childTnLst>
                              <p:par>
                                <p:cTn id="42" presetID="22" presetClass="entr" presetSubtype="4" fill="hold" nodeType="afterEffect">
                                  <p:stCondLst>
                                    <p:cond delay="0"/>
                                  </p:stCondLst>
                                  <p:childTnLst>
                                    <p:set>
                                      <p:cBhvr>
                                        <p:cTn id="43" dur="1" fill="hold">
                                          <p:stCondLst>
                                            <p:cond delay="0"/>
                                          </p:stCondLst>
                                        </p:cTn>
                                        <p:tgtEl>
                                          <p:spTgt spid="65"/>
                                        </p:tgtEl>
                                        <p:attrNameLst>
                                          <p:attrName>style.visibility</p:attrName>
                                        </p:attrNameLst>
                                      </p:cBhvr>
                                      <p:to>
                                        <p:strVal val="visible"/>
                                      </p:to>
                                    </p:set>
                                    <p:animEffect transition="in" filter="wipe(down)">
                                      <p:cBhvr>
                                        <p:cTn id="44" dur="500"/>
                                        <p:tgtEl>
                                          <p:spTgt spid="65"/>
                                        </p:tgtEl>
                                      </p:cBhvr>
                                    </p:animEffect>
                                  </p:childTnLst>
                                </p:cTn>
                              </p:par>
                            </p:childTnLst>
                          </p:cTn>
                        </p:par>
                        <p:par>
                          <p:cTn id="45" fill="hold">
                            <p:stCondLst>
                              <p:cond delay="4300"/>
                            </p:stCondLst>
                            <p:childTnLst>
                              <p:par>
                                <p:cTn id="46" presetID="42" presetClass="entr" presetSubtype="0" fill="hold" nodeType="afterEffect">
                                  <p:stCondLst>
                                    <p:cond delay="50"/>
                                  </p:stCondLst>
                                  <p:childTnLst>
                                    <p:set>
                                      <p:cBhvr>
                                        <p:cTn id="47" dur="1" fill="hold">
                                          <p:stCondLst>
                                            <p:cond delay="0"/>
                                          </p:stCondLst>
                                        </p:cTn>
                                        <p:tgtEl>
                                          <p:spTgt spid="67"/>
                                        </p:tgtEl>
                                        <p:attrNameLst>
                                          <p:attrName>style.visibility</p:attrName>
                                        </p:attrNameLst>
                                      </p:cBhvr>
                                      <p:to>
                                        <p:strVal val="visible"/>
                                      </p:to>
                                    </p:set>
                                    <p:animEffect transition="in" filter="fade">
                                      <p:cBhvr>
                                        <p:cTn id="48" dur="500"/>
                                        <p:tgtEl>
                                          <p:spTgt spid="67"/>
                                        </p:tgtEl>
                                      </p:cBhvr>
                                    </p:animEffect>
                                    <p:anim calcmode="lin" valueType="num">
                                      <p:cBhvr>
                                        <p:cTn id="49" dur="500" fill="hold"/>
                                        <p:tgtEl>
                                          <p:spTgt spid="67"/>
                                        </p:tgtEl>
                                        <p:attrNameLst>
                                          <p:attrName>ppt_x</p:attrName>
                                        </p:attrNameLst>
                                      </p:cBhvr>
                                      <p:tavLst>
                                        <p:tav tm="0">
                                          <p:val>
                                            <p:strVal val="#ppt_x"/>
                                          </p:val>
                                        </p:tav>
                                        <p:tav tm="100000">
                                          <p:val>
                                            <p:strVal val="#ppt_x"/>
                                          </p:val>
                                        </p:tav>
                                      </p:tavLst>
                                    </p:anim>
                                    <p:anim calcmode="lin" valueType="num">
                                      <p:cBhvr>
                                        <p:cTn id="50" dur="500" fill="hold"/>
                                        <p:tgtEl>
                                          <p:spTgt spid="67"/>
                                        </p:tgtEl>
                                        <p:attrNameLst>
                                          <p:attrName>ppt_y</p:attrName>
                                        </p:attrNameLst>
                                      </p:cBhvr>
                                      <p:tavLst>
                                        <p:tav tm="0">
                                          <p:val>
                                            <p:strVal val="#ppt_y+.1"/>
                                          </p:val>
                                        </p:tav>
                                        <p:tav tm="100000">
                                          <p:val>
                                            <p:strVal val="#ppt_y"/>
                                          </p:val>
                                        </p:tav>
                                      </p:tavLst>
                                    </p:anim>
                                  </p:childTnLst>
                                </p:cTn>
                              </p:par>
                            </p:childTnLst>
                          </p:cTn>
                        </p:par>
                        <p:par>
                          <p:cTn id="51" fill="hold">
                            <p:stCondLst>
                              <p:cond delay="4850"/>
                            </p:stCondLst>
                            <p:childTnLst>
                              <p:par>
                                <p:cTn id="52" presetID="42" presetClass="entr" presetSubtype="0" fill="hold" nodeType="afterEffect">
                                  <p:stCondLst>
                                    <p:cond delay="50"/>
                                  </p:stCondLst>
                                  <p:childTnLst>
                                    <p:set>
                                      <p:cBhvr>
                                        <p:cTn id="53" dur="1" fill="hold">
                                          <p:stCondLst>
                                            <p:cond delay="0"/>
                                          </p:stCondLst>
                                        </p:cTn>
                                        <p:tgtEl>
                                          <p:spTgt spid="68"/>
                                        </p:tgtEl>
                                        <p:attrNameLst>
                                          <p:attrName>style.visibility</p:attrName>
                                        </p:attrNameLst>
                                      </p:cBhvr>
                                      <p:to>
                                        <p:strVal val="visible"/>
                                      </p:to>
                                    </p:set>
                                    <p:animEffect transition="in" filter="fade">
                                      <p:cBhvr>
                                        <p:cTn id="54" dur="500"/>
                                        <p:tgtEl>
                                          <p:spTgt spid="68"/>
                                        </p:tgtEl>
                                      </p:cBhvr>
                                    </p:animEffect>
                                    <p:anim calcmode="lin" valueType="num">
                                      <p:cBhvr>
                                        <p:cTn id="55" dur="500" fill="hold"/>
                                        <p:tgtEl>
                                          <p:spTgt spid="68"/>
                                        </p:tgtEl>
                                        <p:attrNameLst>
                                          <p:attrName>ppt_x</p:attrName>
                                        </p:attrNameLst>
                                      </p:cBhvr>
                                      <p:tavLst>
                                        <p:tav tm="0">
                                          <p:val>
                                            <p:strVal val="#ppt_x"/>
                                          </p:val>
                                        </p:tav>
                                        <p:tav tm="100000">
                                          <p:val>
                                            <p:strVal val="#ppt_x"/>
                                          </p:val>
                                        </p:tav>
                                      </p:tavLst>
                                    </p:anim>
                                    <p:anim calcmode="lin" valueType="num">
                                      <p:cBhvr>
                                        <p:cTn id="56" dur="500" fill="hold"/>
                                        <p:tgtEl>
                                          <p:spTgt spid="68"/>
                                        </p:tgtEl>
                                        <p:attrNameLst>
                                          <p:attrName>ppt_y</p:attrName>
                                        </p:attrNameLst>
                                      </p:cBhvr>
                                      <p:tavLst>
                                        <p:tav tm="0">
                                          <p:val>
                                            <p:strVal val="#ppt_y+.1"/>
                                          </p:val>
                                        </p:tav>
                                        <p:tav tm="100000">
                                          <p:val>
                                            <p:strVal val="#ppt_y"/>
                                          </p:val>
                                        </p:tav>
                                      </p:tavLst>
                                    </p:anim>
                                  </p:childTnLst>
                                </p:cTn>
                              </p:par>
                            </p:childTnLst>
                          </p:cTn>
                        </p:par>
                        <p:par>
                          <p:cTn id="57" fill="hold">
                            <p:stCondLst>
                              <p:cond delay="5400"/>
                            </p:stCondLst>
                            <p:childTnLst>
                              <p:par>
                                <p:cTn id="58" presetID="10" presetClass="entr" presetSubtype="0" fill="hold" nodeType="afterEffect">
                                  <p:stCondLst>
                                    <p:cond delay="50"/>
                                  </p:stCondLst>
                                  <p:childTnLst>
                                    <p:set>
                                      <p:cBhvr>
                                        <p:cTn id="59" dur="1" fill="hold">
                                          <p:stCondLst>
                                            <p:cond delay="0"/>
                                          </p:stCondLst>
                                        </p:cTn>
                                        <p:tgtEl>
                                          <p:spTgt spid="59"/>
                                        </p:tgtEl>
                                        <p:attrNameLst>
                                          <p:attrName>style.visibility</p:attrName>
                                        </p:attrNameLst>
                                      </p:cBhvr>
                                      <p:to>
                                        <p:strVal val="visible"/>
                                      </p:to>
                                    </p:set>
                                    <p:animEffect transition="in" filter="fade">
                                      <p:cBhvr>
                                        <p:cTn id="6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4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THE IDEA</a:t>
            </a:r>
            <a:endParaRPr lang="en-US" sz="1000" dirty="0"/>
          </a:p>
        </p:txBody>
      </p:sp>
      <p:sp>
        <p:nvSpPr>
          <p:cNvPr id="3" name="s4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Step in before the review — at three moments</a:t>
            </a:r>
            <a:endParaRPr lang="en-US" sz="2900" dirty="0"/>
          </a:p>
        </p:txBody>
      </p:sp>
      <p:sp>
        <p:nvSpPr>
          <p:cNvPr id="4" name="s4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moments between checkout and the review, each owned by a different team</a:t>
            </a:r>
            <a:endParaRPr lang="en-US" sz="1300" dirty="0"/>
          </a:p>
        </p:txBody>
      </p:sp>
      <p:sp>
        <p:nvSpPr>
          <p:cNvPr id="5" name="s4 line 1"/>
          <p:cNvSpPr/>
          <p:nvPr/>
        </p:nvSpPr>
        <p:spPr>
          <a:xfrm>
            <a:off x="1965960" y="2148840"/>
            <a:ext cx="8659368" cy="0"/>
          </a:xfrm>
          <a:prstGeom prst="line">
            <a:avLst/>
          </a:prstGeom>
          <a:noFill/>
          <a:ln w="25400">
            <a:solidFill>
              <a:srgbClr val="E2E7EC"/>
            </a:solidFill>
            <a:prstDash val="solid"/>
          </a:ln>
        </p:spPr>
      </p:sp>
      <p:sp>
        <p:nvSpPr>
          <p:cNvPr id="6" name="!!n1"/>
          <p:cNvSpPr/>
          <p:nvPr/>
        </p:nvSpPr>
        <p:spPr>
          <a:xfrm>
            <a:off x="1627632" y="1810512"/>
            <a:ext cx="676656" cy="67665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1803563" y="1986443"/>
            <a:ext cx="324795" cy="324795"/>
          </a:xfrm>
          <a:prstGeom prst="rect">
            <a:avLst/>
          </a:prstGeom>
        </p:spPr>
      </p:pic>
      <p:grpSp>
        <p:nvGrpSpPr>
          <p:cNvPr id="45" name="s4 stages">
            <a:extLst>
              <a:ext uri="{FF2B5EF4-FFF2-40B4-BE49-F238E27FC236}">
                <a16:creationId xmlns:a16="http://schemas.microsoft.com/office/drawing/2014/main" id="{4DDF2153-BBBD-A197-68EE-06850E617497}"/>
              </a:ext>
            </a:extLst>
          </p:cNvPr>
          <p:cNvGrpSpPr/>
          <p:nvPr/>
        </p:nvGrpSpPr>
        <p:grpSpPr>
          <a:xfrm>
            <a:off x="1051560" y="2551176"/>
            <a:ext cx="10488168" cy="237744"/>
            <a:chOff x="1051560" y="2551176"/>
            <a:chExt cx="10488168" cy="237744"/>
          </a:xfrm>
        </p:grpSpPr>
        <p:sp>
          <p:nvSpPr>
            <p:cNvPr id="8" name="s4 text 2"/>
            <p:cNvSpPr txBox="1"/>
            <p:nvPr/>
          </p:nvSpPr>
          <p:spPr>
            <a:xfrm>
              <a:off x="105156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245A84"/>
                  </a:solidFill>
                  <a:latin typeface="Segoe UI Semibold" pitchFamily="34" charset="0"/>
                  <a:ea typeface="Segoe UI Semibold" pitchFamily="34" charset="-122"/>
                  <a:cs typeface="Segoe UI Semibold" pitchFamily="34" charset="-120"/>
                </a:rPr>
                <a:t>CHECKOUT</a:t>
              </a:r>
              <a:endParaRPr lang="en-US" sz="950" dirty="0"/>
            </a:p>
          </p:txBody>
        </p:sp>
        <p:sp>
          <p:nvSpPr>
            <p:cNvPr id="11" name="s4 text 3"/>
            <p:cNvSpPr txBox="1"/>
            <p:nvPr/>
          </p:nvSpPr>
          <p:spPr>
            <a:xfrm>
              <a:off x="406908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93661A"/>
                  </a:solidFill>
                  <a:latin typeface="Segoe UI Semibold" pitchFamily="34" charset="0"/>
                  <a:ea typeface="Segoe UI Semibold" pitchFamily="34" charset="-122"/>
                  <a:cs typeface="Segoe UI Semibold" pitchFamily="34" charset="-120"/>
                </a:rPr>
                <a:t>PROMISED DATE</a:t>
              </a:r>
              <a:endParaRPr lang="en-US" sz="950" dirty="0"/>
            </a:p>
          </p:txBody>
        </p:sp>
        <p:sp>
          <p:nvSpPr>
            <p:cNvPr id="14" name="s4 text 4"/>
            <p:cNvSpPr txBox="1"/>
            <p:nvPr/>
          </p:nvSpPr>
          <p:spPr>
            <a:xfrm>
              <a:off x="708660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41703F"/>
                  </a:solidFill>
                  <a:latin typeface="Segoe UI Semibold" pitchFamily="34" charset="0"/>
                  <a:ea typeface="Segoe UI Semibold" pitchFamily="34" charset="-122"/>
                  <a:cs typeface="Segoe UI Semibold" pitchFamily="34" charset="-120"/>
                </a:rPr>
                <a:t>DELIVERY</a:t>
              </a:r>
              <a:endParaRPr lang="en-US" sz="950" dirty="0"/>
            </a:p>
          </p:txBody>
        </p:sp>
        <p:sp>
          <p:nvSpPr>
            <p:cNvPr id="17" name="s4 text 5"/>
            <p:cNvSpPr txBox="1"/>
            <p:nvPr/>
          </p:nvSpPr>
          <p:spPr>
            <a:xfrm>
              <a:off x="9710928"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6B7885"/>
                  </a:solidFill>
                  <a:latin typeface="Segoe UI Semibold" pitchFamily="34" charset="0"/>
                  <a:ea typeface="Segoe UI Semibold" pitchFamily="34" charset="-122"/>
                  <a:cs typeface="Segoe UI Semibold" pitchFamily="34" charset="-120"/>
                </a:rPr>
                <a:t>REVIEW</a:t>
              </a:r>
              <a:endParaRPr lang="en-US" sz="950" dirty="0"/>
            </a:p>
          </p:txBody>
        </p:sp>
      </p:grpSp>
      <p:sp>
        <p:nvSpPr>
          <p:cNvPr id="9" name="!!n2"/>
          <p:cNvSpPr/>
          <p:nvPr/>
        </p:nvSpPr>
        <p:spPr>
          <a:xfrm>
            <a:off x="4645152" y="1810512"/>
            <a:ext cx="676656" cy="676656"/>
          </a:xfrm>
          <a:prstGeom prst="ellipse">
            <a:avLst/>
          </a:prstGeom>
          <a:solidFill>
            <a:srgbClr val="C08B2E"/>
          </a:solidFill>
          <a:ln w="12700">
            <a:solidFill>
              <a:srgbClr val="C08B2E"/>
            </a:solidFill>
            <a:prstDash val="solid"/>
          </a:ln>
        </p:spPr>
      </p:sp>
      <p:pic>
        <p:nvPicPr>
          <p:cNvPr id="10" name="!!i2" descr="preencoded.png"/>
          <p:cNvPicPr>
            <a:picLocks noChangeAspect="1"/>
          </p:cNvPicPr>
          <p:nvPr/>
        </p:nvPicPr>
        <p:blipFill>
          <a:blip r:embed="rId4"/>
          <a:stretch>
            <a:fillRect/>
          </a:stretch>
        </p:blipFill>
        <p:spPr>
          <a:xfrm>
            <a:off x="4821083" y="1986443"/>
            <a:ext cx="324795" cy="324795"/>
          </a:xfrm>
          <a:prstGeom prst="rect">
            <a:avLst/>
          </a:prstGeom>
        </p:spPr>
      </p:pic>
      <p:sp>
        <p:nvSpPr>
          <p:cNvPr id="12" name="!!n3"/>
          <p:cNvSpPr/>
          <p:nvPr/>
        </p:nvSpPr>
        <p:spPr>
          <a:xfrm>
            <a:off x="7662672" y="1810512"/>
            <a:ext cx="676656" cy="676656"/>
          </a:xfrm>
          <a:prstGeom prst="ellipse">
            <a:avLst/>
          </a:prstGeom>
          <a:solidFill>
            <a:srgbClr val="5B8C5A"/>
          </a:solidFill>
          <a:ln w="12700">
            <a:solidFill>
              <a:srgbClr val="5B8C5A"/>
            </a:solidFill>
            <a:prstDash val="solid"/>
          </a:ln>
        </p:spPr>
      </p:sp>
      <p:pic>
        <p:nvPicPr>
          <p:cNvPr id="13" name="!!i3" descr="preencoded.png"/>
          <p:cNvPicPr>
            <a:picLocks noChangeAspect="1"/>
          </p:cNvPicPr>
          <p:nvPr/>
        </p:nvPicPr>
        <p:blipFill>
          <a:blip r:embed="rId5"/>
          <a:stretch>
            <a:fillRect/>
          </a:stretch>
        </p:blipFill>
        <p:spPr>
          <a:xfrm>
            <a:off x="7838603" y="1986443"/>
            <a:ext cx="324795" cy="324795"/>
          </a:xfrm>
          <a:prstGeom prst="rect">
            <a:avLst/>
          </a:prstGeom>
        </p:spPr>
      </p:pic>
      <p:sp>
        <p:nvSpPr>
          <p:cNvPr id="15" name="!!n4"/>
          <p:cNvSpPr/>
          <p:nvPr/>
        </p:nvSpPr>
        <p:spPr>
          <a:xfrm>
            <a:off x="10287000" y="1810512"/>
            <a:ext cx="676656" cy="676656"/>
          </a:xfrm>
          <a:prstGeom prst="ellipse">
            <a:avLst/>
          </a:prstGeom>
          <a:solidFill>
            <a:srgbClr val="FFFFFF"/>
          </a:solidFill>
          <a:ln w="15875">
            <a:solidFill>
              <a:srgbClr val="E2E7EC"/>
            </a:solidFill>
            <a:prstDash val="solid"/>
          </a:ln>
        </p:spPr>
      </p:sp>
      <p:pic>
        <p:nvPicPr>
          <p:cNvPr id="16" name="!!i4" descr="preencoded.png"/>
          <p:cNvPicPr>
            <a:picLocks noChangeAspect="1"/>
          </p:cNvPicPr>
          <p:nvPr/>
        </p:nvPicPr>
        <p:blipFill>
          <a:blip r:embed="rId6"/>
          <a:stretch>
            <a:fillRect/>
          </a:stretch>
        </p:blipFill>
        <p:spPr>
          <a:xfrm>
            <a:off x="10462931" y="1986443"/>
            <a:ext cx="324795" cy="324795"/>
          </a:xfrm>
          <a:prstGeom prst="rect">
            <a:avLst/>
          </a:prstGeom>
        </p:spPr>
      </p:pic>
      <p:grpSp>
        <p:nvGrpSpPr>
          <p:cNvPr id="42" name="s4 card0">
            <a:extLst>
              <a:ext uri="{FF2B5EF4-FFF2-40B4-BE49-F238E27FC236}">
                <a16:creationId xmlns:a16="http://schemas.microsoft.com/office/drawing/2014/main" id="{9D41E006-7C47-D17F-09EF-401A96B7C1E9}"/>
              </a:ext>
            </a:extLst>
          </p:cNvPr>
          <p:cNvGrpSpPr/>
          <p:nvPr/>
        </p:nvGrpSpPr>
        <p:grpSpPr>
          <a:xfrm>
            <a:off x="548640" y="2944368"/>
            <a:ext cx="2834640" cy="3127248"/>
            <a:chOff x="548640" y="2944368"/>
            <a:chExt cx="2834640" cy="3127248"/>
          </a:xfrm>
        </p:grpSpPr>
        <p:sp>
          <p:nvSpPr>
            <p:cNvPr id="18" name="s4 panel 6"/>
            <p:cNvSpPr/>
            <p:nvPr/>
          </p:nvSpPr>
          <p:spPr>
            <a:xfrm>
              <a:off x="548640" y="2944368"/>
              <a:ext cx="2834640" cy="3127248"/>
            </a:xfrm>
            <a:prstGeom prst="roundRect">
              <a:avLst>
                <a:gd name="adj" fmla="val 3871"/>
              </a:avLst>
            </a:prstGeom>
            <a:solidFill>
              <a:srgbClr val="EAF1F7"/>
            </a:solidFill>
            <a:ln w="12700">
              <a:solidFill>
                <a:srgbClr val="EAF1F7">
                  <a:alpha val="0"/>
                </a:srgbClr>
              </a:solidFill>
              <a:prstDash val="solid"/>
            </a:ln>
          </p:spPr>
        </p:sp>
        <p:sp>
          <p:nvSpPr>
            <p:cNvPr id="19" name="s4 text 7"/>
            <p:cNvSpPr txBox="1"/>
            <p:nvPr/>
          </p:nvSpPr>
          <p:spPr>
            <a:xfrm>
              <a:off x="777240" y="3127248"/>
              <a:ext cx="242316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a:t>
              </a:r>
              <a:endParaRPr lang="en-US" sz="900" dirty="0"/>
            </a:p>
          </p:txBody>
        </p:sp>
        <p:sp>
          <p:nvSpPr>
            <p:cNvPr id="20" name="s4 text 8"/>
            <p:cNvSpPr txBox="1"/>
            <p:nvPr/>
          </p:nvSpPr>
          <p:spPr>
            <a:xfrm>
              <a:off x="77724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Which promises are going to break?</a:t>
              </a:r>
              <a:endParaRPr lang="en-US" sz="1600" dirty="0"/>
            </a:p>
          </p:txBody>
        </p:sp>
        <p:sp>
          <p:nvSpPr>
            <p:cNvPr id="21" name="s4 text 9"/>
            <p:cNvSpPr txBox="1"/>
            <p:nvPr/>
          </p:nvSpPr>
          <p:spPr>
            <a:xfrm>
              <a:off x="77724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Quote an honest date. Warn the riskiest buyers early.</a:t>
              </a:r>
              <a:endParaRPr lang="en-US" sz="1300" dirty="0"/>
            </a:p>
          </p:txBody>
        </p:sp>
        <p:sp>
          <p:nvSpPr>
            <p:cNvPr id="22" name="s4 text 10"/>
            <p:cNvSpPr txBox="1"/>
            <p:nvPr/>
          </p:nvSpPr>
          <p:spPr>
            <a:xfrm>
              <a:off x="777240" y="5614416"/>
              <a:ext cx="2377440" cy="274320"/>
            </a:xfrm>
            <a:prstGeom prst="rect">
              <a:avLst/>
            </a:prstGeom>
            <a:noFill/>
            <a:ln/>
          </p:spPr>
          <p:txBody>
            <a:bodyPr wrap="square" lIns="0" tIns="0" rIns="0" bIns="0" rtlCol="0" anchor="t"/>
            <a:lstStyle/>
            <a:p>
              <a:pPr marL="0" indent="0">
                <a:buNone/>
              </a:pPr>
              <a:r>
                <a:rPr lang="en-US" sz="950" i="1" dirty="0">
                  <a:solidFill>
                    <a:srgbClr val="245A84"/>
                  </a:solidFill>
                  <a:latin typeface="Segoe UI" pitchFamily="34" charset="0"/>
                  <a:ea typeface="Segoe UI" pitchFamily="34" charset="-122"/>
                  <a:cs typeface="Segoe UI" pitchFamily="34" charset="-120"/>
                </a:rPr>
                <a:t>uses the delivery forecast</a:t>
              </a:r>
              <a:endParaRPr lang="en-US" sz="950" dirty="0"/>
            </a:p>
          </p:txBody>
        </p:sp>
      </p:grpSp>
      <p:grpSp>
        <p:nvGrpSpPr>
          <p:cNvPr id="43" name="s4 card1">
            <a:extLst>
              <a:ext uri="{FF2B5EF4-FFF2-40B4-BE49-F238E27FC236}">
                <a16:creationId xmlns:a16="http://schemas.microsoft.com/office/drawing/2014/main" id="{AEE03F47-DC34-F86F-152A-B6F55D504B28}"/>
              </a:ext>
            </a:extLst>
          </p:cNvPr>
          <p:cNvGrpSpPr/>
          <p:nvPr/>
        </p:nvGrpSpPr>
        <p:grpSpPr>
          <a:xfrm>
            <a:off x="3566160" y="2944368"/>
            <a:ext cx="2834640" cy="3127248"/>
            <a:chOff x="3566160" y="2944368"/>
            <a:chExt cx="2834640" cy="3127248"/>
          </a:xfrm>
        </p:grpSpPr>
        <p:sp>
          <p:nvSpPr>
            <p:cNvPr id="23" name="s4 panel 11"/>
            <p:cNvSpPr/>
            <p:nvPr/>
          </p:nvSpPr>
          <p:spPr>
            <a:xfrm>
              <a:off x="3566160" y="2944368"/>
              <a:ext cx="2834640" cy="3127248"/>
            </a:xfrm>
            <a:prstGeom prst="roundRect">
              <a:avLst>
                <a:gd name="adj" fmla="val 3871"/>
              </a:avLst>
            </a:prstGeom>
            <a:solidFill>
              <a:srgbClr val="F8F1E3"/>
            </a:solidFill>
            <a:ln w="12700">
              <a:solidFill>
                <a:srgbClr val="F8F1E3">
                  <a:alpha val="0"/>
                </a:srgbClr>
              </a:solidFill>
              <a:prstDash val="solid"/>
            </a:ln>
          </p:spPr>
        </p:sp>
        <p:sp>
          <p:nvSpPr>
            <p:cNvPr id="24" name="s4 text 12"/>
            <p:cNvSpPr txBox="1"/>
            <p:nvPr/>
          </p:nvSpPr>
          <p:spPr>
            <a:xfrm>
              <a:off x="3794760" y="3127248"/>
              <a:ext cx="242316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a:t>
              </a:r>
              <a:endParaRPr lang="en-US" sz="900" dirty="0"/>
            </a:p>
          </p:txBody>
        </p:sp>
        <p:sp>
          <p:nvSpPr>
            <p:cNvPr id="25" name="s4 text 13"/>
            <p:cNvSpPr txBox="1"/>
            <p:nvPr/>
          </p:nvSpPr>
          <p:spPr>
            <a:xfrm>
              <a:off x="379476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The parcel is late, and the survey is about to go out.</a:t>
              </a:r>
              <a:endParaRPr lang="en-US" sz="1600" dirty="0"/>
            </a:p>
          </p:txBody>
        </p:sp>
        <p:sp>
          <p:nvSpPr>
            <p:cNvPr id="26" name="s4 text 14"/>
            <p:cNvSpPr txBox="1"/>
            <p:nvPr/>
          </p:nvSpPr>
          <p:spPr>
            <a:xfrm>
              <a:off x="379476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Reach the customer first, with an apology and a new date. Ask for the review after the parcel arrives.</a:t>
              </a:r>
              <a:endParaRPr lang="en-US" sz="1300" dirty="0"/>
            </a:p>
          </p:txBody>
        </p:sp>
        <p:sp>
          <p:nvSpPr>
            <p:cNvPr id="27" name="s4 text 15"/>
            <p:cNvSpPr txBox="1"/>
            <p:nvPr/>
          </p:nvSpPr>
          <p:spPr>
            <a:xfrm>
              <a:off x="3794760" y="5614416"/>
              <a:ext cx="2377440" cy="274320"/>
            </a:xfrm>
            <a:prstGeom prst="rect">
              <a:avLst/>
            </a:prstGeom>
            <a:noFill/>
            <a:ln/>
          </p:spPr>
          <p:txBody>
            <a:bodyPr wrap="square" lIns="0" tIns="0" rIns="0" bIns="0" rtlCol="0" anchor="t"/>
            <a:lstStyle/>
            <a:p>
              <a:pPr marL="0" indent="0">
                <a:buNone/>
              </a:pPr>
              <a:r>
                <a:rPr lang="en-US" sz="950" i="1" dirty="0">
                  <a:solidFill>
                    <a:srgbClr val="93661A"/>
                  </a:solidFill>
                  <a:latin typeface="Segoe UI" pitchFamily="34" charset="0"/>
                  <a:ea typeface="Segoe UI" pitchFamily="34" charset="-122"/>
                  <a:cs typeface="Segoe UI" pitchFamily="34" charset="-120"/>
                </a:rPr>
                <a:t>needs no model: the calendar</a:t>
              </a:r>
              <a:endParaRPr lang="en-US" sz="950" dirty="0"/>
            </a:p>
          </p:txBody>
        </p:sp>
      </p:grpSp>
      <p:grpSp>
        <p:nvGrpSpPr>
          <p:cNvPr id="44" name="s4 card2">
            <a:extLst>
              <a:ext uri="{FF2B5EF4-FFF2-40B4-BE49-F238E27FC236}">
                <a16:creationId xmlns:a16="http://schemas.microsoft.com/office/drawing/2014/main" id="{242DC171-1780-A1EA-6064-00793A91B330}"/>
              </a:ext>
            </a:extLst>
          </p:cNvPr>
          <p:cNvGrpSpPr/>
          <p:nvPr/>
        </p:nvGrpSpPr>
        <p:grpSpPr>
          <a:xfrm>
            <a:off x="6583680" y="2944368"/>
            <a:ext cx="2834640" cy="3127248"/>
            <a:chOff x="6583680" y="2944368"/>
            <a:chExt cx="2834640" cy="3127248"/>
          </a:xfrm>
        </p:grpSpPr>
        <p:sp>
          <p:nvSpPr>
            <p:cNvPr id="28" name="s4 panel 16"/>
            <p:cNvSpPr/>
            <p:nvPr/>
          </p:nvSpPr>
          <p:spPr>
            <a:xfrm>
              <a:off x="6583680" y="2944368"/>
              <a:ext cx="2834640" cy="3127248"/>
            </a:xfrm>
            <a:prstGeom prst="roundRect">
              <a:avLst>
                <a:gd name="adj" fmla="val 3871"/>
              </a:avLst>
            </a:prstGeom>
            <a:solidFill>
              <a:srgbClr val="EBF3EA"/>
            </a:solidFill>
            <a:ln w="12700">
              <a:solidFill>
                <a:srgbClr val="EBF3EA">
                  <a:alpha val="0"/>
                </a:srgbClr>
              </a:solidFill>
              <a:prstDash val="solid"/>
            </a:ln>
          </p:spPr>
        </p:sp>
        <p:sp>
          <p:nvSpPr>
            <p:cNvPr id="29" name="s4 text 17"/>
            <p:cNvSpPr txBox="1"/>
            <p:nvPr/>
          </p:nvSpPr>
          <p:spPr>
            <a:xfrm>
              <a:off x="6812280" y="3127248"/>
              <a:ext cx="242316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a:t>
              </a:r>
              <a:endParaRPr lang="en-US" sz="900" dirty="0"/>
            </a:p>
          </p:txBody>
        </p:sp>
        <p:sp>
          <p:nvSpPr>
            <p:cNvPr id="30" name="s4 text 18"/>
            <p:cNvSpPr txBox="1"/>
            <p:nvPr/>
          </p:nvSpPr>
          <p:spPr>
            <a:xfrm>
              <a:off x="681228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Who is unhappy even though the parcel came on time?</a:t>
              </a:r>
              <a:endParaRPr lang="en-US" sz="1600" dirty="0"/>
            </a:p>
          </p:txBody>
        </p:sp>
        <p:sp>
          <p:nvSpPr>
            <p:cNvPr id="31" name="s4 text 19"/>
            <p:cNvSpPr txBox="1"/>
            <p:nvPr/>
          </p:nvSpPr>
          <p:spPr>
            <a:xfrm>
              <a:off x="681228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Two thirds of bad reviews come from on-time parcels, about two days after delivery. Call the riskiest first.</a:t>
              </a:r>
              <a:endParaRPr lang="en-US" sz="1300" dirty="0"/>
            </a:p>
          </p:txBody>
        </p:sp>
        <p:sp>
          <p:nvSpPr>
            <p:cNvPr id="32" name="s4 text 20"/>
            <p:cNvSpPr txBox="1"/>
            <p:nvPr/>
          </p:nvSpPr>
          <p:spPr>
            <a:xfrm>
              <a:off x="6812280" y="5614416"/>
              <a:ext cx="2377440" cy="274320"/>
            </a:xfrm>
            <a:prstGeom prst="rect">
              <a:avLst/>
            </a:prstGeom>
            <a:noFill/>
            <a:ln/>
          </p:spPr>
          <p:txBody>
            <a:bodyPr wrap="square" lIns="0" tIns="0" rIns="0" bIns="0" rtlCol="0" anchor="t"/>
            <a:lstStyle/>
            <a:p>
              <a:pPr marL="0" indent="0">
                <a:buNone/>
              </a:pPr>
              <a:r>
                <a:rPr lang="en-US" sz="950" i="1" dirty="0">
                  <a:solidFill>
                    <a:srgbClr val="41703F"/>
                  </a:solidFill>
                  <a:latin typeface="Segoe UI" pitchFamily="34" charset="0"/>
                  <a:ea typeface="Segoe UI" pitchFamily="34" charset="-122"/>
                  <a:cs typeface="Segoe UI" pitchFamily="34" charset="-120"/>
                </a:rPr>
                <a:t>uses the review-risk score</a:t>
              </a:r>
              <a:endParaRPr lang="en-US" sz="950" dirty="0"/>
            </a:p>
          </p:txBody>
        </p:sp>
      </p:grpSp>
      <p:grpSp>
        <p:nvGrpSpPr>
          <p:cNvPr id="46" name="s4 review">
            <a:extLst>
              <a:ext uri="{FF2B5EF4-FFF2-40B4-BE49-F238E27FC236}">
                <a16:creationId xmlns:a16="http://schemas.microsoft.com/office/drawing/2014/main" id="{5194E815-C3D9-B97C-2C27-7F746AC6A877}"/>
              </a:ext>
            </a:extLst>
          </p:cNvPr>
          <p:cNvGrpSpPr/>
          <p:nvPr/>
        </p:nvGrpSpPr>
        <p:grpSpPr>
          <a:xfrm>
            <a:off x="9601200" y="2944368"/>
            <a:ext cx="2039112" cy="1783080"/>
            <a:chOff x="9601200" y="2944368"/>
            <a:chExt cx="2039112" cy="1783080"/>
          </a:xfrm>
        </p:grpSpPr>
        <p:sp>
          <p:nvSpPr>
            <p:cNvPr id="33" name="s4 panel 21"/>
            <p:cNvSpPr/>
            <p:nvPr/>
          </p:nvSpPr>
          <p:spPr>
            <a:xfrm>
              <a:off x="9601200" y="2944368"/>
              <a:ext cx="2039112" cy="1783080"/>
            </a:xfrm>
            <a:prstGeom prst="roundRect">
              <a:avLst>
                <a:gd name="adj" fmla="val 6154"/>
              </a:avLst>
            </a:prstGeom>
            <a:solidFill>
              <a:srgbClr val="F2F4F7"/>
            </a:solidFill>
            <a:ln w="12700">
              <a:solidFill>
                <a:srgbClr val="F2F4F7">
                  <a:alpha val="0"/>
                </a:srgbClr>
              </a:solidFill>
              <a:prstDash val="solid"/>
            </a:ln>
          </p:spPr>
        </p:sp>
        <p:sp>
          <p:nvSpPr>
            <p:cNvPr id="34" name="s4 text 22"/>
            <p:cNvSpPr txBox="1"/>
            <p:nvPr/>
          </p:nvSpPr>
          <p:spPr>
            <a:xfrm>
              <a:off x="9784080" y="3127248"/>
              <a:ext cx="1691640" cy="91440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Today Olist finds out here, when it is too late to act.</a:t>
              </a:r>
              <a:endParaRPr lang="en-US" sz="1200" dirty="0"/>
            </a:p>
          </p:txBody>
        </p:sp>
        <p:sp>
          <p:nvSpPr>
            <p:cNvPr id="35" name="s4 text 23"/>
            <p:cNvSpPr txBox="1"/>
            <p:nvPr/>
          </p:nvSpPr>
          <p:spPr>
            <a:xfrm>
              <a:off x="9784080" y="4114800"/>
              <a:ext cx="1691640" cy="502920"/>
            </a:xfrm>
            <a:prstGeom prst="rect">
              <a:avLst/>
            </a:prstGeom>
            <a:noFill/>
            <a:ln/>
          </p:spPr>
          <p:txBody>
            <a:bodyPr wrap="square" lIns="0" tIns="0" rIns="0" bIns="0" rtlCol="0" anchor="t"/>
            <a:lstStyle/>
            <a:p>
              <a:pPr marL="0" indent="0">
                <a:buNone/>
              </a:pPr>
              <a:r>
                <a:rPr lang="en-US" sz="1000" i="1" dirty="0">
                  <a:solidFill>
                    <a:srgbClr val="6B7885"/>
                  </a:solidFill>
                  <a:latin typeface="Segoe UI" pitchFamily="34" charset="0"/>
                  <a:ea typeface="Segoe UI" pitchFamily="34" charset="-122"/>
                  <a:cs typeface="Segoe UI" pitchFamily="34" charset="-120"/>
                </a:rPr>
                <a:t>1 in 8 orders ends in a 1–2★ review</a:t>
              </a:r>
              <a:endParaRPr lang="en-US" sz="1000" dirty="0"/>
            </a:p>
          </p:txBody>
        </p:sp>
      </p:grpSp>
      <p:sp>
        <p:nvSpPr>
          <p:cNvPr id="36" name="s4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7" name="s4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38" name="s4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39" name="s4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40" name="s4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41" name="s4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4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00"/>
                                        <p:tgtEl>
                                          <p:spTgt spid="45"/>
                                        </p:tgtEl>
                                      </p:cBhvr>
                                    </p:animEffect>
                                  </p:childTnLst>
                                </p:cTn>
                              </p:par>
                            </p:childTnLst>
                          </p:cTn>
                        </p:par>
                        <p:par>
                          <p:cTn id="8" fill="hold">
                            <p:stCondLst>
                              <p:cond delay="400"/>
                            </p:stCondLst>
                            <p:childTnLst>
                              <p:par>
                                <p:cTn id="9" presetID="42" presetClass="entr" presetSubtype="0" fill="hold" nodeType="afterEffect">
                                  <p:stCondLst>
                                    <p:cond delay="5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500"/>
                                        <p:tgtEl>
                                          <p:spTgt spid="42"/>
                                        </p:tgtEl>
                                      </p:cBhvr>
                                    </p:animEffect>
                                    <p:anim calcmode="lin" valueType="num">
                                      <p:cBhvr>
                                        <p:cTn id="12" dur="500" fill="hold"/>
                                        <p:tgtEl>
                                          <p:spTgt spid="42"/>
                                        </p:tgtEl>
                                        <p:attrNameLst>
                                          <p:attrName>ppt_x</p:attrName>
                                        </p:attrNameLst>
                                      </p:cBhvr>
                                      <p:tavLst>
                                        <p:tav tm="0">
                                          <p:val>
                                            <p:strVal val="#ppt_x"/>
                                          </p:val>
                                        </p:tav>
                                        <p:tav tm="100000">
                                          <p:val>
                                            <p:strVal val="#ppt_x"/>
                                          </p:val>
                                        </p:tav>
                                      </p:tavLst>
                                    </p:anim>
                                    <p:anim calcmode="lin" valueType="num">
                                      <p:cBhvr>
                                        <p:cTn id="13" dur="500" fill="hold"/>
                                        <p:tgtEl>
                                          <p:spTgt spid="42"/>
                                        </p:tgtEl>
                                        <p:attrNameLst>
                                          <p:attrName>ppt_y</p:attrName>
                                        </p:attrNameLst>
                                      </p:cBhvr>
                                      <p:tavLst>
                                        <p:tav tm="0">
                                          <p:val>
                                            <p:strVal val="#ppt_y+.1"/>
                                          </p:val>
                                        </p:tav>
                                        <p:tav tm="100000">
                                          <p:val>
                                            <p:strVal val="#ppt_y"/>
                                          </p:val>
                                        </p:tav>
                                      </p:tavLst>
                                    </p:anim>
                                  </p:childTnLst>
                                </p:cTn>
                              </p:par>
                            </p:childTnLst>
                          </p:cTn>
                        </p:par>
                        <p:par>
                          <p:cTn id="14" fill="hold">
                            <p:stCondLst>
                              <p:cond delay="950"/>
                            </p:stCondLst>
                            <p:childTnLst>
                              <p:par>
                                <p:cTn id="15" presetID="42" presetClass="entr" presetSubtype="0" fill="hold" nodeType="afterEffect">
                                  <p:stCondLst>
                                    <p:cond delay="5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anim calcmode="lin" valueType="num">
                                      <p:cBhvr>
                                        <p:cTn id="18" dur="500" fill="hold"/>
                                        <p:tgtEl>
                                          <p:spTgt spid="43"/>
                                        </p:tgtEl>
                                        <p:attrNameLst>
                                          <p:attrName>ppt_x</p:attrName>
                                        </p:attrNameLst>
                                      </p:cBhvr>
                                      <p:tavLst>
                                        <p:tav tm="0">
                                          <p:val>
                                            <p:strVal val="#ppt_x"/>
                                          </p:val>
                                        </p:tav>
                                        <p:tav tm="100000">
                                          <p:val>
                                            <p:strVal val="#ppt_x"/>
                                          </p:val>
                                        </p:tav>
                                      </p:tavLst>
                                    </p:anim>
                                    <p:anim calcmode="lin" valueType="num">
                                      <p:cBhvr>
                                        <p:cTn id="19" dur="500" fill="hold"/>
                                        <p:tgtEl>
                                          <p:spTgt spid="43"/>
                                        </p:tgtEl>
                                        <p:attrNameLst>
                                          <p:attrName>ppt_y</p:attrName>
                                        </p:attrNameLst>
                                      </p:cBhvr>
                                      <p:tavLst>
                                        <p:tav tm="0">
                                          <p:val>
                                            <p:strVal val="#ppt_y+.1"/>
                                          </p:val>
                                        </p:tav>
                                        <p:tav tm="100000">
                                          <p:val>
                                            <p:strVal val="#ppt_y"/>
                                          </p:val>
                                        </p:tav>
                                      </p:tavLst>
                                    </p:anim>
                                  </p:childTnLst>
                                </p:cTn>
                              </p:par>
                            </p:childTnLst>
                          </p:cTn>
                        </p:par>
                        <p:par>
                          <p:cTn id="20" fill="hold">
                            <p:stCondLst>
                              <p:cond delay="1500"/>
                            </p:stCondLst>
                            <p:childTnLst>
                              <p:par>
                                <p:cTn id="21" presetID="42" presetClass="entr" presetSubtype="0" fill="hold" nodeType="afterEffect">
                                  <p:stCondLst>
                                    <p:cond delay="5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ppt_x</p:attrName>
                                        </p:attrNameLst>
                                      </p:cBhvr>
                                      <p:tavLst>
                                        <p:tav tm="0">
                                          <p:val>
                                            <p:strVal val="#ppt_x"/>
                                          </p:val>
                                        </p:tav>
                                        <p:tav tm="100000">
                                          <p:val>
                                            <p:strVal val="#ppt_x"/>
                                          </p:val>
                                        </p:tav>
                                      </p:tavLst>
                                    </p:anim>
                                    <p:anim calcmode="lin" valueType="num">
                                      <p:cBhvr>
                                        <p:cTn id="25" dur="500" fill="hold"/>
                                        <p:tgtEl>
                                          <p:spTgt spid="44"/>
                                        </p:tgtEl>
                                        <p:attrNameLst>
                                          <p:attrName>ppt_y</p:attrName>
                                        </p:attrNameLst>
                                      </p:cBhvr>
                                      <p:tavLst>
                                        <p:tav tm="0">
                                          <p:val>
                                            <p:strVal val="#ppt_y+.1"/>
                                          </p:val>
                                        </p:tav>
                                        <p:tav tm="100000">
                                          <p:val>
                                            <p:strVal val="#ppt_y"/>
                                          </p:val>
                                        </p:tav>
                                      </p:tavLst>
                                    </p:anim>
                                  </p:childTnLst>
                                </p:cTn>
                              </p:par>
                            </p:childTnLst>
                          </p:cTn>
                        </p:par>
                        <p:par>
                          <p:cTn id="26" fill="hold">
                            <p:stCondLst>
                              <p:cond delay="2050"/>
                            </p:stCondLst>
                            <p:childTnLst>
                              <p:par>
                                <p:cTn id="27" presetID="10" presetClass="entr" presetSubtype="0" fill="hold" nodeType="afterEffect">
                                  <p:stCondLst>
                                    <p:cond delay="50"/>
                                  </p:stCondLst>
                                  <p:childTnLst>
                                    <p:set>
                                      <p:cBhvr>
                                        <p:cTn id="28" dur="1" fill="hold">
                                          <p:stCondLst>
                                            <p:cond delay="0"/>
                                          </p:stCondLst>
                                        </p:cTn>
                                        <p:tgtEl>
                                          <p:spTgt spid="46"/>
                                        </p:tgtEl>
                                        <p:attrNameLst>
                                          <p:attrName>style.visibility</p:attrName>
                                        </p:attrNameLst>
                                      </p:cBhvr>
                                      <p:to>
                                        <p:strVal val="visible"/>
                                      </p:to>
                                    </p:set>
                                    <p:animEffect transition="in" filter="fade">
                                      <p:cBhvr>
                                        <p:cTn id="2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5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3B868"/>
                </a:solidFill>
                <a:latin typeface="Segoe UI Semibold" pitchFamily="34" charset="0"/>
                <a:ea typeface="Segoe UI Semibold" pitchFamily="34" charset="-122"/>
                <a:cs typeface="Segoe UI Semibold" pitchFamily="34" charset="-120"/>
              </a:rPr>
              <a:t>OUR APPROACH  ·  WHY IT IS HARD</a:t>
            </a:r>
            <a:endParaRPr lang="en-US" sz="1000" dirty="0"/>
          </a:p>
        </p:txBody>
      </p:sp>
      <p:sp>
        <p:nvSpPr>
          <p:cNvPr id="3" name="s5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The ground kept moving under the data</a:t>
            </a:r>
            <a:endParaRPr lang="en-US" sz="2900" dirty="0"/>
          </a:p>
        </p:txBody>
      </p:sp>
      <p:sp>
        <p:nvSpPr>
          <p:cNvPr id="4" name="s5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Share of parcels delivered late, by month of purchase, January 2017 – August 2018</a:t>
            </a:r>
            <a:endParaRPr lang="en-US" sz="1300" dirty="0"/>
          </a:p>
        </p:txBody>
      </p:sp>
      <p:sp>
        <p:nvSpPr>
          <p:cNvPr id="5" name="s5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1A2C45"/>
          </a:solidFill>
          <a:ln w="15875">
            <a:solidFill>
              <a:srgbClr val="2D4464"/>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8" name="s5 panel">
            <a:extLst>
              <a:ext uri="{FF2B5EF4-FFF2-40B4-BE49-F238E27FC236}">
                <a16:creationId xmlns:a16="http://schemas.microsoft.com/office/drawing/2014/main" id="{6184078F-481F-C39F-0336-46EC087B876D}"/>
              </a:ext>
            </a:extLst>
          </p:cNvPr>
          <p:cNvGrpSpPr/>
          <p:nvPr/>
        </p:nvGrpSpPr>
        <p:grpSpPr>
          <a:xfrm>
            <a:off x="548640" y="1783080"/>
            <a:ext cx="6446520" cy="4343400"/>
            <a:chOff x="548640" y="1783080"/>
            <a:chExt cx="6446520" cy="4343400"/>
          </a:xfrm>
        </p:grpSpPr>
        <p:sp>
          <p:nvSpPr>
            <p:cNvPr id="14" name="s5 panel 1"/>
            <p:cNvSpPr/>
            <p:nvPr/>
          </p:nvSpPr>
          <p:spPr>
            <a:xfrm>
              <a:off x="548640" y="1783080"/>
              <a:ext cx="6446520" cy="4343400"/>
            </a:xfrm>
            <a:prstGeom prst="roundRect">
              <a:avLst>
                <a:gd name="adj" fmla="val 2526"/>
              </a:avLst>
            </a:prstGeom>
            <a:solidFill>
              <a:srgbClr val="1A2C45"/>
            </a:solidFill>
            <a:ln w="9525">
              <a:solidFill>
                <a:srgbClr val="2D4464"/>
              </a:solidFill>
              <a:prstDash val="solid"/>
            </a:ln>
          </p:spPr>
        </p:sp>
        <p:sp>
          <p:nvSpPr>
            <p:cNvPr id="15" name="s5 text 2"/>
            <p:cNvSpPr txBox="1"/>
            <p:nvPr/>
          </p:nvSpPr>
          <p:spPr>
            <a:xfrm>
              <a:off x="777240" y="1920240"/>
              <a:ext cx="6035040" cy="256032"/>
            </a:xfrm>
            <a:prstGeom prst="rect">
              <a:avLst/>
            </a:prstGeom>
            <a:noFill/>
            <a:ln/>
          </p:spPr>
          <p:txBody>
            <a:bodyPr wrap="square" lIns="0" tIns="0" rIns="0" bIns="0" rtlCol="0" anchor="t"/>
            <a:lstStyle/>
            <a:p>
              <a:pPr marL="0" indent="0">
                <a:buNone/>
              </a:pPr>
              <a:r>
                <a:rPr lang="en-US" sz="1050" dirty="0">
                  <a:solidFill>
                    <a:srgbClr val="E3B868"/>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Black Friday     </a:t>
              </a:r>
              <a:r>
                <a:rPr lang="en-US" sz="1050" dirty="0">
                  <a:solidFill>
                    <a:srgbClr val="EE91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carrier slowdown, Feb–Mar 2018     </a:t>
              </a:r>
              <a:r>
                <a:rPr lang="en-US" sz="1050" dirty="0">
                  <a:solidFill>
                    <a:srgbClr val="97C7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after the truckers' strike</a:t>
              </a:r>
              <a:endParaRPr lang="en-US" sz="1050" dirty="0"/>
            </a:p>
          </p:txBody>
        </p:sp>
      </p:grpSp>
      <p:graphicFrame>
        <p:nvGraphicFramePr>
          <p:cNvPr id="16" name="s5 chart"/>
          <p:cNvGraphicFramePr/>
          <p:nvPr/>
        </p:nvGraphicFramePr>
        <p:xfrm>
          <a:off x="685800" y="2240280"/>
          <a:ext cx="6217920" cy="3794760"/>
        </p:xfrm>
        <a:graphic>
          <a:graphicData uri="http://schemas.openxmlformats.org/drawingml/2006/chart">
            <c:chart xmlns:c="http://schemas.openxmlformats.org/drawingml/2006/chart" xmlns:r="http://schemas.openxmlformats.org/officeDocument/2006/relationships" r:id="rId7"/>
          </a:graphicData>
        </a:graphic>
      </p:graphicFrame>
      <p:grpSp>
        <p:nvGrpSpPr>
          <p:cNvPr id="35" name="s5 row0">
            <a:extLst>
              <a:ext uri="{FF2B5EF4-FFF2-40B4-BE49-F238E27FC236}">
                <a16:creationId xmlns:a16="http://schemas.microsoft.com/office/drawing/2014/main" id="{DF27D5A4-F2C7-D9D1-E54F-9140BEA8C1D9}"/>
              </a:ext>
            </a:extLst>
          </p:cNvPr>
          <p:cNvGrpSpPr/>
          <p:nvPr/>
        </p:nvGrpSpPr>
        <p:grpSpPr>
          <a:xfrm>
            <a:off x="7360920" y="1783080"/>
            <a:ext cx="4297680" cy="1353312"/>
            <a:chOff x="7360920" y="1783080"/>
            <a:chExt cx="4297680" cy="1353312"/>
          </a:xfrm>
        </p:grpSpPr>
        <p:sp>
          <p:nvSpPr>
            <p:cNvPr id="17" name="s5 icon circle 3"/>
            <p:cNvSpPr/>
            <p:nvPr/>
          </p:nvSpPr>
          <p:spPr>
            <a:xfrm>
              <a:off x="7360920" y="1828800"/>
              <a:ext cx="566928" cy="566928"/>
            </a:xfrm>
            <a:prstGeom prst="ellipse">
              <a:avLst/>
            </a:prstGeom>
            <a:solidFill>
              <a:srgbClr val="1A2C45"/>
            </a:solidFill>
            <a:ln w="12700">
              <a:solidFill>
                <a:srgbClr val="2D4464"/>
              </a:solidFill>
              <a:prstDash val="solid"/>
            </a:ln>
          </p:spPr>
        </p:sp>
        <p:pic>
          <p:nvPicPr>
            <p:cNvPr id="18" name="s5 icon 4" descr="preencoded.png"/>
            <p:cNvPicPr>
              <a:picLocks noChangeAspect="1"/>
            </p:cNvPicPr>
            <p:nvPr/>
          </p:nvPicPr>
          <p:blipFill>
            <a:blip r:embed="rId8"/>
            <a:stretch>
              <a:fillRect/>
            </a:stretch>
          </p:blipFill>
          <p:spPr>
            <a:xfrm>
              <a:off x="7513991" y="1981871"/>
              <a:ext cx="260787" cy="260787"/>
            </a:xfrm>
            <a:prstGeom prst="rect">
              <a:avLst/>
            </a:prstGeom>
          </p:spPr>
        </p:pic>
        <p:sp>
          <p:nvSpPr>
            <p:cNvPr id="19" name="s5 text 5"/>
            <p:cNvSpPr txBox="1"/>
            <p:nvPr/>
          </p:nvSpPr>
          <p:spPr>
            <a:xfrm>
              <a:off x="8092440" y="178308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Twice as fast in six months</a:t>
              </a:r>
              <a:endParaRPr lang="en-US" sz="1500" dirty="0"/>
            </a:p>
          </p:txBody>
        </p:sp>
        <p:sp>
          <p:nvSpPr>
            <p:cNvPr id="20" name="s5 text 6"/>
            <p:cNvSpPr txBox="1"/>
            <p:nvPr/>
          </p:nvSpPr>
          <p:spPr>
            <a:xfrm>
              <a:off x="8092440" y="213055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Average delivery fell from 17 days (Feb 2018) to 8 (Aug 2018): last year's patterns go stale.</a:t>
              </a:r>
              <a:endParaRPr lang="en-US" sz="1150" dirty="0"/>
            </a:p>
          </p:txBody>
        </p:sp>
      </p:grpSp>
      <p:grpSp>
        <p:nvGrpSpPr>
          <p:cNvPr id="36" name="s5 row1">
            <a:extLst>
              <a:ext uri="{FF2B5EF4-FFF2-40B4-BE49-F238E27FC236}">
                <a16:creationId xmlns:a16="http://schemas.microsoft.com/office/drawing/2014/main" id="{EF1750ED-5230-1C94-F57C-96638F039A2E}"/>
              </a:ext>
            </a:extLst>
          </p:cNvPr>
          <p:cNvGrpSpPr/>
          <p:nvPr/>
        </p:nvGrpSpPr>
        <p:grpSpPr>
          <a:xfrm>
            <a:off x="7360920" y="3246120"/>
            <a:ext cx="4297680" cy="1353312"/>
            <a:chOff x="7360920" y="3246120"/>
            <a:chExt cx="4297680" cy="1353312"/>
          </a:xfrm>
        </p:grpSpPr>
        <p:sp>
          <p:nvSpPr>
            <p:cNvPr id="21" name="s5 icon circle 7"/>
            <p:cNvSpPr/>
            <p:nvPr/>
          </p:nvSpPr>
          <p:spPr>
            <a:xfrm>
              <a:off x="7360920" y="3291840"/>
              <a:ext cx="566928" cy="566928"/>
            </a:xfrm>
            <a:prstGeom prst="ellipse">
              <a:avLst/>
            </a:prstGeom>
            <a:solidFill>
              <a:srgbClr val="1A2C45"/>
            </a:solidFill>
            <a:ln w="12700">
              <a:solidFill>
                <a:srgbClr val="2D4464"/>
              </a:solidFill>
              <a:prstDash val="solid"/>
            </a:ln>
          </p:spPr>
        </p:sp>
        <p:pic>
          <p:nvPicPr>
            <p:cNvPr id="22" name="s5 icon 8" descr="preencoded.png"/>
            <p:cNvPicPr>
              <a:picLocks noChangeAspect="1"/>
            </p:cNvPicPr>
            <p:nvPr/>
          </p:nvPicPr>
          <p:blipFill>
            <a:blip r:embed="rId9"/>
            <a:stretch>
              <a:fillRect/>
            </a:stretch>
          </p:blipFill>
          <p:spPr>
            <a:xfrm>
              <a:off x="7513991" y="3444911"/>
              <a:ext cx="260787" cy="260787"/>
            </a:xfrm>
            <a:prstGeom prst="rect">
              <a:avLst/>
            </a:prstGeom>
          </p:spPr>
        </p:pic>
        <p:sp>
          <p:nvSpPr>
            <p:cNvPr id="23" name="s5 text 9"/>
            <p:cNvSpPr txBox="1"/>
            <p:nvPr/>
          </p:nvSpPr>
          <p:spPr>
            <a:xfrm>
              <a:off x="8092440" y="324612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Shocks no single order reveals</a:t>
              </a:r>
              <a:endParaRPr lang="en-US" sz="1500" dirty="0"/>
            </a:p>
          </p:txBody>
        </p:sp>
        <p:sp>
          <p:nvSpPr>
            <p:cNvPr id="24" name="s5 text 10"/>
            <p:cNvSpPr txBox="1"/>
            <p:nvPr/>
          </p:nvSpPr>
          <p:spPr>
            <a:xfrm>
              <a:off x="8092440" y="359359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Black Friday, a carrier slowdown, a national truckers' strike.</a:t>
              </a:r>
              <a:endParaRPr lang="en-US" sz="1150" dirty="0"/>
            </a:p>
          </p:txBody>
        </p:sp>
      </p:grpSp>
      <p:grpSp>
        <p:nvGrpSpPr>
          <p:cNvPr id="37" name="s5 row2">
            <a:extLst>
              <a:ext uri="{FF2B5EF4-FFF2-40B4-BE49-F238E27FC236}">
                <a16:creationId xmlns:a16="http://schemas.microsoft.com/office/drawing/2014/main" id="{51C8B526-52E3-307B-5CC2-CD11FDE7F9C9}"/>
              </a:ext>
            </a:extLst>
          </p:cNvPr>
          <p:cNvGrpSpPr/>
          <p:nvPr/>
        </p:nvGrpSpPr>
        <p:grpSpPr>
          <a:xfrm>
            <a:off x="7360920" y="4709160"/>
            <a:ext cx="4297680" cy="1353312"/>
            <a:chOff x="7360920" y="4709160"/>
            <a:chExt cx="4297680" cy="1353312"/>
          </a:xfrm>
        </p:grpSpPr>
        <p:sp>
          <p:nvSpPr>
            <p:cNvPr id="25" name="s5 icon circle 11"/>
            <p:cNvSpPr/>
            <p:nvPr/>
          </p:nvSpPr>
          <p:spPr>
            <a:xfrm>
              <a:off x="7360920" y="4754880"/>
              <a:ext cx="566928" cy="566928"/>
            </a:xfrm>
            <a:prstGeom prst="ellipse">
              <a:avLst/>
            </a:prstGeom>
            <a:solidFill>
              <a:srgbClr val="1A2C45"/>
            </a:solidFill>
            <a:ln w="12700">
              <a:solidFill>
                <a:srgbClr val="2D4464"/>
              </a:solidFill>
              <a:prstDash val="solid"/>
            </a:ln>
          </p:spPr>
        </p:sp>
        <p:pic>
          <p:nvPicPr>
            <p:cNvPr id="26" name="s5 icon 12" descr="preencoded.png"/>
            <p:cNvPicPr>
              <a:picLocks noChangeAspect="1"/>
            </p:cNvPicPr>
            <p:nvPr/>
          </p:nvPicPr>
          <p:blipFill>
            <a:blip r:embed="rId10"/>
            <a:stretch>
              <a:fillRect/>
            </a:stretch>
          </p:blipFill>
          <p:spPr>
            <a:xfrm>
              <a:off x="7513991" y="4907951"/>
              <a:ext cx="260787" cy="260787"/>
            </a:xfrm>
            <a:prstGeom prst="rect">
              <a:avLst/>
            </a:prstGeom>
          </p:spPr>
        </p:pic>
        <p:sp>
          <p:nvSpPr>
            <p:cNvPr id="27" name="s5 text 13"/>
            <p:cNvSpPr txBox="1"/>
            <p:nvPr/>
          </p:nvSpPr>
          <p:spPr>
            <a:xfrm>
              <a:off x="8092440" y="470916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No peeking at the future</a:t>
              </a:r>
              <a:endParaRPr lang="en-US" sz="1500" dirty="0"/>
            </a:p>
          </p:txBody>
        </p:sp>
        <p:sp>
          <p:nvSpPr>
            <p:cNvPr id="28" name="s5 text 14"/>
            <p:cNvSpPr txBox="1"/>
            <p:nvPr/>
          </p:nvSpPr>
          <p:spPr>
            <a:xfrm>
              <a:off x="8092440" y="505663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One column from the future makes a model perfect (ROC-AUC 1.00) and useless. We trained on 2017 – April 2018 and judged on July – August 2018: months the models never saw.</a:t>
              </a:r>
              <a:endParaRPr lang="en-US" sz="1150" dirty="0"/>
            </a:p>
          </p:txBody>
        </p:sp>
      </p:grpSp>
      <p:sp>
        <p:nvSpPr>
          <p:cNvPr id="29" name="s5 nav1">
            <a:hlinkClick r:id="rId11"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0" name="s5 nav2">
            <a:hlinkClick r:id="rId12"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3B868"/>
                </a:solidFill>
                <a:latin typeface="Segoe UI Semibold" pitchFamily="34" charset="0"/>
                <a:ea typeface="Segoe UI Semibold" pitchFamily="34" charset="-122"/>
                <a:cs typeface="Segoe UI Semibold" pitchFamily="34" charset="-120"/>
              </a:rPr>
              <a:t>02  </a:t>
            </a:r>
            <a:r>
              <a:rPr lang="en-US" sz="950" dirty="0">
                <a:solidFill>
                  <a:srgbClr val="FFFFFF"/>
                </a:solidFill>
                <a:latin typeface="Segoe UI Semibold" pitchFamily="34" charset="0"/>
                <a:ea typeface="Segoe UI Semibold" pitchFamily="34" charset="-122"/>
                <a:cs typeface="Segoe UI Semibold" pitchFamily="34" charset="-120"/>
              </a:rPr>
              <a:t>Our approach</a:t>
            </a:r>
            <a:endParaRPr lang="en-US" sz="950" dirty="0"/>
          </a:p>
        </p:txBody>
      </p:sp>
      <p:sp>
        <p:nvSpPr>
          <p:cNvPr id="31" name="s5 nav3">
            <a:hlinkClick r:id="rId13"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2" name="s5 nav4">
            <a:hlinkClick r:id="rId14"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3" name="s5 nav marker"/>
          <p:cNvSpPr/>
          <p:nvPr/>
        </p:nvSpPr>
        <p:spPr>
          <a:xfrm>
            <a:off x="1874520" y="6336792"/>
            <a:ext cx="201168" cy="36576"/>
          </a:xfrm>
          <a:prstGeom prst="roundRect">
            <a:avLst>
              <a:gd name="adj" fmla="val 50000"/>
            </a:avLst>
          </a:prstGeom>
          <a:solidFill>
            <a:srgbClr val="E3B868"/>
          </a:solidFill>
          <a:ln w="12700">
            <a:solidFill>
              <a:srgbClr val="E3B868">
                <a:alpha val="0"/>
              </a:srgbClr>
            </a:solidFill>
            <a:prstDash val="solid"/>
          </a:ln>
        </p:spPr>
      </p:sp>
      <p:sp>
        <p:nvSpPr>
          <p:cNvPr id="34" name="s5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5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par>
                                <p:cTn id="8" presetID="22" presetClass="entr" presetSubtype="8" fill="hold" grpId="0" nodeType="withEffect">
                                  <p:stCondLst>
                                    <p:cond delay="5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0" dur="500"/>
                                        <p:tgtEl>
                                          <p:spTgt spid="16"/>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50"/>
                                        <p:tgtEl>
                                          <p:spTgt spid="35"/>
                                        </p:tgtEl>
                                      </p:cBhvr>
                                    </p:animEffect>
                                    <p:anim calcmode="lin" valueType="num">
                                      <p:cBhvr>
                                        <p:cTn id="15" dur="450" fill="hold"/>
                                        <p:tgtEl>
                                          <p:spTgt spid="35"/>
                                        </p:tgtEl>
                                        <p:attrNameLst>
                                          <p:attrName>ppt_x</p:attrName>
                                        </p:attrNameLst>
                                      </p:cBhvr>
                                      <p:tavLst>
                                        <p:tav tm="0">
                                          <p:val>
                                            <p:strVal val="#ppt_x"/>
                                          </p:val>
                                        </p:tav>
                                        <p:tav tm="100000">
                                          <p:val>
                                            <p:strVal val="#ppt_x"/>
                                          </p:val>
                                        </p:tav>
                                      </p:tavLst>
                                    </p:anim>
                                    <p:anim calcmode="lin" valueType="num">
                                      <p:cBhvr>
                                        <p:cTn id="16" dur="450" fill="hold"/>
                                        <p:tgtEl>
                                          <p:spTgt spid="35"/>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42" presetClass="entr" presetSubtype="0" fill="hold" nodeType="afterEffect">
                                  <p:stCondLst>
                                    <p:cond delay="5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50"/>
                                        <p:tgtEl>
                                          <p:spTgt spid="36"/>
                                        </p:tgtEl>
                                      </p:cBhvr>
                                    </p:animEffect>
                                    <p:anim calcmode="lin" valueType="num">
                                      <p:cBhvr>
                                        <p:cTn id="21" dur="450" fill="hold"/>
                                        <p:tgtEl>
                                          <p:spTgt spid="36"/>
                                        </p:tgtEl>
                                        <p:attrNameLst>
                                          <p:attrName>ppt_x</p:attrName>
                                        </p:attrNameLst>
                                      </p:cBhvr>
                                      <p:tavLst>
                                        <p:tav tm="0">
                                          <p:val>
                                            <p:strVal val="#ppt_x"/>
                                          </p:val>
                                        </p:tav>
                                        <p:tav tm="100000">
                                          <p:val>
                                            <p:strVal val="#ppt_x"/>
                                          </p:val>
                                        </p:tav>
                                      </p:tavLst>
                                    </p:anim>
                                    <p:anim calcmode="lin" valueType="num">
                                      <p:cBhvr>
                                        <p:cTn id="22" dur="450" fill="hold"/>
                                        <p:tgtEl>
                                          <p:spTgt spid="36"/>
                                        </p:tgtEl>
                                        <p:attrNameLst>
                                          <p:attrName>ppt_y</p:attrName>
                                        </p:attrNameLst>
                                      </p:cBhvr>
                                      <p:tavLst>
                                        <p:tav tm="0">
                                          <p:val>
                                            <p:strVal val="#ppt_y+.1"/>
                                          </p:val>
                                        </p:tav>
                                        <p:tav tm="100000">
                                          <p:val>
                                            <p:strVal val="#ppt_y"/>
                                          </p:val>
                                        </p:tav>
                                      </p:tavLst>
                                    </p:anim>
                                  </p:childTnLst>
                                </p:cTn>
                              </p:par>
                            </p:childTnLst>
                          </p:cTn>
                        </p:par>
                        <p:par>
                          <p:cTn id="23" fill="hold">
                            <p:stCondLst>
                              <p:cond delay="1550"/>
                            </p:stCondLst>
                            <p:childTnLst>
                              <p:par>
                                <p:cTn id="24" presetID="42" presetClass="entr" presetSubtype="0" fill="hold" nodeType="afterEffect">
                                  <p:stCondLst>
                                    <p:cond delay="5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50"/>
                                        <p:tgtEl>
                                          <p:spTgt spid="37"/>
                                        </p:tgtEl>
                                      </p:cBhvr>
                                    </p:animEffect>
                                    <p:anim calcmode="lin" valueType="num">
                                      <p:cBhvr>
                                        <p:cTn id="27" dur="450" fill="hold"/>
                                        <p:tgtEl>
                                          <p:spTgt spid="37"/>
                                        </p:tgtEl>
                                        <p:attrNameLst>
                                          <p:attrName>ppt_x</p:attrName>
                                        </p:attrNameLst>
                                      </p:cBhvr>
                                      <p:tavLst>
                                        <p:tav tm="0">
                                          <p:val>
                                            <p:strVal val="#ppt_x"/>
                                          </p:val>
                                        </p:tav>
                                        <p:tav tm="100000">
                                          <p:val>
                                            <p:strVal val="#ppt_x"/>
                                          </p:val>
                                        </p:tav>
                                      </p:tavLst>
                                    </p:anim>
                                    <p:anim calcmode="lin" valueType="num">
                                      <p:cBhvr>
                                        <p:cTn id="28" dur="450" fill="hold"/>
                                        <p:tgtEl>
                                          <p:spTgt spid="3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6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WHAT WE BUILT</a:t>
            </a:r>
            <a:endParaRPr lang="en-US" sz="1000" dirty="0"/>
          </a:p>
        </p:txBody>
      </p:sp>
      <p:sp>
        <p:nvSpPr>
          <p:cNvPr id="3" name="s6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What we built: an early-warning system</a:t>
            </a:r>
            <a:endParaRPr lang="en-US" sz="2900" dirty="0"/>
          </a:p>
        </p:txBody>
      </p:sp>
      <p:sp>
        <p:nvSpPr>
          <p:cNvPr id="4" name="s6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pieces, each tied to one moment and one team</a:t>
            </a:r>
            <a:endParaRPr lang="en-US" sz="1300" dirty="0"/>
          </a:p>
        </p:txBody>
      </p:sp>
      <p:sp>
        <p:nvSpPr>
          <p:cNvPr id="5" name="s6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6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checkout and delivery</a:t>
            </a:r>
            <a:endParaRPr lang="en-US" sz="850" dirty="0"/>
          </a:p>
        </p:txBody>
      </p:sp>
      <p:grpSp>
        <p:nvGrpSpPr>
          <p:cNvPr id="56" name="s6 input">
            <a:extLst>
              <a:ext uri="{FF2B5EF4-FFF2-40B4-BE49-F238E27FC236}">
                <a16:creationId xmlns:a16="http://schemas.microsoft.com/office/drawing/2014/main" id="{CBC85EAE-DA4B-4ACE-2EEF-D6DCBD3D1CF6}"/>
              </a:ext>
            </a:extLst>
          </p:cNvPr>
          <p:cNvGrpSpPr/>
          <p:nvPr/>
        </p:nvGrpSpPr>
        <p:grpSpPr>
          <a:xfrm>
            <a:off x="548640" y="1783080"/>
            <a:ext cx="2377440" cy="3291840"/>
            <a:chOff x="548640" y="1783080"/>
            <a:chExt cx="2377440" cy="3291840"/>
          </a:xfrm>
        </p:grpSpPr>
        <p:sp>
          <p:nvSpPr>
            <p:cNvPr id="15" name="s6 panel 1"/>
            <p:cNvSpPr/>
            <p:nvPr/>
          </p:nvSpPr>
          <p:spPr>
            <a:xfrm>
              <a:off x="548640" y="1783080"/>
              <a:ext cx="2377440" cy="3291840"/>
            </a:xfrm>
            <a:prstGeom prst="roundRect">
              <a:avLst>
                <a:gd name="adj" fmla="val 4615"/>
              </a:avLst>
            </a:prstGeom>
            <a:solidFill>
              <a:srgbClr val="F2F4F7"/>
            </a:solidFill>
            <a:ln w="12700">
              <a:solidFill>
                <a:srgbClr val="F2F4F7">
                  <a:alpha val="0"/>
                </a:srgbClr>
              </a:solidFill>
              <a:prstDash val="solid"/>
            </a:ln>
          </p:spPr>
        </p:sp>
        <p:sp>
          <p:nvSpPr>
            <p:cNvPr id="16" name="s6 icon circle 2"/>
            <p:cNvSpPr/>
            <p:nvPr/>
          </p:nvSpPr>
          <p:spPr>
            <a:xfrm>
              <a:off x="777240" y="1993392"/>
              <a:ext cx="548640" cy="548640"/>
            </a:xfrm>
            <a:prstGeom prst="ellipse">
              <a:avLst/>
            </a:prstGeom>
            <a:solidFill>
              <a:srgbClr val="FFFFFF"/>
            </a:solidFill>
            <a:ln w="12700">
              <a:solidFill>
                <a:srgbClr val="E2E7EC"/>
              </a:solidFill>
              <a:prstDash val="solid"/>
            </a:ln>
          </p:spPr>
        </p:sp>
        <p:pic>
          <p:nvPicPr>
            <p:cNvPr id="17" name="s6 icon 3" descr="preencoded.png"/>
            <p:cNvPicPr>
              <a:picLocks noChangeAspect="1"/>
            </p:cNvPicPr>
            <p:nvPr/>
          </p:nvPicPr>
          <p:blipFill>
            <a:blip r:embed="rId7"/>
            <a:stretch>
              <a:fillRect/>
            </a:stretch>
          </p:blipFill>
          <p:spPr>
            <a:xfrm>
              <a:off x="925373" y="2141525"/>
              <a:ext cx="252374" cy="252374"/>
            </a:xfrm>
            <a:prstGeom prst="rect">
              <a:avLst/>
            </a:prstGeom>
          </p:spPr>
        </p:pic>
        <p:sp>
          <p:nvSpPr>
            <p:cNvPr id="18" name="s6 text 4"/>
            <p:cNvSpPr txBox="1"/>
            <p:nvPr/>
          </p:nvSpPr>
          <p:spPr>
            <a:xfrm>
              <a:off x="777240" y="2697480"/>
              <a:ext cx="2011680"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WHAT GOES IN</a:t>
              </a:r>
              <a:endParaRPr lang="en-US" sz="900" dirty="0"/>
            </a:p>
          </p:txBody>
        </p:sp>
        <p:sp>
          <p:nvSpPr>
            <p:cNvPr id="19" name="s6 text 5"/>
            <p:cNvSpPr txBox="1"/>
            <p:nvPr/>
          </p:nvSpPr>
          <p:spPr>
            <a:xfrm>
              <a:off x="777240" y="2971800"/>
              <a:ext cx="2011680" cy="685800"/>
            </a:xfrm>
            <a:prstGeom prst="rect">
              <a:avLst/>
            </a:prstGeom>
            <a:noFill/>
            <a:ln/>
          </p:spPr>
          <p:txBody>
            <a:bodyPr wrap="square" lIns="0" tIns="0" rIns="0" bIns="0" rtlCol="0" anchor="t"/>
            <a:lstStyle/>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99,441 orders</a:t>
              </a:r>
              <a:endParaRPr lang="en-US" sz="1500" dirty="0"/>
            </a:p>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from 9 tables</a:t>
              </a:r>
              <a:endParaRPr lang="en-US" sz="1500" dirty="0"/>
            </a:p>
          </p:txBody>
        </p:sp>
        <p:sp>
          <p:nvSpPr>
            <p:cNvPr id="20" name="s6 text 6"/>
            <p:cNvSpPr txBox="1"/>
            <p:nvPr/>
          </p:nvSpPr>
          <p:spPr>
            <a:xfrm>
              <a:off x="777240" y="3703320"/>
              <a:ext cx="2057400" cy="1280160"/>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Promise and distance</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Basket and calendar</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Seller and route records</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How the delivery went</a:t>
              </a:r>
              <a:endParaRPr lang="en-US" sz="1100" dirty="0"/>
            </a:p>
          </p:txBody>
        </p:sp>
      </p:grpSp>
      <p:pic>
        <p:nvPicPr>
          <p:cNvPr id="21" name="s6 arrow 7" descr="preencoded.png"/>
          <p:cNvPicPr>
            <a:picLocks noChangeAspect="1"/>
          </p:cNvPicPr>
          <p:nvPr/>
        </p:nvPicPr>
        <p:blipFill>
          <a:blip r:embed="rId8"/>
          <a:stretch>
            <a:fillRect/>
          </a:stretch>
        </p:blipFill>
        <p:spPr>
          <a:xfrm>
            <a:off x="3017520" y="3611880"/>
            <a:ext cx="256032" cy="256032"/>
          </a:xfrm>
          <a:prstGeom prst="rect">
            <a:avLst/>
          </a:prstGeom>
        </p:spPr>
      </p:pic>
      <p:grpSp>
        <p:nvGrpSpPr>
          <p:cNvPr id="53" name="s6 comp0">
            <a:extLst>
              <a:ext uri="{FF2B5EF4-FFF2-40B4-BE49-F238E27FC236}">
                <a16:creationId xmlns:a16="http://schemas.microsoft.com/office/drawing/2014/main" id="{FE8E09A9-5BCA-62A6-5315-62227B0BCA27}"/>
              </a:ext>
            </a:extLst>
          </p:cNvPr>
          <p:cNvGrpSpPr/>
          <p:nvPr/>
        </p:nvGrpSpPr>
        <p:grpSpPr>
          <a:xfrm>
            <a:off x="3383280" y="1783080"/>
            <a:ext cx="2633472" cy="3291840"/>
            <a:chOff x="3383280" y="1783080"/>
            <a:chExt cx="2633472" cy="3291840"/>
          </a:xfrm>
        </p:grpSpPr>
        <p:sp>
          <p:nvSpPr>
            <p:cNvPr id="22" name="s6 panel 8"/>
            <p:cNvSpPr/>
            <p:nvPr/>
          </p:nvSpPr>
          <p:spPr>
            <a:xfrm>
              <a:off x="3383280" y="1783080"/>
              <a:ext cx="2633472" cy="3291840"/>
            </a:xfrm>
            <a:prstGeom prst="roundRect">
              <a:avLst>
                <a:gd name="adj" fmla="val 4167"/>
              </a:avLst>
            </a:prstGeom>
            <a:solidFill>
              <a:srgbClr val="EAF1F7"/>
            </a:solidFill>
            <a:ln w="12700">
              <a:solidFill>
                <a:srgbClr val="EAF1F7">
                  <a:alpha val="0"/>
                </a:srgbClr>
              </a:solidFill>
              <a:prstDash val="solid"/>
            </a:ln>
          </p:spPr>
        </p:sp>
        <p:sp>
          <p:nvSpPr>
            <p:cNvPr id="23" name="s6 icon circle 9"/>
            <p:cNvSpPr/>
            <p:nvPr/>
          </p:nvSpPr>
          <p:spPr>
            <a:xfrm>
              <a:off x="3611880" y="1993392"/>
              <a:ext cx="548640" cy="548640"/>
            </a:xfrm>
            <a:prstGeom prst="ellipse">
              <a:avLst/>
            </a:prstGeom>
            <a:solidFill>
              <a:srgbClr val="2F6F9F"/>
            </a:solidFill>
            <a:ln w="12700">
              <a:solidFill>
                <a:srgbClr val="2F6F9F">
                  <a:alpha val="0"/>
                </a:srgbClr>
              </a:solidFill>
              <a:prstDash val="solid"/>
            </a:ln>
          </p:spPr>
        </p:sp>
        <p:pic>
          <p:nvPicPr>
            <p:cNvPr id="24" name="s6 icon 10" descr="preencoded.png"/>
            <p:cNvPicPr>
              <a:picLocks noChangeAspect="1"/>
            </p:cNvPicPr>
            <p:nvPr/>
          </p:nvPicPr>
          <p:blipFill>
            <a:blip r:embed="rId9"/>
            <a:stretch>
              <a:fillRect/>
            </a:stretch>
          </p:blipFill>
          <p:spPr>
            <a:xfrm>
              <a:off x="3760013" y="2141525"/>
              <a:ext cx="252374" cy="252374"/>
            </a:xfrm>
            <a:prstGeom prst="rect">
              <a:avLst/>
            </a:prstGeom>
          </p:spPr>
        </p:pic>
        <p:sp>
          <p:nvSpPr>
            <p:cNvPr id="25" name="s6 text 11"/>
            <p:cNvSpPr txBox="1"/>
            <p:nvPr/>
          </p:nvSpPr>
          <p:spPr>
            <a:xfrm>
              <a:off x="3611880" y="2697480"/>
              <a:ext cx="22219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AT CHECKOUT</a:t>
              </a:r>
              <a:endParaRPr lang="en-US" sz="900" dirty="0"/>
            </a:p>
          </p:txBody>
        </p:sp>
        <p:sp>
          <p:nvSpPr>
            <p:cNvPr id="26" name="s6 text 12"/>
            <p:cNvSpPr txBox="1"/>
            <p:nvPr/>
          </p:nvSpPr>
          <p:spPr>
            <a:xfrm>
              <a:off x="3611880"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Delivery forecast</a:t>
              </a:r>
              <a:endParaRPr lang="en-US" sz="1650" dirty="0"/>
            </a:p>
          </p:txBody>
        </p:sp>
        <p:sp>
          <p:nvSpPr>
            <p:cNvPr id="27" name="s6 text 13"/>
            <p:cNvSpPr txBox="1"/>
            <p:nvPr/>
          </p:nvSpPr>
          <p:spPr>
            <a:xfrm>
              <a:off x="3611880"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How many days the parcel will take, and the chance the promise breaks.</a:t>
              </a:r>
              <a:endParaRPr lang="en-US" sz="1200" dirty="0"/>
            </a:p>
          </p:txBody>
        </p:sp>
        <p:sp>
          <p:nvSpPr>
            <p:cNvPr id="28" name="s6 text 14"/>
            <p:cNvSpPr txBox="1"/>
            <p:nvPr/>
          </p:nvSpPr>
          <p:spPr>
            <a:xfrm>
              <a:off x="3611880" y="4526280"/>
              <a:ext cx="2267712" cy="365760"/>
            </a:xfrm>
            <a:prstGeom prst="rect">
              <a:avLst/>
            </a:prstGeom>
            <a:noFill/>
            <a:ln/>
          </p:spPr>
          <p:txBody>
            <a:bodyPr wrap="square" lIns="0" tIns="0" rIns="0" bIns="0" rtlCol="0" anchor="t"/>
            <a:lstStyle/>
            <a:p>
              <a:pPr marL="0" indent="0">
                <a:buNone/>
              </a:pPr>
              <a:r>
                <a:rPr lang="en-US" sz="1100" dirty="0">
                  <a:solidFill>
                    <a:srgbClr val="245A84"/>
                  </a:solidFill>
                  <a:latin typeface="Segoe UI Semibold" pitchFamily="34" charset="0"/>
                  <a:ea typeface="Segoe UI Semibold" pitchFamily="34" charset="-122"/>
                  <a:cs typeface="Segoe UI Semibold" pitchFamily="34" charset="-120"/>
                </a:rPr>
                <a:t>→ honest date, warning list</a:t>
              </a:r>
              <a:endParaRPr lang="en-US" sz="1100" dirty="0"/>
            </a:p>
          </p:txBody>
        </p:sp>
      </p:grpSp>
      <p:grpSp>
        <p:nvGrpSpPr>
          <p:cNvPr id="54" name="s6 comp1">
            <a:extLst>
              <a:ext uri="{FF2B5EF4-FFF2-40B4-BE49-F238E27FC236}">
                <a16:creationId xmlns:a16="http://schemas.microsoft.com/office/drawing/2014/main" id="{B96C5D8A-68DC-8839-9272-A6BBD68CCA4D}"/>
              </a:ext>
            </a:extLst>
          </p:cNvPr>
          <p:cNvGrpSpPr/>
          <p:nvPr/>
        </p:nvGrpSpPr>
        <p:grpSpPr>
          <a:xfrm>
            <a:off x="6163056" y="1783080"/>
            <a:ext cx="2633472" cy="3291840"/>
            <a:chOff x="6163056" y="1783080"/>
            <a:chExt cx="2633472" cy="3291840"/>
          </a:xfrm>
        </p:grpSpPr>
        <p:sp>
          <p:nvSpPr>
            <p:cNvPr id="29" name="s6 panel 15"/>
            <p:cNvSpPr/>
            <p:nvPr/>
          </p:nvSpPr>
          <p:spPr>
            <a:xfrm>
              <a:off x="6163056" y="1783080"/>
              <a:ext cx="2633472" cy="3291840"/>
            </a:xfrm>
            <a:prstGeom prst="roundRect">
              <a:avLst>
                <a:gd name="adj" fmla="val 4167"/>
              </a:avLst>
            </a:prstGeom>
            <a:solidFill>
              <a:srgbClr val="EBF3EA"/>
            </a:solidFill>
            <a:ln w="12700">
              <a:solidFill>
                <a:srgbClr val="EBF3EA">
                  <a:alpha val="0"/>
                </a:srgbClr>
              </a:solidFill>
              <a:prstDash val="solid"/>
            </a:ln>
          </p:spPr>
        </p:sp>
        <p:sp>
          <p:nvSpPr>
            <p:cNvPr id="30" name="s6 icon circle 16"/>
            <p:cNvSpPr/>
            <p:nvPr/>
          </p:nvSpPr>
          <p:spPr>
            <a:xfrm>
              <a:off x="6391656" y="1993392"/>
              <a:ext cx="548640" cy="548640"/>
            </a:xfrm>
            <a:prstGeom prst="ellipse">
              <a:avLst/>
            </a:prstGeom>
            <a:solidFill>
              <a:srgbClr val="5B8C5A"/>
            </a:solidFill>
            <a:ln w="12700">
              <a:solidFill>
                <a:srgbClr val="5B8C5A">
                  <a:alpha val="0"/>
                </a:srgbClr>
              </a:solidFill>
              <a:prstDash val="solid"/>
            </a:ln>
          </p:spPr>
        </p:sp>
        <p:pic>
          <p:nvPicPr>
            <p:cNvPr id="31" name="s6 icon 17" descr="preencoded.png"/>
            <p:cNvPicPr>
              <a:picLocks noChangeAspect="1"/>
            </p:cNvPicPr>
            <p:nvPr/>
          </p:nvPicPr>
          <p:blipFill>
            <a:blip r:embed="rId10"/>
            <a:stretch>
              <a:fillRect/>
            </a:stretch>
          </p:blipFill>
          <p:spPr>
            <a:xfrm>
              <a:off x="6539789" y="2141525"/>
              <a:ext cx="252374" cy="252374"/>
            </a:xfrm>
            <a:prstGeom prst="rect">
              <a:avLst/>
            </a:prstGeom>
          </p:spPr>
        </p:pic>
        <p:sp>
          <p:nvSpPr>
            <p:cNvPr id="32" name="s6 text 18"/>
            <p:cNvSpPr txBox="1"/>
            <p:nvPr/>
          </p:nvSpPr>
          <p:spPr>
            <a:xfrm>
              <a:off x="6391656" y="2697480"/>
              <a:ext cx="22219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AT DELIVERY</a:t>
              </a:r>
              <a:endParaRPr lang="en-US" sz="900" dirty="0"/>
            </a:p>
          </p:txBody>
        </p:sp>
        <p:sp>
          <p:nvSpPr>
            <p:cNvPr id="33" name="s6 text 19"/>
            <p:cNvSpPr txBox="1"/>
            <p:nvPr/>
          </p:nvSpPr>
          <p:spPr>
            <a:xfrm>
              <a:off x="6391656"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Review-risk score</a:t>
              </a:r>
              <a:endParaRPr lang="en-US" sz="1650" dirty="0"/>
            </a:p>
          </p:txBody>
        </p:sp>
        <p:sp>
          <p:nvSpPr>
            <p:cNvPr id="34" name="s6 text 20"/>
            <p:cNvSpPr txBox="1"/>
            <p:nvPr/>
          </p:nvSpPr>
          <p:spPr>
            <a:xfrm>
              <a:off x="6391656"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The chance this customer gives one or two stars.</a:t>
              </a:r>
              <a:endParaRPr lang="en-US" sz="1200" dirty="0"/>
            </a:p>
          </p:txBody>
        </p:sp>
        <p:sp>
          <p:nvSpPr>
            <p:cNvPr id="35" name="s6 text 21"/>
            <p:cNvSpPr txBox="1"/>
            <p:nvPr/>
          </p:nvSpPr>
          <p:spPr>
            <a:xfrm>
              <a:off x="6391656" y="4526280"/>
              <a:ext cx="2267712" cy="365760"/>
            </a:xfrm>
            <a:prstGeom prst="rect">
              <a:avLst/>
            </a:prstGeom>
            <a:noFill/>
            <a:ln/>
          </p:spPr>
          <p:txBody>
            <a:bodyPr wrap="square" lIns="0" tIns="0" rIns="0" bIns="0" rtlCol="0" anchor="t"/>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 ranked call list</a:t>
              </a:r>
              <a:endParaRPr lang="en-US" sz="1100" dirty="0"/>
            </a:p>
          </p:txBody>
        </p:sp>
      </p:grpSp>
      <p:grpSp>
        <p:nvGrpSpPr>
          <p:cNvPr id="55" name="s6 comp2">
            <a:extLst>
              <a:ext uri="{FF2B5EF4-FFF2-40B4-BE49-F238E27FC236}">
                <a16:creationId xmlns:a16="http://schemas.microsoft.com/office/drawing/2014/main" id="{652797E7-D1E0-2F74-92C6-FC56DFDA0F8B}"/>
              </a:ext>
            </a:extLst>
          </p:cNvPr>
          <p:cNvGrpSpPr/>
          <p:nvPr/>
        </p:nvGrpSpPr>
        <p:grpSpPr>
          <a:xfrm>
            <a:off x="8942832" y="1783080"/>
            <a:ext cx="2633472" cy="3291840"/>
            <a:chOff x="8942832" y="1783080"/>
            <a:chExt cx="2633472" cy="3291840"/>
          </a:xfrm>
        </p:grpSpPr>
        <p:sp>
          <p:nvSpPr>
            <p:cNvPr id="36" name="s6 panel 22"/>
            <p:cNvSpPr/>
            <p:nvPr/>
          </p:nvSpPr>
          <p:spPr>
            <a:xfrm>
              <a:off x="8942832" y="1783080"/>
              <a:ext cx="2633472" cy="3291840"/>
            </a:xfrm>
            <a:prstGeom prst="roundRect">
              <a:avLst>
                <a:gd name="adj" fmla="val 4167"/>
              </a:avLst>
            </a:prstGeom>
            <a:solidFill>
              <a:srgbClr val="F8F1E3"/>
            </a:solidFill>
            <a:ln w="12700">
              <a:solidFill>
                <a:srgbClr val="F8F1E3">
                  <a:alpha val="0"/>
                </a:srgbClr>
              </a:solidFill>
              <a:prstDash val="solid"/>
            </a:ln>
          </p:spPr>
        </p:sp>
        <p:sp>
          <p:nvSpPr>
            <p:cNvPr id="37" name="s6 icon circle 23"/>
            <p:cNvSpPr/>
            <p:nvPr/>
          </p:nvSpPr>
          <p:spPr>
            <a:xfrm>
              <a:off x="9171432" y="1993392"/>
              <a:ext cx="548640" cy="548640"/>
            </a:xfrm>
            <a:prstGeom prst="ellipse">
              <a:avLst/>
            </a:prstGeom>
            <a:solidFill>
              <a:srgbClr val="C08B2E"/>
            </a:solidFill>
            <a:ln w="12700">
              <a:solidFill>
                <a:srgbClr val="C08B2E">
                  <a:alpha val="0"/>
                </a:srgbClr>
              </a:solidFill>
              <a:prstDash val="solid"/>
            </a:ln>
          </p:spPr>
        </p:sp>
        <p:pic>
          <p:nvPicPr>
            <p:cNvPr id="38" name="s6 icon 24" descr="preencoded.png"/>
            <p:cNvPicPr>
              <a:picLocks noChangeAspect="1"/>
            </p:cNvPicPr>
            <p:nvPr/>
          </p:nvPicPr>
          <p:blipFill>
            <a:blip r:embed="rId11"/>
            <a:stretch>
              <a:fillRect/>
            </a:stretch>
          </p:blipFill>
          <p:spPr>
            <a:xfrm>
              <a:off x="9319565" y="2141525"/>
              <a:ext cx="252374" cy="252374"/>
            </a:xfrm>
            <a:prstGeom prst="rect">
              <a:avLst/>
            </a:prstGeom>
          </p:spPr>
        </p:pic>
        <p:sp>
          <p:nvSpPr>
            <p:cNvPr id="39" name="s6 text 25"/>
            <p:cNvSpPr txBox="1"/>
            <p:nvPr/>
          </p:nvSpPr>
          <p:spPr>
            <a:xfrm>
              <a:off x="9171432" y="2697480"/>
              <a:ext cx="22219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FOR THE TEAMS</a:t>
              </a:r>
              <a:endParaRPr lang="en-US" sz="900" dirty="0"/>
            </a:p>
          </p:txBody>
        </p:sp>
        <p:sp>
          <p:nvSpPr>
            <p:cNvPr id="40" name="s6 text 26"/>
            <p:cNvSpPr txBox="1"/>
            <p:nvPr/>
          </p:nvSpPr>
          <p:spPr>
            <a:xfrm>
              <a:off x="9171432"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Live web app</a:t>
              </a:r>
              <a:endParaRPr lang="en-US" sz="1650" dirty="0"/>
            </a:p>
          </p:txBody>
        </p:sp>
        <p:sp>
          <p:nvSpPr>
            <p:cNvPr id="41" name="s6 text 27"/>
            <p:cNvSpPr txBox="1"/>
            <p:nvPr/>
          </p:nvSpPr>
          <p:spPr>
            <a:xfrm>
              <a:off x="9171432"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Scores one order or a whole file, replays any test day, and explains itself.</a:t>
              </a:r>
              <a:endParaRPr lang="en-US" sz="1200" dirty="0"/>
            </a:p>
          </p:txBody>
        </p:sp>
        <p:sp>
          <p:nvSpPr>
            <p:cNvPr id="42" name="s6 text 28"/>
            <p:cNvSpPr txBox="1"/>
            <p:nvPr/>
          </p:nvSpPr>
          <p:spPr>
            <a:xfrm>
              <a:off x="9171432" y="4526280"/>
              <a:ext cx="2267712" cy="365760"/>
            </a:xfrm>
            <a:prstGeom prst="rect">
              <a:avLst/>
            </a:prstGeom>
            <a:noFill/>
            <a:ln/>
          </p:spPr>
          <p:txBody>
            <a:bodyPr wrap="square" lIns="0" tIns="0" rIns="0" bIns="0" rtlCol="0" anchor="t"/>
            <a:lstStyle/>
            <a:p>
              <a:pPr marL="0" indent="0">
                <a:buNone/>
              </a:pPr>
              <a:r>
                <a:rPr lang="en-US" sz="900" dirty="0">
                  <a:solidFill>
                    <a:srgbClr val="93661A"/>
                  </a:solidFill>
                  <a:latin typeface="Segoe UI Semibold" pitchFamily="34" charset="0"/>
                  <a:ea typeface="Segoe UI Semibold" pitchFamily="34" charset="-122"/>
                  <a:cs typeface="Segoe UI Semibold" pitchFamily="34" charset="-120"/>
                </a:rPr>
                <a:t>→ team10-it5006-olist.streamlit.app</a:t>
              </a:r>
              <a:endParaRPr lang="en-US" sz="900" dirty="0"/>
            </a:p>
          </p:txBody>
        </p:sp>
      </p:grpSp>
      <p:grpSp>
        <p:nvGrpSpPr>
          <p:cNvPr id="57" name="s6 hood">
            <a:extLst>
              <a:ext uri="{FF2B5EF4-FFF2-40B4-BE49-F238E27FC236}">
                <a16:creationId xmlns:a16="http://schemas.microsoft.com/office/drawing/2014/main" id="{C5482532-1F90-ECFD-75B6-CAD7E3A1CBFA}"/>
              </a:ext>
            </a:extLst>
          </p:cNvPr>
          <p:cNvGrpSpPr/>
          <p:nvPr/>
        </p:nvGrpSpPr>
        <p:grpSpPr>
          <a:xfrm>
            <a:off x="548640" y="5257800"/>
            <a:ext cx="11091672" cy="868680"/>
            <a:chOff x="548640" y="5257800"/>
            <a:chExt cx="11091672" cy="868680"/>
          </a:xfrm>
        </p:grpSpPr>
        <p:sp>
          <p:nvSpPr>
            <p:cNvPr id="43" name="s6 panel 29"/>
            <p:cNvSpPr/>
            <p:nvPr/>
          </p:nvSpPr>
          <p:spPr>
            <a:xfrm>
              <a:off x="548640" y="5257800"/>
              <a:ext cx="11091672" cy="868680"/>
            </a:xfrm>
            <a:prstGeom prst="roundRect">
              <a:avLst>
                <a:gd name="adj" fmla="val 12632"/>
              </a:avLst>
            </a:prstGeom>
            <a:solidFill>
              <a:srgbClr val="FFFFFF"/>
            </a:solidFill>
            <a:ln w="9525">
              <a:solidFill>
                <a:srgbClr val="E2E7EC"/>
              </a:solidFill>
              <a:prstDash val="solid"/>
            </a:ln>
          </p:spPr>
        </p:sp>
        <p:sp>
          <p:nvSpPr>
            <p:cNvPr id="44" name="s6 icon circle 30"/>
            <p:cNvSpPr/>
            <p:nvPr/>
          </p:nvSpPr>
          <p:spPr>
            <a:xfrm>
              <a:off x="777240" y="5413248"/>
              <a:ext cx="548640" cy="548640"/>
            </a:xfrm>
            <a:prstGeom prst="ellipse">
              <a:avLst/>
            </a:prstGeom>
            <a:solidFill>
              <a:srgbClr val="F2F4F7"/>
            </a:solidFill>
            <a:ln w="12700">
              <a:solidFill>
                <a:srgbClr val="F2F4F7">
                  <a:alpha val="0"/>
                </a:srgbClr>
              </a:solidFill>
              <a:prstDash val="solid"/>
            </a:ln>
          </p:spPr>
        </p:sp>
        <p:pic>
          <p:nvPicPr>
            <p:cNvPr id="45" name="s6 icon 31" descr="preencoded.png"/>
            <p:cNvPicPr>
              <a:picLocks noChangeAspect="1"/>
            </p:cNvPicPr>
            <p:nvPr/>
          </p:nvPicPr>
          <p:blipFill>
            <a:blip r:embed="rId12"/>
            <a:stretch>
              <a:fillRect/>
            </a:stretch>
          </p:blipFill>
          <p:spPr>
            <a:xfrm>
              <a:off x="925373" y="5561381"/>
              <a:ext cx="252374" cy="252374"/>
            </a:xfrm>
            <a:prstGeom prst="rect">
              <a:avLst/>
            </a:prstGeom>
          </p:spPr>
        </p:pic>
        <p:sp>
          <p:nvSpPr>
            <p:cNvPr id="46" name="s6 text 32"/>
            <p:cNvSpPr txBox="1"/>
            <p:nvPr/>
          </p:nvSpPr>
          <p:spPr>
            <a:xfrm>
              <a:off x="1508760" y="5358384"/>
              <a:ext cx="9966960" cy="658368"/>
            </a:xfrm>
            <a:prstGeom prst="rect">
              <a:avLst/>
            </a:prstGeom>
            <a:noFill/>
            <a:ln/>
          </p:spPr>
          <p:txBody>
            <a:bodyPr wrap="square" lIns="0" tIns="0" rIns="0" bIns="0" rtlCol="0" anchor="ctr"/>
            <a:lstStyle/>
            <a:p>
              <a:pPr marL="0" indent="0">
                <a:buNone/>
              </a:pPr>
              <a:r>
                <a:rPr lang="en-US" sz="1200" dirty="0">
                  <a:solidFill>
                    <a:srgbClr val="16222F"/>
                  </a:solidFill>
                  <a:latin typeface="Segoe UI Semibold" pitchFamily="34" charset="0"/>
                  <a:ea typeface="Segoe UI Semibold" pitchFamily="34" charset="-122"/>
                  <a:cs typeface="Segoe UI Semibold" pitchFamily="34" charset="-120"/>
                </a:rPr>
                <a:t>Under the hood:  </a:t>
              </a:r>
              <a:r>
                <a:rPr lang="en-US" sz="1200" dirty="0">
                  <a:solidFill>
                    <a:srgbClr val="3F4D5B"/>
                  </a:solidFill>
                  <a:latin typeface="Segoe UI" pitchFamily="34" charset="0"/>
                  <a:ea typeface="Segoe UI" pitchFamily="34" charset="-122"/>
                  <a:cs typeface="Segoe UI" pitchFamily="34" charset="-120"/>
                </a:rPr>
                <a:t>scikit-learn tree ensembles, picked from three model families on the most recent months. </a:t>
              </a:r>
              <a:r>
                <a:rPr lang="en-US" sz="1200" dirty="0">
                  <a:solidFill>
                    <a:srgbClr val="93661A"/>
                  </a:solidFill>
                  <a:latin typeface="Segoe UI Semibold" pitchFamily="34" charset="0"/>
                  <a:ea typeface="Segoe UI Semibold" pitchFamily="34" charset="-122"/>
                  <a:cs typeface="Segoe UI Semibold" pitchFamily="34" charset="-120"/>
                </a:rPr>
                <a:t>Every team has good models; the hard part was choosing the moment and the action.</a:t>
              </a:r>
              <a:endParaRPr lang="en-US" sz="1200" dirty="0"/>
            </a:p>
          </p:txBody>
        </p:sp>
      </p:grpSp>
      <p:sp>
        <p:nvSpPr>
          <p:cNvPr id="47" name="s6 nav1">
            <a:hlinkClick r:id="rId13"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8" name="s6 nav2">
            <a:hlinkClick r:id="rId14"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49" name="s6 nav3">
            <a:hlinkClick r:id="rId15"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0" name="s6 nav4">
            <a:hlinkClick r:id="rId16"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1" name="s6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52" name="s6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6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50"/>
                                        <p:tgtEl>
                                          <p:spTgt spid="56"/>
                                        </p:tgtEl>
                                      </p:cBhvr>
                                    </p:animEffect>
                                    <p:anim calcmode="lin" valueType="num">
                                      <p:cBhvr>
                                        <p:cTn id="8" dur="450" fill="hold"/>
                                        <p:tgtEl>
                                          <p:spTgt spid="56"/>
                                        </p:tgtEl>
                                        <p:attrNameLst>
                                          <p:attrName>ppt_x</p:attrName>
                                        </p:attrNameLst>
                                      </p:cBhvr>
                                      <p:tavLst>
                                        <p:tav tm="0">
                                          <p:val>
                                            <p:strVal val="#ppt_x"/>
                                          </p:val>
                                        </p:tav>
                                        <p:tav tm="100000">
                                          <p:val>
                                            <p:strVal val="#ppt_x"/>
                                          </p:val>
                                        </p:tav>
                                      </p:tavLst>
                                    </p:anim>
                                    <p:anim calcmode="lin" valueType="num">
                                      <p:cBhvr>
                                        <p:cTn id="9" dur="450" fill="hold"/>
                                        <p:tgtEl>
                                          <p:spTgt spid="56"/>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10" presetClass="entr" presetSubtype="0" fill="hold" nodeType="afterEffect">
                                  <p:stCondLst>
                                    <p:cond delay="5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childTnLst>
                          </p:cTn>
                        </p:par>
                        <p:par>
                          <p:cTn id="14" fill="hold">
                            <p:stCondLst>
                              <p:cond delay="800"/>
                            </p:stCondLst>
                            <p:childTnLst>
                              <p:par>
                                <p:cTn id="15" presetID="42" presetClass="entr" presetSubtype="0" fill="hold" nodeType="afterEffect">
                                  <p:stCondLst>
                                    <p:cond delay="5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450"/>
                                        <p:tgtEl>
                                          <p:spTgt spid="53"/>
                                        </p:tgtEl>
                                      </p:cBhvr>
                                    </p:animEffect>
                                    <p:anim calcmode="lin" valueType="num">
                                      <p:cBhvr>
                                        <p:cTn id="18" dur="450" fill="hold"/>
                                        <p:tgtEl>
                                          <p:spTgt spid="53"/>
                                        </p:tgtEl>
                                        <p:attrNameLst>
                                          <p:attrName>ppt_x</p:attrName>
                                        </p:attrNameLst>
                                      </p:cBhvr>
                                      <p:tavLst>
                                        <p:tav tm="0">
                                          <p:val>
                                            <p:strVal val="#ppt_x"/>
                                          </p:val>
                                        </p:tav>
                                        <p:tav tm="100000">
                                          <p:val>
                                            <p:strVal val="#ppt_x"/>
                                          </p:val>
                                        </p:tav>
                                      </p:tavLst>
                                    </p:anim>
                                    <p:anim calcmode="lin" valueType="num">
                                      <p:cBhvr>
                                        <p:cTn id="19" dur="450" fill="hold"/>
                                        <p:tgtEl>
                                          <p:spTgt spid="53"/>
                                        </p:tgtEl>
                                        <p:attrNameLst>
                                          <p:attrName>ppt_y</p:attrName>
                                        </p:attrNameLst>
                                      </p:cBhvr>
                                      <p:tavLst>
                                        <p:tav tm="0">
                                          <p:val>
                                            <p:strVal val="#ppt_y+.1"/>
                                          </p:val>
                                        </p:tav>
                                        <p:tav tm="100000">
                                          <p:val>
                                            <p:strVal val="#ppt_y"/>
                                          </p:val>
                                        </p:tav>
                                      </p:tavLst>
                                    </p:anim>
                                  </p:childTnLst>
                                </p:cTn>
                              </p:par>
                            </p:childTnLst>
                          </p:cTn>
                        </p:par>
                        <p:par>
                          <p:cTn id="20" fill="hold">
                            <p:stCondLst>
                              <p:cond delay="1300"/>
                            </p:stCondLst>
                            <p:childTnLst>
                              <p:par>
                                <p:cTn id="21" presetID="42" presetClass="entr" presetSubtype="0" fill="hold" nodeType="afterEffect">
                                  <p:stCondLst>
                                    <p:cond delay="5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50"/>
                                        <p:tgtEl>
                                          <p:spTgt spid="54"/>
                                        </p:tgtEl>
                                      </p:cBhvr>
                                    </p:animEffect>
                                    <p:anim calcmode="lin" valueType="num">
                                      <p:cBhvr>
                                        <p:cTn id="24" dur="450" fill="hold"/>
                                        <p:tgtEl>
                                          <p:spTgt spid="54"/>
                                        </p:tgtEl>
                                        <p:attrNameLst>
                                          <p:attrName>ppt_x</p:attrName>
                                        </p:attrNameLst>
                                      </p:cBhvr>
                                      <p:tavLst>
                                        <p:tav tm="0">
                                          <p:val>
                                            <p:strVal val="#ppt_x"/>
                                          </p:val>
                                        </p:tav>
                                        <p:tav tm="100000">
                                          <p:val>
                                            <p:strVal val="#ppt_x"/>
                                          </p:val>
                                        </p:tav>
                                      </p:tavLst>
                                    </p:anim>
                                    <p:anim calcmode="lin" valueType="num">
                                      <p:cBhvr>
                                        <p:cTn id="25" dur="450" fill="hold"/>
                                        <p:tgtEl>
                                          <p:spTgt spid="54"/>
                                        </p:tgtEl>
                                        <p:attrNameLst>
                                          <p:attrName>ppt_y</p:attrName>
                                        </p:attrNameLst>
                                      </p:cBhvr>
                                      <p:tavLst>
                                        <p:tav tm="0">
                                          <p:val>
                                            <p:strVal val="#ppt_y+.1"/>
                                          </p:val>
                                        </p:tav>
                                        <p:tav tm="100000">
                                          <p:val>
                                            <p:strVal val="#ppt_y"/>
                                          </p:val>
                                        </p:tav>
                                      </p:tavLst>
                                    </p:anim>
                                  </p:childTnLst>
                                </p:cTn>
                              </p:par>
                            </p:childTnLst>
                          </p:cTn>
                        </p:par>
                        <p:par>
                          <p:cTn id="26" fill="hold">
                            <p:stCondLst>
                              <p:cond delay="1800"/>
                            </p:stCondLst>
                            <p:childTnLst>
                              <p:par>
                                <p:cTn id="27" presetID="42" presetClass="entr" presetSubtype="0" fill="hold" nodeType="afterEffect">
                                  <p:stCondLst>
                                    <p:cond delay="5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450"/>
                                        <p:tgtEl>
                                          <p:spTgt spid="55"/>
                                        </p:tgtEl>
                                      </p:cBhvr>
                                    </p:animEffect>
                                    <p:anim calcmode="lin" valueType="num">
                                      <p:cBhvr>
                                        <p:cTn id="30" dur="450" fill="hold"/>
                                        <p:tgtEl>
                                          <p:spTgt spid="55"/>
                                        </p:tgtEl>
                                        <p:attrNameLst>
                                          <p:attrName>ppt_x</p:attrName>
                                        </p:attrNameLst>
                                      </p:cBhvr>
                                      <p:tavLst>
                                        <p:tav tm="0">
                                          <p:val>
                                            <p:strVal val="#ppt_x"/>
                                          </p:val>
                                        </p:tav>
                                        <p:tav tm="100000">
                                          <p:val>
                                            <p:strVal val="#ppt_x"/>
                                          </p:val>
                                        </p:tav>
                                      </p:tavLst>
                                    </p:anim>
                                    <p:anim calcmode="lin" valueType="num">
                                      <p:cBhvr>
                                        <p:cTn id="31" dur="450" fill="hold"/>
                                        <p:tgtEl>
                                          <p:spTgt spid="55"/>
                                        </p:tgtEl>
                                        <p:attrNameLst>
                                          <p:attrName>ppt_y</p:attrName>
                                        </p:attrNameLst>
                                      </p:cBhvr>
                                      <p:tavLst>
                                        <p:tav tm="0">
                                          <p:val>
                                            <p:strVal val="#ppt_y+.1"/>
                                          </p:val>
                                        </p:tav>
                                        <p:tav tm="100000">
                                          <p:val>
                                            <p:strVal val="#ppt_y"/>
                                          </p:val>
                                        </p:tav>
                                      </p:tavLst>
                                    </p:anim>
                                  </p:childTnLst>
                                </p:cTn>
                              </p:par>
                            </p:childTnLst>
                          </p:cTn>
                        </p:par>
                        <p:par>
                          <p:cTn id="32" fill="hold">
                            <p:stCondLst>
                              <p:cond delay="2300"/>
                            </p:stCondLst>
                            <p:childTnLst>
                              <p:par>
                                <p:cTn id="33" presetID="10" presetClass="entr" presetSubtype="0" fill="hold" nodeType="afterEffect">
                                  <p:stCondLst>
                                    <p:cond delay="50"/>
                                  </p:stCondLst>
                                  <p:childTnLst>
                                    <p:set>
                                      <p:cBhvr>
                                        <p:cTn id="34" dur="1" fill="hold">
                                          <p:stCondLst>
                                            <p:cond delay="0"/>
                                          </p:stCondLst>
                                        </p:cTn>
                                        <p:tgtEl>
                                          <p:spTgt spid="57"/>
                                        </p:tgtEl>
                                        <p:attrNameLst>
                                          <p:attrName>style.visibility</p:attrName>
                                        </p:attrNameLst>
                                      </p:cBhvr>
                                      <p:to>
                                        <p:strVal val="visible"/>
                                      </p:to>
                                    </p:set>
                                    <p:animEffect transition="in" filter="fade">
                                      <p:cBhvr>
                                        <p:cTn id="35"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7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CHECKOUT</a:t>
            </a:r>
            <a:endParaRPr lang="en-US" sz="1000" dirty="0"/>
          </a:p>
        </p:txBody>
      </p:sp>
      <p:sp>
        <p:nvSpPr>
          <p:cNvPr id="3" name="s7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Honest dates, and an early-warning list</a:t>
            </a:r>
            <a:endParaRPr lang="en-US" sz="2900" dirty="0"/>
          </a:p>
        </p:txBody>
      </p:sp>
      <p:sp>
        <p:nvSpPr>
          <p:cNvPr id="4" name="s7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Judged on July – August 2018, two months the models never saw</a:t>
            </a:r>
            <a:endParaRPr lang="en-US" sz="1300" dirty="0"/>
          </a:p>
        </p:txBody>
      </p:sp>
      <p:sp>
        <p:nvSpPr>
          <p:cNvPr id="5" name="s7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7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checkout</a:t>
            </a:r>
            <a:endParaRPr lang="en-US" sz="850" dirty="0"/>
          </a:p>
        </p:txBody>
      </p:sp>
      <p:grpSp>
        <p:nvGrpSpPr>
          <p:cNvPr id="42" name="s7 card">
            <a:extLst>
              <a:ext uri="{FF2B5EF4-FFF2-40B4-BE49-F238E27FC236}">
                <a16:creationId xmlns:a16="http://schemas.microsoft.com/office/drawing/2014/main" id="{C14BDBAA-5BF3-5FC8-973E-CDA6C92F222D}"/>
              </a:ext>
            </a:extLst>
          </p:cNvPr>
          <p:cNvGrpSpPr/>
          <p:nvPr/>
        </p:nvGrpSpPr>
        <p:grpSpPr>
          <a:xfrm>
            <a:off x="548640" y="1783080"/>
            <a:ext cx="5532120" cy="4343400"/>
            <a:chOff x="548640" y="1783080"/>
            <a:chExt cx="5532120" cy="4343400"/>
          </a:xfrm>
        </p:grpSpPr>
        <p:sp>
          <p:nvSpPr>
            <p:cNvPr id="15" name="s7 panel 1"/>
            <p:cNvSpPr/>
            <p:nvPr/>
          </p:nvSpPr>
          <p:spPr>
            <a:xfrm>
              <a:off x="548640" y="1783080"/>
              <a:ext cx="553212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6" name="s7 text 2"/>
            <p:cNvSpPr txBox="1"/>
            <p:nvPr/>
          </p:nvSpPr>
          <p:spPr>
            <a:xfrm>
              <a:off x="822960" y="1965960"/>
              <a:ext cx="50292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HOW FAR OFF IS THE DELIVERY DATE?</a:t>
              </a:r>
              <a:endParaRPr lang="en-US" sz="950" dirty="0"/>
            </a:p>
          </p:txBody>
        </p:sp>
        <p:sp>
          <p:nvSpPr>
            <p:cNvPr id="17" name="s7 text 3"/>
            <p:cNvSpPr txBox="1"/>
            <p:nvPr/>
          </p:nvSpPr>
          <p:spPr>
            <a:xfrm>
              <a:off x="822960" y="2212848"/>
              <a:ext cx="5029200" cy="237744"/>
            </a:xfrm>
            <a:prstGeom prst="rect">
              <a:avLst/>
            </a:prstGeom>
            <a:noFill/>
            <a:ln/>
          </p:spPr>
          <p:txBody>
            <a:bodyPr wrap="square" lIns="0" tIns="0" rIns="0" bIns="0" rtlCol="0" anchor="t"/>
            <a:lstStyle/>
            <a:p>
              <a:pPr marL="0" indent="0">
                <a:buNone/>
              </a:pPr>
              <a:r>
                <a:rPr lang="en-US" sz="1050" dirty="0">
                  <a:solidFill>
                    <a:srgbClr val="6B7885"/>
                  </a:solidFill>
                  <a:latin typeface="Segoe UI" pitchFamily="34" charset="0"/>
                  <a:ea typeface="Segoe UI" pitchFamily="34" charset="-122"/>
                  <a:cs typeface="Segoe UI" pitchFamily="34" charset="-120"/>
                </a:rPr>
                <a:t>average error, in days</a:t>
              </a:r>
              <a:endParaRPr lang="en-US" sz="1050" dirty="0"/>
            </a:p>
          </p:txBody>
        </p:sp>
        <p:sp>
          <p:nvSpPr>
            <p:cNvPr id="18" name="s7 text 4"/>
            <p:cNvSpPr txBox="1"/>
            <p:nvPr/>
          </p:nvSpPr>
          <p:spPr>
            <a:xfrm>
              <a:off x="822960" y="2697480"/>
              <a:ext cx="1463040" cy="457200"/>
            </a:xfrm>
            <a:prstGeom prst="rect">
              <a:avLst/>
            </a:prstGeom>
            <a:noFill/>
            <a:ln/>
          </p:spPr>
          <p:txBody>
            <a:bodyPr wrap="square" lIns="0" tIns="0" rIns="0" bIns="0" rtlCol="0" anchor="ctr"/>
            <a:lstStyle/>
            <a:p>
              <a:pPr marL="0" indent="0">
                <a:buNone/>
              </a:pPr>
              <a:r>
                <a:rPr lang="en-US" sz="1250" dirty="0">
                  <a:solidFill>
                    <a:srgbClr val="3F4D5B"/>
                  </a:solidFill>
                  <a:latin typeface="Segoe UI" pitchFamily="34" charset="0"/>
                  <a:ea typeface="Segoe UI" pitchFamily="34" charset="-122"/>
                  <a:cs typeface="Segoe UI" pitchFamily="34" charset="-120"/>
                </a:rPr>
                <a:t>Olist's promise</a:t>
              </a:r>
              <a:endParaRPr lang="en-US" sz="1250" dirty="0"/>
            </a:p>
          </p:txBody>
        </p:sp>
        <p:sp>
          <p:nvSpPr>
            <p:cNvPr id="21" name="s7 text 6"/>
            <p:cNvSpPr txBox="1"/>
            <p:nvPr/>
          </p:nvSpPr>
          <p:spPr>
            <a:xfrm>
              <a:off x="822960" y="3291840"/>
              <a:ext cx="1463040" cy="457200"/>
            </a:xfrm>
            <a:prstGeom prst="rect">
              <a:avLst/>
            </a:prstGeom>
            <a:noFill/>
            <a:ln/>
          </p:spPr>
          <p:txBody>
            <a:bodyPr wrap="square" lIns="0" tIns="0" rIns="0" bIns="0" rtlCol="0" anchor="ctr"/>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Our forecast</a:t>
              </a:r>
              <a:endParaRPr lang="en-US" sz="1250" dirty="0"/>
            </a:p>
          </p:txBody>
        </p:sp>
      </p:grpSp>
      <p:sp>
        <p:nvSpPr>
          <p:cNvPr id="19" name="s7 bar1"/>
          <p:cNvSpPr/>
          <p:nvPr/>
        </p:nvSpPr>
        <p:spPr>
          <a:xfrm>
            <a:off x="2331720" y="2715768"/>
            <a:ext cx="3246120" cy="420624"/>
          </a:xfrm>
          <a:prstGeom prst="roundRect">
            <a:avLst>
              <a:gd name="adj" fmla="val 17391"/>
            </a:avLst>
          </a:prstGeom>
          <a:solidFill>
            <a:srgbClr val="C9D1D9"/>
          </a:solidFill>
          <a:ln w="12700">
            <a:solidFill>
              <a:srgbClr val="C9D1D9">
                <a:alpha val="0"/>
              </a:srgbClr>
            </a:solidFill>
            <a:prstDash val="solid"/>
          </a:ln>
        </p:spPr>
      </p:sp>
      <p:sp>
        <p:nvSpPr>
          <p:cNvPr id="20" name="s7 text 5"/>
          <p:cNvSpPr txBox="1"/>
          <p:nvPr/>
        </p:nvSpPr>
        <p:spPr>
          <a:xfrm>
            <a:off x="5669280" y="2697480"/>
            <a:ext cx="640080" cy="457200"/>
          </a:xfrm>
          <a:prstGeom prst="rect">
            <a:avLst/>
          </a:prstGeom>
          <a:noFill/>
          <a:ln/>
        </p:spPr>
        <p:txBody>
          <a:bodyPr wrap="square" lIns="0" tIns="0" rIns="0" bIns="0" rtlCol="0" anchor="ctr"/>
          <a:lstStyle/>
          <a:p>
            <a:pPr marL="0" indent="0">
              <a:buNone/>
            </a:pPr>
            <a:r>
              <a:rPr lang="en-US" sz="1500" dirty="0">
                <a:solidFill>
                  <a:srgbClr val="3F4D5B"/>
                </a:solidFill>
                <a:latin typeface="Segoe UI Semibold" pitchFamily="34" charset="0"/>
                <a:ea typeface="Segoe UI Semibold" pitchFamily="34" charset="-122"/>
                <a:cs typeface="Segoe UI Semibold" pitchFamily="34" charset="-120"/>
              </a:rPr>
              <a:t>9.8</a:t>
            </a:r>
            <a:endParaRPr lang="en-US" sz="1500" dirty="0"/>
          </a:p>
        </p:txBody>
      </p:sp>
      <p:sp>
        <p:nvSpPr>
          <p:cNvPr id="22" name="s7 bar2"/>
          <p:cNvSpPr/>
          <p:nvPr/>
        </p:nvSpPr>
        <p:spPr>
          <a:xfrm>
            <a:off x="2331720" y="3310128"/>
            <a:ext cx="1293143" cy="420624"/>
          </a:xfrm>
          <a:prstGeom prst="roundRect">
            <a:avLst>
              <a:gd name="adj" fmla="val 17391"/>
            </a:avLst>
          </a:prstGeom>
          <a:solidFill>
            <a:srgbClr val="2F6F9F"/>
          </a:solidFill>
          <a:ln w="12700">
            <a:solidFill>
              <a:srgbClr val="2F6F9F">
                <a:alpha val="0"/>
              </a:srgbClr>
            </a:solidFill>
            <a:prstDash val="solid"/>
          </a:ln>
        </p:spPr>
      </p:sp>
      <p:sp>
        <p:nvSpPr>
          <p:cNvPr id="23" name="s7 text 7"/>
          <p:cNvSpPr txBox="1"/>
          <p:nvPr/>
        </p:nvSpPr>
        <p:spPr>
          <a:xfrm>
            <a:off x="3716303" y="3291840"/>
            <a:ext cx="640080" cy="457200"/>
          </a:xfrm>
          <a:prstGeom prst="rect">
            <a:avLst/>
          </a:prstGeom>
          <a:noFill/>
          <a:ln/>
        </p:spPr>
        <p:txBody>
          <a:bodyPr wrap="square" lIns="0" tIns="0" rIns="0" bIns="0" rtlCol="0" anchor="ctr"/>
          <a:lstStyle/>
          <a:p>
            <a:pPr marL="0" indent="0">
              <a:buNone/>
            </a:pPr>
            <a:r>
              <a:rPr lang="en-US" sz="1500" dirty="0">
                <a:solidFill>
                  <a:srgbClr val="245A84"/>
                </a:solidFill>
                <a:latin typeface="Segoe UI Semibold" pitchFamily="34" charset="0"/>
                <a:ea typeface="Segoe UI Semibold" pitchFamily="34" charset="-122"/>
                <a:cs typeface="Segoe UI Semibold" pitchFamily="34" charset="-120"/>
              </a:rPr>
              <a:t>3.9</a:t>
            </a:r>
            <a:endParaRPr lang="en-US" sz="1500" dirty="0"/>
          </a:p>
        </p:txBody>
      </p:sp>
      <p:sp>
        <p:nvSpPr>
          <p:cNvPr id="24" name="s7 text 8"/>
          <p:cNvSpPr txBox="1"/>
          <p:nvPr/>
        </p:nvSpPr>
        <p:spPr>
          <a:xfrm>
            <a:off x="777240" y="4023360"/>
            <a:ext cx="5120640" cy="868680"/>
          </a:xfrm>
          <a:prstGeom prst="rect">
            <a:avLst/>
          </a:prstGeom>
          <a:noFill/>
          <a:ln/>
        </p:spPr>
        <p:txBody>
          <a:bodyPr wrap="square" lIns="0" tIns="0" rIns="0" bIns="0" rtlCol="0" anchor="ctr"/>
          <a:lstStyle/>
          <a:p>
            <a:pPr marL="0" indent="0">
              <a:buNone/>
            </a:pPr>
            <a:r>
              <a:rPr lang="en-US" sz="5000" dirty="0">
                <a:solidFill>
                  <a:srgbClr val="2F6F9F"/>
                </a:solidFill>
                <a:latin typeface="Segoe UI Light" pitchFamily="34" charset="0"/>
                <a:ea typeface="Segoe UI Light" pitchFamily="34" charset="-122"/>
                <a:cs typeface="Segoe UI Light" pitchFamily="34" charset="-120"/>
              </a:rPr>
              <a:t>60% closer</a:t>
            </a:r>
            <a:endParaRPr lang="en-US" sz="5000" dirty="0"/>
          </a:p>
        </p:txBody>
      </p:sp>
      <p:sp>
        <p:nvSpPr>
          <p:cNvPr id="25" name="s7 text 9"/>
          <p:cNvSpPr txBox="1"/>
          <p:nvPr/>
        </p:nvSpPr>
        <p:spPr>
          <a:xfrm>
            <a:off x="822960" y="4937760"/>
            <a:ext cx="5029200" cy="7315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Olist pads its promise on purpose. Customers can be shown the honest number instead.</a:t>
            </a:r>
            <a:endParaRPr lang="en-US" sz="1200" dirty="0"/>
          </a:p>
        </p:txBody>
      </p:sp>
      <p:grpSp>
        <p:nvGrpSpPr>
          <p:cNvPr id="40" name="s7 tileA">
            <a:extLst>
              <a:ext uri="{FF2B5EF4-FFF2-40B4-BE49-F238E27FC236}">
                <a16:creationId xmlns:a16="http://schemas.microsoft.com/office/drawing/2014/main" id="{C13551F1-365E-979F-17F3-88187946BFEA}"/>
              </a:ext>
            </a:extLst>
          </p:cNvPr>
          <p:cNvGrpSpPr/>
          <p:nvPr/>
        </p:nvGrpSpPr>
        <p:grpSpPr>
          <a:xfrm>
            <a:off x="6355080" y="1783080"/>
            <a:ext cx="5285232" cy="2057400"/>
            <a:chOff x="6355080" y="1783080"/>
            <a:chExt cx="5285232" cy="2057400"/>
          </a:xfrm>
        </p:grpSpPr>
        <p:sp>
          <p:nvSpPr>
            <p:cNvPr id="26" name="s7 tileA bg"/>
            <p:cNvSpPr/>
            <p:nvPr/>
          </p:nvSpPr>
          <p:spPr>
            <a:xfrm>
              <a:off x="6355080" y="1783080"/>
              <a:ext cx="5285232" cy="2057400"/>
            </a:xfrm>
            <a:prstGeom prst="roundRect">
              <a:avLst>
                <a:gd name="adj" fmla="val 5333"/>
              </a:avLst>
            </a:prstGeom>
            <a:solidFill>
              <a:srgbClr val="EAF1F7"/>
            </a:solidFill>
            <a:ln w="12700">
              <a:solidFill>
                <a:srgbClr val="EAF1F7">
                  <a:alpha val="0"/>
                </a:srgbClr>
              </a:solidFill>
              <a:prstDash val="solid"/>
            </a:ln>
          </p:spPr>
        </p:sp>
        <p:sp>
          <p:nvSpPr>
            <p:cNvPr id="27" name="s7 tileA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LATE PARCELS IN THE RISKIEST 10% OF ORDERS</a:t>
              </a:r>
              <a:endParaRPr lang="en-US" sz="900" dirty="0"/>
            </a:p>
          </p:txBody>
        </p:sp>
        <p:sp>
          <p:nvSpPr>
            <p:cNvPr id="28" name="s7 tileA value"/>
            <p:cNvSpPr txBox="1"/>
            <p:nvPr/>
          </p:nvSpPr>
          <p:spPr>
            <a:xfrm>
              <a:off x="6583680" y="2185416"/>
              <a:ext cx="4873752" cy="640080"/>
            </a:xfrm>
            <a:prstGeom prst="rect">
              <a:avLst/>
            </a:prstGeom>
            <a:noFill/>
            <a:ln/>
          </p:spPr>
          <p:txBody>
            <a:bodyPr wrap="square" lIns="0" tIns="0" rIns="0" bIns="0" rtlCol="0" anchor="ctr"/>
            <a:lstStyle/>
            <a:p>
              <a:pPr marL="0" indent="0">
                <a:buNone/>
              </a:pPr>
              <a:r>
                <a:rPr lang="en-US" sz="4200" dirty="0">
                  <a:solidFill>
                    <a:srgbClr val="245A84"/>
                  </a:solidFill>
                  <a:latin typeface="Segoe UI Light" pitchFamily="34" charset="0"/>
                  <a:ea typeface="Segoe UI Light" pitchFamily="34" charset="-122"/>
                  <a:cs typeface="Segoe UI Light" pitchFamily="34" charset="-120"/>
                </a:rPr>
                <a:t>35%</a:t>
              </a:r>
              <a:endParaRPr lang="en-US" sz="4200" dirty="0"/>
            </a:p>
          </p:txBody>
        </p:sp>
        <p:sp>
          <p:nvSpPr>
            <p:cNvPr id="29" name="s7 tileA sub"/>
            <p:cNvSpPr txBox="1"/>
            <p:nvPr/>
          </p:nvSpPr>
          <p:spPr>
            <a:xfrm>
              <a:off x="6583680" y="2880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3.5× better than picking at random: warn these buyers early. Our São Gonçalo order was #23 of 238 that day.</a:t>
              </a:r>
              <a:endParaRPr lang="en-US" sz="1300" dirty="0"/>
            </a:p>
          </p:txBody>
        </p:sp>
      </p:grpSp>
      <p:grpSp>
        <p:nvGrpSpPr>
          <p:cNvPr id="41" name="s7 tileB">
            <a:extLst>
              <a:ext uri="{FF2B5EF4-FFF2-40B4-BE49-F238E27FC236}">
                <a16:creationId xmlns:a16="http://schemas.microsoft.com/office/drawing/2014/main" id="{A6F74729-C068-D790-4D98-C66FC70FA462}"/>
              </a:ext>
            </a:extLst>
          </p:cNvPr>
          <p:cNvGrpSpPr/>
          <p:nvPr/>
        </p:nvGrpSpPr>
        <p:grpSpPr>
          <a:xfrm>
            <a:off x="6355080" y="4069080"/>
            <a:ext cx="5285232" cy="2057400"/>
            <a:chOff x="6355080" y="4069080"/>
            <a:chExt cx="5285232" cy="2057400"/>
          </a:xfrm>
        </p:grpSpPr>
        <p:sp>
          <p:nvSpPr>
            <p:cNvPr id="30" name="s7 tileB bg"/>
            <p:cNvSpPr/>
            <p:nvPr/>
          </p:nvSpPr>
          <p:spPr>
            <a:xfrm>
              <a:off x="6355080" y="4069080"/>
              <a:ext cx="5285232" cy="2057400"/>
            </a:xfrm>
            <a:prstGeom prst="roundRect">
              <a:avLst>
                <a:gd name="adj" fmla="val 5333"/>
              </a:avLst>
            </a:prstGeom>
            <a:solidFill>
              <a:srgbClr val="F9ECEC"/>
            </a:solidFill>
            <a:ln w="12700">
              <a:solidFill>
                <a:srgbClr val="F9ECEC">
                  <a:alpha val="0"/>
                </a:srgbClr>
              </a:solidFill>
              <a:prstDash val="solid"/>
            </a:ln>
          </p:spPr>
        </p:sp>
        <p:sp>
          <p:nvSpPr>
            <p:cNvPr id="31" name="s7 tileB label"/>
            <p:cNvSpPr txBox="1"/>
            <p:nvPr/>
          </p:nvSpPr>
          <p:spPr>
            <a:xfrm>
              <a:off x="6583680" y="4233672"/>
              <a:ext cx="487375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BUT DON'T PAY TO RUSH THEM</a:t>
              </a:r>
              <a:endParaRPr lang="en-US" sz="900" dirty="0"/>
            </a:p>
          </p:txBody>
        </p:sp>
        <p:sp>
          <p:nvSpPr>
            <p:cNvPr id="32" name="s7 tileB value"/>
            <p:cNvSpPr txBox="1"/>
            <p:nvPr/>
          </p:nvSpPr>
          <p:spPr>
            <a:xfrm>
              <a:off x="6583680" y="4471416"/>
              <a:ext cx="4873752" cy="640080"/>
            </a:xfrm>
            <a:prstGeom prst="rect">
              <a:avLst/>
            </a:prstGeom>
            <a:noFill/>
            <a:ln/>
          </p:spPr>
          <p:txBody>
            <a:bodyPr wrap="square" lIns="0" tIns="0" rIns="0" bIns="0" rtlCol="0" anchor="ctr"/>
            <a:lstStyle/>
            <a:p>
              <a:pPr marL="0" indent="0">
                <a:buNone/>
              </a:pPr>
              <a:r>
                <a:rPr lang="en-US" sz="4200" dirty="0">
                  <a:solidFill>
                    <a:srgbClr val="A3474D"/>
                  </a:solidFill>
                  <a:latin typeface="Segoe UI Light" pitchFamily="34" charset="0"/>
                  <a:ea typeface="Segoe UI Light" pitchFamily="34" charset="-122"/>
                  <a:cs typeface="Segoe UI Light" pitchFamily="34" charset="-120"/>
                </a:rPr>
                <a:t>&lt; 30%</a:t>
              </a:r>
              <a:endParaRPr lang="en-US" sz="4200" dirty="0"/>
            </a:p>
          </p:txBody>
        </p:sp>
        <p:sp>
          <p:nvSpPr>
            <p:cNvPr id="33" name="s7 tileB sub"/>
            <p:cNvSpPr txBox="1"/>
            <p:nvPr/>
          </p:nvSpPr>
          <p:spPr>
            <a:xfrm>
              <a:off x="6583680" y="5166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Even the riskiest flagged parcels are late less than 30% of the time. A R$12 expedite needs 30% to pay back.</a:t>
              </a:r>
              <a:endParaRPr lang="en-US" sz="1300" dirty="0"/>
            </a:p>
          </p:txBody>
        </p:sp>
      </p:grpSp>
      <p:sp>
        <p:nvSpPr>
          <p:cNvPr id="34" name="s7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5" name="s7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36" name="s7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37" name="s7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38" name="s7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39" name="s7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7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300"/>
                                        <p:tgtEl>
                                          <p:spTgt spid="42"/>
                                        </p:tgtEl>
                                      </p:cBhvr>
                                    </p:animEffect>
                                  </p:childTnLst>
                                </p:cTn>
                              </p:par>
                            </p:childTnLst>
                          </p:cTn>
                        </p:par>
                        <p:par>
                          <p:cTn id="8" fill="hold">
                            <p:stCondLst>
                              <p:cond delay="300"/>
                            </p:stCondLst>
                            <p:childTnLst>
                              <p:par>
                                <p:cTn id="9" presetID="22" presetClass="entr" presetSubtype="8" fill="hold" nodeType="afterEffect">
                                  <p:stCondLst>
                                    <p:cond delay="5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10" presetClass="entr" presetSubtype="0" fill="hold" grpId="0" nodeType="withEffect">
                                  <p:stCondLst>
                                    <p:cond delay="40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300"/>
                                        <p:tgtEl>
                                          <p:spTgt spid="20"/>
                                        </p:tgtEl>
                                      </p:cBhvr>
                                    </p:animEffect>
                                  </p:childTnLst>
                                </p:cTn>
                              </p:par>
                            </p:childTnLst>
                          </p:cTn>
                        </p:par>
                        <p:par>
                          <p:cTn id="15" fill="hold">
                            <p:stCondLst>
                              <p:cond delay="1000"/>
                            </p:stCondLst>
                            <p:childTnLst>
                              <p:par>
                                <p:cTn id="16" presetID="22" presetClass="entr" presetSubtype="8" fill="hold" nodeType="afterEffect">
                                  <p:stCondLst>
                                    <p:cond delay="50"/>
                                  </p:stCondLst>
                                  <p:childTnLst>
                                    <p:set>
                                      <p:cBhvr>
                                        <p:cTn id="17" dur="1" fill="hold">
                                          <p:stCondLst>
                                            <p:cond delay="0"/>
                                          </p:stCondLst>
                                        </p:cTn>
                                        <p:tgtEl>
                                          <p:spTgt spid="22"/>
                                        </p:tgtEl>
                                        <p:attrNameLst>
                                          <p:attrName>style.visibility</p:attrName>
                                        </p:attrNameLst>
                                      </p:cBhvr>
                                      <p:to>
                                        <p:strVal val="visible"/>
                                      </p:to>
                                    </p:set>
                                    <p:animEffect transition="in" filter="wipe(left)">
                                      <p:cBhvr>
                                        <p:cTn id="18" dur="500"/>
                                        <p:tgtEl>
                                          <p:spTgt spid="22"/>
                                        </p:tgtEl>
                                      </p:cBhvr>
                                    </p:animEffect>
                                  </p:childTnLst>
                                </p:cTn>
                              </p:par>
                              <p:par>
                                <p:cTn id="19" presetID="10" presetClass="entr" presetSubtype="0" fill="hold" grpId="0" nodeType="withEffect">
                                  <p:stCondLst>
                                    <p:cond delay="3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childTnLst>
                          </p:cTn>
                        </p:par>
                        <p:par>
                          <p:cTn id="22" fill="hold">
                            <p:stCondLst>
                              <p:cond delay="1600"/>
                            </p:stCondLst>
                            <p:childTnLst>
                              <p:par>
                                <p:cTn id="23" presetID="53" presetClass="entr" presetSubtype="16" fill="hold" grpId="0" nodeType="afterEffect">
                                  <p:stCondLst>
                                    <p:cond delay="50"/>
                                  </p:stCondLst>
                                  <p:childTnLst>
                                    <p:set>
                                      <p:cBhvr>
                                        <p:cTn id="24" dur="1" fill="hold">
                                          <p:stCondLst>
                                            <p:cond delay="0"/>
                                          </p:stCondLst>
                                        </p:cTn>
                                        <p:tgtEl>
                                          <p:spTgt spid="24"/>
                                        </p:tgtEl>
                                        <p:attrNameLst>
                                          <p:attrName>style.visibility</p:attrName>
                                        </p:attrNameLst>
                                      </p:cBhvr>
                                      <p:to>
                                        <p:strVal val="visible"/>
                                      </p:to>
                                    </p:set>
                                    <p:anim calcmode="lin" valueType="num">
                                      <p:cBhvr>
                                        <p:cTn id="25" dur="500" fill="hold"/>
                                        <p:tgtEl>
                                          <p:spTgt spid="24"/>
                                        </p:tgtEl>
                                        <p:attrNameLst>
                                          <p:attrName>ppt_w</p:attrName>
                                        </p:attrNameLst>
                                      </p:cBhvr>
                                      <p:tavLst>
                                        <p:tav tm="0">
                                          <p:val>
                                            <p:fltVal val="0"/>
                                          </p:val>
                                        </p:tav>
                                        <p:tav tm="100000">
                                          <p:val>
                                            <p:strVal val="#ppt_w"/>
                                          </p:val>
                                        </p:tav>
                                      </p:tavLst>
                                    </p:anim>
                                    <p:anim calcmode="lin" valueType="num">
                                      <p:cBhvr>
                                        <p:cTn id="26" dur="500" fill="hold"/>
                                        <p:tgtEl>
                                          <p:spTgt spid="24"/>
                                        </p:tgtEl>
                                        <p:attrNameLst>
                                          <p:attrName>ppt_h</p:attrName>
                                        </p:attrNameLst>
                                      </p:cBhvr>
                                      <p:tavLst>
                                        <p:tav tm="0">
                                          <p:val>
                                            <p:fltVal val="0"/>
                                          </p:val>
                                        </p:tav>
                                        <p:tav tm="100000">
                                          <p:val>
                                            <p:strVal val="#ppt_h"/>
                                          </p:val>
                                        </p:tav>
                                      </p:tavLst>
                                    </p:anim>
                                    <p:animEffect transition="in" filter="fade">
                                      <p:cBhvr>
                                        <p:cTn id="27" dur="500"/>
                                        <p:tgtEl>
                                          <p:spTgt spid="24"/>
                                        </p:tgtEl>
                                      </p:cBhvr>
                                    </p:animEffect>
                                  </p:childTnLst>
                                </p:cTn>
                              </p:par>
                              <p:par>
                                <p:cTn id="28" presetID="10" presetClass="entr" presetSubtype="0" fill="hold" grpId="0" nodeType="withEffect">
                                  <p:stCondLst>
                                    <p:cond delay="20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400"/>
                                        <p:tgtEl>
                                          <p:spTgt spid="25"/>
                                        </p:tgtEl>
                                      </p:cBhvr>
                                    </p:animEffect>
                                  </p:childTnLst>
                                </p:cTn>
                              </p:par>
                            </p:childTnLst>
                          </p:cTn>
                        </p:par>
                        <p:par>
                          <p:cTn id="31" fill="hold">
                            <p:stCondLst>
                              <p:cond delay="2200"/>
                            </p:stCondLst>
                            <p:childTnLst>
                              <p:par>
                                <p:cTn id="32" presetID="42" presetClass="entr" presetSubtype="0" fill="hold" nodeType="afterEffect">
                                  <p:stCondLst>
                                    <p:cond delay="5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500"/>
                                        <p:tgtEl>
                                          <p:spTgt spid="40"/>
                                        </p:tgtEl>
                                      </p:cBhvr>
                                    </p:animEffect>
                                    <p:anim calcmode="lin" valueType="num">
                                      <p:cBhvr>
                                        <p:cTn id="35" dur="500" fill="hold"/>
                                        <p:tgtEl>
                                          <p:spTgt spid="40"/>
                                        </p:tgtEl>
                                        <p:attrNameLst>
                                          <p:attrName>ppt_x</p:attrName>
                                        </p:attrNameLst>
                                      </p:cBhvr>
                                      <p:tavLst>
                                        <p:tav tm="0">
                                          <p:val>
                                            <p:strVal val="#ppt_x"/>
                                          </p:val>
                                        </p:tav>
                                        <p:tav tm="100000">
                                          <p:val>
                                            <p:strVal val="#ppt_x"/>
                                          </p:val>
                                        </p:tav>
                                      </p:tavLst>
                                    </p:anim>
                                    <p:anim calcmode="lin" valueType="num">
                                      <p:cBhvr>
                                        <p:cTn id="36" dur="500" fill="hold"/>
                                        <p:tgtEl>
                                          <p:spTgt spid="40"/>
                                        </p:tgtEl>
                                        <p:attrNameLst>
                                          <p:attrName>ppt_y</p:attrName>
                                        </p:attrNameLst>
                                      </p:cBhvr>
                                      <p:tavLst>
                                        <p:tav tm="0">
                                          <p:val>
                                            <p:strVal val="#ppt_y+.1"/>
                                          </p:val>
                                        </p:tav>
                                        <p:tav tm="100000">
                                          <p:val>
                                            <p:strVal val="#ppt_y"/>
                                          </p:val>
                                        </p:tav>
                                      </p:tavLst>
                                    </p:anim>
                                  </p:childTnLst>
                                </p:cTn>
                              </p:par>
                            </p:childTnLst>
                          </p:cTn>
                        </p:par>
                        <p:par>
                          <p:cTn id="37" fill="hold">
                            <p:stCondLst>
                              <p:cond delay="2750"/>
                            </p:stCondLst>
                            <p:childTnLst>
                              <p:par>
                                <p:cTn id="38" presetID="42" presetClass="entr" presetSubtype="0" fill="hold" nodeType="afterEffect">
                                  <p:stCondLst>
                                    <p:cond delay="50"/>
                                  </p:stCondLst>
                                  <p:childTnLst>
                                    <p:set>
                                      <p:cBhvr>
                                        <p:cTn id="39" dur="1" fill="hold">
                                          <p:stCondLst>
                                            <p:cond delay="0"/>
                                          </p:stCondLst>
                                        </p:cTn>
                                        <p:tgtEl>
                                          <p:spTgt spid="41"/>
                                        </p:tgtEl>
                                        <p:attrNameLst>
                                          <p:attrName>style.visibility</p:attrName>
                                        </p:attrNameLst>
                                      </p:cBhvr>
                                      <p:to>
                                        <p:strVal val="visible"/>
                                      </p:to>
                                    </p:set>
                                    <p:animEffect transition="in" filter="fade">
                                      <p:cBhvr>
                                        <p:cTn id="40" dur="500"/>
                                        <p:tgtEl>
                                          <p:spTgt spid="41"/>
                                        </p:tgtEl>
                                      </p:cBhvr>
                                    </p:animEffect>
                                    <p:anim calcmode="lin" valueType="num">
                                      <p:cBhvr>
                                        <p:cTn id="41" dur="500" fill="hold"/>
                                        <p:tgtEl>
                                          <p:spTgt spid="41"/>
                                        </p:tgtEl>
                                        <p:attrNameLst>
                                          <p:attrName>ppt_x</p:attrName>
                                        </p:attrNameLst>
                                      </p:cBhvr>
                                      <p:tavLst>
                                        <p:tav tm="0">
                                          <p:val>
                                            <p:strVal val="#ppt_x"/>
                                          </p:val>
                                        </p:tav>
                                        <p:tav tm="100000">
                                          <p:val>
                                            <p:strVal val="#ppt_x"/>
                                          </p:val>
                                        </p:tav>
                                      </p:tavLst>
                                    </p:anim>
                                    <p:anim calcmode="lin" valueType="num">
                                      <p:cBhvr>
                                        <p:cTn id="42"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8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DELIVERY</a:t>
            </a:r>
            <a:endParaRPr lang="en-US" sz="1000" dirty="0"/>
          </a:p>
        </p:txBody>
      </p:sp>
      <p:sp>
        <p:nvSpPr>
          <p:cNvPr id="3" name="s8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Ten calls a day find the unhappy customers</a:t>
            </a:r>
            <a:endParaRPr lang="en-US" sz="2900" dirty="0"/>
          </a:p>
        </p:txBody>
      </p:sp>
      <p:sp>
        <p:nvSpPr>
          <p:cNvPr id="4" name="s8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100 calls from our daily top-10 list against 100 random calls, July – August 2018</a:t>
            </a:r>
            <a:endParaRPr lang="en-US" sz="1300" dirty="0"/>
          </a:p>
        </p:txBody>
      </p:sp>
      <p:sp>
        <p:nvSpPr>
          <p:cNvPr id="5" name="s8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8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delivery</a:t>
            </a:r>
            <a:endParaRPr lang="en-US" sz="850" dirty="0"/>
          </a:p>
        </p:txBody>
      </p:sp>
      <p:sp>
        <p:nvSpPr>
          <p:cNvPr id="15" name="s8 text 1"/>
          <p:cNvSpPr txBox="1"/>
          <p:nvPr/>
        </p:nvSpPr>
        <p:spPr>
          <a:xfrm>
            <a:off x="685800" y="1828800"/>
            <a:ext cx="2926080" cy="237744"/>
          </a:xfrm>
          <a:prstGeom prst="rect">
            <a:avLst/>
          </a:prstGeom>
          <a:noFill/>
          <a:ln/>
        </p:spPr>
        <p:txBody>
          <a:bodyPr wrap="square" lIns="0" tIns="0" rIns="0" bIns="0" rtlCol="0" anchor="t"/>
          <a:lstStyle/>
          <a:p>
            <a:pPr marL="0" indent="0">
              <a:buNone/>
            </a:pPr>
            <a:r>
              <a:rPr lang="en-US" sz="950" kern="0" spc="150" dirty="0">
                <a:solidFill>
                  <a:srgbClr val="A3474D"/>
                </a:solidFill>
                <a:latin typeface="Segoe UI Semibold" pitchFamily="34" charset="0"/>
                <a:ea typeface="Segoe UI Semibold" pitchFamily="34" charset="-122"/>
                <a:cs typeface="Segoe UI Semibold" pitchFamily="34" charset="-120"/>
              </a:rPr>
              <a:t>OUR TOP-10 LIST</a:t>
            </a:r>
            <a:endParaRPr lang="en-US" sz="950" dirty="0"/>
          </a:p>
        </p:txBody>
      </p:sp>
      <p:grpSp>
        <p:nvGrpSpPr>
          <p:cNvPr id="240" name="s8 waffleA">
            <a:extLst>
              <a:ext uri="{FF2B5EF4-FFF2-40B4-BE49-F238E27FC236}">
                <a16:creationId xmlns:a16="http://schemas.microsoft.com/office/drawing/2014/main" id="{33AE0E95-B1AB-A533-279F-A7AFFCC5BA40}"/>
              </a:ext>
            </a:extLst>
          </p:cNvPr>
          <p:cNvGrpSpPr/>
          <p:nvPr/>
        </p:nvGrpSpPr>
        <p:grpSpPr>
          <a:xfrm>
            <a:off x="685800" y="2148840"/>
            <a:ext cx="2880360" cy="2880360"/>
            <a:chOff x="685800" y="2148840"/>
            <a:chExt cx="2880360" cy="2880360"/>
          </a:xfrm>
        </p:grpSpPr>
        <p:sp>
          <p:nvSpPr>
            <p:cNvPr id="16" name="s8 waffleA 0"/>
            <p:cNvSpPr/>
            <p:nvPr/>
          </p:nvSpPr>
          <p:spPr>
            <a:xfrm>
              <a:off x="68580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7" name="s8 waffleA 1"/>
            <p:cNvSpPr/>
            <p:nvPr/>
          </p:nvSpPr>
          <p:spPr>
            <a:xfrm>
              <a:off x="97840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8" name="s8 waffleA 2"/>
            <p:cNvSpPr/>
            <p:nvPr/>
          </p:nvSpPr>
          <p:spPr>
            <a:xfrm>
              <a:off x="127101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9" name="s8 waffleA 3"/>
            <p:cNvSpPr/>
            <p:nvPr/>
          </p:nvSpPr>
          <p:spPr>
            <a:xfrm>
              <a:off x="156362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0" name="s8 waffleA 4"/>
            <p:cNvSpPr/>
            <p:nvPr/>
          </p:nvSpPr>
          <p:spPr>
            <a:xfrm>
              <a:off x="185623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1" name="s8 waffleA 5"/>
            <p:cNvSpPr/>
            <p:nvPr/>
          </p:nvSpPr>
          <p:spPr>
            <a:xfrm>
              <a:off x="21488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2" name="s8 waffleA 6"/>
            <p:cNvSpPr/>
            <p:nvPr/>
          </p:nvSpPr>
          <p:spPr>
            <a:xfrm>
              <a:off x="24414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3" name="s8 waffleA 7"/>
            <p:cNvSpPr/>
            <p:nvPr/>
          </p:nvSpPr>
          <p:spPr>
            <a:xfrm>
              <a:off x="27340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4" name="s8 waffleA 8"/>
            <p:cNvSpPr/>
            <p:nvPr/>
          </p:nvSpPr>
          <p:spPr>
            <a:xfrm>
              <a:off x="30266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5" name="s8 waffleA 9"/>
            <p:cNvSpPr/>
            <p:nvPr/>
          </p:nvSpPr>
          <p:spPr>
            <a:xfrm>
              <a:off x="33192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6" name="s8 waffleA 10"/>
            <p:cNvSpPr/>
            <p:nvPr/>
          </p:nvSpPr>
          <p:spPr>
            <a:xfrm>
              <a:off x="68580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7" name="s8 waffleA 11"/>
            <p:cNvSpPr/>
            <p:nvPr/>
          </p:nvSpPr>
          <p:spPr>
            <a:xfrm>
              <a:off x="97840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8" name="s8 waffleA 12"/>
            <p:cNvSpPr/>
            <p:nvPr/>
          </p:nvSpPr>
          <p:spPr>
            <a:xfrm>
              <a:off x="127101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9" name="s8 waffleA 13"/>
            <p:cNvSpPr/>
            <p:nvPr/>
          </p:nvSpPr>
          <p:spPr>
            <a:xfrm>
              <a:off x="156362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0" name="s8 waffleA 14"/>
            <p:cNvSpPr/>
            <p:nvPr/>
          </p:nvSpPr>
          <p:spPr>
            <a:xfrm>
              <a:off x="185623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1" name="s8 waffleA 15"/>
            <p:cNvSpPr/>
            <p:nvPr/>
          </p:nvSpPr>
          <p:spPr>
            <a:xfrm>
              <a:off x="214884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2" name="s8 waffleA 16"/>
            <p:cNvSpPr/>
            <p:nvPr/>
          </p:nvSpPr>
          <p:spPr>
            <a:xfrm>
              <a:off x="244144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3" name="s8 waffleA 17"/>
            <p:cNvSpPr/>
            <p:nvPr/>
          </p:nvSpPr>
          <p:spPr>
            <a:xfrm>
              <a:off x="273405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4" name="s8 waffleA 18"/>
            <p:cNvSpPr/>
            <p:nvPr/>
          </p:nvSpPr>
          <p:spPr>
            <a:xfrm>
              <a:off x="302666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5" name="s8 waffleA 19"/>
            <p:cNvSpPr/>
            <p:nvPr/>
          </p:nvSpPr>
          <p:spPr>
            <a:xfrm>
              <a:off x="331927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6" name="s8 waffleA 20"/>
            <p:cNvSpPr/>
            <p:nvPr/>
          </p:nvSpPr>
          <p:spPr>
            <a:xfrm>
              <a:off x="68580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7" name="s8 waffleA 21"/>
            <p:cNvSpPr/>
            <p:nvPr/>
          </p:nvSpPr>
          <p:spPr>
            <a:xfrm>
              <a:off x="97840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8" name="s8 waffleA 22"/>
            <p:cNvSpPr/>
            <p:nvPr/>
          </p:nvSpPr>
          <p:spPr>
            <a:xfrm>
              <a:off x="127101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9" name="s8 waffleA 23"/>
            <p:cNvSpPr/>
            <p:nvPr/>
          </p:nvSpPr>
          <p:spPr>
            <a:xfrm>
              <a:off x="156362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0" name="s8 waffleA 24"/>
            <p:cNvSpPr/>
            <p:nvPr/>
          </p:nvSpPr>
          <p:spPr>
            <a:xfrm>
              <a:off x="185623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1" name="s8 waffleA 25"/>
            <p:cNvSpPr/>
            <p:nvPr/>
          </p:nvSpPr>
          <p:spPr>
            <a:xfrm>
              <a:off x="214884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2" name="s8 waffleA 26"/>
            <p:cNvSpPr/>
            <p:nvPr/>
          </p:nvSpPr>
          <p:spPr>
            <a:xfrm>
              <a:off x="244144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3" name="s8 waffleA 27"/>
            <p:cNvSpPr/>
            <p:nvPr/>
          </p:nvSpPr>
          <p:spPr>
            <a:xfrm>
              <a:off x="273405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4" name="s8 waffleA 28"/>
            <p:cNvSpPr/>
            <p:nvPr/>
          </p:nvSpPr>
          <p:spPr>
            <a:xfrm>
              <a:off x="302666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5" name="s8 waffleA 29"/>
            <p:cNvSpPr/>
            <p:nvPr/>
          </p:nvSpPr>
          <p:spPr>
            <a:xfrm>
              <a:off x="331927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6" name="s8 waffleA 30"/>
            <p:cNvSpPr/>
            <p:nvPr/>
          </p:nvSpPr>
          <p:spPr>
            <a:xfrm>
              <a:off x="685800"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7" name="s8 waffleA 31"/>
            <p:cNvSpPr/>
            <p:nvPr/>
          </p:nvSpPr>
          <p:spPr>
            <a:xfrm>
              <a:off x="978408"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8" name="s8 waffleA 32"/>
            <p:cNvSpPr/>
            <p:nvPr/>
          </p:nvSpPr>
          <p:spPr>
            <a:xfrm>
              <a:off x="1271016"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9" name="s8 waffleA 33"/>
            <p:cNvSpPr/>
            <p:nvPr/>
          </p:nvSpPr>
          <p:spPr>
            <a:xfrm>
              <a:off x="1563624"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0" name="s8 waffleA 34"/>
            <p:cNvSpPr/>
            <p:nvPr/>
          </p:nvSpPr>
          <p:spPr>
            <a:xfrm>
              <a:off x="1856232"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1" name="s8 waffleA 35"/>
            <p:cNvSpPr/>
            <p:nvPr/>
          </p:nvSpPr>
          <p:spPr>
            <a:xfrm>
              <a:off x="2148840"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2" name="s8 waffleA 36"/>
            <p:cNvSpPr/>
            <p:nvPr/>
          </p:nvSpPr>
          <p:spPr>
            <a:xfrm>
              <a:off x="2441448"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3" name="s8 waffleA 37"/>
            <p:cNvSpPr/>
            <p:nvPr/>
          </p:nvSpPr>
          <p:spPr>
            <a:xfrm>
              <a:off x="2734056"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4" name="s8 waffleA 38"/>
            <p:cNvSpPr/>
            <p:nvPr/>
          </p:nvSpPr>
          <p:spPr>
            <a:xfrm>
              <a:off x="3026664"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5" name="s8 waffleA 39"/>
            <p:cNvSpPr/>
            <p:nvPr/>
          </p:nvSpPr>
          <p:spPr>
            <a:xfrm>
              <a:off x="3319272"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6" name="s8 waffleA 40"/>
            <p:cNvSpPr/>
            <p:nvPr/>
          </p:nvSpPr>
          <p:spPr>
            <a:xfrm>
              <a:off x="68580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7" name="s8 waffleA 41"/>
            <p:cNvSpPr/>
            <p:nvPr/>
          </p:nvSpPr>
          <p:spPr>
            <a:xfrm>
              <a:off x="97840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8" name="s8 waffleA 42"/>
            <p:cNvSpPr/>
            <p:nvPr/>
          </p:nvSpPr>
          <p:spPr>
            <a:xfrm>
              <a:off x="127101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9" name="s8 waffleA 43"/>
            <p:cNvSpPr/>
            <p:nvPr/>
          </p:nvSpPr>
          <p:spPr>
            <a:xfrm>
              <a:off x="156362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0" name="s8 waffleA 44"/>
            <p:cNvSpPr/>
            <p:nvPr/>
          </p:nvSpPr>
          <p:spPr>
            <a:xfrm>
              <a:off x="185623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1" name="s8 waffleA 45"/>
            <p:cNvSpPr/>
            <p:nvPr/>
          </p:nvSpPr>
          <p:spPr>
            <a:xfrm>
              <a:off x="214884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2" name="s8 waffleA 46"/>
            <p:cNvSpPr/>
            <p:nvPr/>
          </p:nvSpPr>
          <p:spPr>
            <a:xfrm>
              <a:off x="244144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3" name="s8 waffleA 47"/>
            <p:cNvSpPr/>
            <p:nvPr/>
          </p:nvSpPr>
          <p:spPr>
            <a:xfrm>
              <a:off x="273405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4" name="s8 waffleA 48"/>
            <p:cNvSpPr/>
            <p:nvPr/>
          </p:nvSpPr>
          <p:spPr>
            <a:xfrm>
              <a:off x="302666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5" name="s8 waffleA 49"/>
            <p:cNvSpPr/>
            <p:nvPr/>
          </p:nvSpPr>
          <p:spPr>
            <a:xfrm>
              <a:off x="331927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6" name="s8 waffleA 50"/>
            <p:cNvSpPr/>
            <p:nvPr/>
          </p:nvSpPr>
          <p:spPr>
            <a:xfrm>
              <a:off x="68580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7" name="s8 waffleA 51"/>
            <p:cNvSpPr/>
            <p:nvPr/>
          </p:nvSpPr>
          <p:spPr>
            <a:xfrm>
              <a:off x="97840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8" name="s8 waffleA 52"/>
            <p:cNvSpPr/>
            <p:nvPr/>
          </p:nvSpPr>
          <p:spPr>
            <a:xfrm>
              <a:off x="1271016"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9" name="s8 waffleA 53"/>
            <p:cNvSpPr/>
            <p:nvPr/>
          </p:nvSpPr>
          <p:spPr>
            <a:xfrm>
              <a:off x="1563624"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0" name="s8 waffleA 54"/>
            <p:cNvSpPr/>
            <p:nvPr/>
          </p:nvSpPr>
          <p:spPr>
            <a:xfrm>
              <a:off x="1856232"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1" name="s8 waffleA 55"/>
            <p:cNvSpPr/>
            <p:nvPr/>
          </p:nvSpPr>
          <p:spPr>
            <a:xfrm>
              <a:off x="214884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2" name="s8 waffleA 56"/>
            <p:cNvSpPr/>
            <p:nvPr/>
          </p:nvSpPr>
          <p:spPr>
            <a:xfrm>
              <a:off x="244144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3" name="s8 waffleA 57"/>
            <p:cNvSpPr/>
            <p:nvPr/>
          </p:nvSpPr>
          <p:spPr>
            <a:xfrm>
              <a:off x="27340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4" name="s8 waffleA 58"/>
            <p:cNvSpPr/>
            <p:nvPr/>
          </p:nvSpPr>
          <p:spPr>
            <a:xfrm>
              <a:off x="30266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5" name="s8 waffleA 59"/>
            <p:cNvSpPr/>
            <p:nvPr/>
          </p:nvSpPr>
          <p:spPr>
            <a:xfrm>
              <a:off x="33192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6" name="s8 waffleA 60"/>
            <p:cNvSpPr/>
            <p:nvPr/>
          </p:nvSpPr>
          <p:spPr>
            <a:xfrm>
              <a:off x="68580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7" name="s8 waffleA 61"/>
            <p:cNvSpPr/>
            <p:nvPr/>
          </p:nvSpPr>
          <p:spPr>
            <a:xfrm>
              <a:off x="97840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8" name="s8 waffleA 62"/>
            <p:cNvSpPr/>
            <p:nvPr/>
          </p:nvSpPr>
          <p:spPr>
            <a:xfrm>
              <a:off x="127101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9" name="s8 waffleA 63"/>
            <p:cNvSpPr/>
            <p:nvPr/>
          </p:nvSpPr>
          <p:spPr>
            <a:xfrm>
              <a:off x="156362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0" name="s8 waffleA 64"/>
            <p:cNvSpPr/>
            <p:nvPr/>
          </p:nvSpPr>
          <p:spPr>
            <a:xfrm>
              <a:off x="185623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1" name="s8 waffleA 65"/>
            <p:cNvSpPr/>
            <p:nvPr/>
          </p:nvSpPr>
          <p:spPr>
            <a:xfrm>
              <a:off x="21488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2" name="s8 waffleA 66"/>
            <p:cNvSpPr/>
            <p:nvPr/>
          </p:nvSpPr>
          <p:spPr>
            <a:xfrm>
              <a:off x="24414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3" name="s8 waffleA 67"/>
            <p:cNvSpPr/>
            <p:nvPr/>
          </p:nvSpPr>
          <p:spPr>
            <a:xfrm>
              <a:off x="27340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4" name="s8 waffleA 68"/>
            <p:cNvSpPr/>
            <p:nvPr/>
          </p:nvSpPr>
          <p:spPr>
            <a:xfrm>
              <a:off x="30266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5" name="s8 waffleA 69"/>
            <p:cNvSpPr/>
            <p:nvPr/>
          </p:nvSpPr>
          <p:spPr>
            <a:xfrm>
              <a:off x="33192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6" name="s8 waffleA 70"/>
            <p:cNvSpPr/>
            <p:nvPr/>
          </p:nvSpPr>
          <p:spPr>
            <a:xfrm>
              <a:off x="68580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7" name="s8 waffleA 71"/>
            <p:cNvSpPr/>
            <p:nvPr/>
          </p:nvSpPr>
          <p:spPr>
            <a:xfrm>
              <a:off x="97840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8" name="s8 waffleA 72"/>
            <p:cNvSpPr/>
            <p:nvPr/>
          </p:nvSpPr>
          <p:spPr>
            <a:xfrm>
              <a:off x="127101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9" name="s8 waffleA 73"/>
            <p:cNvSpPr/>
            <p:nvPr/>
          </p:nvSpPr>
          <p:spPr>
            <a:xfrm>
              <a:off x="156362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0" name="s8 waffleA 74"/>
            <p:cNvSpPr/>
            <p:nvPr/>
          </p:nvSpPr>
          <p:spPr>
            <a:xfrm>
              <a:off x="185623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1" name="s8 waffleA 75"/>
            <p:cNvSpPr/>
            <p:nvPr/>
          </p:nvSpPr>
          <p:spPr>
            <a:xfrm>
              <a:off x="21488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2" name="s8 waffleA 76"/>
            <p:cNvSpPr/>
            <p:nvPr/>
          </p:nvSpPr>
          <p:spPr>
            <a:xfrm>
              <a:off x="24414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3" name="s8 waffleA 77"/>
            <p:cNvSpPr/>
            <p:nvPr/>
          </p:nvSpPr>
          <p:spPr>
            <a:xfrm>
              <a:off x="27340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4" name="s8 waffleA 78"/>
            <p:cNvSpPr/>
            <p:nvPr/>
          </p:nvSpPr>
          <p:spPr>
            <a:xfrm>
              <a:off x="30266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5" name="s8 waffleA 79"/>
            <p:cNvSpPr/>
            <p:nvPr/>
          </p:nvSpPr>
          <p:spPr>
            <a:xfrm>
              <a:off x="33192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6" name="s8 waffleA 80"/>
            <p:cNvSpPr/>
            <p:nvPr/>
          </p:nvSpPr>
          <p:spPr>
            <a:xfrm>
              <a:off x="68580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7" name="s8 waffleA 81"/>
            <p:cNvSpPr/>
            <p:nvPr/>
          </p:nvSpPr>
          <p:spPr>
            <a:xfrm>
              <a:off x="97840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8" name="s8 waffleA 82"/>
            <p:cNvSpPr/>
            <p:nvPr/>
          </p:nvSpPr>
          <p:spPr>
            <a:xfrm>
              <a:off x="127101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9" name="s8 waffleA 83"/>
            <p:cNvSpPr/>
            <p:nvPr/>
          </p:nvSpPr>
          <p:spPr>
            <a:xfrm>
              <a:off x="156362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0" name="s8 waffleA 84"/>
            <p:cNvSpPr/>
            <p:nvPr/>
          </p:nvSpPr>
          <p:spPr>
            <a:xfrm>
              <a:off x="185623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1" name="s8 waffleA 85"/>
            <p:cNvSpPr/>
            <p:nvPr/>
          </p:nvSpPr>
          <p:spPr>
            <a:xfrm>
              <a:off x="21488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2" name="s8 waffleA 86"/>
            <p:cNvSpPr/>
            <p:nvPr/>
          </p:nvSpPr>
          <p:spPr>
            <a:xfrm>
              <a:off x="24414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3" name="s8 waffleA 87"/>
            <p:cNvSpPr/>
            <p:nvPr/>
          </p:nvSpPr>
          <p:spPr>
            <a:xfrm>
              <a:off x="27340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4" name="s8 waffleA 88"/>
            <p:cNvSpPr/>
            <p:nvPr/>
          </p:nvSpPr>
          <p:spPr>
            <a:xfrm>
              <a:off x="30266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5" name="s8 waffleA 89"/>
            <p:cNvSpPr/>
            <p:nvPr/>
          </p:nvSpPr>
          <p:spPr>
            <a:xfrm>
              <a:off x="33192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6" name="s8 waffleA 90"/>
            <p:cNvSpPr/>
            <p:nvPr/>
          </p:nvSpPr>
          <p:spPr>
            <a:xfrm>
              <a:off x="68580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7" name="s8 waffleA 91"/>
            <p:cNvSpPr/>
            <p:nvPr/>
          </p:nvSpPr>
          <p:spPr>
            <a:xfrm>
              <a:off x="97840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8" name="s8 waffleA 92"/>
            <p:cNvSpPr/>
            <p:nvPr/>
          </p:nvSpPr>
          <p:spPr>
            <a:xfrm>
              <a:off x="127101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9" name="s8 waffleA 93"/>
            <p:cNvSpPr/>
            <p:nvPr/>
          </p:nvSpPr>
          <p:spPr>
            <a:xfrm>
              <a:off x="156362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0" name="s8 waffleA 94"/>
            <p:cNvSpPr/>
            <p:nvPr/>
          </p:nvSpPr>
          <p:spPr>
            <a:xfrm>
              <a:off x="185623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1" name="s8 waffleA 95"/>
            <p:cNvSpPr/>
            <p:nvPr/>
          </p:nvSpPr>
          <p:spPr>
            <a:xfrm>
              <a:off x="21488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2" name="s8 waffleA 96"/>
            <p:cNvSpPr/>
            <p:nvPr/>
          </p:nvSpPr>
          <p:spPr>
            <a:xfrm>
              <a:off x="24414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3" name="s8 waffleA 97"/>
            <p:cNvSpPr/>
            <p:nvPr/>
          </p:nvSpPr>
          <p:spPr>
            <a:xfrm>
              <a:off x="27340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4" name="s8 waffleA 98"/>
            <p:cNvSpPr/>
            <p:nvPr/>
          </p:nvSpPr>
          <p:spPr>
            <a:xfrm>
              <a:off x="30266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5" name="s8 waffleA 99"/>
            <p:cNvSpPr/>
            <p:nvPr/>
          </p:nvSpPr>
          <p:spPr>
            <a:xfrm>
              <a:off x="3319272" y="4782312"/>
              <a:ext cx="246888" cy="246888"/>
            </a:xfrm>
            <a:prstGeom prst="roundRect">
              <a:avLst>
                <a:gd name="adj" fmla="val 18519"/>
              </a:avLst>
            </a:prstGeom>
            <a:solidFill>
              <a:srgbClr val="E4E9EE"/>
            </a:solidFill>
            <a:ln w="12700">
              <a:solidFill>
                <a:srgbClr val="E4E9EE">
                  <a:alpha val="0"/>
                </a:srgbClr>
              </a:solidFill>
              <a:prstDash val="solid"/>
            </a:ln>
          </p:spPr>
        </p:sp>
      </p:grpSp>
      <p:grpSp>
        <p:nvGrpSpPr>
          <p:cNvPr id="241" name="s8 numA">
            <a:extLst>
              <a:ext uri="{FF2B5EF4-FFF2-40B4-BE49-F238E27FC236}">
                <a16:creationId xmlns:a16="http://schemas.microsoft.com/office/drawing/2014/main" id="{1F2DE4EB-8B26-979E-E0D5-CB16DCD9321E}"/>
              </a:ext>
            </a:extLst>
          </p:cNvPr>
          <p:cNvGrpSpPr/>
          <p:nvPr/>
        </p:nvGrpSpPr>
        <p:grpSpPr>
          <a:xfrm>
            <a:off x="640080" y="5074920"/>
            <a:ext cx="3035808" cy="658368"/>
            <a:chOff x="640080" y="5074920"/>
            <a:chExt cx="3035808" cy="658368"/>
          </a:xfrm>
        </p:grpSpPr>
        <p:sp>
          <p:nvSpPr>
            <p:cNvPr id="116" name="s8 text 2"/>
            <p:cNvSpPr txBox="1"/>
            <p:nvPr/>
          </p:nvSpPr>
          <p:spPr>
            <a:xfrm>
              <a:off x="640080" y="5074920"/>
              <a:ext cx="777240" cy="658368"/>
            </a:xfrm>
            <a:prstGeom prst="rect">
              <a:avLst/>
            </a:prstGeom>
            <a:noFill/>
            <a:ln/>
          </p:spPr>
          <p:txBody>
            <a:bodyPr wrap="square" lIns="0" tIns="0" rIns="0" bIns="0" rtlCol="0" anchor="ctr"/>
            <a:lstStyle/>
            <a:p>
              <a:pPr marL="0" indent="0">
                <a:buNone/>
              </a:pPr>
              <a:r>
                <a:rPr lang="en-US" sz="4000" dirty="0">
                  <a:solidFill>
                    <a:srgbClr val="C1666B"/>
                  </a:solidFill>
                  <a:latin typeface="Segoe UI Light" pitchFamily="34" charset="0"/>
                  <a:ea typeface="Segoe UI Light" pitchFamily="34" charset="-122"/>
                  <a:cs typeface="Segoe UI Light" pitchFamily="34" charset="-120"/>
                </a:rPr>
                <a:t>57</a:t>
              </a:r>
              <a:endParaRPr lang="en-US" sz="4000" dirty="0"/>
            </a:p>
          </p:txBody>
        </p:sp>
        <p:sp>
          <p:nvSpPr>
            <p:cNvPr id="117" name="s8 text 3"/>
            <p:cNvSpPr txBox="1"/>
            <p:nvPr/>
          </p:nvSpPr>
          <p:spPr>
            <a:xfrm>
              <a:off x="1389888" y="5120640"/>
              <a:ext cx="228600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calls reach a customer</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about to give a 1–2★ review</a:t>
              </a:r>
              <a:endParaRPr lang="en-US" sz="1100" dirty="0"/>
            </a:p>
          </p:txBody>
        </p:sp>
      </p:grpSp>
      <p:grpSp>
        <p:nvGrpSpPr>
          <p:cNvPr id="247" name="s8 random">
            <a:extLst>
              <a:ext uri="{FF2B5EF4-FFF2-40B4-BE49-F238E27FC236}">
                <a16:creationId xmlns:a16="http://schemas.microsoft.com/office/drawing/2014/main" id="{A7148869-9D31-ED8B-D191-4217EE80A7FD}"/>
              </a:ext>
            </a:extLst>
          </p:cNvPr>
          <p:cNvGrpSpPr/>
          <p:nvPr/>
        </p:nvGrpSpPr>
        <p:grpSpPr>
          <a:xfrm>
            <a:off x="3931920" y="1828800"/>
            <a:ext cx="2971800" cy="3904488"/>
            <a:chOff x="3931920" y="1828800"/>
            <a:chExt cx="2971800" cy="3904488"/>
          </a:xfrm>
        </p:grpSpPr>
        <p:sp>
          <p:nvSpPr>
            <p:cNvPr id="118" name="s8 text 4"/>
            <p:cNvSpPr txBox="1"/>
            <p:nvPr/>
          </p:nvSpPr>
          <p:spPr>
            <a:xfrm>
              <a:off x="3977640" y="1828800"/>
              <a:ext cx="292608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100 RANDOM CALLS</a:t>
              </a:r>
              <a:endParaRPr lang="en-US" sz="950" dirty="0"/>
            </a:p>
          </p:txBody>
        </p:sp>
        <p:grpSp>
          <p:nvGrpSpPr>
            <p:cNvPr id="243" name="s8 numB">
              <a:extLst>
                <a:ext uri="{FF2B5EF4-FFF2-40B4-BE49-F238E27FC236}">
                  <a16:creationId xmlns:a16="http://schemas.microsoft.com/office/drawing/2014/main" id="{B34D9A96-0F53-B555-7552-75FE6C70EC2D}"/>
                </a:ext>
              </a:extLst>
            </p:cNvPr>
            <p:cNvGrpSpPr/>
            <p:nvPr/>
          </p:nvGrpSpPr>
          <p:grpSpPr>
            <a:xfrm>
              <a:off x="3931920" y="5074920"/>
              <a:ext cx="2816352" cy="658368"/>
              <a:chOff x="3931920" y="5074920"/>
              <a:chExt cx="2816352" cy="658368"/>
            </a:xfrm>
          </p:grpSpPr>
          <p:sp>
            <p:nvSpPr>
              <p:cNvPr id="219" name="s8 text 5"/>
              <p:cNvSpPr txBox="1"/>
              <p:nvPr/>
            </p:nvSpPr>
            <p:spPr>
              <a:xfrm>
                <a:off x="3931920" y="5074920"/>
                <a:ext cx="777240" cy="658368"/>
              </a:xfrm>
              <a:prstGeom prst="rect">
                <a:avLst/>
              </a:prstGeom>
              <a:noFill/>
              <a:ln/>
            </p:spPr>
            <p:txBody>
              <a:bodyPr wrap="square" lIns="0" tIns="0" rIns="0" bIns="0" rtlCol="0" anchor="ctr"/>
              <a:lstStyle/>
              <a:p>
                <a:pPr marL="0" indent="0">
                  <a:buNone/>
                </a:pPr>
                <a:r>
                  <a:rPr lang="en-US" sz="4000" dirty="0">
                    <a:solidFill>
                      <a:srgbClr val="6B7885"/>
                    </a:solidFill>
                    <a:latin typeface="Segoe UI Light" pitchFamily="34" charset="0"/>
                    <a:ea typeface="Segoe UI Light" pitchFamily="34" charset="-122"/>
                    <a:cs typeface="Segoe UI Light" pitchFamily="34" charset="-120"/>
                  </a:rPr>
                  <a:t>11</a:t>
                </a:r>
                <a:endParaRPr lang="en-US" sz="4000" dirty="0"/>
              </a:p>
            </p:txBody>
          </p:sp>
          <p:sp>
            <p:nvSpPr>
              <p:cNvPr id="220" name="s8 text 6"/>
              <p:cNvSpPr txBox="1"/>
              <p:nvPr/>
            </p:nvSpPr>
            <p:spPr>
              <a:xfrm>
                <a:off x="4553712" y="5120640"/>
                <a:ext cx="219456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random calls do,</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by chance alone</a:t>
                </a:r>
                <a:endParaRPr lang="en-US" sz="1100" dirty="0"/>
              </a:p>
            </p:txBody>
          </p:sp>
        </p:grpSp>
      </p:grpSp>
      <p:grpSp>
        <p:nvGrpSpPr>
          <p:cNvPr id="242" name="s8 waffleB">
            <a:extLst>
              <a:ext uri="{FF2B5EF4-FFF2-40B4-BE49-F238E27FC236}">
                <a16:creationId xmlns:a16="http://schemas.microsoft.com/office/drawing/2014/main" id="{B973D9EC-933F-0117-7E3D-726063E158A2}"/>
              </a:ext>
            </a:extLst>
          </p:cNvPr>
          <p:cNvGrpSpPr/>
          <p:nvPr/>
        </p:nvGrpSpPr>
        <p:grpSpPr>
          <a:xfrm>
            <a:off x="3977640" y="2148840"/>
            <a:ext cx="2880360" cy="2880360"/>
            <a:chOff x="3977640" y="2148840"/>
            <a:chExt cx="2880360" cy="2880360"/>
          </a:xfrm>
        </p:grpSpPr>
        <p:sp>
          <p:nvSpPr>
            <p:cNvPr id="119" name="s8 waffleB 0"/>
            <p:cNvSpPr/>
            <p:nvPr/>
          </p:nvSpPr>
          <p:spPr>
            <a:xfrm>
              <a:off x="39776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0" name="s8 waffleB 1"/>
            <p:cNvSpPr/>
            <p:nvPr/>
          </p:nvSpPr>
          <p:spPr>
            <a:xfrm>
              <a:off x="42702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1" name="s8 waffleB 2"/>
            <p:cNvSpPr/>
            <p:nvPr/>
          </p:nvSpPr>
          <p:spPr>
            <a:xfrm>
              <a:off x="45628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2" name="s8 waffleB 3"/>
            <p:cNvSpPr/>
            <p:nvPr/>
          </p:nvSpPr>
          <p:spPr>
            <a:xfrm>
              <a:off x="48554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3" name="s8 waffleB 4"/>
            <p:cNvSpPr/>
            <p:nvPr/>
          </p:nvSpPr>
          <p:spPr>
            <a:xfrm>
              <a:off x="51480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4" name="s8 waffleB 5"/>
            <p:cNvSpPr/>
            <p:nvPr/>
          </p:nvSpPr>
          <p:spPr>
            <a:xfrm>
              <a:off x="544068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5" name="s8 waffleB 6"/>
            <p:cNvSpPr/>
            <p:nvPr/>
          </p:nvSpPr>
          <p:spPr>
            <a:xfrm>
              <a:off x="573328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6" name="s8 waffleB 7"/>
            <p:cNvSpPr/>
            <p:nvPr/>
          </p:nvSpPr>
          <p:spPr>
            <a:xfrm>
              <a:off x="602589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7" name="s8 waffleB 8"/>
            <p:cNvSpPr/>
            <p:nvPr/>
          </p:nvSpPr>
          <p:spPr>
            <a:xfrm>
              <a:off x="631850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8" name="s8 waffleB 9"/>
            <p:cNvSpPr/>
            <p:nvPr/>
          </p:nvSpPr>
          <p:spPr>
            <a:xfrm>
              <a:off x="6611112" y="2148840"/>
              <a:ext cx="246888" cy="246888"/>
            </a:xfrm>
            <a:prstGeom prst="roundRect">
              <a:avLst>
                <a:gd name="adj" fmla="val 18519"/>
              </a:avLst>
            </a:prstGeom>
            <a:solidFill>
              <a:srgbClr val="EDB3B6"/>
            </a:solidFill>
            <a:ln w="12700">
              <a:solidFill>
                <a:srgbClr val="EDB3B6">
                  <a:alpha val="0"/>
                </a:srgbClr>
              </a:solidFill>
              <a:prstDash val="solid"/>
            </a:ln>
          </p:spPr>
        </p:sp>
        <p:sp>
          <p:nvSpPr>
            <p:cNvPr id="129" name="s8 waffleB 10"/>
            <p:cNvSpPr/>
            <p:nvPr/>
          </p:nvSpPr>
          <p:spPr>
            <a:xfrm>
              <a:off x="3977640" y="2441448"/>
              <a:ext cx="246888" cy="246888"/>
            </a:xfrm>
            <a:prstGeom prst="roundRect">
              <a:avLst>
                <a:gd name="adj" fmla="val 18519"/>
              </a:avLst>
            </a:prstGeom>
            <a:solidFill>
              <a:srgbClr val="EDB3B6"/>
            </a:solidFill>
            <a:ln w="12700">
              <a:solidFill>
                <a:srgbClr val="EDB3B6">
                  <a:alpha val="0"/>
                </a:srgbClr>
              </a:solidFill>
              <a:prstDash val="solid"/>
            </a:ln>
          </p:spPr>
        </p:sp>
        <p:sp>
          <p:nvSpPr>
            <p:cNvPr id="130" name="s8 waffleB 11"/>
            <p:cNvSpPr/>
            <p:nvPr/>
          </p:nvSpPr>
          <p:spPr>
            <a:xfrm>
              <a:off x="427024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1" name="s8 waffleB 12"/>
            <p:cNvSpPr/>
            <p:nvPr/>
          </p:nvSpPr>
          <p:spPr>
            <a:xfrm>
              <a:off x="456285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2" name="s8 waffleB 13"/>
            <p:cNvSpPr/>
            <p:nvPr/>
          </p:nvSpPr>
          <p:spPr>
            <a:xfrm>
              <a:off x="485546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3" name="s8 waffleB 14"/>
            <p:cNvSpPr/>
            <p:nvPr/>
          </p:nvSpPr>
          <p:spPr>
            <a:xfrm>
              <a:off x="514807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4" name="s8 waffleB 15"/>
            <p:cNvSpPr/>
            <p:nvPr/>
          </p:nvSpPr>
          <p:spPr>
            <a:xfrm>
              <a:off x="5440680"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5" name="s8 waffleB 16"/>
            <p:cNvSpPr/>
            <p:nvPr/>
          </p:nvSpPr>
          <p:spPr>
            <a:xfrm>
              <a:off x="573328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6" name="s8 waffleB 17"/>
            <p:cNvSpPr/>
            <p:nvPr/>
          </p:nvSpPr>
          <p:spPr>
            <a:xfrm>
              <a:off x="602589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7" name="s8 waffleB 18"/>
            <p:cNvSpPr/>
            <p:nvPr/>
          </p:nvSpPr>
          <p:spPr>
            <a:xfrm>
              <a:off x="631850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8" name="s8 waffleB 19"/>
            <p:cNvSpPr/>
            <p:nvPr/>
          </p:nvSpPr>
          <p:spPr>
            <a:xfrm>
              <a:off x="661111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9" name="s8 waffleB 20"/>
            <p:cNvSpPr/>
            <p:nvPr/>
          </p:nvSpPr>
          <p:spPr>
            <a:xfrm>
              <a:off x="397764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0" name="s8 waffleB 21"/>
            <p:cNvSpPr/>
            <p:nvPr/>
          </p:nvSpPr>
          <p:spPr>
            <a:xfrm>
              <a:off x="427024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1" name="s8 waffleB 22"/>
            <p:cNvSpPr/>
            <p:nvPr/>
          </p:nvSpPr>
          <p:spPr>
            <a:xfrm>
              <a:off x="456285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2" name="s8 waffleB 23"/>
            <p:cNvSpPr/>
            <p:nvPr/>
          </p:nvSpPr>
          <p:spPr>
            <a:xfrm>
              <a:off x="485546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3" name="s8 waffleB 24"/>
            <p:cNvSpPr/>
            <p:nvPr/>
          </p:nvSpPr>
          <p:spPr>
            <a:xfrm>
              <a:off x="514807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4" name="s8 waffleB 25"/>
            <p:cNvSpPr/>
            <p:nvPr/>
          </p:nvSpPr>
          <p:spPr>
            <a:xfrm>
              <a:off x="544068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5" name="s8 waffleB 26"/>
            <p:cNvSpPr/>
            <p:nvPr/>
          </p:nvSpPr>
          <p:spPr>
            <a:xfrm>
              <a:off x="573328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6" name="s8 waffleB 27"/>
            <p:cNvSpPr/>
            <p:nvPr/>
          </p:nvSpPr>
          <p:spPr>
            <a:xfrm>
              <a:off x="602589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7" name="s8 waffleB 28"/>
            <p:cNvSpPr/>
            <p:nvPr/>
          </p:nvSpPr>
          <p:spPr>
            <a:xfrm>
              <a:off x="631850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8" name="s8 waffleB 29"/>
            <p:cNvSpPr/>
            <p:nvPr/>
          </p:nvSpPr>
          <p:spPr>
            <a:xfrm>
              <a:off x="661111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9" name="s8 waffleB 30"/>
            <p:cNvSpPr/>
            <p:nvPr/>
          </p:nvSpPr>
          <p:spPr>
            <a:xfrm>
              <a:off x="397764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0" name="s8 waffleB 31"/>
            <p:cNvSpPr/>
            <p:nvPr/>
          </p:nvSpPr>
          <p:spPr>
            <a:xfrm>
              <a:off x="427024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1" name="s8 waffleB 32"/>
            <p:cNvSpPr/>
            <p:nvPr/>
          </p:nvSpPr>
          <p:spPr>
            <a:xfrm>
              <a:off x="456285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2" name="s8 waffleB 33"/>
            <p:cNvSpPr/>
            <p:nvPr/>
          </p:nvSpPr>
          <p:spPr>
            <a:xfrm>
              <a:off x="485546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3" name="s8 waffleB 34"/>
            <p:cNvSpPr/>
            <p:nvPr/>
          </p:nvSpPr>
          <p:spPr>
            <a:xfrm>
              <a:off x="514807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4" name="s8 waffleB 35"/>
            <p:cNvSpPr/>
            <p:nvPr/>
          </p:nvSpPr>
          <p:spPr>
            <a:xfrm>
              <a:off x="544068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5" name="s8 waffleB 36"/>
            <p:cNvSpPr/>
            <p:nvPr/>
          </p:nvSpPr>
          <p:spPr>
            <a:xfrm>
              <a:off x="573328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6" name="s8 waffleB 37"/>
            <p:cNvSpPr/>
            <p:nvPr/>
          </p:nvSpPr>
          <p:spPr>
            <a:xfrm>
              <a:off x="602589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7" name="s8 waffleB 38"/>
            <p:cNvSpPr/>
            <p:nvPr/>
          </p:nvSpPr>
          <p:spPr>
            <a:xfrm>
              <a:off x="631850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8" name="s8 waffleB 39"/>
            <p:cNvSpPr/>
            <p:nvPr/>
          </p:nvSpPr>
          <p:spPr>
            <a:xfrm>
              <a:off x="661111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9" name="s8 waffleB 40"/>
            <p:cNvSpPr/>
            <p:nvPr/>
          </p:nvSpPr>
          <p:spPr>
            <a:xfrm>
              <a:off x="397764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0" name="s8 waffleB 41"/>
            <p:cNvSpPr/>
            <p:nvPr/>
          </p:nvSpPr>
          <p:spPr>
            <a:xfrm>
              <a:off x="427024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1" name="s8 waffleB 42"/>
            <p:cNvSpPr/>
            <p:nvPr/>
          </p:nvSpPr>
          <p:spPr>
            <a:xfrm>
              <a:off x="456285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2" name="s8 waffleB 43"/>
            <p:cNvSpPr/>
            <p:nvPr/>
          </p:nvSpPr>
          <p:spPr>
            <a:xfrm>
              <a:off x="485546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3" name="s8 waffleB 44"/>
            <p:cNvSpPr/>
            <p:nvPr/>
          </p:nvSpPr>
          <p:spPr>
            <a:xfrm>
              <a:off x="514807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4" name="s8 waffleB 45"/>
            <p:cNvSpPr/>
            <p:nvPr/>
          </p:nvSpPr>
          <p:spPr>
            <a:xfrm>
              <a:off x="544068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5" name="s8 waffleB 46"/>
            <p:cNvSpPr/>
            <p:nvPr/>
          </p:nvSpPr>
          <p:spPr>
            <a:xfrm>
              <a:off x="573328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6" name="s8 waffleB 47"/>
            <p:cNvSpPr/>
            <p:nvPr/>
          </p:nvSpPr>
          <p:spPr>
            <a:xfrm>
              <a:off x="602589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7" name="s8 waffleB 48"/>
            <p:cNvSpPr/>
            <p:nvPr/>
          </p:nvSpPr>
          <p:spPr>
            <a:xfrm>
              <a:off x="631850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8" name="s8 waffleB 49"/>
            <p:cNvSpPr/>
            <p:nvPr/>
          </p:nvSpPr>
          <p:spPr>
            <a:xfrm>
              <a:off x="661111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9" name="s8 waffleB 50"/>
            <p:cNvSpPr/>
            <p:nvPr/>
          </p:nvSpPr>
          <p:spPr>
            <a:xfrm>
              <a:off x="397764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0" name="s8 waffleB 51"/>
            <p:cNvSpPr/>
            <p:nvPr/>
          </p:nvSpPr>
          <p:spPr>
            <a:xfrm>
              <a:off x="427024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1" name="s8 waffleB 52"/>
            <p:cNvSpPr/>
            <p:nvPr/>
          </p:nvSpPr>
          <p:spPr>
            <a:xfrm>
              <a:off x="45628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2" name="s8 waffleB 53"/>
            <p:cNvSpPr/>
            <p:nvPr/>
          </p:nvSpPr>
          <p:spPr>
            <a:xfrm>
              <a:off x="48554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3" name="s8 waffleB 54"/>
            <p:cNvSpPr/>
            <p:nvPr/>
          </p:nvSpPr>
          <p:spPr>
            <a:xfrm>
              <a:off x="51480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4" name="s8 waffleB 55"/>
            <p:cNvSpPr/>
            <p:nvPr/>
          </p:nvSpPr>
          <p:spPr>
            <a:xfrm>
              <a:off x="544068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5" name="s8 waffleB 56"/>
            <p:cNvSpPr/>
            <p:nvPr/>
          </p:nvSpPr>
          <p:spPr>
            <a:xfrm>
              <a:off x="573328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6" name="s8 waffleB 57"/>
            <p:cNvSpPr/>
            <p:nvPr/>
          </p:nvSpPr>
          <p:spPr>
            <a:xfrm>
              <a:off x="602589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7" name="s8 waffleB 58"/>
            <p:cNvSpPr/>
            <p:nvPr/>
          </p:nvSpPr>
          <p:spPr>
            <a:xfrm>
              <a:off x="631850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8" name="s8 waffleB 59"/>
            <p:cNvSpPr/>
            <p:nvPr/>
          </p:nvSpPr>
          <p:spPr>
            <a:xfrm>
              <a:off x="661111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9" name="s8 waffleB 60"/>
            <p:cNvSpPr/>
            <p:nvPr/>
          </p:nvSpPr>
          <p:spPr>
            <a:xfrm>
              <a:off x="39776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0" name="s8 waffleB 61"/>
            <p:cNvSpPr/>
            <p:nvPr/>
          </p:nvSpPr>
          <p:spPr>
            <a:xfrm>
              <a:off x="42702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1" name="s8 waffleB 62"/>
            <p:cNvSpPr/>
            <p:nvPr/>
          </p:nvSpPr>
          <p:spPr>
            <a:xfrm>
              <a:off x="45628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2" name="s8 waffleB 63"/>
            <p:cNvSpPr/>
            <p:nvPr/>
          </p:nvSpPr>
          <p:spPr>
            <a:xfrm>
              <a:off x="48554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3" name="s8 waffleB 64"/>
            <p:cNvSpPr/>
            <p:nvPr/>
          </p:nvSpPr>
          <p:spPr>
            <a:xfrm>
              <a:off x="51480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4" name="s8 waffleB 65"/>
            <p:cNvSpPr/>
            <p:nvPr/>
          </p:nvSpPr>
          <p:spPr>
            <a:xfrm>
              <a:off x="544068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5" name="s8 waffleB 66"/>
            <p:cNvSpPr/>
            <p:nvPr/>
          </p:nvSpPr>
          <p:spPr>
            <a:xfrm>
              <a:off x="573328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6" name="s8 waffleB 67"/>
            <p:cNvSpPr/>
            <p:nvPr/>
          </p:nvSpPr>
          <p:spPr>
            <a:xfrm>
              <a:off x="602589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7" name="s8 waffleB 68"/>
            <p:cNvSpPr/>
            <p:nvPr/>
          </p:nvSpPr>
          <p:spPr>
            <a:xfrm>
              <a:off x="631850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8" name="s8 waffleB 69"/>
            <p:cNvSpPr/>
            <p:nvPr/>
          </p:nvSpPr>
          <p:spPr>
            <a:xfrm>
              <a:off x="661111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9" name="s8 waffleB 70"/>
            <p:cNvSpPr/>
            <p:nvPr/>
          </p:nvSpPr>
          <p:spPr>
            <a:xfrm>
              <a:off x="39776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0" name="s8 waffleB 71"/>
            <p:cNvSpPr/>
            <p:nvPr/>
          </p:nvSpPr>
          <p:spPr>
            <a:xfrm>
              <a:off x="42702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1" name="s8 waffleB 72"/>
            <p:cNvSpPr/>
            <p:nvPr/>
          </p:nvSpPr>
          <p:spPr>
            <a:xfrm>
              <a:off x="45628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2" name="s8 waffleB 73"/>
            <p:cNvSpPr/>
            <p:nvPr/>
          </p:nvSpPr>
          <p:spPr>
            <a:xfrm>
              <a:off x="48554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3" name="s8 waffleB 74"/>
            <p:cNvSpPr/>
            <p:nvPr/>
          </p:nvSpPr>
          <p:spPr>
            <a:xfrm>
              <a:off x="51480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4" name="s8 waffleB 75"/>
            <p:cNvSpPr/>
            <p:nvPr/>
          </p:nvSpPr>
          <p:spPr>
            <a:xfrm>
              <a:off x="544068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5" name="s8 waffleB 76"/>
            <p:cNvSpPr/>
            <p:nvPr/>
          </p:nvSpPr>
          <p:spPr>
            <a:xfrm>
              <a:off x="573328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6" name="s8 waffleB 77"/>
            <p:cNvSpPr/>
            <p:nvPr/>
          </p:nvSpPr>
          <p:spPr>
            <a:xfrm>
              <a:off x="602589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7" name="s8 waffleB 78"/>
            <p:cNvSpPr/>
            <p:nvPr/>
          </p:nvSpPr>
          <p:spPr>
            <a:xfrm>
              <a:off x="631850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8" name="s8 waffleB 79"/>
            <p:cNvSpPr/>
            <p:nvPr/>
          </p:nvSpPr>
          <p:spPr>
            <a:xfrm>
              <a:off x="661111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9" name="s8 waffleB 80"/>
            <p:cNvSpPr/>
            <p:nvPr/>
          </p:nvSpPr>
          <p:spPr>
            <a:xfrm>
              <a:off x="39776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0" name="s8 waffleB 81"/>
            <p:cNvSpPr/>
            <p:nvPr/>
          </p:nvSpPr>
          <p:spPr>
            <a:xfrm>
              <a:off x="42702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1" name="s8 waffleB 82"/>
            <p:cNvSpPr/>
            <p:nvPr/>
          </p:nvSpPr>
          <p:spPr>
            <a:xfrm>
              <a:off x="45628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2" name="s8 waffleB 83"/>
            <p:cNvSpPr/>
            <p:nvPr/>
          </p:nvSpPr>
          <p:spPr>
            <a:xfrm>
              <a:off x="48554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3" name="s8 waffleB 84"/>
            <p:cNvSpPr/>
            <p:nvPr/>
          </p:nvSpPr>
          <p:spPr>
            <a:xfrm>
              <a:off x="51480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4" name="s8 waffleB 85"/>
            <p:cNvSpPr/>
            <p:nvPr/>
          </p:nvSpPr>
          <p:spPr>
            <a:xfrm>
              <a:off x="544068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5" name="s8 waffleB 86"/>
            <p:cNvSpPr/>
            <p:nvPr/>
          </p:nvSpPr>
          <p:spPr>
            <a:xfrm>
              <a:off x="573328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6" name="s8 waffleB 87"/>
            <p:cNvSpPr/>
            <p:nvPr/>
          </p:nvSpPr>
          <p:spPr>
            <a:xfrm>
              <a:off x="602589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7" name="s8 waffleB 88"/>
            <p:cNvSpPr/>
            <p:nvPr/>
          </p:nvSpPr>
          <p:spPr>
            <a:xfrm>
              <a:off x="631850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8" name="s8 waffleB 89"/>
            <p:cNvSpPr/>
            <p:nvPr/>
          </p:nvSpPr>
          <p:spPr>
            <a:xfrm>
              <a:off x="661111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9" name="s8 waffleB 90"/>
            <p:cNvSpPr/>
            <p:nvPr/>
          </p:nvSpPr>
          <p:spPr>
            <a:xfrm>
              <a:off x="39776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0" name="s8 waffleB 91"/>
            <p:cNvSpPr/>
            <p:nvPr/>
          </p:nvSpPr>
          <p:spPr>
            <a:xfrm>
              <a:off x="42702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1" name="s8 waffleB 92"/>
            <p:cNvSpPr/>
            <p:nvPr/>
          </p:nvSpPr>
          <p:spPr>
            <a:xfrm>
              <a:off x="45628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2" name="s8 waffleB 93"/>
            <p:cNvSpPr/>
            <p:nvPr/>
          </p:nvSpPr>
          <p:spPr>
            <a:xfrm>
              <a:off x="48554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3" name="s8 waffleB 94"/>
            <p:cNvSpPr/>
            <p:nvPr/>
          </p:nvSpPr>
          <p:spPr>
            <a:xfrm>
              <a:off x="514807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4" name="s8 waffleB 95"/>
            <p:cNvSpPr/>
            <p:nvPr/>
          </p:nvSpPr>
          <p:spPr>
            <a:xfrm>
              <a:off x="544068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5" name="s8 waffleB 96"/>
            <p:cNvSpPr/>
            <p:nvPr/>
          </p:nvSpPr>
          <p:spPr>
            <a:xfrm>
              <a:off x="573328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6" name="s8 waffleB 97"/>
            <p:cNvSpPr/>
            <p:nvPr/>
          </p:nvSpPr>
          <p:spPr>
            <a:xfrm>
              <a:off x="602589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7" name="s8 waffleB 98"/>
            <p:cNvSpPr/>
            <p:nvPr/>
          </p:nvSpPr>
          <p:spPr>
            <a:xfrm>
              <a:off x="631850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8" name="s8 waffleB 99"/>
            <p:cNvSpPr/>
            <p:nvPr/>
          </p:nvSpPr>
          <p:spPr>
            <a:xfrm>
              <a:off x="6611112" y="4782312"/>
              <a:ext cx="246888" cy="246888"/>
            </a:xfrm>
            <a:prstGeom prst="roundRect">
              <a:avLst>
                <a:gd name="adj" fmla="val 18519"/>
              </a:avLst>
            </a:prstGeom>
            <a:solidFill>
              <a:srgbClr val="E4E9EE"/>
            </a:solidFill>
            <a:ln w="12700">
              <a:solidFill>
                <a:srgbClr val="E4E9EE">
                  <a:alpha val="0"/>
                </a:srgbClr>
              </a:solidFill>
              <a:prstDash val="solid"/>
            </a:ln>
          </p:spPr>
        </p:sp>
      </p:grpSp>
      <p:sp>
        <p:nvSpPr>
          <p:cNvPr id="221" name="s8 text 7"/>
          <p:cNvSpPr txBox="1"/>
          <p:nvPr/>
        </p:nvSpPr>
        <p:spPr>
          <a:xfrm>
            <a:off x="685800" y="5870448"/>
            <a:ext cx="6400800" cy="256032"/>
          </a:xfrm>
          <a:prstGeom prst="rect">
            <a:avLst/>
          </a:prstGeom>
          <a:noFill/>
          <a:ln/>
        </p:spPr>
        <p:txBody>
          <a:bodyPr wrap="square" lIns="0" tIns="0" rIns="0" bIns="0" rtlCol="0" anchor="t"/>
          <a:lstStyle/>
          <a:p>
            <a:pPr marL="0" indent="0">
              <a:buNone/>
            </a:pPr>
            <a:r>
              <a:rPr lang="en-US" sz="1000" dirty="0">
                <a:solidFill>
                  <a:srgbClr val="C1666B"/>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reached before they write     </a:t>
            </a:r>
            <a:r>
              <a:rPr lang="en-US" sz="1000" dirty="0">
                <a:solidFill>
                  <a:srgbClr val="EDB3B6"/>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already wrote, waiting for a late parcel     </a:t>
            </a:r>
            <a:r>
              <a:rPr lang="en-US" sz="1000" dirty="0">
                <a:solidFill>
                  <a:srgbClr val="D5DCE3"/>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no 1–2★ review</a:t>
            </a:r>
            <a:endParaRPr lang="en-US" sz="1000" dirty="0"/>
          </a:p>
        </p:txBody>
      </p:sp>
      <p:grpSp>
        <p:nvGrpSpPr>
          <p:cNvPr id="244" name="s8 tileA">
            <a:extLst>
              <a:ext uri="{FF2B5EF4-FFF2-40B4-BE49-F238E27FC236}">
                <a16:creationId xmlns:a16="http://schemas.microsoft.com/office/drawing/2014/main" id="{6B49CC68-EEB1-ED52-BD72-2A63545A0E55}"/>
              </a:ext>
            </a:extLst>
          </p:cNvPr>
          <p:cNvGrpSpPr/>
          <p:nvPr/>
        </p:nvGrpSpPr>
        <p:grpSpPr>
          <a:xfrm>
            <a:off x="7315200" y="1783080"/>
            <a:ext cx="4325112" cy="1353312"/>
            <a:chOff x="7315200" y="1783080"/>
            <a:chExt cx="4325112" cy="1353312"/>
          </a:xfrm>
        </p:grpSpPr>
        <p:sp>
          <p:nvSpPr>
            <p:cNvPr id="222" name="s8 tileA bg"/>
            <p:cNvSpPr/>
            <p:nvPr/>
          </p:nvSpPr>
          <p:spPr>
            <a:xfrm>
              <a:off x="7315200" y="1783080"/>
              <a:ext cx="4325112" cy="1353312"/>
            </a:xfrm>
            <a:prstGeom prst="roundRect">
              <a:avLst>
                <a:gd name="adj" fmla="val 8108"/>
              </a:avLst>
            </a:prstGeom>
            <a:solidFill>
              <a:srgbClr val="F9ECEC"/>
            </a:solidFill>
            <a:ln w="12700">
              <a:solidFill>
                <a:srgbClr val="F9ECEC">
                  <a:alpha val="0"/>
                </a:srgbClr>
              </a:solidFill>
              <a:prstDash val="solid"/>
            </a:ln>
          </p:spPr>
        </p:sp>
        <p:sp>
          <p:nvSpPr>
            <p:cNvPr id="223" name="s8 tileA label"/>
            <p:cNvSpPr txBox="1"/>
            <p:nvPr/>
          </p:nvSpPr>
          <p:spPr>
            <a:xfrm>
              <a:off x="7543800" y="1947672"/>
              <a:ext cx="39136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BETTER THAN CALLING AT RANDOM</a:t>
              </a:r>
              <a:endParaRPr lang="en-US" sz="900" dirty="0"/>
            </a:p>
          </p:txBody>
        </p:sp>
        <p:sp>
          <p:nvSpPr>
            <p:cNvPr id="224" name="s8 tileA value"/>
            <p:cNvSpPr txBox="1"/>
            <p:nvPr/>
          </p:nvSpPr>
          <p:spPr>
            <a:xfrm>
              <a:off x="7543800" y="2185416"/>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5×</a:t>
              </a:r>
              <a:endParaRPr lang="en-US" sz="3200" dirty="0"/>
            </a:p>
          </p:txBody>
        </p:sp>
        <p:sp>
          <p:nvSpPr>
            <p:cNvPr id="225" name="s8 tileA sub"/>
            <p:cNvSpPr txBox="1"/>
            <p:nvPr/>
          </p:nvSpPr>
          <p:spPr>
            <a:xfrm>
              <a:off x="7543800" y="2743200"/>
              <a:ext cx="3913632" cy="256032"/>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57 against 11 hits per 100 calls.</a:t>
              </a:r>
              <a:endParaRPr lang="en-US" sz="1100" dirty="0"/>
            </a:p>
          </p:txBody>
        </p:sp>
      </p:grpSp>
      <p:grpSp>
        <p:nvGrpSpPr>
          <p:cNvPr id="245" name="s8 tileB">
            <a:extLst>
              <a:ext uri="{FF2B5EF4-FFF2-40B4-BE49-F238E27FC236}">
                <a16:creationId xmlns:a16="http://schemas.microsoft.com/office/drawing/2014/main" id="{BFDC3612-6955-F9C5-9856-2BA79E29F373}"/>
              </a:ext>
            </a:extLst>
          </p:cNvPr>
          <p:cNvGrpSpPr/>
          <p:nvPr/>
        </p:nvGrpSpPr>
        <p:grpSpPr>
          <a:xfrm>
            <a:off x="7315200" y="3264408"/>
            <a:ext cx="4325112" cy="1417320"/>
            <a:chOff x="7315200" y="3264408"/>
            <a:chExt cx="4325112" cy="1417320"/>
          </a:xfrm>
        </p:grpSpPr>
        <p:sp>
          <p:nvSpPr>
            <p:cNvPr id="226" name="s8 tileB bg"/>
            <p:cNvSpPr/>
            <p:nvPr/>
          </p:nvSpPr>
          <p:spPr>
            <a:xfrm>
              <a:off x="7315200" y="3264408"/>
              <a:ext cx="4325112" cy="1417320"/>
            </a:xfrm>
            <a:prstGeom prst="roundRect">
              <a:avLst>
                <a:gd name="adj" fmla="val 7742"/>
              </a:avLst>
            </a:prstGeom>
            <a:solidFill>
              <a:srgbClr val="F8F1E3"/>
            </a:solidFill>
            <a:ln w="12700">
              <a:solidFill>
                <a:srgbClr val="F8F1E3">
                  <a:alpha val="0"/>
                </a:srgbClr>
              </a:solidFill>
              <a:prstDash val="solid"/>
            </a:ln>
          </p:spPr>
        </p:sp>
        <p:sp>
          <p:nvSpPr>
            <p:cNvPr id="227" name="s8 tileB label"/>
            <p:cNvSpPr txBox="1"/>
            <p:nvPr/>
          </p:nvSpPr>
          <p:spPr>
            <a:xfrm>
              <a:off x="7543800" y="3429000"/>
              <a:ext cx="39136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STILL REACHABLE BEFORE THEY WRITE</a:t>
              </a:r>
              <a:endParaRPr lang="en-US" sz="900" dirty="0"/>
            </a:p>
          </p:txBody>
        </p:sp>
        <p:sp>
          <p:nvSpPr>
            <p:cNvPr id="228" name="s8 tileB value"/>
            <p:cNvSpPr txBox="1"/>
            <p:nvPr/>
          </p:nvSpPr>
          <p:spPr>
            <a:xfrm>
              <a:off x="7543800" y="3666744"/>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35</a:t>
              </a:r>
              <a:endParaRPr lang="en-US" sz="3200" dirty="0"/>
            </a:p>
          </p:txBody>
        </p:sp>
        <p:sp>
          <p:nvSpPr>
            <p:cNvPr id="229" name="s8 tileB sub"/>
            <p:cNvSpPr txBox="1"/>
            <p:nvPr/>
          </p:nvSpPr>
          <p:spPr>
            <a:xfrm>
              <a:off x="7543800" y="4224528"/>
              <a:ext cx="3913632" cy="3200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other 22 wrote while waiting for a late parcel: for them, the promised date is the moment.</a:t>
              </a:r>
              <a:endParaRPr lang="en-US" sz="1100" dirty="0"/>
            </a:p>
          </p:txBody>
        </p:sp>
      </p:grpSp>
      <p:grpSp>
        <p:nvGrpSpPr>
          <p:cNvPr id="246" name="s8 tileC">
            <a:extLst>
              <a:ext uri="{FF2B5EF4-FFF2-40B4-BE49-F238E27FC236}">
                <a16:creationId xmlns:a16="http://schemas.microsoft.com/office/drawing/2014/main" id="{A271DF1D-725C-A096-7B7C-7A087A411437}"/>
              </a:ext>
            </a:extLst>
          </p:cNvPr>
          <p:cNvGrpSpPr/>
          <p:nvPr/>
        </p:nvGrpSpPr>
        <p:grpSpPr>
          <a:xfrm>
            <a:off x="7315200" y="4809744"/>
            <a:ext cx="4325112" cy="1316736"/>
            <a:chOff x="7315200" y="4809744"/>
            <a:chExt cx="4325112" cy="1316736"/>
          </a:xfrm>
        </p:grpSpPr>
        <p:sp>
          <p:nvSpPr>
            <p:cNvPr id="230" name="s8 tileC bg"/>
            <p:cNvSpPr/>
            <p:nvPr/>
          </p:nvSpPr>
          <p:spPr>
            <a:xfrm>
              <a:off x="7315200" y="4809744"/>
              <a:ext cx="4325112" cy="1316736"/>
            </a:xfrm>
            <a:prstGeom prst="roundRect">
              <a:avLst>
                <a:gd name="adj" fmla="val 8333"/>
              </a:avLst>
            </a:prstGeom>
            <a:solidFill>
              <a:srgbClr val="EBF3EA"/>
            </a:solidFill>
            <a:ln w="12700">
              <a:solidFill>
                <a:srgbClr val="EBF3EA">
                  <a:alpha val="0"/>
                </a:srgbClr>
              </a:solidFill>
              <a:prstDash val="solid"/>
            </a:ln>
          </p:spPr>
        </p:sp>
        <p:sp>
          <p:nvSpPr>
            <p:cNvPr id="231" name="s8 tileC label"/>
            <p:cNvSpPr txBox="1"/>
            <p:nvPr/>
          </p:nvSpPr>
          <p:spPr>
            <a:xfrm>
              <a:off x="7543800" y="4974336"/>
              <a:ext cx="391363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HITS PER 100 CALLS TO BREAK EVEN</a:t>
              </a:r>
              <a:endParaRPr lang="en-US" sz="900" dirty="0"/>
            </a:p>
          </p:txBody>
        </p:sp>
        <p:sp>
          <p:nvSpPr>
            <p:cNvPr id="232" name="s8 tileC value"/>
            <p:cNvSpPr txBox="1"/>
            <p:nvPr/>
          </p:nvSpPr>
          <p:spPr>
            <a:xfrm>
              <a:off x="7543800" y="5212080"/>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13</a:t>
              </a:r>
              <a:endParaRPr lang="en-US" sz="3200" dirty="0"/>
            </a:p>
          </p:txBody>
        </p:sp>
        <p:sp>
          <p:nvSpPr>
            <p:cNvPr id="233" name="s8 tileC sub"/>
            <p:cNvSpPr txBox="1"/>
            <p:nvPr/>
          </p:nvSpPr>
          <p:spPr>
            <a:xfrm>
              <a:off x="7543800" y="5769864"/>
              <a:ext cx="3913632" cy="219456"/>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 R$5 call against a R$40 bad review. We reach 35.</a:t>
              </a:r>
              <a:endParaRPr lang="en-US" sz="1100" dirty="0"/>
            </a:p>
          </p:txBody>
        </p:sp>
      </p:grpSp>
      <p:sp>
        <p:nvSpPr>
          <p:cNvPr id="234" name="s8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235" name="s8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236" name="s8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237" name="s8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238" name="s8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239" name="s8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8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par>
                                <p:cTn id="8" presetID="22" presetClass="entr" presetSubtype="1" fill="hold" nodeType="withEffect">
                                  <p:stCondLst>
                                    <p:cond delay="50"/>
                                  </p:stCondLst>
                                  <p:childTnLst>
                                    <p:set>
                                      <p:cBhvr>
                                        <p:cTn id="9" dur="1" fill="hold">
                                          <p:stCondLst>
                                            <p:cond delay="0"/>
                                          </p:stCondLst>
                                        </p:cTn>
                                        <p:tgtEl>
                                          <p:spTgt spid="240"/>
                                        </p:tgtEl>
                                        <p:attrNameLst>
                                          <p:attrName>style.visibility</p:attrName>
                                        </p:attrNameLst>
                                      </p:cBhvr>
                                      <p:to>
                                        <p:strVal val="visible"/>
                                      </p:to>
                                    </p:set>
                                    <p:animEffect transition="in" filter="wipe(up)">
                                      <p:cBhvr>
                                        <p:cTn id="10" dur="500"/>
                                        <p:tgtEl>
                                          <p:spTgt spid="240"/>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241"/>
                                        </p:tgtEl>
                                        <p:attrNameLst>
                                          <p:attrName>style.visibility</p:attrName>
                                        </p:attrNameLst>
                                      </p:cBhvr>
                                      <p:to>
                                        <p:strVal val="visible"/>
                                      </p:to>
                                    </p:set>
                                    <p:animEffect transition="in" filter="fade">
                                      <p:cBhvr>
                                        <p:cTn id="14" dur="450"/>
                                        <p:tgtEl>
                                          <p:spTgt spid="241"/>
                                        </p:tgtEl>
                                      </p:cBhvr>
                                    </p:animEffect>
                                    <p:anim calcmode="lin" valueType="num">
                                      <p:cBhvr>
                                        <p:cTn id="15" dur="450" fill="hold"/>
                                        <p:tgtEl>
                                          <p:spTgt spid="241"/>
                                        </p:tgtEl>
                                        <p:attrNameLst>
                                          <p:attrName>ppt_x</p:attrName>
                                        </p:attrNameLst>
                                      </p:cBhvr>
                                      <p:tavLst>
                                        <p:tav tm="0">
                                          <p:val>
                                            <p:strVal val="#ppt_x"/>
                                          </p:val>
                                        </p:tav>
                                        <p:tav tm="100000">
                                          <p:val>
                                            <p:strVal val="#ppt_x"/>
                                          </p:val>
                                        </p:tav>
                                      </p:tavLst>
                                    </p:anim>
                                    <p:anim calcmode="lin" valueType="num">
                                      <p:cBhvr>
                                        <p:cTn id="16" dur="450" fill="hold"/>
                                        <p:tgtEl>
                                          <p:spTgt spid="241"/>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10" presetClass="entr" presetSubtype="0" fill="hold" nodeType="afterEffect">
                                  <p:stCondLst>
                                    <p:cond delay="50"/>
                                  </p:stCondLst>
                                  <p:childTnLst>
                                    <p:set>
                                      <p:cBhvr>
                                        <p:cTn id="19" dur="1" fill="hold">
                                          <p:stCondLst>
                                            <p:cond delay="0"/>
                                          </p:stCondLst>
                                        </p:cTn>
                                        <p:tgtEl>
                                          <p:spTgt spid="247"/>
                                        </p:tgtEl>
                                        <p:attrNameLst>
                                          <p:attrName>style.visibility</p:attrName>
                                        </p:attrNameLst>
                                      </p:cBhvr>
                                      <p:to>
                                        <p:strVal val="visible"/>
                                      </p:to>
                                    </p:set>
                                    <p:animEffect transition="in" filter="fade">
                                      <p:cBhvr>
                                        <p:cTn id="20" dur="300"/>
                                        <p:tgtEl>
                                          <p:spTgt spid="247"/>
                                        </p:tgtEl>
                                      </p:cBhvr>
                                    </p:animEffect>
                                  </p:childTnLst>
                                </p:cTn>
                              </p:par>
                              <p:par>
                                <p:cTn id="21" presetID="22" presetClass="entr" presetSubtype="1" fill="hold" nodeType="withEffect">
                                  <p:stCondLst>
                                    <p:cond delay="50"/>
                                  </p:stCondLst>
                                  <p:childTnLst>
                                    <p:set>
                                      <p:cBhvr>
                                        <p:cTn id="22" dur="1" fill="hold">
                                          <p:stCondLst>
                                            <p:cond delay="0"/>
                                          </p:stCondLst>
                                        </p:cTn>
                                        <p:tgtEl>
                                          <p:spTgt spid="242"/>
                                        </p:tgtEl>
                                        <p:attrNameLst>
                                          <p:attrName>style.visibility</p:attrName>
                                        </p:attrNameLst>
                                      </p:cBhvr>
                                      <p:to>
                                        <p:strVal val="visible"/>
                                      </p:to>
                                    </p:set>
                                    <p:animEffect transition="in" filter="wipe(up)">
                                      <p:cBhvr>
                                        <p:cTn id="23" dur="500"/>
                                        <p:tgtEl>
                                          <p:spTgt spid="242"/>
                                        </p:tgtEl>
                                      </p:cBhvr>
                                    </p:animEffect>
                                  </p:childTnLst>
                                </p:cTn>
                              </p:par>
                            </p:childTnLst>
                          </p:cTn>
                        </p:par>
                        <p:par>
                          <p:cTn id="24" fill="hold">
                            <p:stCondLst>
                              <p:cond delay="1600"/>
                            </p:stCondLst>
                            <p:childTnLst>
                              <p:par>
                                <p:cTn id="25" presetID="10" presetClass="entr" presetSubtype="0" fill="hold" grpId="0" nodeType="afterEffect">
                                  <p:stCondLst>
                                    <p:cond delay="50"/>
                                  </p:stCondLst>
                                  <p:childTnLst>
                                    <p:set>
                                      <p:cBhvr>
                                        <p:cTn id="26" dur="1" fill="hold">
                                          <p:stCondLst>
                                            <p:cond delay="0"/>
                                          </p:stCondLst>
                                        </p:cTn>
                                        <p:tgtEl>
                                          <p:spTgt spid="221"/>
                                        </p:tgtEl>
                                        <p:attrNameLst>
                                          <p:attrName>style.visibility</p:attrName>
                                        </p:attrNameLst>
                                      </p:cBhvr>
                                      <p:to>
                                        <p:strVal val="visible"/>
                                      </p:to>
                                    </p:set>
                                    <p:animEffect transition="in" filter="fade">
                                      <p:cBhvr>
                                        <p:cTn id="27" dur="300"/>
                                        <p:tgtEl>
                                          <p:spTgt spid="221"/>
                                        </p:tgtEl>
                                      </p:cBhvr>
                                    </p:animEffect>
                                  </p:childTnLst>
                                </p:cTn>
                              </p:par>
                            </p:childTnLst>
                          </p:cTn>
                        </p:par>
                        <p:par>
                          <p:cTn id="28" fill="hold">
                            <p:stCondLst>
                              <p:cond delay="1950"/>
                            </p:stCondLst>
                            <p:childTnLst>
                              <p:par>
                                <p:cTn id="29" presetID="42" presetClass="entr" presetSubtype="0" fill="hold" nodeType="afterEffect">
                                  <p:stCondLst>
                                    <p:cond delay="50"/>
                                  </p:stCondLst>
                                  <p:childTnLst>
                                    <p:set>
                                      <p:cBhvr>
                                        <p:cTn id="30" dur="1" fill="hold">
                                          <p:stCondLst>
                                            <p:cond delay="0"/>
                                          </p:stCondLst>
                                        </p:cTn>
                                        <p:tgtEl>
                                          <p:spTgt spid="244"/>
                                        </p:tgtEl>
                                        <p:attrNameLst>
                                          <p:attrName>style.visibility</p:attrName>
                                        </p:attrNameLst>
                                      </p:cBhvr>
                                      <p:to>
                                        <p:strVal val="visible"/>
                                      </p:to>
                                    </p:set>
                                    <p:animEffect transition="in" filter="fade">
                                      <p:cBhvr>
                                        <p:cTn id="31" dur="450"/>
                                        <p:tgtEl>
                                          <p:spTgt spid="244"/>
                                        </p:tgtEl>
                                      </p:cBhvr>
                                    </p:animEffect>
                                    <p:anim calcmode="lin" valueType="num">
                                      <p:cBhvr>
                                        <p:cTn id="32" dur="450" fill="hold"/>
                                        <p:tgtEl>
                                          <p:spTgt spid="244"/>
                                        </p:tgtEl>
                                        <p:attrNameLst>
                                          <p:attrName>ppt_x</p:attrName>
                                        </p:attrNameLst>
                                      </p:cBhvr>
                                      <p:tavLst>
                                        <p:tav tm="0">
                                          <p:val>
                                            <p:strVal val="#ppt_x"/>
                                          </p:val>
                                        </p:tav>
                                        <p:tav tm="100000">
                                          <p:val>
                                            <p:strVal val="#ppt_x"/>
                                          </p:val>
                                        </p:tav>
                                      </p:tavLst>
                                    </p:anim>
                                    <p:anim calcmode="lin" valueType="num">
                                      <p:cBhvr>
                                        <p:cTn id="33" dur="450" fill="hold"/>
                                        <p:tgtEl>
                                          <p:spTgt spid="244"/>
                                        </p:tgtEl>
                                        <p:attrNameLst>
                                          <p:attrName>ppt_y</p:attrName>
                                        </p:attrNameLst>
                                      </p:cBhvr>
                                      <p:tavLst>
                                        <p:tav tm="0">
                                          <p:val>
                                            <p:strVal val="#ppt_y+.1"/>
                                          </p:val>
                                        </p:tav>
                                        <p:tav tm="100000">
                                          <p:val>
                                            <p:strVal val="#ppt_y"/>
                                          </p:val>
                                        </p:tav>
                                      </p:tavLst>
                                    </p:anim>
                                  </p:childTnLst>
                                </p:cTn>
                              </p:par>
                            </p:childTnLst>
                          </p:cTn>
                        </p:par>
                        <p:par>
                          <p:cTn id="34" fill="hold">
                            <p:stCondLst>
                              <p:cond delay="2450"/>
                            </p:stCondLst>
                            <p:childTnLst>
                              <p:par>
                                <p:cTn id="35" presetID="42" presetClass="entr" presetSubtype="0" fill="hold" nodeType="afterEffect">
                                  <p:stCondLst>
                                    <p:cond delay="50"/>
                                  </p:stCondLst>
                                  <p:childTnLst>
                                    <p:set>
                                      <p:cBhvr>
                                        <p:cTn id="36" dur="1" fill="hold">
                                          <p:stCondLst>
                                            <p:cond delay="0"/>
                                          </p:stCondLst>
                                        </p:cTn>
                                        <p:tgtEl>
                                          <p:spTgt spid="245"/>
                                        </p:tgtEl>
                                        <p:attrNameLst>
                                          <p:attrName>style.visibility</p:attrName>
                                        </p:attrNameLst>
                                      </p:cBhvr>
                                      <p:to>
                                        <p:strVal val="visible"/>
                                      </p:to>
                                    </p:set>
                                    <p:animEffect transition="in" filter="fade">
                                      <p:cBhvr>
                                        <p:cTn id="37" dur="450"/>
                                        <p:tgtEl>
                                          <p:spTgt spid="245"/>
                                        </p:tgtEl>
                                      </p:cBhvr>
                                    </p:animEffect>
                                    <p:anim calcmode="lin" valueType="num">
                                      <p:cBhvr>
                                        <p:cTn id="38" dur="450" fill="hold"/>
                                        <p:tgtEl>
                                          <p:spTgt spid="245"/>
                                        </p:tgtEl>
                                        <p:attrNameLst>
                                          <p:attrName>ppt_x</p:attrName>
                                        </p:attrNameLst>
                                      </p:cBhvr>
                                      <p:tavLst>
                                        <p:tav tm="0">
                                          <p:val>
                                            <p:strVal val="#ppt_x"/>
                                          </p:val>
                                        </p:tav>
                                        <p:tav tm="100000">
                                          <p:val>
                                            <p:strVal val="#ppt_x"/>
                                          </p:val>
                                        </p:tav>
                                      </p:tavLst>
                                    </p:anim>
                                    <p:anim calcmode="lin" valueType="num">
                                      <p:cBhvr>
                                        <p:cTn id="39" dur="450" fill="hold"/>
                                        <p:tgtEl>
                                          <p:spTgt spid="245"/>
                                        </p:tgtEl>
                                        <p:attrNameLst>
                                          <p:attrName>ppt_y</p:attrName>
                                        </p:attrNameLst>
                                      </p:cBhvr>
                                      <p:tavLst>
                                        <p:tav tm="0">
                                          <p:val>
                                            <p:strVal val="#ppt_y+.1"/>
                                          </p:val>
                                        </p:tav>
                                        <p:tav tm="100000">
                                          <p:val>
                                            <p:strVal val="#ppt_y"/>
                                          </p:val>
                                        </p:tav>
                                      </p:tavLst>
                                    </p:anim>
                                  </p:childTnLst>
                                </p:cTn>
                              </p:par>
                            </p:childTnLst>
                          </p:cTn>
                        </p:par>
                        <p:par>
                          <p:cTn id="40" fill="hold">
                            <p:stCondLst>
                              <p:cond delay="2950"/>
                            </p:stCondLst>
                            <p:childTnLst>
                              <p:par>
                                <p:cTn id="41" presetID="42" presetClass="entr" presetSubtype="0" fill="hold" nodeType="afterEffect">
                                  <p:stCondLst>
                                    <p:cond delay="50"/>
                                  </p:stCondLst>
                                  <p:childTnLst>
                                    <p:set>
                                      <p:cBhvr>
                                        <p:cTn id="42" dur="1" fill="hold">
                                          <p:stCondLst>
                                            <p:cond delay="0"/>
                                          </p:stCondLst>
                                        </p:cTn>
                                        <p:tgtEl>
                                          <p:spTgt spid="246"/>
                                        </p:tgtEl>
                                        <p:attrNameLst>
                                          <p:attrName>style.visibility</p:attrName>
                                        </p:attrNameLst>
                                      </p:cBhvr>
                                      <p:to>
                                        <p:strVal val="visible"/>
                                      </p:to>
                                    </p:set>
                                    <p:animEffect transition="in" filter="fade">
                                      <p:cBhvr>
                                        <p:cTn id="43" dur="450"/>
                                        <p:tgtEl>
                                          <p:spTgt spid="246"/>
                                        </p:tgtEl>
                                      </p:cBhvr>
                                    </p:animEffect>
                                    <p:anim calcmode="lin" valueType="num">
                                      <p:cBhvr>
                                        <p:cTn id="44" dur="450" fill="hold"/>
                                        <p:tgtEl>
                                          <p:spTgt spid="246"/>
                                        </p:tgtEl>
                                        <p:attrNameLst>
                                          <p:attrName>ppt_x</p:attrName>
                                        </p:attrNameLst>
                                      </p:cBhvr>
                                      <p:tavLst>
                                        <p:tav tm="0">
                                          <p:val>
                                            <p:strVal val="#ppt_x"/>
                                          </p:val>
                                        </p:tav>
                                        <p:tav tm="100000">
                                          <p:val>
                                            <p:strVal val="#ppt_x"/>
                                          </p:val>
                                        </p:tav>
                                      </p:tavLst>
                                    </p:anim>
                                    <p:anim calcmode="lin" valueType="num">
                                      <p:cBhvr>
                                        <p:cTn id="45" dur="450" fill="hold"/>
                                        <p:tgtEl>
                                          <p:spTgt spid="2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9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86B6DC"/>
                </a:solidFill>
                <a:latin typeface="Segoe UI Semibold" pitchFamily="34" charset="0"/>
                <a:ea typeface="Segoe UI Semibold" pitchFamily="34" charset="-122"/>
                <a:cs typeface="Segoe UI Semibold" pitchFamily="34" charset="-120"/>
              </a:rPr>
              <a:t>DOES IT WORK?  ·  LIVE APP</a:t>
            </a:r>
            <a:endParaRPr lang="en-US" sz="1000" dirty="0"/>
          </a:p>
        </p:txBody>
      </p:sp>
      <p:sp>
        <p:nvSpPr>
          <p:cNvPr id="3" name="s9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Replay a day the models never saw</a:t>
            </a:r>
            <a:endParaRPr lang="en-US" sz="2900" dirty="0"/>
          </a:p>
        </p:txBody>
      </p:sp>
      <p:sp>
        <p:nvSpPr>
          <p:cNvPr id="4" name="s9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team10-it5006-olist.streamlit.app  ·  Replay a day  ·  16 July 2018, 244 orders, 10 calls</a:t>
            </a:r>
            <a:endParaRPr lang="en-US" sz="1300" dirty="0"/>
          </a:p>
        </p:txBody>
      </p:sp>
      <p:sp>
        <p:nvSpPr>
          <p:cNvPr id="5" name="s9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9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93A6BC"/>
                </a:solidFill>
                <a:latin typeface="Segoe UI" pitchFamily="34" charset="0"/>
                <a:ea typeface="Segoe UI" pitchFamily="34" charset="-122"/>
                <a:cs typeface="Segoe UI" pitchFamily="34" charset="-120"/>
              </a:rPr>
              <a:t>at delivery</a:t>
            </a:r>
            <a:endParaRPr lang="en-US" sz="850" dirty="0"/>
          </a:p>
        </p:txBody>
      </p:sp>
      <p:grpSp>
        <p:nvGrpSpPr>
          <p:cNvPr id="37" name="s9 browser">
            <a:extLst>
              <a:ext uri="{FF2B5EF4-FFF2-40B4-BE49-F238E27FC236}">
                <a16:creationId xmlns:a16="http://schemas.microsoft.com/office/drawing/2014/main" id="{713A6EBC-F463-303E-BFAF-613565513E39}"/>
              </a:ext>
            </a:extLst>
          </p:cNvPr>
          <p:cNvGrpSpPr/>
          <p:nvPr/>
        </p:nvGrpSpPr>
        <p:grpSpPr>
          <a:xfrm>
            <a:off x="548640" y="1783080"/>
            <a:ext cx="7452360" cy="3605711"/>
            <a:chOff x="548640" y="1783080"/>
            <a:chExt cx="7452360" cy="3605711"/>
          </a:xfrm>
        </p:grpSpPr>
        <p:sp>
          <p:nvSpPr>
            <p:cNvPr id="15" name="s9 panel 1"/>
            <p:cNvSpPr/>
            <p:nvPr/>
          </p:nvSpPr>
          <p:spPr>
            <a:xfrm>
              <a:off x="548640" y="1783080"/>
              <a:ext cx="7452360" cy="3605711"/>
            </a:xfrm>
            <a:prstGeom prst="roundRect">
              <a:avLst>
                <a:gd name="adj" fmla="val 2536"/>
              </a:avLst>
            </a:prstGeom>
            <a:solidFill>
              <a:srgbClr val="FFFFFF"/>
            </a:solidFill>
            <a:ln w="12700">
              <a:solidFill>
                <a:srgbClr val="FFFFFF">
                  <a:alpha val="0"/>
                </a:srgbClr>
              </a:solidFill>
              <a:prstDash val="solid"/>
            </a:ln>
          </p:spPr>
        </p:sp>
        <p:sp>
          <p:nvSpPr>
            <p:cNvPr id="16" name="s9 panel 2"/>
            <p:cNvSpPr/>
            <p:nvPr/>
          </p:nvSpPr>
          <p:spPr>
            <a:xfrm>
              <a:off x="557784" y="1792224"/>
              <a:ext cx="7434072" cy="329184"/>
            </a:xfrm>
            <a:prstGeom prst="roundRect">
              <a:avLst>
                <a:gd name="adj" fmla="val 22222"/>
              </a:avLst>
            </a:prstGeom>
            <a:solidFill>
              <a:srgbClr val="EEF1F4"/>
            </a:solidFill>
            <a:ln w="12700">
              <a:solidFill>
                <a:srgbClr val="EEF1F4">
                  <a:alpha val="0"/>
                </a:srgbClr>
              </a:solidFill>
              <a:prstDash val="solid"/>
            </a:ln>
          </p:spPr>
        </p:sp>
        <p:sp>
          <p:nvSpPr>
            <p:cNvPr id="17" name="s9 dot 3"/>
            <p:cNvSpPr/>
            <p:nvPr/>
          </p:nvSpPr>
          <p:spPr>
            <a:xfrm>
              <a:off x="713232" y="1892808"/>
              <a:ext cx="118872" cy="118872"/>
            </a:xfrm>
            <a:prstGeom prst="ellipse">
              <a:avLst/>
            </a:prstGeom>
            <a:solidFill>
              <a:srgbClr val="C1666B"/>
            </a:solidFill>
            <a:ln w="12700">
              <a:solidFill>
                <a:srgbClr val="C1666B">
                  <a:alpha val="0"/>
                </a:srgbClr>
              </a:solidFill>
              <a:prstDash val="solid"/>
            </a:ln>
          </p:spPr>
        </p:sp>
        <p:sp>
          <p:nvSpPr>
            <p:cNvPr id="18" name="s9 dot 4"/>
            <p:cNvSpPr/>
            <p:nvPr/>
          </p:nvSpPr>
          <p:spPr>
            <a:xfrm>
              <a:off x="896112" y="1892808"/>
              <a:ext cx="118872" cy="118872"/>
            </a:xfrm>
            <a:prstGeom prst="ellipse">
              <a:avLst/>
            </a:prstGeom>
            <a:solidFill>
              <a:srgbClr val="C08B2E"/>
            </a:solidFill>
            <a:ln w="12700">
              <a:solidFill>
                <a:srgbClr val="C08B2E">
                  <a:alpha val="0"/>
                </a:srgbClr>
              </a:solidFill>
              <a:prstDash val="solid"/>
            </a:ln>
          </p:spPr>
        </p:sp>
        <p:sp>
          <p:nvSpPr>
            <p:cNvPr id="19" name="s9 dot 5"/>
            <p:cNvSpPr/>
            <p:nvPr/>
          </p:nvSpPr>
          <p:spPr>
            <a:xfrm>
              <a:off x="1078992" y="1892808"/>
              <a:ext cx="118872" cy="118872"/>
            </a:xfrm>
            <a:prstGeom prst="ellipse">
              <a:avLst/>
            </a:prstGeom>
            <a:solidFill>
              <a:srgbClr val="5B8C5A"/>
            </a:solidFill>
            <a:ln w="12700">
              <a:solidFill>
                <a:srgbClr val="5B8C5A">
                  <a:alpha val="0"/>
                </a:srgbClr>
              </a:solidFill>
              <a:prstDash val="solid"/>
            </a:ln>
          </p:spPr>
        </p:sp>
        <p:sp>
          <p:nvSpPr>
            <p:cNvPr id="20" name="s9 text 6"/>
            <p:cNvSpPr txBox="1"/>
            <p:nvPr/>
          </p:nvSpPr>
          <p:spPr>
            <a:xfrm>
              <a:off x="1828800" y="1847088"/>
              <a:ext cx="4892040" cy="219456"/>
            </a:xfrm>
            <a:prstGeom prst="roundRect">
              <a:avLst>
                <a:gd name="adj" fmla="val 208333"/>
              </a:avLst>
            </a:prstGeom>
            <a:solidFill>
              <a:srgbClr val="FFFFFF"/>
            </a:solidFill>
            <a:ln/>
          </p:spPr>
          <p:txBody>
            <a:bodyPr wrap="square" lIns="0" tIns="0" rIns="0" bIns="0" rtlCol="0" anchor="ctr"/>
            <a:lstStyle/>
            <a:p>
              <a:pPr marL="0" indent="0" algn="ctr">
                <a:buNone/>
              </a:pPr>
              <a:r>
                <a:rPr lang="en-US" sz="900" dirty="0">
                  <a:solidFill>
                    <a:srgbClr val="6B7885"/>
                  </a:solidFill>
                  <a:latin typeface="Segoe UI" pitchFamily="34" charset="0"/>
                  <a:ea typeface="Segoe UI" pitchFamily="34" charset="-122"/>
                  <a:cs typeface="Segoe UI" pitchFamily="34" charset="-120"/>
                </a:rPr>
                <a:t>team10-it5006-olist.streamlit.app</a:t>
              </a:r>
              <a:endParaRPr lang="en-US" sz="900" dirty="0"/>
            </a:p>
          </p:txBody>
        </p:sp>
        <p:pic>
          <p:nvPicPr>
            <p:cNvPr id="21" name="s9 screenshot 7" descr="E:\2025 NUS\IT5006\deck_build\img\shot_replay.png"/>
            <p:cNvPicPr>
              <a:picLocks noChangeAspect="1"/>
            </p:cNvPicPr>
            <p:nvPr/>
          </p:nvPicPr>
          <p:blipFill>
            <a:blip r:embed="rId7"/>
            <a:stretch>
              <a:fillRect/>
            </a:stretch>
          </p:blipFill>
          <p:spPr>
            <a:xfrm>
              <a:off x="640080" y="2167128"/>
              <a:ext cx="7269480" cy="3111935"/>
            </a:xfrm>
            <a:prstGeom prst="rect">
              <a:avLst/>
            </a:prstGeom>
          </p:spPr>
        </p:pic>
      </p:grpSp>
      <p:grpSp>
        <p:nvGrpSpPr>
          <p:cNvPr id="38" name="s9 live group">
            <a:extLst>
              <a:ext uri="{FF2B5EF4-FFF2-40B4-BE49-F238E27FC236}">
                <a16:creationId xmlns:a16="http://schemas.microsoft.com/office/drawing/2014/main" id="{30B8AEAA-905B-D700-9231-31EAE63D5A8D}"/>
              </a:ext>
            </a:extLst>
          </p:cNvPr>
          <p:cNvGrpSpPr/>
          <p:nvPr/>
        </p:nvGrpSpPr>
        <p:grpSpPr>
          <a:xfrm>
            <a:off x="548640" y="5644823"/>
            <a:ext cx="5532120" cy="457200"/>
            <a:chOff x="548640" y="5644823"/>
            <a:chExt cx="5532120" cy="457200"/>
          </a:xfrm>
        </p:grpSpPr>
        <p:sp>
          <p:nvSpPr>
            <p:cNvPr id="22" name="s9 live">
              <a:hlinkClick r:id="rId8" highlightClick="1"/>
            </p:cNvPr>
            <p:cNvSpPr/>
            <p:nvPr/>
          </p:nvSpPr>
          <p:spPr>
            <a:xfrm>
              <a:off x="548640" y="5644823"/>
              <a:ext cx="2057400" cy="457200"/>
            </a:xfrm>
            <a:prstGeom prst="roundRect">
              <a:avLst>
                <a:gd name="adj" fmla="val 100000"/>
              </a:avLst>
            </a:prstGeom>
            <a:solidFill>
              <a:srgbClr val="2F6F9F"/>
            </a:solidFill>
            <a:ln>
              <a:solidFill>
                <a:srgbClr val="2F6F9F"/>
              </a:solid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   Open the live app</a:t>
              </a:r>
              <a:endParaRPr lang="en-US" sz="1200" dirty="0"/>
            </a:p>
          </p:txBody>
        </p:sp>
        <p:sp>
          <p:nvSpPr>
            <p:cNvPr id="23" name="s9 text 8"/>
            <p:cNvSpPr txBox="1"/>
            <p:nvPr/>
          </p:nvSpPr>
          <p:spPr>
            <a:xfrm>
              <a:off x="2788920" y="5717975"/>
              <a:ext cx="3291840" cy="310896"/>
            </a:xfrm>
            <a:prstGeom prst="rect">
              <a:avLst/>
            </a:prstGeom>
            <a:noFill/>
            <a:ln/>
          </p:spPr>
          <p:txBody>
            <a:bodyPr wrap="square" lIns="0" tIns="0" rIns="0" bIns="0" rtlCol="0" anchor="ctr"/>
            <a:lstStyle/>
            <a:p>
              <a:pPr marL="0" indent="0">
                <a:buNone/>
              </a:pPr>
              <a:r>
                <a:rPr lang="en-US" sz="1050" dirty="0">
                  <a:solidFill>
                    <a:srgbClr val="93A6BC"/>
                  </a:solidFill>
                  <a:latin typeface="Segoe UI" pitchFamily="34" charset="0"/>
                  <a:ea typeface="Segoe UI" pitchFamily="34" charset="-122"/>
                  <a:cs typeface="Segoe UI" pitchFamily="34" charset="-120"/>
                </a:rPr>
                <a:t>or scan the code on the last slide</a:t>
              </a:r>
              <a:endParaRPr lang="en-US" sz="1050" dirty="0"/>
            </a:p>
          </p:txBody>
        </p:sp>
      </p:grpSp>
      <p:sp>
        <p:nvSpPr>
          <p:cNvPr id="24" name="s9 text 9"/>
          <p:cNvSpPr txBox="1"/>
          <p:nvPr/>
        </p:nvSpPr>
        <p:spPr>
          <a:xfrm>
            <a:off x="8321040" y="1783080"/>
            <a:ext cx="3319272" cy="237744"/>
          </a:xfrm>
          <a:prstGeom prst="rect">
            <a:avLst/>
          </a:prstGeom>
          <a:noFill/>
          <a:ln/>
        </p:spPr>
        <p:txBody>
          <a:bodyPr wrap="square" lIns="0" tIns="0" rIns="0" bIns="0" rtlCol="0" anchor="t"/>
          <a:lstStyle/>
          <a:p>
            <a:pPr marL="0" indent="0">
              <a:buNone/>
            </a:pPr>
            <a:r>
              <a:rPr lang="en-US" sz="950" kern="0" spc="150" dirty="0">
                <a:solidFill>
                  <a:srgbClr val="86B6DC"/>
                </a:solidFill>
                <a:latin typeface="Segoe UI Semibold" pitchFamily="34" charset="0"/>
                <a:ea typeface="Segoe UI Semibold" pitchFamily="34" charset="-122"/>
                <a:cs typeface="Segoe UI Semibold" pitchFamily="34" charset="-120"/>
              </a:rPr>
              <a:t>TOP 10 ON 16 JULY</a:t>
            </a:r>
            <a:endParaRPr lang="en-US" sz="950" dirty="0"/>
          </a:p>
        </p:txBody>
      </p:sp>
      <p:grpSp>
        <p:nvGrpSpPr>
          <p:cNvPr id="39" name="s9 result">
            <a:extLst>
              <a:ext uri="{FF2B5EF4-FFF2-40B4-BE49-F238E27FC236}">
                <a16:creationId xmlns:a16="http://schemas.microsoft.com/office/drawing/2014/main" id="{6E2D7C13-C66A-A48F-E50E-3C662D2D8D7E}"/>
              </a:ext>
            </a:extLst>
          </p:cNvPr>
          <p:cNvGrpSpPr/>
          <p:nvPr/>
        </p:nvGrpSpPr>
        <p:grpSpPr>
          <a:xfrm>
            <a:off x="8275320" y="2011680"/>
            <a:ext cx="3364992" cy="1261872"/>
            <a:chOff x="8275320" y="2011680"/>
            <a:chExt cx="3364992" cy="1261872"/>
          </a:xfrm>
        </p:grpSpPr>
        <p:sp>
          <p:nvSpPr>
            <p:cNvPr id="25" name="s9 text 10"/>
            <p:cNvSpPr txBox="1"/>
            <p:nvPr/>
          </p:nvSpPr>
          <p:spPr>
            <a:xfrm>
              <a:off x="8275320" y="2011680"/>
              <a:ext cx="3319272" cy="1005840"/>
            </a:xfrm>
            <a:prstGeom prst="rect">
              <a:avLst/>
            </a:prstGeom>
            <a:noFill/>
            <a:ln/>
          </p:spPr>
          <p:txBody>
            <a:bodyPr wrap="square" lIns="0" tIns="0" rIns="0" bIns="0" rtlCol="0" anchor="ctr"/>
            <a:lstStyle/>
            <a:p>
              <a:pPr marL="0" indent="0">
                <a:buNone/>
              </a:pPr>
              <a:r>
                <a:rPr lang="en-US" sz="6600" dirty="0">
                  <a:solidFill>
                    <a:srgbClr val="FFFFFF"/>
                  </a:solidFill>
                  <a:latin typeface="Segoe UI Light" pitchFamily="34" charset="0"/>
                  <a:ea typeface="Segoe UI Light" pitchFamily="34" charset="-122"/>
                  <a:cs typeface="Segoe UI Light" pitchFamily="34" charset="-120"/>
                </a:rPr>
                <a:t>8</a:t>
              </a:r>
              <a:r>
                <a:rPr lang="en-US" sz="3000" dirty="0">
                  <a:solidFill>
                    <a:srgbClr val="C9D6E3"/>
                  </a:solidFill>
                  <a:latin typeface="Segoe UI Light" pitchFamily="34" charset="0"/>
                  <a:ea typeface="Segoe UI Light" pitchFamily="34" charset="-122"/>
                  <a:cs typeface="Segoe UI Light" pitchFamily="34" charset="-120"/>
                </a:rPr>
                <a:t> of 10</a:t>
              </a:r>
              <a:endParaRPr lang="en-US" sz="6600" dirty="0"/>
            </a:p>
          </p:txBody>
        </p:sp>
        <p:sp>
          <p:nvSpPr>
            <p:cNvPr id="26" name="s9 text 11"/>
            <p:cNvSpPr txBox="1"/>
            <p:nvPr/>
          </p:nvSpPr>
          <p:spPr>
            <a:xfrm>
              <a:off x="8321040" y="2999232"/>
              <a:ext cx="3319272" cy="274320"/>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really gave one or two stars</a:t>
              </a:r>
              <a:endParaRPr lang="en-US" sz="1250" dirty="0"/>
            </a:p>
          </p:txBody>
        </p:sp>
      </p:grpSp>
      <p:sp>
        <p:nvSpPr>
          <p:cNvPr id="27" name="s9 text 12"/>
          <p:cNvSpPr txBox="1"/>
          <p:nvPr/>
        </p:nvSpPr>
        <p:spPr>
          <a:xfrm>
            <a:off x="8321040" y="3474720"/>
            <a:ext cx="3319272" cy="384048"/>
          </a:xfrm>
          <a:prstGeom prst="roundRect">
            <a:avLst>
              <a:gd name="adj" fmla="val 119048"/>
            </a:avLst>
          </a:prstGeom>
          <a:solidFill>
            <a:srgbClr val="5B8C5A">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still reachable at delivery</a:t>
            </a:r>
            <a:endParaRPr lang="en-US" sz="1150" dirty="0"/>
          </a:p>
        </p:txBody>
      </p:sp>
      <p:sp>
        <p:nvSpPr>
          <p:cNvPr id="28" name="s9 text 13"/>
          <p:cNvSpPr txBox="1"/>
          <p:nvPr/>
        </p:nvSpPr>
        <p:spPr>
          <a:xfrm>
            <a:off x="8321040" y="3950208"/>
            <a:ext cx="3319272" cy="384048"/>
          </a:xfrm>
          <a:prstGeom prst="roundRect">
            <a:avLst>
              <a:gd name="adj" fmla="val 119048"/>
            </a:avLst>
          </a:prstGeom>
          <a:solidFill>
            <a:srgbClr val="C1666B">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had already written, still waiting</a:t>
            </a:r>
            <a:endParaRPr lang="en-US" sz="1150" dirty="0"/>
          </a:p>
        </p:txBody>
      </p:sp>
      <p:sp>
        <p:nvSpPr>
          <p:cNvPr id="29" name="s9 text 14"/>
          <p:cNvSpPr txBox="1"/>
          <p:nvPr/>
        </p:nvSpPr>
        <p:spPr>
          <a:xfrm>
            <a:off x="8321040" y="4526280"/>
            <a:ext cx="3319272" cy="731520"/>
          </a:xfrm>
          <a:prstGeom prst="rect">
            <a:avLst/>
          </a:prstGeom>
          <a:noFill/>
          <a:ln/>
        </p:spPr>
        <p:txBody>
          <a:bodyPr wrap="square" lIns="0" tIns="0" rIns="0" bIns="0" rtlCol="0" anchor="t"/>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#1 on the list, at 85% risk: </a:t>
            </a:r>
            <a:r>
              <a:rPr lang="en-US" sz="1250" dirty="0">
                <a:solidFill>
                  <a:srgbClr val="C9D6E3"/>
                </a:solidFill>
                <a:latin typeface="Segoe UI" pitchFamily="34" charset="0"/>
                <a:ea typeface="Segoe UI" pitchFamily="34" charset="-122"/>
                <a:cs typeface="Segoe UI" pitchFamily="34" charset="-120"/>
              </a:rPr>
              <a:t>the order we started with. Its review was six days old.</a:t>
            </a:r>
            <a:endParaRPr lang="en-US" sz="1250" dirty="0"/>
          </a:p>
        </p:txBody>
      </p:sp>
      <p:sp>
        <p:nvSpPr>
          <p:cNvPr id="30" name="s9 text 15"/>
          <p:cNvSpPr txBox="1"/>
          <p:nvPr/>
        </p:nvSpPr>
        <p:spPr>
          <a:xfrm>
            <a:off x="8321040" y="5349240"/>
            <a:ext cx="3319272" cy="502920"/>
          </a:xfrm>
          <a:prstGeom prst="rect">
            <a:avLst/>
          </a:prstGeom>
          <a:noFill/>
          <a:ln/>
        </p:spPr>
        <p:txBody>
          <a:bodyPr wrap="square" lIns="0" tIns="0" rIns="0" bIns="0" rtlCol="0" anchor="t"/>
          <a:lstStyle/>
          <a:p>
            <a:pPr marL="0" indent="0">
              <a:buNone/>
            </a:pPr>
            <a:r>
              <a:rPr lang="en-US" sz="1050" i="1" dirty="0">
                <a:solidFill>
                  <a:srgbClr val="93A6BC"/>
                </a:solidFill>
                <a:latin typeface="Segoe UI" pitchFamily="34" charset="0"/>
                <a:ea typeface="Segoe UI" pitchFamily="34" charset="-122"/>
                <a:cs typeface="Segoe UI" pitchFamily="34" charset="-120"/>
              </a:rPr>
              <a:t>A good day. Across all 62 test days,</a:t>
            </a:r>
            <a:endParaRPr lang="en-US" sz="1050" dirty="0"/>
          </a:p>
          <a:p>
            <a:pPr marL="0" indent="0">
              <a:buNone/>
            </a:pPr>
            <a:r>
              <a:rPr lang="en-US" sz="1050" i="1" dirty="0">
                <a:solidFill>
                  <a:srgbClr val="93A6BC"/>
                </a:solidFill>
                <a:latin typeface="Segoe UI" pitchFamily="34" charset="0"/>
                <a:ea typeface="Segoe UI" pitchFamily="34" charset="-122"/>
                <a:cs typeface="Segoe UI" pitchFamily="34" charset="-120"/>
              </a:rPr>
              <a:t>the list averages 57 hits per 100 calls.</a:t>
            </a:r>
            <a:endParaRPr lang="en-US" sz="1050" dirty="0"/>
          </a:p>
        </p:txBody>
      </p:sp>
      <p:sp>
        <p:nvSpPr>
          <p:cNvPr id="31" name="s9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9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9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86B6DC"/>
                </a:solidFill>
                <a:latin typeface="Segoe UI Semibold" pitchFamily="34" charset="0"/>
                <a:ea typeface="Segoe UI Semibold" pitchFamily="34" charset="-122"/>
                <a:cs typeface="Segoe UI Semibold" pitchFamily="34" charset="-120"/>
              </a:rPr>
              <a:t>03  </a:t>
            </a:r>
            <a:r>
              <a:rPr lang="en-US" sz="950" dirty="0">
                <a:solidFill>
                  <a:srgbClr val="FFFFFF"/>
                </a:solidFill>
                <a:latin typeface="Segoe UI Semibold" pitchFamily="34" charset="0"/>
                <a:ea typeface="Segoe UI Semibold" pitchFamily="34" charset="-122"/>
                <a:cs typeface="Segoe UI Semibold" pitchFamily="34" charset="-120"/>
              </a:rPr>
              <a:t>Does it work?</a:t>
            </a:r>
            <a:endParaRPr lang="en-US" sz="950" dirty="0"/>
          </a:p>
        </p:txBody>
      </p:sp>
      <p:sp>
        <p:nvSpPr>
          <p:cNvPr id="34" name="s9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5" name="s9 nav marker"/>
          <p:cNvSpPr/>
          <p:nvPr/>
        </p:nvSpPr>
        <p:spPr>
          <a:xfrm>
            <a:off x="3310128" y="6336792"/>
            <a:ext cx="201168" cy="36576"/>
          </a:xfrm>
          <a:prstGeom prst="roundRect">
            <a:avLst>
              <a:gd name="adj" fmla="val 50000"/>
            </a:avLst>
          </a:prstGeom>
          <a:solidFill>
            <a:srgbClr val="86B6DC"/>
          </a:solidFill>
          <a:ln w="12700">
            <a:solidFill>
              <a:srgbClr val="86B6DC">
                <a:alpha val="0"/>
              </a:srgbClr>
            </a:solidFill>
            <a:prstDash val="solid"/>
          </a:ln>
        </p:spPr>
      </p:sp>
      <p:sp>
        <p:nvSpPr>
          <p:cNvPr id="36" name="s9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9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600"/>
                                        <p:tgtEl>
                                          <p:spTgt spid="37"/>
                                        </p:tgtEl>
                                      </p:cBhvr>
                                    </p:animEffect>
                                    <p:anim calcmode="lin" valueType="num">
                                      <p:cBhvr>
                                        <p:cTn id="8" dur="600" fill="hold"/>
                                        <p:tgtEl>
                                          <p:spTgt spid="37"/>
                                        </p:tgtEl>
                                        <p:attrNameLst>
                                          <p:attrName>ppt_x</p:attrName>
                                        </p:attrNameLst>
                                      </p:cBhvr>
                                      <p:tavLst>
                                        <p:tav tm="0">
                                          <p:val>
                                            <p:strVal val="#ppt_x"/>
                                          </p:val>
                                        </p:tav>
                                        <p:tav tm="100000">
                                          <p:val>
                                            <p:strVal val="#ppt_x"/>
                                          </p:val>
                                        </p:tav>
                                      </p:tavLst>
                                    </p:anim>
                                    <p:anim calcmode="lin" valueType="num">
                                      <p:cBhvr>
                                        <p:cTn id="9" dur="6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600"/>
                            </p:stCondLst>
                            <p:childTnLst>
                              <p:par>
                                <p:cTn id="11" presetID="10"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300"/>
                                        <p:tgtEl>
                                          <p:spTgt spid="38"/>
                                        </p:tgtEl>
                                      </p:cBhvr>
                                    </p:animEffect>
                                  </p:childTnLst>
                                </p:cTn>
                              </p:par>
                            </p:childTnLst>
                          </p:cTn>
                        </p:par>
                        <p:par>
                          <p:cTn id="14" fill="hold">
                            <p:stCondLst>
                              <p:cond delay="950"/>
                            </p:stCondLst>
                            <p:childTnLst>
                              <p:par>
                                <p:cTn id="15" presetID="10" presetClass="entr" presetSubtype="0" fill="hold" grpId="0" nodeType="afterEffect">
                                  <p:stCondLst>
                                    <p:cond delay="5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3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 calcmode="lin" valueType="num">
                                      <p:cBhvr>
                                        <p:cTn id="22" dur="500" fill="hold"/>
                                        <p:tgtEl>
                                          <p:spTgt spid="39"/>
                                        </p:tgtEl>
                                        <p:attrNameLst>
                                          <p:attrName>ppt_w</p:attrName>
                                        </p:attrNameLst>
                                      </p:cBhvr>
                                      <p:tavLst>
                                        <p:tav tm="0">
                                          <p:val>
                                            <p:fltVal val="0"/>
                                          </p:val>
                                        </p:tav>
                                        <p:tav tm="100000">
                                          <p:val>
                                            <p:strVal val="#ppt_w"/>
                                          </p:val>
                                        </p:tav>
                                      </p:tavLst>
                                    </p:anim>
                                    <p:anim calcmode="lin" valueType="num">
                                      <p:cBhvr>
                                        <p:cTn id="23" dur="500" fill="hold"/>
                                        <p:tgtEl>
                                          <p:spTgt spid="39"/>
                                        </p:tgtEl>
                                        <p:attrNameLst>
                                          <p:attrName>ppt_h</p:attrName>
                                        </p:attrNameLst>
                                      </p:cBhvr>
                                      <p:tavLst>
                                        <p:tav tm="0">
                                          <p:val>
                                            <p:fltVal val="0"/>
                                          </p:val>
                                        </p:tav>
                                        <p:tav tm="100000">
                                          <p:val>
                                            <p:strVal val="#ppt_h"/>
                                          </p:val>
                                        </p:tav>
                                      </p:tavLst>
                                    </p:anim>
                                    <p:animEffect transition="in" filter="fade">
                                      <p:cBhvr>
                                        <p:cTn id="24" dur="500"/>
                                        <p:tgtEl>
                                          <p:spTgt spid="39"/>
                                        </p:tgtEl>
                                      </p:cBhvr>
                                    </p:animEffect>
                                  </p:childTnLst>
                                </p:cTn>
                              </p:par>
                            </p:childTnLst>
                          </p:cTn>
                        </p:par>
                        <p:par>
                          <p:cTn id="25" fill="hold">
                            <p:stCondLst>
                              <p:cond delay="500"/>
                            </p:stCondLst>
                            <p:childTnLst>
                              <p:par>
                                <p:cTn id="26" presetID="42" presetClass="entr" presetSubtype="0" fill="hold" grpId="0" nodeType="afterEffect">
                                  <p:stCondLst>
                                    <p:cond delay="5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anim calcmode="lin" valueType="num">
                                      <p:cBhvr>
                                        <p:cTn id="29" dur="400" fill="hold"/>
                                        <p:tgtEl>
                                          <p:spTgt spid="27"/>
                                        </p:tgtEl>
                                        <p:attrNameLst>
                                          <p:attrName>ppt_x</p:attrName>
                                        </p:attrNameLst>
                                      </p:cBhvr>
                                      <p:tavLst>
                                        <p:tav tm="0">
                                          <p:val>
                                            <p:strVal val="#ppt_x"/>
                                          </p:val>
                                        </p:tav>
                                        <p:tav tm="100000">
                                          <p:val>
                                            <p:strVal val="#ppt_x"/>
                                          </p:val>
                                        </p:tav>
                                      </p:tavLst>
                                    </p:anim>
                                    <p:anim calcmode="lin" valueType="num">
                                      <p:cBhvr>
                                        <p:cTn id="30" dur="400" fill="hold"/>
                                        <p:tgtEl>
                                          <p:spTgt spid="27"/>
                                        </p:tgtEl>
                                        <p:attrNameLst>
                                          <p:attrName>ppt_y</p:attrName>
                                        </p:attrNameLst>
                                      </p:cBhvr>
                                      <p:tavLst>
                                        <p:tav tm="0">
                                          <p:val>
                                            <p:strVal val="#ppt_y+.1"/>
                                          </p:val>
                                        </p:tav>
                                        <p:tav tm="100000">
                                          <p:val>
                                            <p:strVal val="#ppt_y"/>
                                          </p:val>
                                        </p:tav>
                                      </p:tavLst>
                                    </p:anim>
                                  </p:childTnLst>
                                </p:cTn>
                              </p:par>
                            </p:childTnLst>
                          </p:cTn>
                        </p:par>
                        <p:par>
                          <p:cTn id="31" fill="hold">
                            <p:stCondLst>
                              <p:cond delay="950"/>
                            </p:stCondLst>
                            <p:childTnLst>
                              <p:par>
                                <p:cTn id="32" presetID="42" presetClass="entr" presetSubtype="0" fill="hold" grpId="0" nodeType="afterEffect">
                                  <p:stCondLst>
                                    <p:cond delay="5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anim calcmode="lin" valueType="num">
                                      <p:cBhvr>
                                        <p:cTn id="35" dur="400" fill="hold"/>
                                        <p:tgtEl>
                                          <p:spTgt spid="28"/>
                                        </p:tgtEl>
                                        <p:attrNameLst>
                                          <p:attrName>ppt_x</p:attrName>
                                        </p:attrNameLst>
                                      </p:cBhvr>
                                      <p:tavLst>
                                        <p:tav tm="0">
                                          <p:val>
                                            <p:strVal val="#ppt_x"/>
                                          </p:val>
                                        </p:tav>
                                        <p:tav tm="100000">
                                          <p:val>
                                            <p:strVal val="#ppt_x"/>
                                          </p:val>
                                        </p:tav>
                                      </p:tavLst>
                                    </p:anim>
                                    <p:anim calcmode="lin" valueType="num">
                                      <p:cBhvr>
                                        <p:cTn id="36" dur="400" fill="hold"/>
                                        <p:tgtEl>
                                          <p:spTgt spid="28"/>
                                        </p:tgtEl>
                                        <p:attrNameLst>
                                          <p:attrName>ppt_y</p:attrName>
                                        </p:attrNameLst>
                                      </p:cBhvr>
                                      <p:tavLst>
                                        <p:tav tm="0">
                                          <p:val>
                                            <p:strVal val="#ppt_y+.1"/>
                                          </p:val>
                                        </p:tav>
                                        <p:tav tm="100000">
                                          <p:val>
                                            <p:strVal val="#ppt_y"/>
                                          </p:val>
                                        </p:tav>
                                      </p:tavLst>
                                    </p:anim>
                                  </p:childTnLst>
                                </p:cTn>
                              </p:par>
                            </p:childTnLst>
                          </p:cTn>
                        </p:par>
                        <p:par>
                          <p:cTn id="37" fill="hold">
                            <p:stCondLst>
                              <p:cond delay="1400"/>
                            </p:stCondLst>
                            <p:childTnLst>
                              <p:par>
                                <p:cTn id="38" presetID="10" presetClass="entr" presetSubtype="0" fill="hold" grpId="0" nodeType="afterEffect">
                                  <p:stCondLst>
                                    <p:cond delay="5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par>
                          <p:cTn id="41" fill="hold">
                            <p:stCondLst>
                              <p:cond delay="1850"/>
                            </p:stCondLst>
                            <p:childTnLst>
                              <p:par>
                                <p:cTn id="42" presetID="10" presetClass="entr" presetSubtype="0" fill="hold" grpId="0" nodeType="afterEffect">
                                  <p:stCondLst>
                                    <p:cond delay="5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7" grpId="0" animBg="1"/>
      <p:bldP spid="28" grpId="0" animBg="1"/>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10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ACTIONS</a:t>
            </a:r>
            <a:endParaRPr lang="en-US" sz="1000" dirty="0"/>
          </a:p>
        </p:txBody>
      </p:sp>
      <p:sp>
        <p:nvSpPr>
          <p:cNvPr id="3" name="s10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Four changes Olist can make on Monday</a:t>
            </a:r>
            <a:endParaRPr lang="en-US" sz="2900" dirty="0"/>
          </a:p>
        </p:txBody>
      </p:sp>
      <p:sp>
        <p:nvSpPr>
          <p:cNvPr id="4" name="s10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Behind all four: refit the models monthly and watch the weekly late rate. The next strike will not announce itself.</a:t>
            </a:r>
            <a:endParaRPr lang="en-US" sz="1300" dirty="0"/>
          </a:p>
        </p:txBody>
      </p:sp>
      <p:sp>
        <p:nvSpPr>
          <p:cNvPr id="5" name="s10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0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three moments</a:t>
            </a:r>
            <a:endParaRPr lang="en-US" sz="850" dirty="0"/>
          </a:p>
        </p:txBody>
      </p:sp>
      <p:grpSp>
        <p:nvGrpSpPr>
          <p:cNvPr id="45" name="s10 card0">
            <a:extLst>
              <a:ext uri="{FF2B5EF4-FFF2-40B4-BE49-F238E27FC236}">
                <a16:creationId xmlns:a16="http://schemas.microsoft.com/office/drawing/2014/main" id="{D8069DE5-AF12-7421-04C3-2C87F9FF5896}"/>
              </a:ext>
            </a:extLst>
          </p:cNvPr>
          <p:cNvGrpSpPr/>
          <p:nvPr/>
        </p:nvGrpSpPr>
        <p:grpSpPr>
          <a:xfrm>
            <a:off x="548640" y="1783080"/>
            <a:ext cx="5440680" cy="2057400"/>
            <a:chOff x="548640" y="1783080"/>
            <a:chExt cx="5440680" cy="2057400"/>
          </a:xfrm>
        </p:grpSpPr>
        <p:sp>
          <p:nvSpPr>
            <p:cNvPr id="15" name="s10 panel 1"/>
            <p:cNvSpPr/>
            <p:nvPr/>
          </p:nvSpPr>
          <p:spPr>
            <a:xfrm>
              <a:off x="548640" y="1783080"/>
              <a:ext cx="5440680" cy="2057400"/>
            </a:xfrm>
            <a:prstGeom prst="roundRect">
              <a:avLst>
                <a:gd name="adj" fmla="val 5333"/>
              </a:avLst>
            </a:prstGeom>
            <a:solidFill>
              <a:srgbClr val="EAF1F7"/>
            </a:solidFill>
            <a:ln w="12700">
              <a:solidFill>
                <a:srgbClr val="EAF1F7">
                  <a:alpha val="0"/>
                </a:srgbClr>
              </a:solidFill>
              <a:prstDash val="solid"/>
            </a:ln>
          </p:spPr>
        </p:sp>
        <p:sp>
          <p:nvSpPr>
            <p:cNvPr id="16" name="s10 icon circle 2"/>
            <p:cNvSpPr/>
            <p:nvPr/>
          </p:nvSpPr>
          <p:spPr>
            <a:xfrm>
              <a:off x="822960" y="2075688"/>
              <a:ext cx="713232" cy="713232"/>
            </a:xfrm>
            <a:prstGeom prst="ellipse">
              <a:avLst/>
            </a:prstGeom>
            <a:solidFill>
              <a:srgbClr val="2F6F9F"/>
            </a:solidFill>
            <a:ln w="12700">
              <a:solidFill>
                <a:srgbClr val="2F6F9F">
                  <a:alpha val="0"/>
                </a:srgbClr>
              </a:solidFill>
              <a:prstDash val="solid"/>
            </a:ln>
          </p:spPr>
        </p:sp>
        <p:pic>
          <p:nvPicPr>
            <p:cNvPr id="17" name="s10 icon 3" descr="preencoded.png"/>
            <p:cNvPicPr>
              <a:picLocks noChangeAspect="1"/>
            </p:cNvPicPr>
            <p:nvPr/>
          </p:nvPicPr>
          <p:blipFill>
            <a:blip r:embed="rId7"/>
            <a:stretch>
              <a:fillRect/>
            </a:stretch>
          </p:blipFill>
          <p:spPr>
            <a:xfrm>
              <a:off x="1015533" y="2268261"/>
              <a:ext cx="328087" cy="328087"/>
            </a:xfrm>
            <a:prstGeom prst="rect">
              <a:avLst/>
            </a:prstGeom>
          </p:spPr>
        </p:pic>
        <p:sp>
          <p:nvSpPr>
            <p:cNvPr id="18" name="s10 text 4"/>
            <p:cNvSpPr txBox="1"/>
            <p:nvPr/>
          </p:nvSpPr>
          <p:spPr>
            <a:xfrm>
              <a:off x="1783080" y="2057400"/>
              <a:ext cx="397764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  ·  AT CHECKOUT</a:t>
              </a:r>
              <a:endParaRPr lang="en-US" sz="900" dirty="0"/>
            </a:p>
          </p:txBody>
        </p:sp>
        <p:sp>
          <p:nvSpPr>
            <p:cNvPr id="19" name="s10 text 5"/>
            <p:cNvSpPr txBox="1"/>
            <p:nvPr/>
          </p:nvSpPr>
          <p:spPr>
            <a:xfrm>
              <a:off x="1783080" y="2331720"/>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Quote the forecast, not the padded promise</a:t>
              </a:r>
              <a:endParaRPr lang="en-US" sz="1700" dirty="0"/>
            </a:p>
          </p:txBody>
        </p:sp>
        <p:sp>
          <p:nvSpPr>
            <p:cNvPr id="20" name="s10 text 6"/>
            <p:cNvSpPr txBox="1"/>
            <p:nvPr/>
          </p:nvSpPr>
          <p:spPr>
            <a:xfrm>
              <a:off x="1783080" y="317296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Every order. Free. Dates 60% closer to reality.</a:t>
              </a:r>
              <a:endParaRPr lang="en-US" sz="1300" dirty="0"/>
            </a:p>
          </p:txBody>
        </p:sp>
      </p:grpSp>
      <p:grpSp>
        <p:nvGrpSpPr>
          <p:cNvPr id="46" name="s10 card1">
            <a:extLst>
              <a:ext uri="{FF2B5EF4-FFF2-40B4-BE49-F238E27FC236}">
                <a16:creationId xmlns:a16="http://schemas.microsoft.com/office/drawing/2014/main" id="{F399F3AA-35F3-ADBF-DCAE-82A451B4ADBF}"/>
              </a:ext>
            </a:extLst>
          </p:cNvPr>
          <p:cNvGrpSpPr/>
          <p:nvPr/>
        </p:nvGrpSpPr>
        <p:grpSpPr>
          <a:xfrm>
            <a:off x="6199632" y="1783080"/>
            <a:ext cx="5440680" cy="2057400"/>
            <a:chOff x="6199632" y="1783080"/>
            <a:chExt cx="5440680" cy="2057400"/>
          </a:xfrm>
        </p:grpSpPr>
        <p:sp>
          <p:nvSpPr>
            <p:cNvPr id="21" name="s10 panel 7"/>
            <p:cNvSpPr/>
            <p:nvPr/>
          </p:nvSpPr>
          <p:spPr>
            <a:xfrm>
              <a:off x="6199632" y="1783080"/>
              <a:ext cx="5440680" cy="2057400"/>
            </a:xfrm>
            <a:prstGeom prst="roundRect">
              <a:avLst>
                <a:gd name="adj" fmla="val 5333"/>
              </a:avLst>
            </a:prstGeom>
            <a:solidFill>
              <a:srgbClr val="F8F1E3"/>
            </a:solidFill>
            <a:ln w="12700">
              <a:solidFill>
                <a:srgbClr val="F8F1E3">
                  <a:alpha val="0"/>
                </a:srgbClr>
              </a:solidFill>
              <a:prstDash val="solid"/>
            </a:ln>
          </p:spPr>
        </p:sp>
        <p:sp>
          <p:nvSpPr>
            <p:cNvPr id="22" name="s10 icon circle 8"/>
            <p:cNvSpPr/>
            <p:nvPr/>
          </p:nvSpPr>
          <p:spPr>
            <a:xfrm>
              <a:off x="6473952" y="2075688"/>
              <a:ext cx="713232" cy="713232"/>
            </a:xfrm>
            <a:prstGeom prst="ellipse">
              <a:avLst/>
            </a:prstGeom>
            <a:solidFill>
              <a:srgbClr val="C08B2E"/>
            </a:solidFill>
            <a:ln w="12700">
              <a:solidFill>
                <a:srgbClr val="C08B2E">
                  <a:alpha val="0"/>
                </a:srgbClr>
              </a:solidFill>
              <a:prstDash val="solid"/>
            </a:ln>
          </p:spPr>
        </p:sp>
        <p:pic>
          <p:nvPicPr>
            <p:cNvPr id="23" name="s10 icon 9" descr="preencoded.png"/>
            <p:cNvPicPr>
              <a:picLocks noChangeAspect="1"/>
            </p:cNvPicPr>
            <p:nvPr/>
          </p:nvPicPr>
          <p:blipFill>
            <a:blip r:embed="rId8"/>
            <a:stretch>
              <a:fillRect/>
            </a:stretch>
          </p:blipFill>
          <p:spPr>
            <a:xfrm>
              <a:off x="6666525" y="2268261"/>
              <a:ext cx="328087" cy="328087"/>
            </a:xfrm>
            <a:prstGeom prst="rect">
              <a:avLst/>
            </a:prstGeom>
          </p:spPr>
        </p:pic>
        <p:sp>
          <p:nvSpPr>
            <p:cNvPr id="24" name="s10 text 10"/>
            <p:cNvSpPr txBox="1"/>
            <p:nvPr/>
          </p:nvSpPr>
          <p:spPr>
            <a:xfrm>
              <a:off x="7434072" y="2057400"/>
              <a:ext cx="397764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  ·  ON THE PROMISED DATE</a:t>
              </a:r>
              <a:endParaRPr lang="en-US" sz="900" dirty="0"/>
            </a:p>
          </p:txBody>
        </p:sp>
        <p:sp>
          <p:nvSpPr>
            <p:cNvPr id="25" name="s10 text 11"/>
            <p:cNvSpPr txBox="1"/>
            <p:nvPr/>
          </p:nvSpPr>
          <p:spPr>
            <a:xfrm>
              <a:off x="7434072" y="2331720"/>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When a promise breaks, speak first</a:t>
              </a:r>
              <a:endParaRPr lang="en-US" sz="1700" dirty="0"/>
            </a:p>
          </p:txBody>
        </p:sp>
        <p:sp>
          <p:nvSpPr>
            <p:cNvPr id="26" name="s10 text 12"/>
            <p:cNvSpPr txBox="1"/>
            <p:nvPr/>
          </p:nvSpPr>
          <p:spPr>
            <a:xfrm>
              <a:off x="7434072" y="280720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Apologise with a new date, and send the survey after the parcel arrives. Near-free.</a:t>
              </a:r>
              <a:endParaRPr lang="en-US" sz="1300" dirty="0"/>
            </a:p>
          </p:txBody>
        </p:sp>
      </p:grpSp>
      <p:grpSp>
        <p:nvGrpSpPr>
          <p:cNvPr id="47" name="s10 card2">
            <a:extLst>
              <a:ext uri="{FF2B5EF4-FFF2-40B4-BE49-F238E27FC236}">
                <a16:creationId xmlns:a16="http://schemas.microsoft.com/office/drawing/2014/main" id="{B6E49525-1FBC-3B34-59BF-CC906EF84D05}"/>
              </a:ext>
            </a:extLst>
          </p:cNvPr>
          <p:cNvGrpSpPr/>
          <p:nvPr/>
        </p:nvGrpSpPr>
        <p:grpSpPr>
          <a:xfrm>
            <a:off x="548640" y="3995928"/>
            <a:ext cx="5440680" cy="2057400"/>
            <a:chOff x="548640" y="3995928"/>
            <a:chExt cx="5440680" cy="2057400"/>
          </a:xfrm>
        </p:grpSpPr>
        <p:sp>
          <p:nvSpPr>
            <p:cNvPr id="27" name="s10 panel 13"/>
            <p:cNvSpPr/>
            <p:nvPr/>
          </p:nvSpPr>
          <p:spPr>
            <a:xfrm>
              <a:off x="548640" y="3995928"/>
              <a:ext cx="5440680" cy="2057400"/>
            </a:xfrm>
            <a:prstGeom prst="roundRect">
              <a:avLst>
                <a:gd name="adj" fmla="val 5333"/>
              </a:avLst>
            </a:prstGeom>
            <a:solidFill>
              <a:srgbClr val="EBF3EA"/>
            </a:solidFill>
            <a:ln w="12700">
              <a:solidFill>
                <a:srgbClr val="EBF3EA">
                  <a:alpha val="0"/>
                </a:srgbClr>
              </a:solidFill>
              <a:prstDash val="solid"/>
            </a:ln>
          </p:spPr>
        </p:sp>
        <p:sp>
          <p:nvSpPr>
            <p:cNvPr id="28" name="s10 icon circle 14"/>
            <p:cNvSpPr/>
            <p:nvPr/>
          </p:nvSpPr>
          <p:spPr>
            <a:xfrm>
              <a:off x="822960" y="4288536"/>
              <a:ext cx="713232" cy="713232"/>
            </a:xfrm>
            <a:prstGeom prst="ellipse">
              <a:avLst/>
            </a:prstGeom>
            <a:solidFill>
              <a:srgbClr val="5B8C5A"/>
            </a:solidFill>
            <a:ln w="12700">
              <a:solidFill>
                <a:srgbClr val="5B8C5A">
                  <a:alpha val="0"/>
                </a:srgbClr>
              </a:solidFill>
              <a:prstDash val="solid"/>
            </a:ln>
          </p:spPr>
        </p:sp>
        <p:pic>
          <p:nvPicPr>
            <p:cNvPr id="29" name="s10 icon 15" descr="preencoded.png"/>
            <p:cNvPicPr>
              <a:picLocks noChangeAspect="1"/>
            </p:cNvPicPr>
            <p:nvPr/>
          </p:nvPicPr>
          <p:blipFill>
            <a:blip r:embed="rId9"/>
            <a:stretch>
              <a:fillRect/>
            </a:stretch>
          </p:blipFill>
          <p:spPr>
            <a:xfrm>
              <a:off x="1015533" y="4481109"/>
              <a:ext cx="328087" cy="328087"/>
            </a:xfrm>
            <a:prstGeom prst="rect">
              <a:avLst/>
            </a:prstGeom>
          </p:spPr>
        </p:pic>
        <p:sp>
          <p:nvSpPr>
            <p:cNvPr id="30" name="s10 text 16"/>
            <p:cNvSpPr txBox="1"/>
            <p:nvPr/>
          </p:nvSpPr>
          <p:spPr>
            <a:xfrm>
              <a:off x="1783080" y="4270248"/>
              <a:ext cx="397764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  ·  AT DELIVERY</a:t>
              </a:r>
              <a:endParaRPr lang="en-US" sz="900" dirty="0"/>
            </a:p>
          </p:txBody>
        </p:sp>
        <p:sp>
          <p:nvSpPr>
            <p:cNvPr id="31" name="s10 text 17"/>
            <p:cNvSpPr txBox="1"/>
            <p:nvPr/>
          </p:nvSpPr>
          <p:spPr>
            <a:xfrm>
              <a:off x="1783080" y="4544568"/>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Call the ten riskiest deliveries every morning</a:t>
              </a:r>
              <a:endParaRPr lang="en-US" sz="1700" dirty="0"/>
            </a:p>
          </p:txBody>
        </p:sp>
        <p:sp>
          <p:nvSpPr>
            <p:cNvPr id="32" name="s10 text 18"/>
            <p:cNvSpPr txBox="1"/>
            <p:nvPr/>
          </p:nvSpPr>
          <p:spPr>
            <a:xfrm>
              <a:off x="1783080" y="538581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R$5 a call. 57 of 100 calls reach an unhappy customer.</a:t>
              </a:r>
              <a:endParaRPr lang="en-US" sz="1300" dirty="0"/>
            </a:p>
          </p:txBody>
        </p:sp>
      </p:grpSp>
      <p:grpSp>
        <p:nvGrpSpPr>
          <p:cNvPr id="48" name="s10 card3">
            <a:extLst>
              <a:ext uri="{FF2B5EF4-FFF2-40B4-BE49-F238E27FC236}">
                <a16:creationId xmlns:a16="http://schemas.microsoft.com/office/drawing/2014/main" id="{DC298263-2A77-4303-0551-4A788C767C33}"/>
              </a:ext>
            </a:extLst>
          </p:cNvPr>
          <p:cNvGrpSpPr/>
          <p:nvPr/>
        </p:nvGrpSpPr>
        <p:grpSpPr>
          <a:xfrm>
            <a:off x="6199632" y="3995928"/>
            <a:ext cx="5440680" cy="2057400"/>
            <a:chOff x="6199632" y="3995928"/>
            <a:chExt cx="5440680" cy="2057400"/>
          </a:xfrm>
        </p:grpSpPr>
        <p:sp>
          <p:nvSpPr>
            <p:cNvPr id="33" name="s10 panel 19"/>
            <p:cNvSpPr/>
            <p:nvPr/>
          </p:nvSpPr>
          <p:spPr>
            <a:xfrm>
              <a:off x="6199632" y="3995928"/>
              <a:ext cx="5440680" cy="2057400"/>
            </a:xfrm>
            <a:prstGeom prst="roundRect">
              <a:avLst>
                <a:gd name="adj" fmla="val 5333"/>
              </a:avLst>
            </a:prstGeom>
            <a:solidFill>
              <a:srgbClr val="F9ECEC"/>
            </a:solidFill>
            <a:ln w="12700">
              <a:solidFill>
                <a:srgbClr val="F9ECEC">
                  <a:alpha val="0"/>
                </a:srgbClr>
              </a:solidFill>
              <a:prstDash val="solid"/>
            </a:ln>
          </p:spPr>
        </p:sp>
        <p:sp>
          <p:nvSpPr>
            <p:cNvPr id="34" name="s10 icon circle 20"/>
            <p:cNvSpPr/>
            <p:nvPr/>
          </p:nvSpPr>
          <p:spPr>
            <a:xfrm>
              <a:off x="6473952" y="4288536"/>
              <a:ext cx="713232" cy="713232"/>
            </a:xfrm>
            <a:prstGeom prst="ellipse">
              <a:avLst/>
            </a:prstGeom>
            <a:solidFill>
              <a:srgbClr val="C1666B"/>
            </a:solidFill>
            <a:ln w="12700">
              <a:solidFill>
                <a:srgbClr val="C1666B">
                  <a:alpha val="0"/>
                </a:srgbClr>
              </a:solidFill>
              <a:prstDash val="solid"/>
            </a:ln>
          </p:spPr>
        </p:sp>
        <p:pic>
          <p:nvPicPr>
            <p:cNvPr id="35" name="s10 icon 21" descr="preencoded.png"/>
            <p:cNvPicPr>
              <a:picLocks noChangeAspect="1"/>
            </p:cNvPicPr>
            <p:nvPr/>
          </p:nvPicPr>
          <p:blipFill>
            <a:blip r:embed="rId10"/>
            <a:stretch>
              <a:fillRect/>
            </a:stretch>
          </p:blipFill>
          <p:spPr>
            <a:xfrm>
              <a:off x="6666525" y="4481109"/>
              <a:ext cx="328087" cy="328087"/>
            </a:xfrm>
            <a:prstGeom prst="rect">
              <a:avLst/>
            </a:prstGeom>
          </p:spPr>
        </p:pic>
        <p:sp>
          <p:nvSpPr>
            <p:cNvPr id="36" name="s10 text 22"/>
            <p:cNvSpPr txBox="1"/>
            <p:nvPr/>
          </p:nvSpPr>
          <p:spPr>
            <a:xfrm>
              <a:off x="7434072" y="4270248"/>
              <a:ext cx="397764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OPERATIONS  ·  WHAT NOT TO DO</a:t>
              </a:r>
              <a:endParaRPr lang="en-US" sz="900" dirty="0"/>
            </a:p>
          </p:txBody>
        </p:sp>
        <p:sp>
          <p:nvSpPr>
            <p:cNvPr id="37" name="s10 text 23"/>
            <p:cNvSpPr txBox="1"/>
            <p:nvPr/>
          </p:nvSpPr>
          <p:spPr>
            <a:xfrm>
              <a:off x="7434072" y="4544568"/>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Don't pay to expedite on the flag</a:t>
              </a:r>
              <a:endParaRPr lang="en-US" sz="1700" dirty="0"/>
            </a:p>
          </p:txBody>
        </p:sp>
        <p:sp>
          <p:nvSpPr>
            <p:cNvPr id="38" name="s10 text 24"/>
            <p:cNvSpPr txBox="1"/>
            <p:nvPr/>
          </p:nvSpPr>
          <p:spPr>
            <a:xfrm>
              <a:off x="7434072" y="502005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At R$12 a parcel it never pays back: the flag is right less than 30% of the time.</a:t>
              </a:r>
              <a:endParaRPr lang="en-US" sz="1300" dirty="0"/>
            </a:p>
          </p:txBody>
        </p:sp>
      </p:grpSp>
      <p:sp>
        <p:nvSpPr>
          <p:cNvPr id="39" name="s10 nav1">
            <a:hlinkClick r:id="rId11"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0" name="s10 nav2">
            <a:hlinkClick r:id="rId12"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41" name="s10 nav3">
            <a:hlinkClick r:id="rId13"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42" name="s10 nav4">
            <a:hlinkClick r:id="rId14"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43" name="s10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44" name="s10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10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50"/>
                                        <p:tgtEl>
                                          <p:spTgt spid="45"/>
                                        </p:tgtEl>
                                      </p:cBhvr>
                                    </p:animEffect>
                                    <p:anim calcmode="lin" valueType="num">
                                      <p:cBhvr>
                                        <p:cTn id="8" dur="450" fill="hold"/>
                                        <p:tgtEl>
                                          <p:spTgt spid="45"/>
                                        </p:tgtEl>
                                        <p:attrNameLst>
                                          <p:attrName>ppt_x</p:attrName>
                                        </p:attrNameLst>
                                      </p:cBhvr>
                                      <p:tavLst>
                                        <p:tav tm="0">
                                          <p:val>
                                            <p:strVal val="#ppt_x"/>
                                          </p:val>
                                        </p:tav>
                                        <p:tav tm="100000">
                                          <p:val>
                                            <p:strVal val="#ppt_x"/>
                                          </p:val>
                                        </p:tav>
                                      </p:tavLst>
                                    </p:anim>
                                    <p:anim calcmode="lin" valueType="num">
                                      <p:cBhvr>
                                        <p:cTn id="9" dur="450" fill="hold"/>
                                        <p:tgtEl>
                                          <p:spTgt spid="45"/>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42" presetClass="entr" presetSubtype="0" fill="hold" nodeType="afterEffect">
                                  <p:stCondLst>
                                    <p:cond delay="50"/>
                                  </p:stCondLst>
                                  <p:childTnLst>
                                    <p:set>
                                      <p:cBhvr>
                                        <p:cTn id="12" dur="1" fill="hold">
                                          <p:stCondLst>
                                            <p:cond delay="0"/>
                                          </p:stCondLst>
                                        </p:cTn>
                                        <p:tgtEl>
                                          <p:spTgt spid="46"/>
                                        </p:tgtEl>
                                        <p:attrNameLst>
                                          <p:attrName>style.visibility</p:attrName>
                                        </p:attrNameLst>
                                      </p:cBhvr>
                                      <p:to>
                                        <p:strVal val="visible"/>
                                      </p:to>
                                    </p:set>
                                    <p:animEffect transition="in" filter="fade">
                                      <p:cBhvr>
                                        <p:cTn id="13" dur="450"/>
                                        <p:tgtEl>
                                          <p:spTgt spid="46"/>
                                        </p:tgtEl>
                                      </p:cBhvr>
                                    </p:animEffect>
                                    <p:anim calcmode="lin" valueType="num">
                                      <p:cBhvr>
                                        <p:cTn id="14" dur="450" fill="hold"/>
                                        <p:tgtEl>
                                          <p:spTgt spid="46"/>
                                        </p:tgtEl>
                                        <p:attrNameLst>
                                          <p:attrName>ppt_x</p:attrName>
                                        </p:attrNameLst>
                                      </p:cBhvr>
                                      <p:tavLst>
                                        <p:tav tm="0">
                                          <p:val>
                                            <p:strVal val="#ppt_x"/>
                                          </p:val>
                                        </p:tav>
                                        <p:tav tm="100000">
                                          <p:val>
                                            <p:strVal val="#ppt_x"/>
                                          </p:val>
                                        </p:tav>
                                      </p:tavLst>
                                    </p:anim>
                                    <p:anim calcmode="lin" valueType="num">
                                      <p:cBhvr>
                                        <p:cTn id="15" dur="450" fill="hold"/>
                                        <p:tgtEl>
                                          <p:spTgt spid="46"/>
                                        </p:tgtEl>
                                        <p:attrNameLst>
                                          <p:attrName>ppt_y</p:attrName>
                                        </p:attrNameLst>
                                      </p:cBhvr>
                                      <p:tavLst>
                                        <p:tav tm="0">
                                          <p:val>
                                            <p:strVal val="#ppt_y+.1"/>
                                          </p:val>
                                        </p:tav>
                                        <p:tav tm="100000">
                                          <p:val>
                                            <p:strVal val="#ppt_y"/>
                                          </p:val>
                                        </p:tav>
                                      </p:tavLst>
                                    </p:anim>
                                  </p:childTnLst>
                                </p:cTn>
                              </p:par>
                            </p:childTnLst>
                          </p:cTn>
                        </p:par>
                        <p:par>
                          <p:cTn id="16" fill="hold">
                            <p:stCondLst>
                              <p:cond delay="950"/>
                            </p:stCondLst>
                            <p:childTnLst>
                              <p:par>
                                <p:cTn id="17" presetID="42" presetClass="entr" presetSubtype="0" fill="hold" nodeType="afterEffect">
                                  <p:stCondLst>
                                    <p:cond delay="50"/>
                                  </p:stCondLst>
                                  <p:childTnLst>
                                    <p:set>
                                      <p:cBhvr>
                                        <p:cTn id="18" dur="1" fill="hold">
                                          <p:stCondLst>
                                            <p:cond delay="0"/>
                                          </p:stCondLst>
                                        </p:cTn>
                                        <p:tgtEl>
                                          <p:spTgt spid="47"/>
                                        </p:tgtEl>
                                        <p:attrNameLst>
                                          <p:attrName>style.visibility</p:attrName>
                                        </p:attrNameLst>
                                      </p:cBhvr>
                                      <p:to>
                                        <p:strVal val="visible"/>
                                      </p:to>
                                    </p:set>
                                    <p:animEffect transition="in" filter="fade">
                                      <p:cBhvr>
                                        <p:cTn id="19" dur="450"/>
                                        <p:tgtEl>
                                          <p:spTgt spid="47"/>
                                        </p:tgtEl>
                                      </p:cBhvr>
                                    </p:animEffect>
                                    <p:anim calcmode="lin" valueType="num">
                                      <p:cBhvr>
                                        <p:cTn id="20" dur="450" fill="hold"/>
                                        <p:tgtEl>
                                          <p:spTgt spid="47"/>
                                        </p:tgtEl>
                                        <p:attrNameLst>
                                          <p:attrName>ppt_x</p:attrName>
                                        </p:attrNameLst>
                                      </p:cBhvr>
                                      <p:tavLst>
                                        <p:tav tm="0">
                                          <p:val>
                                            <p:strVal val="#ppt_x"/>
                                          </p:val>
                                        </p:tav>
                                        <p:tav tm="100000">
                                          <p:val>
                                            <p:strVal val="#ppt_x"/>
                                          </p:val>
                                        </p:tav>
                                      </p:tavLst>
                                    </p:anim>
                                    <p:anim calcmode="lin" valueType="num">
                                      <p:cBhvr>
                                        <p:cTn id="21" dur="450" fill="hold"/>
                                        <p:tgtEl>
                                          <p:spTgt spid="47"/>
                                        </p:tgtEl>
                                        <p:attrNameLst>
                                          <p:attrName>ppt_y</p:attrName>
                                        </p:attrNameLst>
                                      </p:cBhvr>
                                      <p:tavLst>
                                        <p:tav tm="0">
                                          <p:val>
                                            <p:strVal val="#ppt_y+.1"/>
                                          </p:val>
                                        </p:tav>
                                        <p:tav tm="100000">
                                          <p:val>
                                            <p:strVal val="#ppt_y"/>
                                          </p:val>
                                        </p:tav>
                                      </p:tavLst>
                                    </p:anim>
                                  </p:childTnLst>
                                </p:cTn>
                              </p:par>
                            </p:childTnLst>
                          </p:cTn>
                        </p:par>
                        <p:par>
                          <p:cTn id="22" fill="hold">
                            <p:stCondLst>
                              <p:cond delay="1450"/>
                            </p:stCondLst>
                            <p:childTnLst>
                              <p:par>
                                <p:cTn id="23" presetID="42" presetClass="entr" presetSubtype="0" fill="hold" nodeType="afterEffect">
                                  <p:stCondLst>
                                    <p:cond delay="5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450"/>
                                        <p:tgtEl>
                                          <p:spTgt spid="48"/>
                                        </p:tgtEl>
                                      </p:cBhvr>
                                    </p:animEffect>
                                    <p:anim calcmode="lin" valueType="num">
                                      <p:cBhvr>
                                        <p:cTn id="26" dur="450" fill="hold"/>
                                        <p:tgtEl>
                                          <p:spTgt spid="48"/>
                                        </p:tgtEl>
                                        <p:attrNameLst>
                                          <p:attrName>ppt_x</p:attrName>
                                        </p:attrNameLst>
                                      </p:cBhvr>
                                      <p:tavLst>
                                        <p:tav tm="0">
                                          <p:val>
                                            <p:strVal val="#ppt_x"/>
                                          </p:val>
                                        </p:tav>
                                        <p:tav tm="100000">
                                          <p:val>
                                            <p:strVal val="#ppt_x"/>
                                          </p:val>
                                        </p:tav>
                                      </p:tavLst>
                                    </p:anim>
                                    <p:anim calcmode="lin" valueType="num">
                                      <p:cBhvr>
                                        <p:cTn id="27" dur="450" fill="hold"/>
                                        <p:tgtEl>
                                          <p:spTgt spid="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11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IMPACT</a:t>
            </a:r>
            <a:endParaRPr lang="en-US" sz="1000" dirty="0"/>
          </a:p>
        </p:txBody>
      </p:sp>
      <p:sp>
        <p:nvSpPr>
          <p:cNvPr id="3" name="s11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Up to R$775 per 1,000 orders — if a call helps</a:t>
            </a:r>
            <a:endParaRPr lang="en-US" sz="2900" dirty="0"/>
          </a:p>
        </p:txBody>
      </p:sp>
      <p:sp>
        <p:nvSpPr>
          <p:cNvPr id="4" name="s11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Stated assumptions: R$5 per call, R$40 per 1–2★ review. Olist publishes no costs, so we show the arithmetic.</a:t>
            </a:r>
            <a:endParaRPr lang="en-US" sz="1300" dirty="0"/>
          </a:p>
        </p:txBody>
      </p:sp>
      <p:sp>
        <p:nvSpPr>
          <p:cNvPr id="5" name="s11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1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and delivery</a:t>
            </a:r>
            <a:endParaRPr lang="en-US" sz="850" dirty="0"/>
          </a:p>
        </p:txBody>
      </p:sp>
      <p:grpSp>
        <p:nvGrpSpPr>
          <p:cNvPr id="69" name="s11 tileA">
            <a:extLst>
              <a:ext uri="{FF2B5EF4-FFF2-40B4-BE49-F238E27FC236}">
                <a16:creationId xmlns:a16="http://schemas.microsoft.com/office/drawing/2014/main" id="{FC7DA7B3-5346-F2BD-400C-58E1BD1854D5}"/>
              </a:ext>
            </a:extLst>
          </p:cNvPr>
          <p:cNvGrpSpPr/>
          <p:nvPr/>
        </p:nvGrpSpPr>
        <p:grpSpPr>
          <a:xfrm>
            <a:off x="548640" y="1783080"/>
            <a:ext cx="3429000" cy="2148840"/>
            <a:chOff x="548640" y="1783080"/>
            <a:chExt cx="3429000" cy="2148840"/>
          </a:xfrm>
        </p:grpSpPr>
        <p:sp>
          <p:nvSpPr>
            <p:cNvPr id="15" name="s11 tileA bg"/>
            <p:cNvSpPr/>
            <p:nvPr/>
          </p:nvSpPr>
          <p:spPr>
            <a:xfrm>
              <a:off x="548640" y="1783080"/>
              <a:ext cx="3429000" cy="2148840"/>
            </a:xfrm>
            <a:prstGeom prst="roundRect">
              <a:avLst>
                <a:gd name="adj" fmla="val 5106"/>
              </a:avLst>
            </a:prstGeom>
            <a:solidFill>
              <a:srgbClr val="EBF3EA"/>
            </a:solidFill>
            <a:ln w="12700">
              <a:solidFill>
                <a:srgbClr val="EBF3EA">
                  <a:alpha val="0"/>
                </a:srgbClr>
              </a:solidFill>
              <a:prstDash val="solid"/>
            </a:ln>
          </p:spPr>
        </p:sp>
        <p:sp>
          <p:nvSpPr>
            <p:cNvPr id="16" name="s11 tileA label"/>
            <p:cNvSpPr txBox="1"/>
            <p:nvPr/>
          </p:nvSpPr>
          <p:spPr>
            <a:xfrm>
              <a:off x="777240" y="1947672"/>
              <a:ext cx="301752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17" name="s11 tileA value"/>
            <p:cNvSpPr txBox="1"/>
            <p:nvPr/>
          </p:nvSpPr>
          <p:spPr>
            <a:xfrm>
              <a:off x="777240" y="2185416"/>
              <a:ext cx="3017520" cy="685800"/>
            </a:xfrm>
            <a:prstGeom prst="rect">
              <a:avLst/>
            </a:prstGeom>
            <a:noFill/>
            <a:ln/>
          </p:spPr>
          <p:txBody>
            <a:bodyPr wrap="square" lIns="0" tIns="0" rIns="0" bIns="0" rtlCol="0" anchor="ctr"/>
            <a:lstStyle/>
            <a:p>
              <a:pPr marL="0" indent="0">
                <a:buNone/>
              </a:pPr>
              <a:r>
                <a:rPr lang="en-US" sz="4400" dirty="0">
                  <a:solidFill>
                    <a:srgbClr val="41703F"/>
                  </a:solidFill>
                  <a:latin typeface="Segoe UI Light" pitchFamily="34" charset="0"/>
                  <a:ea typeface="Segoe UI Light" pitchFamily="34" charset="-122"/>
                  <a:cs typeface="Segoe UI Light" pitchFamily="34" charset="-120"/>
                </a:rPr>
                <a:t>R$775</a:t>
              </a:r>
              <a:endParaRPr lang="en-US" sz="4400" dirty="0"/>
            </a:p>
          </p:txBody>
        </p:sp>
        <p:sp>
          <p:nvSpPr>
            <p:cNvPr id="18" name="s11 tileA sub"/>
            <p:cNvSpPr txBox="1"/>
            <p:nvPr/>
          </p:nvSpPr>
          <p:spPr>
            <a:xfrm>
              <a:off x="777240" y="2926080"/>
              <a:ext cx="301752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at the best call volume, counting only customers still reachable before they write. Ten calls a day: R$433.</a:t>
              </a:r>
              <a:endParaRPr lang="en-US" sz="1100" dirty="0"/>
            </a:p>
          </p:txBody>
        </p:sp>
      </p:grpSp>
      <p:grpSp>
        <p:nvGrpSpPr>
          <p:cNvPr id="70" name="s11 tileB">
            <a:extLst>
              <a:ext uri="{FF2B5EF4-FFF2-40B4-BE49-F238E27FC236}">
                <a16:creationId xmlns:a16="http://schemas.microsoft.com/office/drawing/2014/main" id="{ED3BC712-5FEA-9815-E04D-F68DE5334235}"/>
              </a:ext>
            </a:extLst>
          </p:cNvPr>
          <p:cNvGrpSpPr/>
          <p:nvPr/>
        </p:nvGrpSpPr>
        <p:grpSpPr>
          <a:xfrm>
            <a:off x="548640" y="4069080"/>
            <a:ext cx="3429000" cy="2057400"/>
            <a:chOff x="548640" y="4069080"/>
            <a:chExt cx="3429000" cy="2057400"/>
          </a:xfrm>
        </p:grpSpPr>
        <p:sp>
          <p:nvSpPr>
            <p:cNvPr id="19" name="s11 tileB bg"/>
            <p:cNvSpPr/>
            <p:nvPr/>
          </p:nvSpPr>
          <p:spPr>
            <a:xfrm>
              <a:off x="548640" y="4069080"/>
              <a:ext cx="3429000" cy="2057400"/>
            </a:xfrm>
            <a:prstGeom prst="roundRect">
              <a:avLst>
                <a:gd name="adj" fmla="val 5333"/>
              </a:avLst>
            </a:prstGeom>
            <a:solidFill>
              <a:srgbClr val="F9ECEC"/>
            </a:solidFill>
            <a:ln w="12700">
              <a:solidFill>
                <a:srgbClr val="F9ECEC">
                  <a:alpha val="0"/>
                </a:srgbClr>
              </a:solidFill>
              <a:prstDash val="solid"/>
            </a:ln>
          </p:spPr>
        </p:sp>
        <p:sp>
          <p:nvSpPr>
            <p:cNvPr id="20" name="s11 tileB label"/>
            <p:cNvSpPr txBox="1"/>
            <p:nvPr/>
          </p:nvSpPr>
          <p:spPr>
            <a:xfrm>
              <a:off x="777240" y="4233672"/>
              <a:ext cx="301752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THE CATCH</a:t>
              </a:r>
              <a:endParaRPr lang="en-US" sz="900" dirty="0"/>
            </a:p>
          </p:txBody>
        </p:sp>
        <p:sp>
          <p:nvSpPr>
            <p:cNvPr id="21" name="s11 tileB value"/>
            <p:cNvSpPr txBox="1"/>
            <p:nvPr/>
          </p:nvSpPr>
          <p:spPr>
            <a:xfrm>
              <a:off x="777240" y="4471416"/>
              <a:ext cx="3017520" cy="457200"/>
            </a:xfrm>
            <a:prstGeom prst="rect">
              <a:avLst/>
            </a:prstGeom>
            <a:noFill/>
            <a:ln/>
          </p:spPr>
          <p:txBody>
            <a:bodyPr wrap="square" lIns="0" tIns="0" rIns="0" bIns="0" rtlCol="0" anchor="ctr"/>
            <a:lstStyle/>
            <a:p>
              <a:pPr marL="0" indent="0">
                <a:buNone/>
              </a:pPr>
              <a:r>
                <a:rPr lang="en-US" sz="1900" dirty="0">
                  <a:solidFill>
                    <a:srgbClr val="16222F"/>
                  </a:solidFill>
                  <a:latin typeface="Segoe UI Light" pitchFamily="34" charset="0"/>
                  <a:ea typeface="Segoe UI Light" pitchFamily="34" charset="-122"/>
                  <a:cs typeface="Segoe UI Light" pitchFamily="34" charset="-120"/>
                </a:rPr>
                <a:t>Nobody was ever called</a:t>
              </a:r>
              <a:endParaRPr lang="en-US" sz="1900" dirty="0"/>
            </a:p>
          </p:txBody>
        </p:sp>
        <p:sp>
          <p:nvSpPr>
            <p:cNvPr id="22" name="s11 tileB sub"/>
            <p:cNvSpPr txBox="1"/>
            <p:nvPr/>
          </p:nvSpPr>
          <p:spPr>
            <a:xfrm>
              <a:off x="777240" y="4983480"/>
              <a:ext cx="3017520" cy="10058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History cannot tell us whether a call changes the review. Only an experiment can.</a:t>
              </a:r>
              <a:endParaRPr lang="en-US" sz="1100" dirty="0"/>
            </a:p>
          </p:txBody>
        </p:sp>
      </p:grpSp>
      <p:grpSp>
        <p:nvGrpSpPr>
          <p:cNvPr id="71" name="s11 panel">
            <a:extLst>
              <a:ext uri="{FF2B5EF4-FFF2-40B4-BE49-F238E27FC236}">
                <a16:creationId xmlns:a16="http://schemas.microsoft.com/office/drawing/2014/main" id="{08E55699-4673-1DA8-BFA8-4FC2177C79EB}"/>
              </a:ext>
            </a:extLst>
          </p:cNvPr>
          <p:cNvGrpSpPr/>
          <p:nvPr/>
        </p:nvGrpSpPr>
        <p:grpSpPr>
          <a:xfrm>
            <a:off x="4206240" y="1783080"/>
            <a:ext cx="7434072" cy="4343400"/>
            <a:chOff x="4206240" y="1783080"/>
            <a:chExt cx="7434072" cy="4343400"/>
          </a:xfrm>
        </p:grpSpPr>
        <p:sp>
          <p:nvSpPr>
            <p:cNvPr id="23" name="s11 panel 1"/>
            <p:cNvSpPr/>
            <p:nvPr/>
          </p:nvSpPr>
          <p:spPr>
            <a:xfrm>
              <a:off x="4206240" y="1783080"/>
              <a:ext cx="7434072" cy="4343400"/>
            </a:xfrm>
            <a:prstGeom prst="roundRect">
              <a:avLst>
                <a:gd name="adj" fmla="val 2526"/>
              </a:avLst>
            </a:prstGeom>
            <a:solidFill>
              <a:srgbClr val="F2F4F7"/>
            </a:solidFill>
            <a:ln w="12700">
              <a:solidFill>
                <a:srgbClr val="F2F4F7">
                  <a:alpha val="0"/>
                </a:srgbClr>
              </a:solidFill>
              <a:prstDash val="solid"/>
            </a:ln>
          </p:spPr>
        </p:sp>
        <p:sp>
          <p:nvSpPr>
            <p:cNvPr id="24" name="s11 text 2"/>
            <p:cNvSpPr txBox="1"/>
            <p:nvPr/>
          </p:nvSpPr>
          <p:spPr>
            <a:xfrm>
              <a:off x="4480560" y="1938528"/>
              <a:ext cx="45720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THE SIX-WEEK EXPERIMENT</a:t>
              </a:r>
              <a:endParaRPr lang="en-US" sz="950" dirty="0"/>
            </a:p>
          </p:txBody>
        </p:sp>
      </p:grpSp>
      <p:grpSp>
        <p:nvGrpSpPr>
          <p:cNvPr id="72" name="s11 step1">
            <a:extLst>
              <a:ext uri="{FF2B5EF4-FFF2-40B4-BE49-F238E27FC236}">
                <a16:creationId xmlns:a16="http://schemas.microsoft.com/office/drawing/2014/main" id="{A2A820C3-111C-23DA-91AF-2E54AF3FB311}"/>
              </a:ext>
            </a:extLst>
          </p:cNvPr>
          <p:cNvGrpSpPr/>
          <p:nvPr/>
        </p:nvGrpSpPr>
        <p:grpSpPr>
          <a:xfrm>
            <a:off x="4480560" y="2267712"/>
            <a:ext cx="6949440" cy="786384"/>
            <a:chOff x="4480560" y="2267712"/>
            <a:chExt cx="6949440" cy="786384"/>
          </a:xfrm>
        </p:grpSpPr>
        <p:sp>
          <p:nvSpPr>
            <p:cNvPr id="25" name="s11 text 3"/>
            <p:cNvSpPr txBox="1"/>
            <p:nvPr/>
          </p:nvSpPr>
          <p:spPr>
            <a:xfrm>
              <a:off x="4480560" y="2267712"/>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1   Every morning: the ten riskiest deliveries</a:t>
              </a:r>
              <a:endParaRPr lang="en-US" sz="1250" dirty="0"/>
            </a:p>
          </p:txBody>
        </p:sp>
        <p:sp>
          <p:nvSpPr>
            <p:cNvPr id="26" name="s11 icon circle 4"/>
            <p:cNvSpPr/>
            <p:nvPr/>
          </p:nvSpPr>
          <p:spPr>
            <a:xfrm>
              <a:off x="4617720" y="2633472"/>
              <a:ext cx="420624" cy="420624"/>
            </a:xfrm>
            <a:prstGeom prst="ellipse">
              <a:avLst/>
            </a:prstGeom>
            <a:solidFill>
              <a:srgbClr val="FFFFFF"/>
            </a:solidFill>
            <a:ln w="12700">
              <a:solidFill>
                <a:srgbClr val="D5DCE3"/>
              </a:solidFill>
              <a:prstDash val="solid"/>
            </a:ln>
          </p:spPr>
        </p:sp>
        <p:pic>
          <p:nvPicPr>
            <p:cNvPr id="27" name="s11 icon 5" descr="preencoded.png"/>
            <p:cNvPicPr>
              <a:picLocks noChangeAspect="1"/>
            </p:cNvPicPr>
            <p:nvPr/>
          </p:nvPicPr>
          <p:blipFill>
            <a:blip r:embed="rId7"/>
            <a:stretch>
              <a:fillRect/>
            </a:stretch>
          </p:blipFill>
          <p:spPr>
            <a:xfrm>
              <a:off x="4731288" y="2747040"/>
              <a:ext cx="193487" cy="193487"/>
            </a:xfrm>
            <a:prstGeom prst="rect">
              <a:avLst/>
            </a:prstGeom>
          </p:spPr>
        </p:pic>
        <p:sp>
          <p:nvSpPr>
            <p:cNvPr id="28" name="s11 icon circle 6"/>
            <p:cNvSpPr/>
            <p:nvPr/>
          </p:nvSpPr>
          <p:spPr>
            <a:xfrm>
              <a:off x="5166360" y="2633472"/>
              <a:ext cx="420624" cy="420624"/>
            </a:xfrm>
            <a:prstGeom prst="ellipse">
              <a:avLst/>
            </a:prstGeom>
            <a:solidFill>
              <a:srgbClr val="FFFFFF"/>
            </a:solidFill>
            <a:ln w="12700">
              <a:solidFill>
                <a:srgbClr val="D5DCE3"/>
              </a:solidFill>
              <a:prstDash val="solid"/>
            </a:ln>
          </p:spPr>
        </p:sp>
        <p:pic>
          <p:nvPicPr>
            <p:cNvPr id="29" name="s11 icon 7" descr="preencoded.png"/>
            <p:cNvPicPr>
              <a:picLocks noChangeAspect="1"/>
            </p:cNvPicPr>
            <p:nvPr/>
          </p:nvPicPr>
          <p:blipFill>
            <a:blip r:embed="rId7"/>
            <a:stretch>
              <a:fillRect/>
            </a:stretch>
          </p:blipFill>
          <p:spPr>
            <a:xfrm>
              <a:off x="5279928" y="2747040"/>
              <a:ext cx="193487" cy="193487"/>
            </a:xfrm>
            <a:prstGeom prst="rect">
              <a:avLst/>
            </a:prstGeom>
          </p:spPr>
        </p:pic>
        <p:sp>
          <p:nvSpPr>
            <p:cNvPr id="30" name="s11 icon circle 8"/>
            <p:cNvSpPr/>
            <p:nvPr/>
          </p:nvSpPr>
          <p:spPr>
            <a:xfrm>
              <a:off x="5715000" y="2633472"/>
              <a:ext cx="420624" cy="420624"/>
            </a:xfrm>
            <a:prstGeom prst="ellipse">
              <a:avLst/>
            </a:prstGeom>
            <a:solidFill>
              <a:srgbClr val="FFFFFF"/>
            </a:solidFill>
            <a:ln w="12700">
              <a:solidFill>
                <a:srgbClr val="D5DCE3"/>
              </a:solidFill>
              <a:prstDash val="solid"/>
            </a:ln>
          </p:spPr>
        </p:sp>
        <p:pic>
          <p:nvPicPr>
            <p:cNvPr id="31" name="s11 icon 9" descr="preencoded.png"/>
            <p:cNvPicPr>
              <a:picLocks noChangeAspect="1"/>
            </p:cNvPicPr>
            <p:nvPr/>
          </p:nvPicPr>
          <p:blipFill>
            <a:blip r:embed="rId7"/>
            <a:stretch>
              <a:fillRect/>
            </a:stretch>
          </p:blipFill>
          <p:spPr>
            <a:xfrm>
              <a:off x="5828568" y="2747040"/>
              <a:ext cx="193487" cy="193487"/>
            </a:xfrm>
            <a:prstGeom prst="rect">
              <a:avLst/>
            </a:prstGeom>
          </p:spPr>
        </p:pic>
        <p:sp>
          <p:nvSpPr>
            <p:cNvPr id="32" name="s11 icon circle 10"/>
            <p:cNvSpPr/>
            <p:nvPr/>
          </p:nvSpPr>
          <p:spPr>
            <a:xfrm>
              <a:off x="6263640" y="2633472"/>
              <a:ext cx="420624" cy="420624"/>
            </a:xfrm>
            <a:prstGeom prst="ellipse">
              <a:avLst/>
            </a:prstGeom>
            <a:solidFill>
              <a:srgbClr val="FFFFFF"/>
            </a:solidFill>
            <a:ln w="12700">
              <a:solidFill>
                <a:srgbClr val="D5DCE3"/>
              </a:solidFill>
              <a:prstDash val="solid"/>
            </a:ln>
          </p:spPr>
        </p:sp>
        <p:pic>
          <p:nvPicPr>
            <p:cNvPr id="33" name="s11 icon 11" descr="preencoded.png"/>
            <p:cNvPicPr>
              <a:picLocks noChangeAspect="1"/>
            </p:cNvPicPr>
            <p:nvPr/>
          </p:nvPicPr>
          <p:blipFill>
            <a:blip r:embed="rId7"/>
            <a:stretch>
              <a:fillRect/>
            </a:stretch>
          </p:blipFill>
          <p:spPr>
            <a:xfrm>
              <a:off x="6377208" y="2747040"/>
              <a:ext cx="193487" cy="193487"/>
            </a:xfrm>
            <a:prstGeom prst="rect">
              <a:avLst/>
            </a:prstGeom>
          </p:spPr>
        </p:pic>
        <p:sp>
          <p:nvSpPr>
            <p:cNvPr id="34" name="s11 icon circle 12"/>
            <p:cNvSpPr/>
            <p:nvPr/>
          </p:nvSpPr>
          <p:spPr>
            <a:xfrm>
              <a:off x="6812280" y="2633472"/>
              <a:ext cx="420624" cy="420624"/>
            </a:xfrm>
            <a:prstGeom prst="ellipse">
              <a:avLst/>
            </a:prstGeom>
            <a:solidFill>
              <a:srgbClr val="FFFFFF"/>
            </a:solidFill>
            <a:ln w="12700">
              <a:solidFill>
                <a:srgbClr val="D5DCE3"/>
              </a:solidFill>
              <a:prstDash val="solid"/>
            </a:ln>
          </p:spPr>
        </p:sp>
        <p:pic>
          <p:nvPicPr>
            <p:cNvPr id="35" name="s11 icon 13" descr="preencoded.png"/>
            <p:cNvPicPr>
              <a:picLocks noChangeAspect="1"/>
            </p:cNvPicPr>
            <p:nvPr/>
          </p:nvPicPr>
          <p:blipFill>
            <a:blip r:embed="rId7"/>
            <a:stretch>
              <a:fillRect/>
            </a:stretch>
          </p:blipFill>
          <p:spPr>
            <a:xfrm>
              <a:off x="6925848" y="2747040"/>
              <a:ext cx="193487" cy="193487"/>
            </a:xfrm>
            <a:prstGeom prst="rect">
              <a:avLst/>
            </a:prstGeom>
          </p:spPr>
        </p:pic>
        <p:sp>
          <p:nvSpPr>
            <p:cNvPr id="36" name="s11 icon circle 14"/>
            <p:cNvSpPr/>
            <p:nvPr/>
          </p:nvSpPr>
          <p:spPr>
            <a:xfrm>
              <a:off x="7360920" y="2633472"/>
              <a:ext cx="420624" cy="420624"/>
            </a:xfrm>
            <a:prstGeom prst="ellipse">
              <a:avLst/>
            </a:prstGeom>
            <a:solidFill>
              <a:srgbClr val="FFFFFF"/>
            </a:solidFill>
            <a:ln w="12700">
              <a:solidFill>
                <a:srgbClr val="D5DCE3"/>
              </a:solidFill>
              <a:prstDash val="solid"/>
            </a:ln>
          </p:spPr>
        </p:sp>
        <p:pic>
          <p:nvPicPr>
            <p:cNvPr id="37" name="s11 icon 15" descr="preencoded.png"/>
            <p:cNvPicPr>
              <a:picLocks noChangeAspect="1"/>
            </p:cNvPicPr>
            <p:nvPr/>
          </p:nvPicPr>
          <p:blipFill>
            <a:blip r:embed="rId8"/>
            <a:stretch>
              <a:fillRect/>
            </a:stretch>
          </p:blipFill>
          <p:spPr>
            <a:xfrm>
              <a:off x="7474488" y="2747040"/>
              <a:ext cx="193487" cy="193487"/>
            </a:xfrm>
            <a:prstGeom prst="rect">
              <a:avLst/>
            </a:prstGeom>
          </p:spPr>
        </p:pic>
        <p:sp>
          <p:nvSpPr>
            <p:cNvPr id="38" name="s11 icon circle 16"/>
            <p:cNvSpPr/>
            <p:nvPr/>
          </p:nvSpPr>
          <p:spPr>
            <a:xfrm>
              <a:off x="7909560" y="2633472"/>
              <a:ext cx="420624" cy="420624"/>
            </a:xfrm>
            <a:prstGeom prst="ellipse">
              <a:avLst/>
            </a:prstGeom>
            <a:solidFill>
              <a:srgbClr val="FFFFFF"/>
            </a:solidFill>
            <a:ln w="12700">
              <a:solidFill>
                <a:srgbClr val="D5DCE3"/>
              </a:solidFill>
              <a:prstDash val="solid"/>
            </a:ln>
          </p:spPr>
        </p:sp>
        <p:pic>
          <p:nvPicPr>
            <p:cNvPr id="39" name="s11 icon 17" descr="preencoded.png"/>
            <p:cNvPicPr>
              <a:picLocks noChangeAspect="1"/>
            </p:cNvPicPr>
            <p:nvPr/>
          </p:nvPicPr>
          <p:blipFill>
            <a:blip r:embed="rId8"/>
            <a:stretch>
              <a:fillRect/>
            </a:stretch>
          </p:blipFill>
          <p:spPr>
            <a:xfrm>
              <a:off x="8023128" y="2747040"/>
              <a:ext cx="193487" cy="193487"/>
            </a:xfrm>
            <a:prstGeom prst="rect">
              <a:avLst/>
            </a:prstGeom>
          </p:spPr>
        </p:pic>
        <p:sp>
          <p:nvSpPr>
            <p:cNvPr id="40" name="s11 icon circle 18"/>
            <p:cNvSpPr/>
            <p:nvPr/>
          </p:nvSpPr>
          <p:spPr>
            <a:xfrm>
              <a:off x="8458200" y="2633472"/>
              <a:ext cx="420624" cy="420624"/>
            </a:xfrm>
            <a:prstGeom prst="ellipse">
              <a:avLst/>
            </a:prstGeom>
            <a:solidFill>
              <a:srgbClr val="FFFFFF"/>
            </a:solidFill>
            <a:ln w="12700">
              <a:solidFill>
                <a:srgbClr val="D5DCE3"/>
              </a:solidFill>
              <a:prstDash val="solid"/>
            </a:ln>
          </p:spPr>
        </p:sp>
        <p:pic>
          <p:nvPicPr>
            <p:cNvPr id="41" name="s11 icon 19" descr="preencoded.png"/>
            <p:cNvPicPr>
              <a:picLocks noChangeAspect="1"/>
            </p:cNvPicPr>
            <p:nvPr/>
          </p:nvPicPr>
          <p:blipFill>
            <a:blip r:embed="rId8"/>
            <a:stretch>
              <a:fillRect/>
            </a:stretch>
          </p:blipFill>
          <p:spPr>
            <a:xfrm>
              <a:off x="8571768" y="2747040"/>
              <a:ext cx="193487" cy="193487"/>
            </a:xfrm>
            <a:prstGeom prst="rect">
              <a:avLst/>
            </a:prstGeom>
          </p:spPr>
        </p:pic>
        <p:sp>
          <p:nvSpPr>
            <p:cNvPr id="42" name="s11 icon circle 20"/>
            <p:cNvSpPr/>
            <p:nvPr/>
          </p:nvSpPr>
          <p:spPr>
            <a:xfrm>
              <a:off x="9006840" y="2633472"/>
              <a:ext cx="420624" cy="420624"/>
            </a:xfrm>
            <a:prstGeom prst="ellipse">
              <a:avLst/>
            </a:prstGeom>
            <a:solidFill>
              <a:srgbClr val="FFFFFF"/>
            </a:solidFill>
            <a:ln w="12700">
              <a:solidFill>
                <a:srgbClr val="D5DCE3"/>
              </a:solidFill>
              <a:prstDash val="solid"/>
            </a:ln>
          </p:spPr>
        </p:sp>
        <p:pic>
          <p:nvPicPr>
            <p:cNvPr id="43" name="s11 icon 21" descr="preencoded.png"/>
            <p:cNvPicPr>
              <a:picLocks noChangeAspect="1"/>
            </p:cNvPicPr>
            <p:nvPr/>
          </p:nvPicPr>
          <p:blipFill>
            <a:blip r:embed="rId8"/>
            <a:stretch>
              <a:fillRect/>
            </a:stretch>
          </p:blipFill>
          <p:spPr>
            <a:xfrm>
              <a:off x="9120408" y="2747040"/>
              <a:ext cx="193487" cy="193487"/>
            </a:xfrm>
            <a:prstGeom prst="rect">
              <a:avLst/>
            </a:prstGeom>
          </p:spPr>
        </p:pic>
        <p:sp>
          <p:nvSpPr>
            <p:cNvPr id="44" name="s11 icon circle 22"/>
            <p:cNvSpPr/>
            <p:nvPr/>
          </p:nvSpPr>
          <p:spPr>
            <a:xfrm>
              <a:off x="9555480" y="2633472"/>
              <a:ext cx="420624" cy="420624"/>
            </a:xfrm>
            <a:prstGeom prst="ellipse">
              <a:avLst/>
            </a:prstGeom>
            <a:solidFill>
              <a:srgbClr val="FFFFFF"/>
            </a:solidFill>
            <a:ln w="12700">
              <a:solidFill>
                <a:srgbClr val="D5DCE3"/>
              </a:solidFill>
              <a:prstDash val="solid"/>
            </a:ln>
          </p:spPr>
        </p:sp>
        <p:pic>
          <p:nvPicPr>
            <p:cNvPr id="45" name="s11 icon 23" descr="preencoded.png"/>
            <p:cNvPicPr>
              <a:picLocks noChangeAspect="1"/>
            </p:cNvPicPr>
            <p:nvPr/>
          </p:nvPicPr>
          <p:blipFill>
            <a:blip r:embed="rId8"/>
            <a:stretch>
              <a:fillRect/>
            </a:stretch>
          </p:blipFill>
          <p:spPr>
            <a:xfrm>
              <a:off x="9669048" y="2747040"/>
              <a:ext cx="193487" cy="193487"/>
            </a:xfrm>
            <a:prstGeom prst="rect">
              <a:avLst/>
            </a:prstGeom>
          </p:spPr>
        </p:pic>
      </p:grpSp>
      <p:grpSp>
        <p:nvGrpSpPr>
          <p:cNvPr id="73" name="s11 step2">
            <a:extLst>
              <a:ext uri="{FF2B5EF4-FFF2-40B4-BE49-F238E27FC236}">
                <a16:creationId xmlns:a16="http://schemas.microsoft.com/office/drawing/2014/main" id="{D26B3CDF-9F5D-EDD4-7A3B-F407156CB4F2}"/>
              </a:ext>
            </a:extLst>
          </p:cNvPr>
          <p:cNvGrpSpPr/>
          <p:nvPr/>
        </p:nvGrpSpPr>
        <p:grpSpPr>
          <a:xfrm>
            <a:off x="4480560" y="3218688"/>
            <a:ext cx="6949440" cy="932688"/>
            <a:chOff x="4480560" y="3218688"/>
            <a:chExt cx="6949440" cy="932688"/>
          </a:xfrm>
        </p:grpSpPr>
        <p:sp>
          <p:nvSpPr>
            <p:cNvPr id="46" name="s11 text 24"/>
            <p:cNvSpPr txBox="1"/>
            <p:nvPr/>
          </p:nvSpPr>
          <p:spPr>
            <a:xfrm>
              <a:off x="4480560" y="3218688"/>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2   Randomly split them</a:t>
              </a:r>
              <a:endParaRPr lang="en-US" sz="1250" dirty="0"/>
            </a:p>
          </p:txBody>
        </p:sp>
        <p:sp>
          <p:nvSpPr>
            <p:cNvPr id="47" name="s11 panel 25"/>
            <p:cNvSpPr/>
            <p:nvPr/>
          </p:nvSpPr>
          <p:spPr>
            <a:xfrm>
              <a:off x="4572000" y="3584448"/>
              <a:ext cx="2651760" cy="566928"/>
            </a:xfrm>
            <a:prstGeom prst="roundRect">
              <a:avLst>
                <a:gd name="adj" fmla="val 19355"/>
              </a:avLst>
            </a:prstGeom>
            <a:solidFill>
              <a:srgbClr val="EBF3EA"/>
            </a:solidFill>
            <a:ln w="9525">
              <a:solidFill>
                <a:srgbClr val="5B8C5A"/>
              </a:solidFill>
              <a:prstDash val="solid"/>
            </a:ln>
          </p:spPr>
        </p:sp>
        <p:sp>
          <p:nvSpPr>
            <p:cNvPr id="48" name="s11 icon circle 26"/>
            <p:cNvSpPr/>
            <p:nvPr/>
          </p:nvSpPr>
          <p:spPr>
            <a:xfrm>
              <a:off x="4681728" y="3657600"/>
              <a:ext cx="420624" cy="420624"/>
            </a:xfrm>
            <a:prstGeom prst="ellipse">
              <a:avLst/>
            </a:prstGeom>
            <a:solidFill>
              <a:srgbClr val="5B8C5A"/>
            </a:solidFill>
            <a:ln w="12700">
              <a:solidFill>
                <a:srgbClr val="5B8C5A">
                  <a:alpha val="0"/>
                </a:srgbClr>
              </a:solidFill>
              <a:prstDash val="solid"/>
            </a:ln>
          </p:spPr>
        </p:sp>
        <p:pic>
          <p:nvPicPr>
            <p:cNvPr id="49" name="s11 icon 27" descr="preencoded.png"/>
            <p:cNvPicPr>
              <a:picLocks noChangeAspect="1"/>
            </p:cNvPicPr>
            <p:nvPr/>
          </p:nvPicPr>
          <p:blipFill>
            <a:blip r:embed="rId9"/>
            <a:stretch>
              <a:fillRect/>
            </a:stretch>
          </p:blipFill>
          <p:spPr>
            <a:xfrm>
              <a:off x="4795296" y="3771168"/>
              <a:ext cx="193487" cy="193487"/>
            </a:xfrm>
            <a:prstGeom prst="rect">
              <a:avLst/>
            </a:prstGeom>
          </p:spPr>
        </p:pic>
        <p:sp>
          <p:nvSpPr>
            <p:cNvPr id="50" name="s11 text 28"/>
            <p:cNvSpPr txBox="1"/>
            <p:nvPr/>
          </p:nvSpPr>
          <p:spPr>
            <a:xfrm>
              <a:off x="5212080" y="3584448"/>
              <a:ext cx="1920240" cy="566928"/>
            </a:xfrm>
            <a:prstGeom prst="rect">
              <a:avLst/>
            </a:prstGeom>
            <a:noFill/>
            <a:ln/>
          </p:spPr>
          <p:txBody>
            <a:bodyPr wrap="square" lIns="0" tIns="0" rIns="0" bIns="0" rtlCol="0" anchor="ctr"/>
            <a:lstStyle/>
            <a:p>
              <a:pPr marL="0" indent="0">
                <a:buNone/>
              </a:pPr>
              <a:r>
                <a:rPr lang="en-US" sz="1300" dirty="0">
                  <a:solidFill>
                    <a:srgbClr val="41703F"/>
                  </a:solidFill>
                  <a:latin typeface="Segoe UI Semibold" pitchFamily="34" charset="0"/>
                  <a:ea typeface="Segoe UI Semibold" pitchFamily="34" charset="-122"/>
                  <a:cs typeface="Segoe UI Semibold" pitchFamily="34" charset="-120"/>
                </a:rPr>
                <a:t>call 5</a:t>
              </a:r>
              <a:endParaRPr lang="en-US" sz="1300" dirty="0"/>
            </a:p>
          </p:txBody>
        </p:sp>
        <p:sp>
          <p:nvSpPr>
            <p:cNvPr id="51" name="s11 panel 29"/>
            <p:cNvSpPr/>
            <p:nvPr/>
          </p:nvSpPr>
          <p:spPr>
            <a:xfrm>
              <a:off x="7406640" y="3584448"/>
              <a:ext cx="2651760" cy="566928"/>
            </a:xfrm>
            <a:prstGeom prst="roundRect">
              <a:avLst>
                <a:gd name="adj" fmla="val 19355"/>
              </a:avLst>
            </a:prstGeom>
            <a:solidFill>
              <a:srgbClr val="FFFFFF"/>
            </a:solidFill>
            <a:ln w="9525">
              <a:solidFill>
                <a:srgbClr val="C9D1D9"/>
              </a:solidFill>
              <a:prstDash val="solid"/>
            </a:ln>
          </p:spPr>
        </p:sp>
        <p:sp>
          <p:nvSpPr>
            <p:cNvPr id="52" name="s11 icon circle 30"/>
            <p:cNvSpPr/>
            <p:nvPr/>
          </p:nvSpPr>
          <p:spPr>
            <a:xfrm>
              <a:off x="7516368" y="3657600"/>
              <a:ext cx="420624" cy="420624"/>
            </a:xfrm>
            <a:prstGeom prst="ellipse">
              <a:avLst/>
            </a:prstGeom>
            <a:solidFill>
              <a:srgbClr val="E4E9EE"/>
            </a:solidFill>
            <a:ln w="12700">
              <a:solidFill>
                <a:srgbClr val="E4E9EE">
                  <a:alpha val="0"/>
                </a:srgbClr>
              </a:solidFill>
              <a:prstDash val="solid"/>
            </a:ln>
          </p:spPr>
        </p:sp>
        <p:pic>
          <p:nvPicPr>
            <p:cNvPr id="53" name="s11 icon 31" descr="preencoded.png"/>
            <p:cNvPicPr>
              <a:picLocks noChangeAspect="1"/>
            </p:cNvPicPr>
            <p:nvPr/>
          </p:nvPicPr>
          <p:blipFill>
            <a:blip r:embed="rId8"/>
            <a:stretch>
              <a:fillRect/>
            </a:stretch>
          </p:blipFill>
          <p:spPr>
            <a:xfrm>
              <a:off x="7629936" y="3771168"/>
              <a:ext cx="193487" cy="193487"/>
            </a:xfrm>
            <a:prstGeom prst="rect">
              <a:avLst/>
            </a:prstGeom>
          </p:spPr>
        </p:pic>
        <p:sp>
          <p:nvSpPr>
            <p:cNvPr id="54" name="s11 text 32"/>
            <p:cNvSpPr txBox="1"/>
            <p:nvPr/>
          </p:nvSpPr>
          <p:spPr>
            <a:xfrm>
              <a:off x="8046720" y="3584448"/>
              <a:ext cx="1920240" cy="566928"/>
            </a:xfrm>
            <a:prstGeom prst="rect">
              <a:avLst/>
            </a:prstGeom>
            <a:noFill/>
            <a:ln/>
          </p:spPr>
          <p:txBody>
            <a:bodyPr wrap="square" lIns="0" tIns="0" rIns="0" bIns="0" rtlCol="0" anchor="ctr"/>
            <a:lstStyle/>
            <a:p>
              <a:pPr marL="0" indent="0">
                <a:buNone/>
              </a:pPr>
              <a:r>
                <a:rPr lang="en-US" sz="1300" dirty="0">
                  <a:solidFill>
                    <a:srgbClr val="3F4D5B"/>
                  </a:solidFill>
                  <a:latin typeface="Segoe UI Semibold" pitchFamily="34" charset="0"/>
                  <a:ea typeface="Segoe UI Semibold" pitchFamily="34" charset="-122"/>
                  <a:cs typeface="Segoe UI Semibold" pitchFamily="34" charset="-120"/>
                </a:rPr>
                <a:t>leave 5 alone</a:t>
              </a:r>
              <a:endParaRPr lang="en-US" sz="1300" dirty="0"/>
            </a:p>
          </p:txBody>
        </p:sp>
      </p:grpSp>
      <p:grpSp>
        <p:nvGrpSpPr>
          <p:cNvPr id="74" name="s11 step3">
            <a:extLst>
              <a:ext uri="{FF2B5EF4-FFF2-40B4-BE49-F238E27FC236}">
                <a16:creationId xmlns:a16="http://schemas.microsoft.com/office/drawing/2014/main" id="{5B52A5B5-68C3-8A78-282E-016D49B95078}"/>
              </a:ext>
            </a:extLst>
          </p:cNvPr>
          <p:cNvGrpSpPr/>
          <p:nvPr/>
        </p:nvGrpSpPr>
        <p:grpSpPr>
          <a:xfrm>
            <a:off x="4480560" y="4343400"/>
            <a:ext cx="6949440" cy="1088136"/>
            <a:chOff x="4480560" y="4343400"/>
            <a:chExt cx="6949440" cy="1088136"/>
          </a:xfrm>
        </p:grpSpPr>
        <p:sp>
          <p:nvSpPr>
            <p:cNvPr id="55" name="s11 text 33"/>
            <p:cNvSpPr txBox="1"/>
            <p:nvPr/>
          </p:nvSpPr>
          <p:spPr>
            <a:xfrm>
              <a:off x="4480560" y="4343400"/>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3   After six weeks, compare their 1–2★ rates</a:t>
              </a:r>
              <a:endParaRPr lang="en-US" sz="1250" dirty="0"/>
            </a:p>
          </p:txBody>
        </p:sp>
        <p:sp>
          <p:nvSpPr>
            <p:cNvPr id="56" name="s11 text 34"/>
            <p:cNvSpPr txBox="1"/>
            <p:nvPr/>
          </p:nvSpPr>
          <p:spPr>
            <a:xfrm>
              <a:off x="4572000" y="4709160"/>
              <a:ext cx="114300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left alone</a:t>
              </a:r>
              <a:endParaRPr lang="en-US" sz="1100" dirty="0"/>
            </a:p>
          </p:txBody>
        </p:sp>
        <p:sp>
          <p:nvSpPr>
            <p:cNvPr id="57" name="s11 panel 35"/>
            <p:cNvSpPr/>
            <p:nvPr/>
          </p:nvSpPr>
          <p:spPr>
            <a:xfrm>
              <a:off x="5760720" y="4736592"/>
              <a:ext cx="2981310" cy="274320"/>
            </a:xfrm>
            <a:prstGeom prst="roundRect">
              <a:avLst>
                <a:gd name="adj" fmla="val 20000"/>
              </a:avLst>
            </a:prstGeom>
            <a:solidFill>
              <a:srgbClr val="C9D1D9"/>
            </a:solidFill>
            <a:ln w="12700">
              <a:solidFill>
                <a:srgbClr val="C9D1D9">
                  <a:alpha val="0"/>
                </a:srgbClr>
              </a:solidFill>
              <a:prstDash val="solid"/>
            </a:ln>
          </p:spPr>
        </p:sp>
        <p:sp>
          <p:nvSpPr>
            <p:cNvPr id="58" name="s11 text 36"/>
            <p:cNvSpPr txBox="1"/>
            <p:nvPr/>
          </p:nvSpPr>
          <p:spPr>
            <a:xfrm>
              <a:off x="8815182" y="4709160"/>
              <a:ext cx="118872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Semibold" pitchFamily="34" charset="0"/>
                  <a:ea typeface="Segoe UI Semibold" pitchFamily="34" charset="-122"/>
                  <a:cs typeface="Segoe UI Semibold" pitchFamily="34" charset="-120"/>
                </a:rPr>
                <a:t>57% today</a:t>
              </a:r>
              <a:endParaRPr lang="en-US" sz="1100" dirty="0"/>
            </a:p>
          </p:txBody>
        </p:sp>
        <p:sp>
          <p:nvSpPr>
            <p:cNvPr id="59" name="s11 text 37"/>
            <p:cNvSpPr txBox="1"/>
            <p:nvPr/>
          </p:nvSpPr>
          <p:spPr>
            <a:xfrm>
              <a:off x="4572000" y="5102352"/>
              <a:ext cx="114300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called</a:t>
              </a:r>
              <a:endParaRPr lang="en-US" sz="1100" dirty="0"/>
            </a:p>
          </p:txBody>
        </p:sp>
        <p:sp>
          <p:nvSpPr>
            <p:cNvPr id="60" name="s11 panel 38"/>
            <p:cNvSpPr/>
            <p:nvPr/>
          </p:nvSpPr>
          <p:spPr>
            <a:xfrm>
              <a:off x="5760720" y="5129784"/>
              <a:ext cx="2329800" cy="274320"/>
            </a:xfrm>
            <a:prstGeom prst="roundRect">
              <a:avLst>
                <a:gd name="adj" fmla="val 20000"/>
              </a:avLst>
            </a:prstGeom>
            <a:solidFill>
              <a:srgbClr val="5B8C5A"/>
            </a:solidFill>
            <a:ln w="12700">
              <a:solidFill>
                <a:srgbClr val="5B8C5A">
                  <a:alpha val="0"/>
                </a:srgbClr>
              </a:solidFill>
              <a:prstDash val="solid"/>
            </a:ln>
          </p:spPr>
        </p:sp>
        <p:sp>
          <p:nvSpPr>
            <p:cNvPr id="61" name="s11 text 39"/>
            <p:cNvSpPr txBox="1"/>
            <p:nvPr/>
          </p:nvSpPr>
          <p:spPr>
            <a:xfrm>
              <a:off x="8163672" y="5102352"/>
              <a:ext cx="219456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45% or less pays back</a:t>
              </a:r>
              <a:endParaRPr lang="en-US" sz="1100" dirty="0"/>
            </a:p>
          </p:txBody>
        </p:sp>
      </p:grpSp>
      <p:sp>
        <p:nvSpPr>
          <p:cNvPr id="62" name="s11 text 40"/>
          <p:cNvSpPr txBox="1"/>
          <p:nvPr/>
        </p:nvSpPr>
        <p:spPr>
          <a:xfrm>
            <a:off x="4480560" y="5532120"/>
            <a:ext cx="6949440" cy="502920"/>
          </a:xfrm>
          <a:prstGeom prst="rect">
            <a:avLst/>
          </a:prstGeom>
          <a:noFill/>
          <a:ln/>
        </p:spPr>
        <p:txBody>
          <a:bodyPr wrap="square" lIns="0" tIns="0" rIns="0" bIns="0" rtlCol="0" anchor="t"/>
          <a:lstStyle/>
          <a:p>
            <a:pPr marL="0" indent="0">
              <a:buNone/>
            </a:pPr>
            <a:r>
              <a:rPr lang="en-US" sz="1050" i="1" dirty="0">
                <a:solidFill>
                  <a:srgbClr val="6B7885"/>
                </a:solidFill>
                <a:latin typeface="Segoe UI" pitchFamily="34" charset="0"/>
                <a:ea typeface="Segoe UI" pitchFamily="34" charset="-122"/>
                <a:cs typeface="Segoe UI" pitchFamily="34" charset="-120"/>
              </a:rPr>
              <a:t>Six weeks at ten calls a day detect a one-in-four drop (191 customers per arm, 80% power).  Second arm: late parcels, contacted on their promised date.</a:t>
            </a:r>
            <a:endParaRPr lang="en-US" sz="1050" dirty="0"/>
          </a:p>
        </p:txBody>
      </p:sp>
      <p:sp>
        <p:nvSpPr>
          <p:cNvPr id="63" name="s11 nav1">
            <a:hlinkClick r:id="rId10"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64" name="s11 nav2">
            <a:hlinkClick r:id="rId11"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65" name="s11 nav3">
            <a:hlinkClick r:id="rId12"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66" name="s11 nav4">
            <a:hlinkClick r:id="rId13"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67" name="s11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68" name="s11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11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70"/>
                                        </p:tgtEl>
                                        <p:attrNameLst>
                                          <p:attrName>style.visibility</p:attrName>
                                        </p:attrNameLst>
                                      </p:cBhvr>
                                      <p:to>
                                        <p:strVal val="visible"/>
                                      </p:to>
                                    </p:set>
                                    <p:animEffect transition="in" filter="fade">
                                      <p:cBhvr>
                                        <p:cTn id="13" dur="500"/>
                                        <p:tgtEl>
                                          <p:spTgt spid="70"/>
                                        </p:tgtEl>
                                      </p:cBhvr>
                                    </p:animEffect>
                                    <p:anim calcmode="lin" valueType="num">
                                      <p:cBhvr>
                                        <p:cTn id="14" dur="500" fill="hold"/>
                                        <p:tgtEl>
                                          <p:spTgt spid="70"/>
                                        </p:tgtEl>
                                        <p:attrNameLst>
                                          <p:attrName>ppt_x</p:attrName>
                                        </p:attrNameLst>
                                      </p:cBhvr>
                                      <p:tavLst>
                                        <p:tav tm="0">
                                          <p:val>
                                            <p:strVal val="#ppt_x"/>
                                          </p:val>
                                        </p:tav>
                                        <p:tav tm="100000">
                                          <p:val>
                                            <p:strVal val="#ppt_x"/>
                                          </p:val>
                                        </p:tav>
                                      </p:tavLst>
                                    </p:anim>
                                    <p:anim calcmode="lin" valueType="num">
                                      <p:cBhvr>
                                        <p:cTn id="15" dur="500" fill="hold"/>
                                        <p:tgtEl>
                                          <p:spTgt spid="70"/>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10" presetClass="entr" presetSubtype="0" fill="hold" nodeType="afterEffect">
                                  <p:stCondLst>
                                    <p:cond delay="5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300"/>
                                        <p:tgtEl>
                                          <p:spTgt spid="71"/>
                                        </p:tgtEl>
                                      </p:cBhvr>
                                    </p:animEffect>
                                  </p:childTnLst>
                                </p:cTn>
                              </p:par>
                            </p:childTnLst>
                          </p:cTn>
                        </p:par>
                        <p:par>
                          <p:cTn id="20" fill="hold">
                            <p:stCondLst>
                              <p:cond delay="1400"/>
                            </p:stCondLst>
                            <p:childTnLst>
                              <p:par>
                                <p:cTn id="21" presetID="42" presetClass="entr" presetSubtype="0" fill="hold" nodeType="afterEffect">
                                  <p:stCondLst>
                                    <p:cond delay="50"/>
                                  </p:stCondLst>
                                  <p:childTnLst>
                                    <p:set>
                                      <p:cBhvr>
                                        <p:cTn id="22" dur="1" fill="hold">
                                          <p:stCondLst>
                                            <p:cond delay="0"/>
                                          </p:stCondLst>
                                        </p:cTn>
                                        <p:tgtEl>
                                          <p:spTgt spid="72"/>
                                        </p:tgtEl>
                                        <p:attrNameLst>
                                          <p:attrName>style.visibility</p:attrName>
                                        </p:attrNameLst>
                                      </p:cBhvr>
                                      <p:to>
                                        <p:strVal val="visible"/>
                                      </p:to>
                                    </p:set>
                                    <p:animEffect transition="in" filter="fade">
                                      <p:cBhvr>
                                        <p:cTn id="23" dur="450"/>
                                        <p:tgtEl>
                                          <p:spTgt spid="72"/>
                                        </p:tgtEl>
                                      </p:cBhvr>
                                    </p:animEffect>
                                    <p:anim calcmode="lin" valueType="num">
                                      <p:cBhvr>
                                        <p:cTn id="24" dur="450" fill="hold"/>
                                        <p:tgtEl>
                                          <p:spTgt spid="72"/>
                                        </p:tgtEl>
                                        <p:attrNameLst>
                                          <p:attrName>ppt_x</p:attrName>
                                        </p:attrNameLst>
                                      </p:cBhvr>
                                      <p:tavLst>
                                        <p:tav tm="0">
                                          <p:val>
                                            <p:strVal val="#ppt_x"/>
                                          </p:val>
                                        </p:tav>
                                        <p:tav tm="100000">
                                          <p:val>
                                            <p:strVal val="#ppt_x"/>
                                          </p:val>
                                        </p:tav>
                                      </p:tavLst>
                                    </p:anim>
                                    <p:anim calcmode="lin" valueType="num">
                                      <p:cBhvr>
                                        <p:cTn id="25" dur="450" fill="hold"/>
                                        <p:tgtEl>
                                          <p:spTgt spid="72"/>
                                        </p:tgtEl>
                                        <p:attrNameLst>
                                          <p:attrName>ppt_y</p:attrName>
                                        </p:attrNameLst>
                                      </p:cBhvr>
                                      <p:tavLst>
                                        <p:tav tm="0">
                                          <p:val>
                                            <p:strVal val="#ppt_y+.1"/>
                                          </p:val>
                                        </p:tav>
                                        <p:tav tm="100000">
                                          <p:val>
                                            <p:strVal val="#ppt_y"/>
                                          </p:val>
                                        </p:tav>
                                      </p:tavLst>
                                    </p:anim>
                                  </p:childTnLst>
                                </p:cTn>
                              </p:par>
                            </p:childTnLst>
                          </p:cTn>
                        </p:par>
                        <p:par>
                          <p:cTn id="26" fill="hold">
                            <p:stCondLst>
                              <p:cond delay="1900"/>
                            </p:stCondLst>
                            <p:childTnLst>
                              <p:par>
                                <p:cTn id="27" presetID="42" presetClass="entr" presetSubtype="0" fill="hold" nodeType="afterEffect">
                                  <p:stCondLst>
                                    <p:cond delay="50"/>
                                  </p:stCondLst>
                                  <p:childTnLst>
                                    <p:set>
                                      <p:cBhvr>
                                        <p:cTn id="28" dur="1" fill="hold">
                                          <p:stCondLst>
                                            <p:cond delay="0"/>
                                          </p:stCondLst>
                                        </p:cTn>
                                        <p:tgtEl>
                                          <p:spTgt spid="73"/>
                                        </p:tgtEl>
                                        <p:attrNameLst>
                                          <p:attrName>style.visibility</p:attrName>
                                        </p:attrNameLst>
                                      </p:cBhvr>
                                      <p:to>
                                        <p:strVal val="visible"/>
                                      </p:to>
                                    </p:set>
                                    <p:animEffect transition="in" filter="fade">
                                      <p:cBhvr>
                                        <p:cTn id="29" dur="450"/>
                                        <p:tgtEl>
                                          <p:spTgt spid="73"/>
                                        </p:tgtEl>
                                      </p:cBhvr>
                                    </p:animEffect>
                                    <p:anim calcmode="lin" valueType="num">
                                      <p:cBhvr>
                                        <p:cTn id="30" dur="450" fill="hold"/>
                                        <p:tgtEl>
                                          <p:spTgt spid="73"/>
                                        </p:tgtEl>
                                        <p:attrNameLst>
                                          <p:attrName>ppt_x</p:attrName>
                                        </p:attrNameLst>
                                      </p:cBhvr>
                                      <p:tavLst>
                                        <p:tav tm="0">
                                          <p:val>
                                            <p:strVal val="#ppt_x"/>
                                          </p:val>
                                        </p:tav>
                                        <p:tav tm="100000">
                                          <p:val>
                                            <p:strVal val="#ppt_x"/>
                                          </p:val>
                                        </p:tav>
                                      </p:tavLst>
                                    </p:anim>
                                    <p:anim calcmode="lin" valueType="num">
                                      <p:cBhvr>
                                        <p:cTn id="31" dur="450" fill="hold"/>
                                        <p:tgtEl>
                                          <p:spTgt spid="73"/>
                                        </p:tgtEl>
                                        <p:attrNameLst>
                                          <p:attrName>ppt_y</p:attrName>
                                        </p:attrNameLst>
                                      </p:cBhvr>
                                      <p:tavLst>
                                        <p:tav tm="0">
                                          <p:val>
                                            <p:strVal val="#ppt_y+.1"/>
                                          </p:val>
                                        </p:tav>
                                        <p:tav tm="100000">
                                          <p:val>
                                            <p:strVal val="#ppt_y"/>
                                          </p:val>
                                        </p:tav>
                                      </p:tavLst>
                                    </p:anim>
                                  </p:childTnLst>
                                </p:cTn>
                              </p:par>
                            </p:childTnLst>
                          </p:cTn>
                        </p:par>
                        <p:par>
                          <p:cTn id="32" fill="hold">
                            <p:stCondLst>
                              <p:cond delay="2400"/>
                            </p:stCondLst>
                            <p:childTnLst>
                              <p:par>
                                <p:cTn id="33" presetID="42" presetClass="entr" presetSubtype="0" fill="hold" nodeType="afterEffect">
                                  <p:stCondLst>
                                    <p:cond delay="50"/>
                                  </p:stCondLst>
                                  <p:childTnLst>
                                    <p:set>
                                      <p:cBhvr>
                                        <p:cTn id="34" dur="1" fill="hold">
                                          <p:stCondLst>
                                            <p:cond delay="0"/>
                                          </p:stCondLst>
                                        </p:cTn>
                                        <p:tgtEl>
                                          <p:spTgt spid="74"/>
                                        </p:tgtEl>
                                        <p:attrNameLst>
                                          <p:attrName>style.visibility</p:attrName>
                                        </p:attrNameLst>
                                      </p:cBhvr>
                                      <p:to>
                                        <p:strVal val="visible"/>
                                      </p:to>
                                    </p:set>
                                    <p:animEffect transition="in" filter="fade">
                                      <p:cBhvr>
                                        <p:cTn id="35" dur="450"/>
                                        <p:tgtEl>
                                          <p:spTgt spid="74"/>
                                        </p:tgtEl>
                                      </p:cBhvr>
                                    </p:animEffect>
                                    <p:anim calcmode="lin" valueType="num">
                                      <p:cBhvr>
                                        <p:cTn id="36" dur="450" fill="hold"/>
                                        <p:tgtEl>
                                          <p:spTgt spid="74"/>
                                        </p:tgtEl>
                                        <p:attrNameLst>
                                          <p:attrName>ppt_x</p:attrName>
                                        </p:attrNameLst>
                                      </p:cBhvr>
                                      <p:tavLst>
                                        <p:tav tm="0">
                                          <p:val>
                                            <p:strVal val="#ppt_x"/>
                                          </p:val>
                                        </p:tav>
                                        <p:tav tm="100000">
                                          <p:val>
                                            <p:strVal val="#ppt_x"/>
                                          </p:val>
                                        </p:tav>
                                      </p:tavLst>
                                    </p:anim>
                                    <p:anim calcmode="lin" valueType="num">
                                      <p:cBhvr>
                                        <p:cTn id="37" dur="450" fill="hold"/>
                                        <p:tgtEl>
                                          <p:spTgt spid="74"/>
                                        </p:tgtEl>
                                        <p:attrNameLst>
                                          <p:attrName>ppt_y</p:attrName>
                                        </p:attrNameLst>
                                      </p:cBhvr>
                                      <p:tavLst>
                                        <p:tav tm="0">
                                          <p:val>
                                            <p:strVal val="#ppt_y+.1"/>
                                          </p:val>
                                        </p:tav>
                                        <p:tav tm="100000">
                                          <p:val>
                                            <p:strVal val="#ppt_y"/>
                                          </p:val>
                                        </p:tav>
                                      </p:tavLst>
                                    </p:anim>
                                  </p:childTnLst>
                                </p:cTn>
                              </p:par>
                            </p:childTnLst>
                          </p:cTn>
                        </p:par>
                        <p:par>
                          <p:cTn id="38" fill="hold">
                            <p:stCondLst>
                              <p:cond delay="2900"/>
                            </p:stCondLst>
                            <p:childTnLst>
                              <p:par>
                                <p:cTn id="39" presetID="10" presetClass="entr" presetSubtype="0" fill="hold" grpId="0" nodeType="afterEffect">
                                  <p:stCondLst>
                                    <p:cond delay="50"/>
                                  </p:stCondLst>
                                  <p:childTnLst>
                                    <p:set>
                                      <p:cBhvr>
                                        <p:cTn id="40" dur="1" fill="hold">
                                          <p:stCondLst>
                                            <p:cond delay="0"/>
                                          </p:stCondLst>
                                        </p:cTn>
                                        <p:tgtEl>
                                          <p:spTgt spid="62"/>
                                        </p:tgtEl>
                                        <p:attrNameLst>
                                          <p:attrName>style.visibility</p:attrName>
                                        </p:attrNameLst>
                                      </p:cBhvr>
                                      <p:to>
                                        <p:strVal val="visible"/>
                                      </p:to>
                                    </p:set>
                                    <p:animEffect transition="in" filter="fade">
                                      <p:cBhvr>
                                        <p:cTn id="41"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1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7C796"/>
                </a:solidFill>
                <a:latin typeface="Segoe UI Semibold" pitchFamily="34" charset="0"/>
                <a:ea typeface="Segoe UI Semibold" pitchFamily="34" charset="-122"/>
                <a:cs typeface="Segoe UI Semibold" pitchFamily="34" charset="-120"/>
              </a:rPr>
              <a:t>WHAT OLIST SHOULD DO  ·  WHAT WE LEARNED</a:t>
            </a:r>
            <a:endParaRPr lang="en-US" sz="1000" dirty="0"/>
          </a:p>
        </p:txBody>
      </p:sp>
      <p:sp>
        <p:nvSpPr>
          <p:cNvPr id="3" name="s1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What we learned</a:t>
            </a:r>
            <a:endParaRPr lang="en-US" sz="2900" dirty="0"/>
          </a:p>
        </p:txBody>
      </p:sp>
      <p:sp>
        <p:nvSpPr>
          <p:cNvPr id="4" name="s1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Three things we would tell the next team</a:t>
            </a:r>
            <a:endParaRPr lang="en-US" sz="1300" dirty="0"/>
          </a:p>
        </p:txBody>
      </p:sp>
      <p:sp>
        <p:nvSpPr>
          <p:cNvPr id="5" name="s12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7" name="s12 lesson0">
            <a:extLst>
              <a:ext uri="{FF2B5EF4-FFF2-40B4-BE49-F238E27FC236}">
                <a16:creationId xmlns:a16="http://schemas.microsoft.com/office/drawing/2014/main" id="{86D8FD74-EFE7-C0AA-D441-DA8F9DBE13C2}"/>
              </a:ext>
            </a:extLst>
          </p:cNvPr>
          <p:cNvGrpSpPr/>
          <p:nvPr/>
        </p:nvGrpSpPr>
        <p:grpSpPr>
          <a:xfrm>
            <a:off x="548640" y="1783080"/>
            <a:ext cx="3593592" cy="3291840"/>
            <a:chOff x="548640" y="1783080"/>
            <a:chExt cx="3593592" cy="3291840"/>
          </a:xfrm>
        </p:grpSpPr>
        <p:sp>
          <p:nvSpPr>
            <p:cNvPr id="14" name="s12 panel 1"/>
            <p:cNvSpPr/>
            <p:nvPr/>
          </p:nvSpPr>
          <p:spPr>
            <a:xfrm>
              <a:off x="548640" y="1783080"/>
              <a:ext cx="3593592" cy="3291840"/>
            </a:xfrm>
            <a:prstGeom prst="roundRect">
              <a:avLst>
                <a:gd name="adj" fmla="val 3333"/>
              </a:avLst>
            </a:prstGeom>
            <a:solidFill>
              <a:srgbClr val="1A2C45"/>
            </a:solidFill>
            <a:ln w="9525">
              <a:solidFill>
                <a:srgbClr val="2D4464"/>
              </a:solidFill>
              <a:prstDash val="solid"/>
            </a:ln>
          </p:spPr>
        </p:sp>
        <p:sp>
          <p:nvSpPr>
            <p:cNvPr id="15" name="s12 panel 2"/>
            <p:cNvSpPr/>
            <p:nvPr/>
          </p:nvSpPr>
          <p:spPr>
            <a:xfrm>
              <a:off x="548640" y="1783080"/>
              <a:ext cx="3593592" cy="64008"/>
            </a:xfrm>
            <a:prstGeom prst="roundRect">
              <a:avLst/>
            </a:prstGeom>
            <a:solidFill>
              <a:srgbClr val="86B6DC"/>
            </a:solidFill>
            <a:ln w="12700">
              <a:solidFill>
                <a:srgbClr val="86B6DC">
                  <a:alpha val="0"/>
                </a:srgbClr>
              </a:solidFill>
              <a:prstDash val="solid"/>
            </a:ln>
          </p:spPr>
        </p:sp>
        <p:sp>
          <p:nvSpPr>
            <p:cNvPr id="16" name="s12 text 3"/>
            <p:cNvSpPr txBox="1"/>
            <p:nvPr/>
          </p:nvSpPr>
          <p:spPr>
            <a:xfrm>
              <a:off x="822960" y="1938528"/>
              <a:ext cx="1828800" cy="868680"/>
            </a:xfrm>
            <a:prstGeom prst="rect">
              <a:avLst/>
            </a:prstGeom>
            <a:noFill/>
            <a:ln/>
          </p:spPr>
          <p:txBody>
            <a:bodyPr wrap="square" lIns="0" tIns="0" rIns="0" bIns="0" rtlCol="0" anchor="ctr"/>
            <a:lstStyle/>
            <a:p>
              <a:pPr marL="0" indent="0">
                <a:buNone/>
              </a:pPr>
              <a:r>
                <a:rPr lang="en-US" sz="5200" dirty="0">
                  <a:solidFill>
                    <a:srgbClr val="86B6DC"/>
                  </a:solidFill>
                  <a:latin typeface="Segoe UI Light" pitchFamily="34" charset="0"/>
                  <a:ea typeface="Segoe UI Light" pitchFamily="34" charset="-122"/>
                  <a:cs typeface="Segoe UI Light" pitchFamily="34" charset="-120"/>
                </a:rPr>
                <a:t>01</a:t>
              </a:r>
              <a:endParaRPr lang="en-US" sz="5200" dirty="0"/>
            </a:p>
          </p:txBody>
        </p:sp>
        <p:sp>
          <p:nvSpPr>
            <p:cNvPr id="17" name="s12 text 4"/>
            <p:cNvSpPr txBox="1"/>
            <p:nvPr/>
          </p:nvSpPr>
          <p:spPr>
            <a:xfrm>
              <a:off x="82296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Timing beats modelling</a:t>
              </a:r>
              <a:endParaRPr lang="en-US" sz="1900" dirty="0"/>
            </a:p>
          </p:txBody>
        </p:sp>
        <p:sp>
          <p:nvSpPr>
            <p:cNvPr id="18" name="s12 text 5"/>
            <p:cNvSpPr txBox="1"/>
            <p:nvPr/>
          </p:nvSpPr>
          <p:spPr>
            <a:xfrm>
              <a:off x="82296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Every team can fit a good model. Our biggest gain was learning when the review gets written.</a:t>
              </a:r>
              <a:endParaRPr lang="en-US" sz="1400" dirty="0"/>
            </a:p>
          </p:txBody>
        </p:sp>
      </p:grpSp>
      <p:grpSp>
        <p:nvGrpSpPr>
          <p:cNvPr id="38" name="s12 lesson1">
            <a:extLst>
              <a:ext uri="{FF2B5EF4-FFF2-40B4-BE49-F238E27FC236}">
                <a16:creationId xmlns:a16="http://schemas.microsoft.com/office/drawing/2014/main" id="{C5F0DC3D-6563-41BA-BD5A-2295F5633D50}"/>
              </a:ext>
            </a:extLst>
          </p:cNvPr>
          <p:cNvGrpSpPr/>
          <p:nvPr/>
        </p:nvGrpSpPr>
        <p:grpSpPr>
          <a:xfrm>
            <a:off x="4297680" y="1783080"/>
            <a:ext cx="3593592" cy="3291840"/>
            <a:chOff x="4297680" y="1783080"/>
            <a:chExt cx="3593592" cy="3291840"/>
          </a:xfrm>
        </p:grpSpPr>
        <p:sp>
          <p:nvSpPr>
            <p:cNvPr id="19" name="s12 panel 6"/>
            <p:cNvSpPr/>
            <p:nvPr/>
          </p:nvSpPr>
          <p:spPr>
            <a:xfrm>
              <a:off x="4297680" y="1783080"/>
              <a:ext cx="3593592" cy="3291840"/>
            </a:xfrm>
            <a:prstGeom prst="roundRect">
              <a:avLst>
                <a:gd name="adj" fmla="val 3333"/>
              </a:avLst>
            </a:prstGeom>
            <a:solidFill>
              <a:srgbClr val="1A2C45"/>
            </a:solidFill>
            <a:ln w="9525">
              <a:solidFill>
                <a:srgbClr val="2D4464"/>
              </a:solidFill>
              <a:prstDash val="solid"/>
            </a:ln>
          </p:spPr>
        </p:sp>
        <p:sp>
          <p:nvSpPr>
            <p:cNvPr id="20" name="s12 panel 7"/>
            <p:cNvSpPr/>
            <p:nvPr/>
          </p:nvSpPr>
          <p:spPr>
            <a:xfrm>
              <a:off x="4297680" y="1783080"/>
              <a:ext cx="3593592" cy="64008"/>
            </a:xfrm>
            <a:prstGeom prst="roundRect">
              <a:avLst/>
            </a:prstGeom>
            <a:solidFill>
              <a:srgbClr val="E3B868"/>
            </a:solidFill>
            <a:ln w="12700">
              <a:solidFill>
                <a:srgbClr val="E3B868">
                  <a:alpha val="0"/>
                </a:srgbClr>
              </a:solidFill>
              <a:prstDash val="solid"/>
            </a:ln>
          </p:spPr>
        </p:sp>
        <p:sp>
          <p:nvSpPr>
            <p:cNvPr id="21" name="s12 text 8"/>
            <p:cNvSpPr txBox="1"/>
            <p:nvPr/>
          </p:nvSpPr>
          <p:spPr>
            <a:xfrm>
              <a:off x="4572000" y="1938528"/>
              <a:ext cx="1828800" cy="868680"/>
            </a:xfrm>
            <a:prstGeom prst="rect">
              <a:avLst/>
            </a:prstGeom>
            <a:noFill/>
            <a:ln/>
          </p:spPr>
          <p:txBody>
            <a:bodyPr wrap="square" lIns="0" tIns="0" rIns="0" bIns="0" rtlCol="0" anchor="ctr"/>
            <a:lstStyle/>
            <a:p>
              <a:pPr marL="0" indent="0">
                <a:buNone/>
              </a:pPr>
              <a:r>
                <a:rPr lang="en-US" sz="5200" dirty="0">
                  <a:solidFill>
                    <a:srgbClr val="E3B868"/>
                  </a:solidFill>
                  <a:latin typeface="Segoe UI Light" pitchFamily="34" charset="0"/>
                  <a:ea typeface="Segoe UI Light" pitchFamily="34" charset="-122"/>
                  <a:cs typeface="Segoe UI Light" pitchFamily="34" charset="-120"/>
                </a:rPr>
                <a:t>02</a:t>
              </a:r>
              <a:endParaRPr lang="en-US" sz="5200" dirty="0"/>
            </a:p>
          </p:txBody>
        </p:sp>
        <p:sp>
          <p:nvSpPr>
            <p:cNvPr id="22" name="s12 text 9"/>
            <p:cNvSpPr txBox="1"/>
            <p:nvPr/>
          </p:nvSpPr>
          <p:spPr>
            <a:xfrm>
              <a:off x="457200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Judge on the future</a:t>
              </a:r>
              <a:endParaRPr lang="en-US" sz="1900" dirty="0"/>
            </a:p>
          </p:txBody>
        </p:sp>
        <p:sp>
          <p:nvSpPr>
            <p:cNvPr id="23" name="s12 text 10"/>
            <p:cNvSpPr txBox="1"/>
            <p:nvPr/>
          </p:nvSpPr>
          <p:spPr>
            <a:xfrm>
              <a:off x="457200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Delivery got twice as fast in six months. We chose models on recent months and tested once, on months they never saw.</a:t>
              </a:r>
              <a:endParaRPr lang="en-US" sz="1400" dirty="0"/>
            </a:p>
          </p:txBody>
        </p:sp>
      </p:grpSp>
      <p:grpSp>
        <p:nvGrpSpPr>
          <p:cNvPr id="39" name="s12 lesson2">
            <a:extLst>
              <a:ext uri="{FF2B5EF4-FFF2-40B4-BE49-F238E27FC236}">
                <a16:creationId xmlns:a16="http://schemas.microsoft.com/office/drawing/2014/main" id="{E4537C82-4E70-652C-2887-34D81EBCDC77}"/>
              </a:ext>
            </a:extLst>
          </p:cNvPr>
          <p:cNvGrpSpPr/>
          <p:nvPr/>
        </p:nvGrpSpPr>
        <p:grpSpPr>
          <a:xfrm>
            <a:off x="8046720" y="1783080"/>
            <a:ext cx="3593592" cy="3291840"/>
            <a:chOff x="8046720" y="1783080"/>
            <a:chExt cx="3593592" cy="3291840"/>
          </a:xfrm>
        </p:grpSpPr>
        <p:sp>
          <p:nvSpPr>
            <p:cNvPr id="24" name="s12 panel 11"/>
            <p:cNvSpPr/>
            <p:nvPr/>
          </p:nvSpPr>
          <p:spPr>
            <a:xfrm>
              <a:off x="8046720" y="1783080"/>
              <a:ext cx="3593592" cy="3291840"/>
            </a:xfrm>
            <a:prstGeom prst="roundRect">
              <a:avLst>
                <a:gd name="adj" fmla="val 3333"/>
              </a:avLst>
            </a:prstGeom>
            <a:solidFill>
              <a:srgbClr val="1A2C45"/>
            </a:solidFill>
            <a:ln w="9525">
              <a:solidFill>
                <a:srgbClr val="2D4464"/>
              </a:solidFill>
              <a:prstDash val="solid"/>
            </a:ln>
          </p:spPr>
        </p:sp>
        <p:sp>
          <p:nvSpPr>
            <p:cNvPr id="25" name="s12 panel 12"/>
            <p:cNvSpPr/>
            <p:nvPr/>
          </p:nvSpPr>
          <p:spPr>
            <a:xfrm>
              <a:off x="8046720" y="1783080"/>
              <a:ext cx="3593592" cy="64008"/>
            </a:xfrm>
            <a:prstGeom prst="roundRect">
              <a:avLst/>
            </a:prstGeom>
            <a:solidFill>
              <a:srgbClr val="97C796"/>
            </a:solidFill>
            <a:ln w="12700">
              <a:solidFill>
                <a:srgbClr val="97C796">
                  <a:alpha val="0"/>
                </a:srgbClr>
              </a:solidFill>
              <a:prstDash val="solid"/>
            </a:ln>
          </p:spPr>
        </p:sp>
        <p:sp>
          <p:nvSpPr>
            <p:cNvPr id="26" name="s12 text 13"/>
            <p:cNvSpPr txBox="1"/>
            <p:nvPr/>
          </p:nvSpPr>
          <p:spPr>
            <a:xfrm>
              <a:off x="8321040" y="1938528"/>
              <a:ext cx="1828800" cy="868680"/>
            </a:xfrm>
            <a:prstGeom prst="rect">
              <a:avLst/>
            </a:prstGeom>
            <a:noFill/>
            <a:ln/>
          </p:spPr>
          <p:txBody>
            <a:bodyPr wrap="square" lIns="0" tIns="0" rIns="0" bIns="0" rtlCol="0" anchor="ctr"/>
            <a:lstStyle/>
            <a:p>
              <a:pPr marL="0" indent="0">
                <a:buNone/>
              </a:pPr>
              <a:r>
                <a:rPr lang="en-US" sz="5200" dirty="0">
                  <a:solidFill>
                    <a:srgbClr val="97C796"/>
                  </a:solidFill>
                  <a:latin typeface="Segoe UI Light" pitchFamily="34" charset="0"/>
                  <a:ea typeface="Segoe UI Light" pitchFamily="34" charset="-122"/>
                  <a:cs typeface="Segoe UI Light" pitchFamily="34" charset="-120"/>
                </a:rPr>
                <a:t>03</a:t>
              </a:r>
              <a:endParaRPr lang="en-US" sz="5200" dirty="0"/>
            </a:p>
          </p:txBody>
        </p:sp>
        <p:sp>
          <p:nvSpPr>
            <p:cNvPr id="27" name="s12 text 14"/>
            <p:cNvSpPr txBox="1"/>
            <p:nvPr/>
          </p:nvSpPr>
          <p:spPr>
            <a:xfrm>
              <a:off x="832104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Say what data can't know</a:t>
              </a:r>
              <a:endParaRPr lang="en-US" sz="1900" dirty="0"/>
            </a:p>
          </p:txBody>
        </p:sp>
        <p:sp>
          <p:nvSpPr>
            <p:cNvPr id="28" name="s12 text 15"/>
            <p:cNvSpPr txBox="1"/>
            <p:nvPr/>
          </p:nvSpPr>
          <p:spPr>
            <a:xfrm>
              <a:off x="832104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Strikes, slowdowns, and whether a call helps. Hence weekly monitoring, monthly refits and the experiment.</a:t>
              </a:r>
              <a:endParaRPr lang="en-US" sz="1400" dirty="0"/>
            </a:p>
          </p:txBody>
        </p:sp>
      </p:grpSp>
      <p:grpSp>
        <p:nvGrpSpPr>
          <p:cNvPr id="40" name="s12 limits">
            <a:extLst>
              <a:ext uri="{FF2B5EF4-FFF2-40B4-BE49-F238E27FC236}">
                <a16:creationId xmlns:a16="http://schemas.microsoft.com/office/drawing/2014/main" id="{B0A00DF4-2528-F06B-FC71-C2F960CADA9C}"/>
              </a:ext>
            </a:extLst>
          </p:cNvPr>
          <p:cNvGrpSpPr/>
          <p:nvPr/>
        </p:nvGrpSpPr>
        <p:grpSpPr>
          <a:xfrm>
            <a:off x="548640" y="5303520"/>
            <a:ext cx="11091672" cy="777240"/>
            <a:chOff x="548640" y="5303520"/>
            <a:chExt cx="11091672" cy="777240"/>
          </a:xfrm>
        </p:grpSpPr>
        <p:sp>
          <p:nvSpPr>
            <p:cNvPr id="29" name="s12 panel 16"/>
            <p:cNvSpPr/>
            <p:nvPr/>
          </p:nvSpPr>
          <p:spPr>
            <a:xfrm>
              <a:off x="548640" y="5303520"/>
              <a:ext cx="11091672" cy="777240"/>
            </a:xfrm>
            <a:prstGeom prst="roundRect">
              <a:avLst>
                <a:gd name="adj" fmla="val 14118"/>
              </a:avLst>
            </a:prstGeom>
            <a:solidFill>
              <a:srgbClr val="1A2C45"/>
            </a:solidFill>
            <a:ln w="9525">
              <a:solidFill>
                <a:srgbClr val="2D4464"/>
              </a:solidFill>
              <a:prstDash val="solid"/>
            </a:ln>
          </p:spPr>
        </p:sp>
        <p:sp>
          <p:nvSpPr>
            <p:cNvPr id="30" name="s12 text 17"/>
            <p:cNvSpPr txBox="1"/>
            <p:nvPr/>
          </p:nvSpPr>
          <p:spPr>
            <a:xfrm>
              <a:off x="822960" y="5358384"/>
              <a:ext cx="10607040" cy="658368"/>
            </a:xfrm>
            <a:prstGeom prst="rect">
              <a:avLst/>
            </a:prstGeom>
            <a:noFill/>
            <a:ln/>
          </p:spPr>
          <p:txBody>
            <a:bodyPr wrap="square" lIns="0" tIns="0" rIns="0" bIns="0" rtlCol="0" anchor="ctr"/>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Limits we accept:  </a:t>
              </a:r>
              <a:r>
                <a:rPr lang="en-US" sz="1250" dirty="0">
                  <a:solidFill>
                    <a:srgbClr val="C9D6E3"/>
                  </a:solidFill>
                  <a:latin typeface="Segoe UI" pitchFamily="34" charset="0"/>
                  <a:ea typeface="Segoe UI" pitchFamily="34" charset="-122"/>
                  <a:cs typeface="Segoe UI" pitchFamily="34" charset="-120"/>
                </a:rPr>
                <a:t>Brazil 2017–18 only  ·  a star rating is not satisfaction  ·  the scores are for triage, never to penalise a seller for a carrier's delay.</a:t>
              </a:r>
              <a:endParaRPr lang="en-US" sz="1250" dirty="0"/>
            </a:p>
          </p:txBody>
        </p:sp>
      </p:grpSp>
      <p:sp>
        <p:nvSpPr>
          <p:cNvPr id="31" name="s12 nav1">
            <a:hlinkClick r:id="rId7"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12 nav2">
            <a:hlinkClick r:id="rId8"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12 nav3">
            <a:hlinkClick r:id="rId9"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4" name="s12 nav4">
            <a:hlinkClick r:id="rId10"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97C796"/>
                </a:solidFill>
                <a:latin typeface="Segoe UI Semibold" pitchFamily="34" charset="0"/>
                <a:ea typeface="Segoe UI Semibold" pitchFamily="34" charset="-122"/>
                <a:cs typeface="Segoe UI Semibold" pitchFamily="34" charset="-120"/>
              </a:rPr>
              <a:t>04  </a:t>
            </a:r>
            <a:r>
              <a:rPr lang="en-US" sz="950" dirty="0">
                <a:solidFill>
                  <a:srgbClr val="FFFFF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35" name="s12 nav marker"/>
          <p:cNvSpPr/>
          <p:nvPr/>
        </p:nvSpPr>
        <p:spPr>
          <a:xfrm>
            <a:off x="4773168" y="6336792"/>
            <a:ext cx="201168" cy="36576"/>
          </a:xfrm>
          <a:prstGeom prst="roundRect">
            <a:avLst>
              <a:gd name="adj" fmla="val 50000"/>
            </a:avLst>
          </a:prstGeom>
          <a:solidFill>
            <a:srgbClr val="97C796"/>
          </a:solidFill>
          <a:ln w="12700">
            <a:solidFill>
              <a:srgbClr val="97C796">
                <a:alpha val="0"/>
              </a:srgbClr>
            </a:solidFill>
            <a:prstDash val="solid"/>
          </a:ln>
        </p:spPr>
      </p:sp>
      <p:sp>
        <p:nvSpPr>
          <p:cNvPr id="36" name="s1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12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anim calcmode="lin" valueType="num">
                                      <p:cBhvr>
                                        <p:cTn id="8" dur="500" fill="hold"/>
                                        <p:tgtEl>
                                          <p:spTgt spid="37"/>
                                        </p:tgtEl>
                                        <p:attrNameLst>
                                          <p:attrName>ppt_x</p:attrName>
                                        </p:attrNameLst>
                                      </p:cBhvr>
                                      <p:tavLst>
                                        <p:tav tm="0">
                                          <p:val>
                                            <p:strVal val="#ppt_x"/>
                                          </p:val>
                                        </p:tav>
                                        <p:tav tm="100000">
                                          <p:val>
                                            <p:strVal val="#ppt_x"/>
                                          </p:val>
                                        </p:tav>
                                      </p:tavLst>
                                    </p:anim>
                                    <p:anim calcmode="lin" valueType="num">
                                      <p:cBhvr>
                                        <p:cTn id="9" dur="5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anim calcmode="lin" valueType="num">
                                      <p:cBhvr>
                                        <p:cTn id="14" dur="500" fill="hold"/>
                                        <p:tgtEl>
                                          <p:spTgt spid="38"/>
                                        </p:tgtEl>
                                        <p:attrNameLst>
                                          <p:attrName>ppt_x</p:attrName>
                                        </p:attrNameLst>
                                      </p:cBhvr>
                                      <p:tavLst>
                                        <p:tav tm="0">
                                          <p:val>
                                            <p:strVal val="#ppt_x"/>
                                          </p:val>
                                        </p:tav>
                                        <p:tav tm="100000">
                                          <p:val>
                                            <p:strVal val="#ppt_x"/>
                                          </p:val>
                                        </p:tav>
                                      </p:tavLst>
                                    </p:anim>
                                    <p:anim calcmode="lin" valueType="num">
                                      <p:cBhvr>
                                        <p:cTn id="15" dur="500" fill="hold"/>
                                        <p:tgtEl>
                                          <p:spTgt spid="38"/>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42" presetClass="entr" presetSubtype="0" fill="hold" nodeType="afterEffect">
                                  <p:stCondLst>
                                    <p:cond delay="5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500"/>
                                        <p:tgtEl>
                                          <p:spTgt spid="39"/>
                                        </p:tgtEl>
                                      </p:cBhvr>
                                    </p:animEffect>
                                    <p:anim calcmode="lin" valueType="num">
                                      <p:cBhvr>
                                        <p:cTn id="20" dur="500" fill="hold"/>
                                        <p:tgtEl>
                                          <p:spTgt spid="39"/>
                                        </p:tgtEl>
                                        <p:attrNameLst>
                                          <p:attrName>ppt_x</p:attrName>
                                        </p:attrNameLst>
                                      </p:cBhvr>
                                      <p:tavLst>
                                        <p:tav tm="0">
                                          <p:val>
                                            <p:strVal val="#ppt_x"/>
                                          </p:val>
                                        </p:tav>
                                        <p:tav tm="100000">
                                          <p:val>
                                            <p:strVal val="#ppt_x"/>
                                          </p:val>
                                        </p:tav>
                                      </p:tavLst>
                                    </p:anim>
                                    <p:anim calcmode="lin" valueType="num">
                                      <p:cBhvr>
                                        <p:cTn id="21" dur="500" fill="hold"/>
                                        <p:tgtEl>
                                          <p:spTgt spid="39"/>
                                        </p:tgtEl>
                                        <p:attrNameLst>
                                          <p:attrName>ppt_y</p:attrName>
                                        </p:attrNameLst>
                                      </p:cBhvr>
                                      <p:tavLst>
                                        <p:tav tm="0">
                                          <p:val>
                                            <p:strVal val="#ppt_y+.1"/>
                                          </p:val>
                                        </p:tav>
                                        <p:tav tm="100000">
                                          <p:val>
                                            <p:strVal val="#ppt_y"/>
                                          </p:val>
                                        </p:tav>
                                      </p:tavLst>
                                    </p:anim>
                                  </p:childTnLst>
                                </p:cTn>
                              </p:par>
                            </p:childTnLst>
                          </p:cTn>
                        </p:par>
                        <p:par>
                          <p:cTn id="22" fill="hold">
                            <p:stCondLst>
                              <p:cond delay="1600"/>
                            </p:stCondLst>
                            <p:childTnLst>
                              <p:par>
                                <p:cTn id="23" presetID="10" presetClass="entr" presetSubtype="0" fill="hold" nodeType="afterEffect">
                                  <p:stCondLst>
                                    <p:cond delay="5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13 kicker"/>
          <p:cNvSpPr txBox="1"/>
          <p:nvPr/>
        </p:nvSpPr>
        <p:spPr>
          <a:xfrm>
            <a:off x="731520" y="566928"/>
            <a:ext cx="54864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THANK YOU</a:t>
            </a:r>
            <a:endParaRPr lang="en-US" sz="1050" dirty="0"/>
          </a:p>
        </p:txBody>
      </p:sp>
      <p:sp>
        <p:nvSpPr>
          <p:cNvPr id="3" name="s13 text 1"/>
          <p:cNvSpPr txBox="1"/>
          <p:nvPr/>
        </p:nvSpPr>
        <p:spPr>
          <a:xfrm>
            <a:off x="731520" y="868680"/>
            <a:ext cx="6675120" cy="1417320"/>
          </a:xfrm>
          <a:prstGeom prst="rect">
            <a:avLst/>
          </a:prstGeom>
          <a:noFill/>
          <a:ln/>
        </p:spPr>
        <p:txBody>
          <a:bodyPr wrap="square" lIns="0" tIns="0" rIns="0" bIns="0" rtlCol="0" anchor="t"/>
          <a:lstStyle/>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The review arrived</a:t>
            </a:r>
            <a:endParaRPr lang="en-US" sz="3800" dirty="0"/>
          </a:p>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before the parcel.</a:t>
            </a:r>
            <a:endParaRPr lang="en-US" sz="3800" dirty="0"/>
          </a:p>
        </p:txBody>
      </p:sp>
      <p:sp>
        <p:nvSpPr>
          <p:cNvPr id="4" name="s13 text 2"/>
          <p:cNvSpPr txBox="1"/>
          <p:nvPr/>
        </p:nvSpPr>
        <p:spPr>
          <a:xfrm>
            <a:off x="731520" y="2377440"/>
            <a:ext cx="6766560" cy="777240"/>
          </a:xfrm>
          <a:prstGeom prst="rect">
            <a:avLst/>
          </a:prstGeom>
          <a:noFill/>
          <a:ln/>
        </p:spPr>
        <p:txBody>
          <a:bodyPr wrap="square" lIns="0" tIns="0" rIns="0" bIns="0" rtlCol="0" anchor="t"/>
          <a:lstStyle/>
          <a:p>
            <a:pPr marL="0" indent="0">
              <a:buNone/>
            </a:pPr>
            <a:r>
              <a:rPr lang="en-US" sz="1800" i="1" dirty="0">
                <a:solidFill>
                  <a:srgbClr val="C9D6E3"/>
                </a:solidFill>
                <a:latin typeface="Georgia" pitchFamily="34" charset="0"/>
                <a:ea typeface="Georgia" pitchFamily="34" charset="-122"/>
                <a:cs typeface="Georgia" pitchFamily="34" charset="-120"/>
              </a:rPr>
              <a:t>With honest dates, a word before the survey</a:t>
            </a:r>
            <a:endParaRPr lang="en-US" sz="1800" dirty="0"/>
          </a:p>
          <a:p>
            <a:pPr marL="0" indent="0">
              <a:buNone/>
            </a:pPr>
            <a:r>
              <a:rPr lang="en-US" sz="1800" i="1" dirty="0">
                <a:solidFill>
                  <a:srgbClr val="C9D6E3"/>
                </a:solidFill>
                <a:latin typeface="Georgia" pitchFamily="34" charset="0"/>
                <a:ea typeface="Georgia" pitchFamily="34" charset="-122"/>
                <a:cs typeface="Georgia" pitchFamily="34" charset="-120"/>
              </a:rPr>
              <a:t>and ten calls a day, Olist can get there first.</a:t>
            </a:r>
            <a:endParaRPr lang="en-US" sz="1800" dirty="0"/>
          </a:p>
        </p:txBody>
      </p:sp>
      <p:sp>
        <p:nvSpPr>
          <p:cNvPr id="5" name="s13 line 3"/>
          <p:cNvSpPr/>
          <p:nvPr/>
        </p:nvSpPr>
        <p:spPr>
          <a:xfrm>
            <a:off x="1014984" y="3611880"/>
            <a:ext cx="3977640" cy="0"/>
          </a:xfrm>
          <a:prstGeom prst="line">
            <a:avLst/>
          </a:prstGeom>
          <a:noFill/>
          <a:ln w="19050">
            <a:solidFill>
              <a:srgbClr val="2D4464"/>
            </a:solidFill>
            <a:prstDash val="solid"/>
          </a:ln>
        </p:spPr>
      </p:sp>
      <p:sp>
        <p:nvSpPr>
          <p:cNvPr id="6" name="!!n1"/>
          <p:cNvSpPr/>
          <p:nvPr/>
        </p:nvSpPr>
        <p:spPr>
          <a:xfrm>
            <a:off x="731520" y="3328416"/>
            <a:ext cx="566928" cy="566928"/>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878921" y="3475817"/>
            <a:ext cx="272125" cy="272125"/>
          </a:xfrm>
          <a:prstGeom prst="rect">
            <a:avLst/>
          </a:prstGeom>
        </p:spPr>
      </p:pic>
      <p:sp>
        <p:nvSpPr>
          <p:cNvPr id="8" name="!!n2"/>
          <p:cNvSpPr/>
          <p:nvPr/>
        </p:nvSpPr>
        <p:spPr>
          <a:xfrm>
            <a:off x="2057400" y="3328416"/>
            <a:ext cx="566928" cy="566928"/>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2204801" y="3475817"/>
            <a:ext cx="272125" cy="272125"/>
          </a:xfrm>
          <a:prstGeom prst="rect">
            <a:avLst/>
          </a:prstGeom>
        </p:spPr>
      </p:pic>
      <p:sp>
        <p:nvSpPr>
          <p:cNvPr id="10" name="!!n3"/>
          <p:cNvSpPr/>
          <p:nvPr/>
        </p:nvSpPr>
        <p:spPr>
          <a:xfrm>
            <a:off x="3383280" y="3328416"/>
            <a:ext cx="566928" cy="566928"/>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3530681" y="3475817"/>
            <a:ext cx="272125" cy="272125"/>
          </a:xfrm>
          <a:prstGeom prst="rect">
            <a:avLst/>
          </a:prstGeom>
        </p:spPr>
      </p:pic>
      <p:sp>
        <p:nvSpPr>
          <p:cNvPr id="12" name="!!n4"/>
          <p:cNvSpPr/>
          <p:nvPr/>
        </p:nvSpPr>
        <p:spPr>
          <a:xfrm>
            <a:off x="4709160" y="3328416"/>
            <a:ext cx="566928" cy="566928"/>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4856561" y="3475817"/>
            <a:ext cx="272125" cy="272125"/>
          </a:xfrm>
          <a:prstGeom prst="rect">
            <a:avLst/>
          </a:prstGeom>
        </p:spPr>
      </p:pic>
      <p:grpSp>
        <p:nvGrpSpPr>
          <p:cNvPr id="32" name="s13 qrs">
            <a:extLst>
              <a:ext uri="{FF2B5EF4-FFF2-40B4-BE49-F238E27FC236}">
                <a16:creationId xmlns:a16="http://schemas.microsoft.com/office/drawing/2014/main" id="{03812A47-8252-E022-6DDC-FB6454381825}"/>
              </a:ext>
            </a:extLst>
          </p:cNvPr>
          <p:cNvGrpSpPr/>
          <p:nvPr/>
        </p:nvGrpSpPr>
        <p:grpSpPr>
          <a:xfrm>
            <a:off x="640080" y="4343400"/>
            <a:ext cx="3108960" cy="1673352"/>
            <a:chOff x="640080" y="4343400"/>
            <a:chExt cx="3108960" cy="1673352"/>
          </a:xfrm>
        </p:grpSpPr>
        <p:sp>
          <p:nvSpPr>
            <p:cNvPr id="14" name="s13 panel 4"/>
            <p:cNvSpPr/>
            <p:nvPr/>
          </p:nvSpPr>
          <p:spPr>
            <a:xfrm>
              <a:off x="7315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5" name="s13 qr 5" descr="preencoded.png">
              <a:hlinkClick r:id="rId7" highlightClick="1"/>
            </p:cNvPr>
            <p:cNvPicPr>
              <a:picLocks noChangeAspect="1"/>
            </p:cNvPicPr>
            <p:nvPr/>
          </p:nvPicPr>
          <p:blipFill>
            <a:blip r:embed="rId8"/>
            <a:stretch>
              <a:fillRect/>
            </a:stretch>
          </p:blipFill>
          <p:spPr>
            <a:xfrm>
              <a:off x="822960" y="4434840"/>
              <a:ext cx="1143000" cy="1143000"/>
            </a:xfrm>
            <a:prstGeom prst="rect">
              <a:avLst/>
            </a:prstGeom>
          </p:spPr>
        </p:pic>
        <p:sp>
          <p:nvSpPr>
            <p:cNvPr id="16" name="s13 text 6"/>
            <p:cNvSpPr txBox="1"/>
            <p:nvPr/>
          </p:nvSpPr>
          <p:spPr>
            <a:xfrm>
              <a:off x="6400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Live app</a:t>
              </a:r>
              <a:endParaRPr lang="en-US" sz="950" dirty="0"/>
            </a:p>
          </p:txBody>
        </p:sp>
        <p:sp>
          <p:nvSpPr>
            <p:cNvPr id="17" name="s13 panel 7"/>
            <p:cNvSpPr/>
            <p:nvPr/>
          </p:nvSpPr>
          <p:spPr>
            <a:xfrm>
              <a:off x="23317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8" name="s13 qr 8" descr="preencoded.png">
              <a:hlinkClick r:id="rId9" highlightClick="1"/>
            </p:cNvPr>
            <p:cNvPicPr>
              <a:picLocks noChangeAspect="1"/>
            </p:cNvPicPr>
            <p:nvPr/>
          </p:nvPicPr>
          <p:blipFill>
            <a:blip r:embed="rId10"/>
            <a:stretch>
              <a:fillRect/>
            </a:stretch>
          </p:blipFill>
          <p:spPr>
            <a:xfrm>
              <a:off x="2423160" y="4434840"/>
              <a:ext cx="1143000" cy="1143000"/>
            </a:xfrm>
            <a:prstGeom prst="rect">
              <a:avLst/>
            </a:prstGeom>
          </p:spPr>
        </p:pic>
        <p:sp>
          <p:nvSpPr>
            <p:cNvPr id="19" name="s13 text 9"/>
            <p:cNvSpPr txBox="1"/>
            <p:nvPr/>
          </p:nvSpPr>
          <p:spPr>
            <a:xfrm>
              <a:off x="22402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Code, notebooks, report</a:t>
              </a:r>
              <a:endParaRPr lang="en-US" sz="950" dirty="0"/>
            </a:p>
          </p:txBody>
        </p:sp>
      </p:grpSp>
      <p:sp>
        <p:nvSpPr>
          <p:cNvPr id="20" name="s13 text 10"/>
          <p:cNvSpPr txBox="1"/>
          <p:nvPr/>
        </p:nvSpPr>
        <p:spPr>
          <a:xfrm>
            <a:off x="731520" y="6263640"/>
            <a:ext cx="7772400" cy="292608"/>
          </a:xfrm>
          <a:prstGeom prst="rect">
            <a:avLst/>
          </a:prstGeom>
          <a:noFill/>
          <a:ln/>
        </p:spPr>
        <p:txBody>
          <a:bodyPr wrap="square" lIns="0" tIns="0" rIns="0" bIns="0" rtlCol="0" anchor="t"/>
          <a:lstStyle/>
          <a:p>
            <a:pPr marL="0" indent="0">
              <a:buNone/>
            </a:pPr>
            <a:r>
              <a:rPr lang="en-US" sz="1050" dirty="0">
                <a:solidFill>
                  <a:srgbClr val="93A6BC"/>
                </a:solidFill>
                <a:latin typeface="Segoe UI" pitchFamily="34" charset="0"/>
                <a:ea typeface="Segoe UI" pitchFamily="34" charset="-122"/>
                <a:cs typeface="Segoe UI" pitchFamily="34" charset="-120"/>
              </a:rPr>
              <a:t>Pan Pinyou  ·  Li Yudan  ·  Zhu Gengyu   —   Group 10, IT5006, National University of Singapore</a:t>
            </a:r>
            <a:endParaRPr lang="en-US" sz="1050" dirty="0"/>
          </a:p>
        </p:txBody>
      </p:sp>
      <p:grpSp>
        <p:nvGrpSpPr>
          <p:cNvPr id="33" name="s13 nav">
            <a:extLst>
              <a:ext uri="{FF2B5EF4-FFF2-40B4-BE49-F238E27FC236}">
                <a16:creationId xmlns:a16="http://schemas.microsoft.com/office/drawing/2014/main" id="{7747A624-A919-CEAC-49E2-2BCD50354506}"/>
              </a:ext>
            </a:extLst>
          </p:cNvPr>
          <p:cNvGrpSpPr/>
          <p:nvPr/>
        </p:nvGrpSpPr>
        <p:grpSpPr>
          <a:xfrm>
            <a:off x="7818120" y="566928"/>
            <a:ext cx="3822192" cy="5760720"/>
            <a:chOff x="7818120" y="566928"/>
            <a:chExt cx="3822192" cy="5760720"/>
          </a:xfrm>
        </p:grpSpPr>
        <p:sp>
          <p:nvSpPr>
            <p:cNvPr id="21" name="s13 panel 11"/>
            <p:cNvSpPr/>
            <p:nvPr/>
          </p:nvSpPr>
          <p:spPr>
            <a:xfrm>
              <a:off x="7818120" y="566928"/>
              <a:ext cx="3822192" cy="5760720"/>
            </a:xfrm>
            <a:prstGeom prst="roundRect">
              <a:avLst>
                <a:gd name="adj" fmla="val 2871"/>
              </a:avLst>
            </a:prstGeom>
            <a:solidFill>
              <a:srgbClr val="1A2C45"/>
            </a:solidFill>
            <a:ln w="9525">
              <a:solidFill>
                <a:srgbClr val="2D4464"/>
              </a:solidFill>
              <a:prstDash val="solid"/>
            </a:ln>
          </p:spPr>
        </p:sp>
        <p:sp>
          <p:nvSpPr>
            <p:cNvPr id="22" name="s13 text 12"/>
            <p:cNvSpPr txBox="1"/>
            <p:nvPr/>
          </p:nvSpPr>
          <p:spPr>
            <a:xfrm>
              <a:off x="8092440" y="749808"/>
              <a:ext cx="3291840" cy="310896"/>
            </a:xfrm>
            <a:prstGeom prst="rect">
              <a:avLst/>
            </a:prstGeom>
            <a:noFill/>
            <a:ln/>
          </p:spPr>
          <p:txBody>
            <a:bodyPr wrap="square" lIns="0" tIns="0" rIns="0" bIns="0" rtlCol="0" anchor="t"/>
            <a:lstStyle/>
            <a:p>
              <a:pPr marL="0" indent="0">
                <a:buNone/>
              </a:pPr>
              <a:r>
                <a:rPr lang="en-US" sz="1800" dirty="0">
                  <a:solidFill>
                    <a:srgbClr val="FFFFFF"/>
                  </a:solidFill>
                  <a:latin typeface="Segoe UI Semibold" pitchFamily="34" charset="0"/>
                  <a:ea typeface="Segoe UI Semibold" pitchFamily="34" charset="-122"/>
                  <a:cs typeface="Segoe UI Semibold" pitchFamily="34" charset="-120"/>
                </a:rPr>
                <a:t>QUESTIONS?</a:t>
              </a:r>
              <a:endParaRPr lang="en-US" sz="1800" dirty="0"/>
            </a:p>
          </p:txBody>
        </p:sp>
        <p:sp>
          <p:nvSpPr>
            <p:cNvPr id="23" name="s13 text 13"/>
            <p:cNvSpPr txBox="1"/>
            <p:nvPr/>
          </p:nvSpPr>
          <p:spPr>
            <a:xfrm>
              <a:off x="8092440" y="1069848"/>
              <a:ext cx="3291840" cy="274320"/>
            </a:xfrm>
            <a:prstGeom prst="rect">
              <a:avLst/>
            </a:prstGeom>
            <a:noFill/>
            <a:ln/>
          </p:spPr>
          <p:txBody>
            <a:bodyPr wrap="square" lIns="0" tIns="0" rIns="0" bIns="0" rtlCol="0" anchor="t"/>
            <a:lstStyle/>
            <a:p>
              <a:pPr marL="0" indent="0">
                <a:buNone/>
              </a:pPr>
              <a:r>
                <a:rPr lang="en-US" sz="1100" dirty="0">
                  <a:solidFill>
                    <a:srgbClr val="93A6BC"/>
                  </a:solidFill>
                  <a:latin typeface="Segoe UI" pitchFamily="34" charset="0"/>
                  <a:ea typeface="Segoe UI" pitchFamily="34" charset="-122"/>
                  <a:cs typeface="Segoe UI" pitchFamily="34" charset="-120"/>
                </a:rPr>
                <a:t>Jump to the detail</a:t>
              </a:r>
              <a:endParaRPr lang="en-US" sz="1100" dirty="0"/>
            </a:p>
          </p:txBody>
        </p:sp>
        <p:sp>
          <p:nvSpPr>
            <p:cNvPr id="24" name="s13 qa1">
              <a:hlinkClick r:id="rId11" action="ppaction://hlinksldjump" highlightClick="1"/>
            </p:cNvPr>
            <p:cNvSpPr/>
            <p:nvPr/>
          </p:nvSpPr>
          <p:spPr>
            <a:xfrm>
              <a:off x="8092440" y="146304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How we tested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5" name="s13 qa2">
              <a:hlinkClick r:id="rId12" action="ppaction://hlinksldjump" highlightClick="1"/>
            </p:cNvPr>
            <p:cNvSpPr/>
            <p:nvPr/>
          </p:nvSpPr>
          <p:spPr>
            <a:xfrm>
              <a:off x="8092440" y="206197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When reviews are written</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6" name="s13 qa3">
              <a:hlinkClick r:id="rId13" action="ppaction://hlinksldjump" highlightClick="1"/>
            </p:cNvPr>
            <p:cNvSpPr/>
            <p:nvPr/>
          </p:nvSpPr>
          <p:spPr>
            <a:xfrm>
              <a:off x="8092440" y="266090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models under the hood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7" name="s13 qa4">
              <a:hlinkClick r:id="rId14" action="ppaction://hlinksldjump" highlightClick="1"/>
            </p:cNvPr>
            <p:cNvSpPr/>
            <p:nvPr/>
          </p:nvSpPr>
          <p:spPr>
            <a:xfrm>
              <a:off x="8092440" y="3259836"/>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Checkout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8" name="s13 qa5">
              <a:hlinkClick r:id="rId15" action="ppaction://hlinksldjump" highlightClick="1"/>
            </p:cNvPr>
            <p:cNvSpPr/>
            <p:nvPr/>
          </p:nvSpPr>
          <p:spPr>
            <a:xfrm>
              <a:off x="8092440" y="3858768"/>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Delivery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9" name="s13 qa6">
              <a:hlinkClick r:id="rId16" action="ppaction://hlinksldjump" highlightClick="1"/>
            </p:cNvPr>
            <p:cNvSpPr/>
            <p:nvPr/>
          </p:nvSpPr>
          <p:spPr>
            <a:xfrm>
              <a:off x="8092440" y="445770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Where the money comes from</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0" name="s13 qa7">
              <a:hlinkClick r:id="rId17" action="ppaction://hlinksldjump" highlightClick="1"/>
            </p:cNvPr>
            <p:cNvSpPr/>
            <p:nvPr/>
          </p:nvSpPr>
          <p:spPr>
            <a:xfrm>
              <a:off x="8092440" y="505663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Limits and next steps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1" name="s13 qa8">
              <a:hlinkClick r:id="rId18" action="ppaction://hlinksldjump" highlightClick="1"/>
            </p:cNvPr>
            <p:cNvSpPr/>
            <p:nvPr/>
          </p:nvSpPr>
          <p:spPr>
            <a:xfrm>
              <a:off x="8092440" y="565556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app, tab by tab</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nodeType="afterEffect">
                                  <p:stCondLst>
                                    <p:cond delay="5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42" presetClass="entr" presetSubtype="0" fill="hold" nodeType="withEffect">
                                  <p:stCondLst>
                                    <p:cond delay="10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500"/>
                                        <p:tgtEl>
                                          <p:spTgt spid="33"/>
                                        </p:tgtEl>
                                      </p:cBhvr>
                                    </p:animEffect>
                                    <p:anim calcmode="lin" valueType="num">
                                      <p:cBhvr>
                                        <p:cTn id="15" dur="500" fill="hold"/>
                                        <p:tgtEl>
                                          <p:spTgt spid="33"/>
                                        </p:tgtEl>
                                        <p:attrNameLst>
                                          <p:attrName>ppt_x</p:attrName>
                                        </p:attrNameLst>
                                      </p:cBhvr>
                                      <p:tavLst>
                                        <p:tav tm="0">
                                          <p:val>
                                            <p:strVal val="#ppt_x"/>
                                          </p:val>
                                        </p:tav>
                                        <p:tav tm="100000">
                                          <p:val>
                                            <p:strVal val="#ppt_x"/>
                                          </p:val>
                                        </p:tav>
                                      </p:tavLst>
                                    </p:anim>
                                    <p:anim calcmode="lin" valueType="num">
                                      <p:cBhvr>
                                        <p:cTn id="16"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s14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4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How we tested: never on data the model had seen</a:t>
            </a:r>
            <a:endParaRPr lang="en-US" sz="2700" dirty="0"/>
          </a:p>
        </p:txBody>
      </p:sp>
      <p:sp>
        <p:nvSpPr>
          <p:cNvPr id="4" name="s14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Each period has one job; the test window was scored once, for models already chosen</a:t>
            </a:r>
            <a:endParaRPr lang="en-US" sz="1250" dirty="0"/>
          </a:p>
        </p:txBody>
      </p:sp>
      <p:sp>
        <p:nvSpPr>
          <p:cNvPr id="5" name="s14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4 panel 4"/>
          <p:cNvSpPr/>
          <p:nvPr/>
        </p:nvSpPr>
        <p:spPr>
          <a:xfrm>
            <a:off x="548640" y="1828800"/>
            <a:ext cx="8135516" cy="640080"/>
          </a:xfrm>
          <a:prstGeom prst="roundRect">
            <a:avLst>
              <a:gd name="adj" fmla="val 8571"/>
            </a:avLst>
          </a:prstGeom>
          <a:solidFill>
            <a:srgbClr val="2F6F9F"/>
          </a:solidFill>
          <a:ln w="12700">
            <a:solidFill>
              <a:srgbClr val="2F6F9F">
                <a:alpha val="0"/>
              </a:srgbClr>
            </a:solidFill>
            <a:prstDash val="solid"/>
          </a:ln>
        </p:spPr>
      </p:sp>
      <p:sp>
        <p:nvSpPr>
          <p:cNvPr id="7" name="s14 text 5"/>
          <p:cNvSpPr txBox="1"/>
          <p:nvPr/>
        </p:nvSpPr>
        <p:spPr>
          <a:xfrm>
            <a:off x="658368" y="1828800"/>
            <a:ext cx="7989212" cy="640080"/>
          </a:xfrm>
          <a:prstGeom prst="rect">
            <a:avLst/>
          </a:prstGeom>
          <a:noFill/>
          <a:ln/>
        </p:spPr>
        <p:txBody>
          <a:bodyPr wrap="square" lIns="0" tIns="0" rIns="0" bIns="0" rtlCol="0" anchor="ctr"/>
          <a:lstStyle/>
          <a:p>
            <a:pPr marL="0" indent="0">
              <a:buNone/>
            </a:pPr>
            <a:r>
              <a:rPr lang="en-US" sz="1150" dirty="0">
                <a:solidFill>
                  <a:srgbClr val="FFFFFF"/>
                </a:solidFill>
                <a:latin typeface="Segoe UI Semibold" pitchFamily="34" charset="0"/>
                <a:ea typeface="Segoe UI Semibold" pitchFamily="34" charset="-122"/>
                <a:cs typeface="Segoe UI Semibold" pitchFamily="34" charset="-120"/>
              </a:rPr>
              <a:t>Train   </a:t>
            </a:r>
            <a:r>
              <a:rPr lang="en-US" sz="1150" dirty="0">
                <a:solidFill>
                  <a:srgbClr val="FFFFFF"/>
                </a:solidFill>
                <a:latin typeface="Segoe UI" pitchFamily="34" charset="0"/>
                <a:ea typeface="Segoe UI" pitchFamily="34" charset="-122"/>
                <a:cs typeface="Segoe UI" pitchFamily="34" charset="-120"/>
              </a:rPr>
              <a:t>Jan 2017 – Apr 2018  ·  73,008 orders</a:t>
            </a:r>
            <a:endParaRPr lang="en-US" sz="1150" dirty="0"/>
          </a:p>
        </p:txBody>
      </p:sp>
      <p:sp>
        <p:nvSpPr>
          <p:cNvPr id="8" name="s14 panel 6"/>
          <p:cNvSpPr/>
          <p:nvPr/>
        </p:nvSpPr>
        <p:spPr>
          <a:xfrm>
            <a:off x="8720732" y="1828800"/>
            <a:ext cx="1436030" cy="640080"/>
          </a:xfrm>
          <a:prstGeom prst="roundRect">
            <a:avLst>
              <a:gd name="adj" fmla="val 8571"/>
            </a:avLst>
          </a:prstGeom>
          <a:solidFill>
            <a:srgbClr val="C08B2E"/>
          </a:solidFill>
          <a:ln w="12700">
            <a:solidFill>
              <a:srgbClr val="C08B2E">
                <a:alpha val="0"/>
              </a:srgbClr>
            </a:solidFill>
            <a:prstDash val="solid"/>
          </a:ln>
        </p:spPr>
      </p:sp>
      <p:sp>
        <p:nvSpPr>
          <p:cNvPr id="9" name="s14 text 7"/>
          <p:cNvSpPr txBox="1"/>
          <p:nvPr/>
        </p:nvSpPr>
        <p:spPr>
          <a:xfrm>
            <a:off x="8830460" y="1828800"/>
            <a:ext cx="1289726"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Validation</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May – Jun 2018  ·  13,156</a:t>
            </a:r>
            <a:endParaRPr lang="en-US" sz="1050" dirty="0"/>
          </a:p>
        </p:txBody>
      </p:sp>
      <p:sp>
        <p:nvSpPr>
          <p:cNvPr id="10" name="s14 panel 8"/>
          <p:cNvSpPr/>
          <p:nvPr/>
        </p:nvSpPr>
        <p:spPr>
          <a:xfrm>
            <a:off x="10193339" y="1828800"/>
            <a:ext cx="1410397" cy="640080"/>
          </a:xfrm>
          <a:prstGeom prst="roundRect">
            <a:avLst>
              <a:gd name="adj" fmla="val 8571"/>
            </a:avLst>
          </a:prstGeom>
          <a:solidFill>
            <a:srgbClr val="C1666B"/>
          </a:solidFill>
          <a:ln w="12700">
            <a:solidFill>
              <a:srgbClr val="C1666B">
                <a:alpha val="0"/>
              </a:srgbClr>
            </a:solidFill>
            <a:prstDash val="solid"/>
          </a:ln>
        </p:spPr>
      </p:sp>
      <p:sp>
        <p:nvSpPr>
          <p:cNvPr id="11" name="s14 text 9"/>
          <p:cNvSpPr txBox="1"/>
          <p:nvPr/>
        </p:nvSpPr>
        <p:spPr>
          <a:xfrm>
            <a:off x="10303067" y="1828800"/>
            <a:ext cx="1264093"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Test</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Jul – Aug 2018  ·  12,927</a:t>
            </a:r>
            <a:endParaRPr lang="en-US" sz="1050" dirty="0"/>
          </a:p>
        </p:txBody>
      </p:sp>
      <p:sp>
        <p:nvSpPr>
          <p:cNvPr id="12" name="s14 text 10"/>
          <p:cNvSpPr txBox="1"/>
          <p:nvPr/>
        </p:nvSpPr>
        <p:spPr>
          <a:xfrm>
            <a:off x="548640" y="2542032"/>
            <a:ext cx="5486400" cy="274320"/>
          </a:xfrm>
          <a:prstGeom prst="rect">
            <a:avLst/>
          </a:prstGeom>
          <a:noFill/>
          <a:ln/>
        </p:spPr>
        <p:txBody>
          <a:bodyPr wrap="square" lIns="0" tIns="0" rIns="0" bIns="0" rtlCol="0" anchor="t"/>
          <a:lstStyle/>
          <a:p>
            <a:pPr marL="0" indent="0">
              <a:buNone/>
            </a:pPr>
            <a:r>
              <a:rPr lang="en-US" sz="1000" dirty="0">
                <a:solidFill>
                  <a:srgbClr val="6B7885"/>
                </a:solidFill>
                <a:latin typeface="Segoe UI" pitchFamily="34" charset="0"/>
                <a:ea typeface="Segoe UI" pitchFamily="34" charset="-122"/>
                <a:cs typeface="Segoe UI" pitchFamily="34" charset="-120"/>
              </a:rPr>
              <a:t>Train: fit and tune on five expanding time windows</a:t>
            </a:r>
            <a:endParaRPr lang="en-US" sz="1000" dirty="0"/>
          </a:p>
        </p:txBody>
      </p:sp>
      <p:sp>
        <p:nvSpPr>
          <p:cNvPr id="13" name="s14 text 11"/>
          <p:cNvSpPr txBox="1"/>
          <p:nvPr/>
        </p:nvSpPr>
        <p:spPr>
          <a:xfrm>
            <a:off x="5239512" y="2542032"/>
            <a:ext cx="6400800" cy="274320"/>
          </a:xfrm>
          <a:prstGeom prst="rect">
            <a:avLst/>
          </a:prstGeom>
          <a:noFill/>
          <a:ln/>
        </p:spPr>
        <p:txBody>
          <a:bodyPr wrap="square" lIns="0" tIns="0" rIns="0" bIns="0" rtlCol="0" anchor="t"/>
          <a:lstStyle/>
          <a:p>
            <a:pPr marL="0" indent="0" algn="r">
              <a:buNone/>
            </a:pPr>
            <a:r>
              <a:rPr lang="en-US" sz="1000" dirty="0">
                <a:solidFill>
                  <a:srgbClr val="6B7885"/>
                </a:solidFill>
                <a:latin typeface="Segoe UI" pitchFamily="34" charset="0"/>
                <a:ea typeface="Segoe UI" pitchFamily="34" charset="-122"/>
                <a:cs typeface="Segoe UI" pitchFamily="34" charset="-120"/>
              </a:rPr>
              <a:t>Validation: choose models and thresholds   ·   Test: scored once, replayed by the app</a:t>
            </a:r>
            <a:endParaRPr lang="en-US" sz="1000" dirty="0"/>
          </a:p>
        </p:txBody>
      </p:sp>
      <p:grpSp>
        <p:nvGrpSpPr>
          <p:cNvPr id="26" name="s14 t1">
            <a:extLst>
              <a:ext uri="{FF2B5EF4-FFF2-40B4-BE49-F238E27FC236}">
                <a16:creationId xmlns:a16="http://schemas.microsoft.com/office/drawing/2014/main" id="{A60A4DA4-D6FE-52D3-0BA7-5F9B393FFF6D}"/>
              </a:ext>
            </a:extLst>
          </p:cNvPr>
          <p:cNvGrpSpPr/>
          <p:nvPr/>
        </p:nvGrpSpPr>
        <p:grpSpPr>
          <a:xfrm>
            <a:off x="548640" y="3108960"/>
            <a:ext cx="3566160" cy="2743200"/>
            <a:chOff x="548640" y="3108960"/>
            <a:chExt cx="3566160" cy="2743200"/>
          </a:xfrm>
        </p:grpSpPr>
        <p:sp>
          <p:nvSpPr>
            <p:cNvPr id="14" name="s14 t1 bg"/>
            <p:cNvSpPr/>
            <p:nvPr/>
          </p:nvSpPr>
          <p:spPr>
            <a:xfrm>
              <a:off x="548640" y="3108960"/>
              <a:ext cx="3566160" cy="2743200"/>
            </a:xfrm>
            <a:prstGeom prst="roundRect">
              <a:avLst>
                <a:gd name="adj" fmla="val 4000"/>
              </a:avLst>
            </a:prstGeom>
            <a:solidFill>
              <a:srgbClr val="F9ECEC"/>
            </a:solidFill>
            <a:ln w="12700">
              <a:solidFill>
                <a:srgbClr val="F9ECEC">
                  <a:alpha val="0"/>
                </a:srgbClr>
              </a:solidFill>
              <a:prstDash val="solid"/>
            </a:ln>
          </p:spPr>
        </p:sp>
        <p:sp>
          <p:nvSpPr>
            <p:cNvPr id="15" name="s14 t1 label"/>
            <p:cNvSpPr txBox="1"/>
            <p:nvPr/>
          </p:nvSpPr>
          <p:spPr>
            <a:xfrm>
              <a:off x="777240" y="3273552"/>
              <a:ext cx="315468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NO PEEKING AT THE FUTURE</a:t>
              </a:r>
              <a:endParaRPr lang="en-US" sz="900" dirty="0"/>
            </a:p>
          </p:txBody>
        </p:sp>
        <p:sp>
          <p:nvSpPr>
            <p:cNvPr id="16" name="s14 t1 value"/>
            <p:cNvSpPr txBox="1"/>
            <p:nvPr/>
          </p:nvSpPr>
          <p:spPr>
            <a:xfrm>
              <a:off x="777240"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0.589 → 1.000</a:t>
              </a:r>
              <a:endParaRPr lang="en-US" sz="3000" dirty="0"/>
            </a:p>
          </p:txBody>
        </p:sp>
        <p:sp>
          <p:nvSpPr>
            <p:cNvPr id="17" name="s14 t1 sub"/>
            <p:cNvSpPr txBox="1"/>
            <p:nvPr/>
          </p:nvSpPr>
          <p:spPr>
            <a:xfrm>
              <a:off x="777240"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ROC-AUC of the late-delivery model when one forbidden column (the actual delivery time) slips in. A guard blocks every post-outcome column for each prediction moment.</a:t>
              </a:r>
              <a:endParaRPr lang="en-US" sz="1200" dirty="0"/>
            </a:p>
          </p:txBody>
        </p:sp>
      </p:grpSp>
      <p:grpSp>
        <p:nvGrpSpPr>
          <p:cNvPr id="27" name="s14 t2">
            <a:extLst>
              <a:ext uri="{FF2B5EF4-FFF2-40B4-BE49-F238E27FC236}">
                <a16:creationId xmlns:a16="http://schemas.microsoft.com/office/drawing/2014/main" id="{47C7ADCF-83FD-6351-73AF-0B4BC03161B1}"/>
              </a:ext>
            </a:extLst>
          </p:cNvPr>
          <p:cNvGrpSpPr/>
          <p:nvPr/>
        </p:nvGrpSpPr>
        <p:grpSpPr>
          <a:xfrm>
            <a:off x="4315968" y="3108960"/>
            <a:ext cx="3566160" cy="2743200"/>
            <a:chOff x="4315968" y="3108960"/>
            <a:chExt cx="3566160" cy="2743200"/>
          </a:xfrm>
        </p:grpSpPr>
        <p:sp>
          <p:nvSpPr>
            <p:cNvPr id="18" name="s14 t2 bg"/>
            <p:cNvSpPr/>
            <p:nvPr/>
          </p:nvSpPr>
          <p:spPr>
            <a:xfrm>
              <a:off x="4315968" y="3108960"/>
              <a:ext cx="3566160" cy="2743200"/>
            </a:xfrm>
            <a:prstGeom prst="roundRect">
              <a:avLst>
                <a:gd name="adj" fmla="val 4000"/>
              </a:avLst>
            </a:prstGeom>
            <a:solidFill>
              <a:srgbClr val="F8F1E3"/>
            </a:solidFill>
            <a:ln w="12700">
              <a:solidFill>
                <a:srgbClr val="F8F1E3">
                  <a:alpha val="0"/>
                </a:srgbClr>
              </a:solidFill>
              <a:prstDash val="solid"/>
            </a:ln>
          </p:spPr>
        </p:sp>
        <p:sp>
          <p:nvSpPr>
            <p:cNvPr id="19" name="s14 t2 label"/>
            <p:cNvSpPr txBox="1"/>
            <p:nvPr/>
          </p:nvSpPr>
          <p:spPr>
            <a:xfrm>
              <a:off x="4544568" y="327355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CUSTOMERS, NOT JUST DATES</a:t>
              </a:r>
              <a:endParaRPr lang="en-US" sz="900" dirty="0"/>
            </a:p>
          </p:txBody>
        </p:sp>
        <p:sp>
          <p:nvSpPr>
            <p:cNvPr id="20" name="s14 t2 value"/>
            <p:cNvSpPr txBox="1"/>
            <p:nvPr/>
          </p:nvSpPr>
          <p:spPr>
            <a:xfrm>
              <a:off x="4544568"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227 removed</a:t>
              </a:r>
              <a:endParaRPr lang="en-US" sz="3000" dirty="0"/>
            </a:p>
          </p:txBody>
        </p:sp>
        <p:sp>
          <p:nvSpPr>
            <p:cNvPr id="21" name="s14 t2 sub"/>
            <p:cNvSpPr txBox="1"/>
            <p:nvPr/>
          </p:nvSpPr>
          <p:spPr>
            <a:xfrm>
              <a:off x="4544568"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2,997 people ordered more than once; the 227 who appear on both sides of the split are removed from the clean test subset (the review model scores 0.415 on it, against 0.414 overall).</a:t>
              </a:r>
              <a:endParaRPr lang="en-US" sz="1200" dirty="0"/>
            </a:p>
          </p:txBody>
        </p:sp>
      </p:grpSp>
      <p:grpSp>
        <p:nvGrpSpPr>
          <p:cNvPr id="28" name="s14 t3">
            <a:extLst>
              <a:ext uri="{FF2B5EF4-FFF2-40B4-BE49-F238E27FC236}">
                <a16:creationId xmlns:a16="http://schemas.microsoft.com/office/drawing/2014/main" id="{F1E7F1E7-3AD5-D9C7-FC49-3BB1D8D39CF8}"/>
              </a:ext>
            </a:extLst>
          </p:cNvPr>
          <p:cNvGrpSpPr/>
          <p:nvPr/>
        </p:nvGrpSpPr>
        <p:grpSpPr>
          <a:xfrm>
            <a:off x="8083296" y="3108960"/>
            <a:ext cx="3557016" cy="2743200"/>
            <a:chOff x="8083296" y="3108960"/>
            <a:chExt cx="3557016" cy="2743200"/>
          </a:xfrm>
        </p:grpSpPr>
        <p:sp>
          <p:nvSpPr>
            <p:cNvPr id="22" name="s14 t3 bg"/>
            <p:cNvSpPr/>
            <p:nvPr/>
          </p:nvSpPr>
          <p:spPr>
            <a:xfrm>
              <a:off x="8083296" y="3108960"/>
              <a:ext cx="3557016" cy="2743200"/>
            </a:xfrm>
            <a:prstGeom prst="roundRect">
              <a:avLst>
                <a:gd name="adj" fmla="val 4000"/>
              </a:avLst>
            </a:prstGeom>
            <a:solidFill>
              <a:srgbClr val="EAF1F7"/>
            </a:solidFill>
            <a:ln w="12700">
              <a:solidFill>
                <a:srgbClr val="EAF1F7">
                  <a:alpha val="0"/>
                </a:srgbClr>
              </a:solidFill>
              <a:prstDash val="solid"/>
            </a:ln>
          </p:spPr>
        </p:sp>
        <p:sp>
          <p:nvSpPr>
            <p:cNvPr id="23" name="s14 t3 label"/>
            <p:cNvSpPr txBox="1"/>
            <p:nvPr/>
          </p:nvSpPr>
          <p:spPr>
            <a:xfrm>
              <a:off x="8311896" y="3273552"/>
              <a:ext cx="3145536"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CHECKED, NOT TRUSTED</a:t>
              </a:r>
              <a:endParaRPr lang="en-US" sz="900" dirty="0"/>
            </a:p>
          </p:txBody>
        </p:sp>
        <p:sp>
          <p:nvSpPr>
            <p:cNvPr id="24" name="s14 t3 value"/>
            <p:cNvSpPr txBox="1"/>
            <p:nvPr/>
          </p:nvSpPr>
          <p:spPr>
            <a:xfrm>
              <a:off x="8311896" y="3511296"/>
              <a:ext cx="3145536"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60 checks</a:t>
              </a:r>
              <a:endParaRPr lang="en-US" sz="3000" dirty="0"/>
            </a:p>
          </p:txBody>
        </p:sp>
        <p:sp>
          <p:nvSpPr>
            <p:cNvPr id="25" name="s14 t3 sub"/>
            <p:cNvSpPr txBox="1"/>
            <p:nvPr/>
          </p:nvSpPr>
          <p:spPr>
            <a:xfrm>
              <a:off x="8311896" y="4160520"/>
              <a:ext cx="3145536"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An automated suite rebuilds the track-record features from first principles, tests the leakage guard both ways and ties the deployed models to the report.</a:t>
              </a:r>
              <a:endParaRPr lang="en-US" sz="1200" dirty="0"/>
            </a:p>
          </p:txBody>
        </p:sp>
      </p:gr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s15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5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When is the review written?</a:t>
            </a:r>
            <a:endParaRPr lang="en-US" sz="2700" dirty="0"/>
          </a:p>
        </p:txBody>
      </p:sp>
      <p:sp>
        <p:nvSpPr>
          <p:cNvPr id="4" name="s15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Olist's tables carry two review timestamps: when the survey was sent and when it was answered  ·  src/review_timing.py</a:t>
            </a:r>
            <a:endParaRPr lang="en-US" sz="1250" dirty="0"/>
          </a:p>
        </p:txBody>
      </p:sp>
      <p:sp>
        <p:nvSpPr>
          <p:cNvPr id="5" name="s15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75488">
                <a:tc>
                  <a:txBody>
                    <a:bodyPr/>
                    <a:lstStyle/>
                    <a:p>
                      <a:pPr marL="0" indent="0">
                        <a:buNone/>
                      </a:pP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Late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On-time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Orders (delivered and reviewed)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7,659  (8%)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87,902  (92%)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Give 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54.0%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Survey sent on or after the promised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99.0%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1–2★ reviews written before the parcel arrived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87.3%</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Share of all 1–2★ reviews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33.8%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66.2%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Typical 1–2★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4.5 days before arrival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 days after delivery</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498080" y="1783080"/>
          <a:ext cx="4142232" cy="914400"/>
        </p:xfrm>
        <a:graphic>
          <a:graphicData uri="http://schemas.openxmlformats.org/drawingml/2006/table">
            <a:tbl>
              <a:tblPr/>
              <a:tblGrid>
                <a:gridCol w="1600200">
                  <a:extLst>
                    <a:ext uri="{9D8B030D-6E8A-4147-A177-3AD203B41FA5}">
                      <a16:colId xmlns:a16="http://schemas.microsoft.com/office/drawing/2014/main" val="20000"/>
                    </a:ext>
                  </a:extLst>
                </a:gridCol>
                <a:gridCol w="749808">
                  <a:extLst>
                    <a:ext uri="{9D8B030D-6E8A-4147-A177-3AD203B41FA5}">
                      <a16:colId xmlns:a16="http://schemas.microsoft.com/office/drawing/2014/main" val="20001"/>
                    </a:ext>
                  </a:extLst>
                </a:gridCol>
                <a:gridCol w="877824">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Call list (test window)</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hits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reachable</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already written</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Top 5% of deliveries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68%</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36%</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57%</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44%</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Calling at random</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11%</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15 panel 4"/>
          <p:cNvSpPr/>
          <p:nvPr/>
        </p:nvSpPr>
        <p:spPr>
          <a:xfrm>
            <a:off x="7498080" y="4224528"/>
            <a:ext cx="4142232" cy="1188720"/>
          </a:xfrm>
          <a:prstGeom prst="roundRect">
            <a:avLst>
              <a:gd name="adj" fmla="val 9231"/>
            </a:avLst>
          </a:prstGeom>
          <a:solidFill>
            <a:srgbClr val="EBF3EA"/>
          </a:solidFill>
          <a:ln w="12700">
            <a:solidFill>
              <a:srgbClr val="EBF3EA">
                <a:alpha val="0"/>
              </a:srgbClr>
            </a:solidFill>
            <a:prstDash val="solid"/>
          </a:ln>
        </p:spPr>
      </p:sp>
      <p:sp>
        <p:nvSpPr>
          <p:cNvPr id="9" name="s15 text 5"/>
          <p:cNvSpPr txBox="1"/>
          <p:nvPr/>
        </p:nvSpPr>
        <p:spPr>
          <a:xfrm>
            <a:off x="7680960" y="4343400"/>
            <a:ext cx="3794760" cy="1325880"/>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VALUE PER 1,000 DELIVERED ORDERS</a:t>
            </a:r>
            <a:endParaRPr lang="en-US" sz="900" dirty="0"/>
          </a:p>
          <a:p>
            <a:pPr marL="0" indent="0">
              <a:buNone/>
            </a:pPr>
            <a:r>
              <a:rPr lang="en-US" sz="1050" dirty="0">
                <a:solidFill>
                  <a:srgbClr val="3F4D5B"/>
                </a:solidFill>
                <a:latin typeface="Segoe UI" pitchFamily="34" charset="0"/>
                <a:ea typeface="Segoe UI" pitchFamily="34" charset="-122"/>
                <a:cs typeface="Segoe UI" pitchFamily="34" charset="-120"/>
              </a:rPr>
              <a:t>R$1,466 if every flagged customer could be reached; R$775 counting only those reached before they write (best operating point). Ten calls a day: R$853 and R$433.</a:t>
            </a:r>
            <a:endParaRPr lang="en-US" sz="900" dirty="0"/>
          </a:p>
        </p:txBody>
      </p:sp>
      <p:sp>
        <p:nvSpPr>
          <p:cNvPr id="10" name="s15 text 6"/>
          <p:cNvSpPr txBox="1"/>
          <p:nvPr/>
        </p:nvSpPr>
        <p:spPr>
          <a:xfrm>
            <a:off x="548640" y="5257800"/>
            <a:ext cx="6675120" cy="822960"/>
          </a:xfrm>
          <a:prstGeom prst="rect">
            <a:avLst/>
          </a:prstGeom>
          <a:noFill/>
          <a:ln/>
        </p:spPr>
        <p:txBody>
          <a:bodyPr wrap="square" lIns="0" tIns="0" rIns="0" bIns="0" rtlCol="0" anchor="t"/>
          <a:lstStyle/>
          <a:p>
            <a:pPr marL="0" indent="0">
              <a:buNone/>
            </a:pPr>
            <a:r>
              <a:rPr lang="en-US" sz="1150" i="1" dirty="0">
                <a:solidFill>
                  <a:srgbClr val="3F4D5B"/>
                </a:solidFill>
                <a:latin typeface="Segoe UI" pitchFamily="34" charset="0"/>
                <a:ea typeface="Segoe UI" pitchFamily="34" charset="-122"/>
                <a:cs typeface="Segoe UI" pitchFamily="34" charset="-120"/>
              </a:rPr>
              <a:t>So for late parcels the review usually precedes delivery, and the moment to act is the promised date; for on-time parcels the review follows delivery by about two days, and the call list has time to work.</a:t>
            </a:r>
            <a:endParaRPr lang="en-US" sz="115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s16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6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models under the hood</a:t>
            </a:r>
            <a:endParaRPr lang="en-US" sz="2700" dirty="0"/>
          </a:p>
        </p:txBody>
      </p:sp>
      <p:sp>
        <p:nvSpPr>
          <p:cNvPr id="4" name="s16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Three model families, each run as a ladder from its simplest version; chosen on the most recent out-of-sample months</a:t>
            </a:r>
            <a:endParaRPr lang="en-US" sz="1250" dirty="0"/>
          </a:p>
        </p:txBody>
      </p:sp>
      <p:sp>
        <p:nvSpPr>
          <p:cNvPr id="5" name="s16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6 panel 4"/>
          <p:cNvSpPr/>
          <p:nvPr/>
        </p:nvSpPr>
        <p:spPr>
          <a:xfrm>
            <a:off x="548640" y="1783080"/>
            <a:ext cx="5486400" cy="731520"/>
          </a:xfrm>
          <a:prstGeom prst="roundRect">
            <a:avLst>
              <a:gd name="adj" fmla="val 15000"/>
            </a:avLst>
          </a:prstGeom>
          <a:solidFill>
            <a:srgbClr val="EAF1F7"/>
          </a:solidFill>
          <a:ln w="12700">
            <a:solidFill>
              <a:srgbClr val="EAF1F7">
                <a:alpha val="0"/>
              </a:srgbClr>
            </a:solidFill>
            <a:prstDash val="solid"/>
          </a:ln>
        </p:spPr>
      </p:sp>
      <p:sp>
        <p:nvSpPr>
          <p:cNvPr id="7" name="s16 text 5"/>
          <p:cNvSpPr txBox="1"/>
          <p:nvPr/>
        </p:nvSpPr>
        <p:spPr>
          <a:xfrm>
            <a:off x="777240" y="1874520"/>
            <a:ext cx="502920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  ·  LINEAR</a:t>
            </a:r>
            <a:endParaRPr lang="en-US" sz="900" dirty="0"/>
          </a:p>
        </p:txBody>
      </p:sp>
      <p:sp>
        <p:nvSpPr>
          <p:cNvPr id="8" name="s16 text 6"/>
          <p:cNvSpPr txBox="1"/>
          <p:nvPr/>
        </p:nvSpPr>
        <p:spPr>
          <a:xfrm>
            <a:off x="777240" y="212140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LinearRegression / LogisticRegression  →  Ridge / ℓ2 logistic</a:t>
            </a:r>
            <a:endParaRPr lang="en-US" sz="1200" dirty="0"/>
          </a:p>
        </p:txBody>
      </p:sp>
      <p:sp>
        <p:nvSpPr>
          <p:cNvPr id="9" name="s16 panel 7"/>
          <p:cNvSpPr/>
          <p:nvPr/>
        </p:nvSpPr>
        <p:spPr>
          <a:xfrm>
            <a:off x="548640" y="2651760"/>
            <a:ext cx="5486400" cy="731520"/>
          </a:xfrm>
          <a:prstGeom prst="roundRect">
            <a:avLst>
              <a:gd name="adj" fmla="val 15000"/>
            </a:avLst>
          </a:prstGeom>
          <a:solidFill>
            <a:srgbClr val="EBF3EA"/>
          </a:solidFill>
          <a:ln w="12700">
            <a:solidFill>
              <a:srgbClr val="EBF3EA">
                <a:alpha val="0"/>
              </a:srgbClr>
            </a:solidFill>
            <a:prstDash val="solid"/>
          </a:ln>
        </p:spPr>
      </p:sp>
      <p:sp>
        <p:nvSpPr>
          <p:cNvPr id="10" name="s16 text 8"/>
          <p:cNvSpPr txBox="1"/>
          <p:nvPr/>
        </p:nvSpPr>
        <p:spPr>
          <a:xfrm>
            <a:off x="777240" y="2743200"/>
            <a:ext cx="502920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B  ·  TREES</a:t>
            </a:r>
            <a:endParaRPr lang="en-US" sz="900" dirty="0"/>
          </a:p>
        </p:txBody>
      </p:sp>
      <p:sp>
        <p:nvSpPr>
          <p:cNvPr id="11" name="s16 text 9"/>
          <p:cNvSpPr txBox="1"/>
          <p:nvPr/>
        </p:nvSpPr>
        <p:spPr>
          <a:xfrm>
            <a:off x="777240" y="299008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Decision tree  →  random forest  →  HistGradientBoosting</a:t>
            </a:r>
            <a:endParaRPr lang="en-US" sz="1200" dirty="0"/>
          </a:p>
        </p:txBody>
      </p:sp>
      <p:sp>
        <p:nvSpPr>
          <p:cNvPr id="12" name="s16 panel 10"/>
          <p:cNvSpPr/>
          <p:nvPr/>
        </p:nvSpPr>
        <p:spPr>
          <a:xfrm>
            <a:off x="548640" y="3520440"/>
            <a:ext cx="5486400" cy="731520"/>
          </a:xfrm>
          <a:prstGeom prst="roundRect">
            <a:avLst>
              <a:gd name="adj" fmla="val 15000"/>
            </a:avLst>
          </a:prstGeom>
          <a:solidFill>
            <a:srgbClr val="F8F1E3"/>
          </a:solidFill>
          <a:ln w="12700">
            <a:solidFill>
              <a:srgbClr val="F8F1E3">
                <a:alpha val="0"/>
              </a:srgbClr>
            </a:solidFill>
            <a:prstDash val="solid"/>
          </a:ln>
        </p:spPr>
      </p:sp>
      <p:sp>
        <p:nvSpPr>
          <p:cNvPr id="13" name="s16 text 11"/>
          <p:cNvSpPr txBox="1"/>
          <p:nvPr/>
        </p:nvSpPr>
        <p:spPr>
          <a:xfrm>
            <a:off x="777240" y="3611880"/>
            <a:ext cx="502920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  ·  ENSEMBLES</a:t>
            </a:r>
            <a:endParaRPr lang="en-US" sz="900" dirty="0"/>
          </a:p>
        </p:txBody>
      </p:sp>
      <p:sp>
        <p:nvSpPr>
          <p:cNvPr id="14" name="s16 text 12"/>
          <p:cNvSpPr txBox="1"/>
          <p:nvPr/>
        </p:nvSpPr>
        <p:spPr>
          <a:xfrm>
            <a:off x="777240" y="385876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Voting and stacking, built from the best of A and B</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54864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Problem</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Deployed model</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Test result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Lead time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Voting: linear + HistGradientBoosting, 1:2</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MAE 3.90 days (promise 9.79)</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Late flag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Forecast vs promise, calibrated</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0.782; 2.89× the floor</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Review risk (delivery)</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Stacking: ℓ2 logistic + HistGradientBoosting</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0.749; PR-AUC 0.414 (3.75×)</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28" name="s16 t1">
            <a:extLst>
              <a:ext uri="{FF2B5EF4-FFF2-40B4-BE49-F238E27FC236}">
                <a16:creationId xmlns:a16="http://schemas.microsoft.com/office/drawing/2014/main" id="{E47DBB44-051B-D3E6-4563-572FDBE570C3}"/>
              </a:ext>
            </a:extLst>
          </p:cNvPr>
          <p:cNvGrpSpPr/>
          <p:nvPr/>
        </p:nvGrpSpPr>
        <p:grpSpPr>
          <a:xfrm>
            <a:off x="6355080" y="1783080"/>
            <a:ext cx="5285232" cy="1371600"/>
            <a:chOff x="6355080" y="1783080"/>
            <a:chExt cx="5285232" cy="1371600"/>
          </a:xfrm>
        </p:grpSpPr>
        <p:sp>
          <p:nvSpPr>
            <p:cNvPr id="16" name="s16 t1 bg"/>
            <p:cNvSpPr/>
            <p:nvPr/>
          </p:nvSpPr>
          <p:spPr>
            <a:xfrm>
              <a:off x="6355080" y="1783080"/>
              <a:ext cx="5285232" cy="1371600"/>
            </a:xfrm>
            <a:prstGeom prst="roundRect">
              <a:avLst>
                <a:gd name="adj" fmla="val 8000"/>
              </a:avLst>
            </a:prstGeom>
            <a:solidFill>
              <a:srgbClr val="F2F4F7"/>
            </a:solidFill>
            <a:ln w="12700">
              <a:solidFill>
                <a:srgbClr val="F2F4F7">
                  <a:alpha val="0"/>
                </a:srgbClr>
              </a:solidFill>
              <a:prstDash val="solid"/>
            </a:ln>
          </p:spPr>
        </p:sp>
        <p:sp>
          <p:nvSpPr>
            <p:cNvPr id="15" name="s16 t1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ONE TREE GETS MOST OF THE WAY</a:t>
              </a:r>
              <a:endParaRPr lang="en-US" sz="900" dirty="0"/>
            </a:p>
          </p:txBody>
        </p:sp>
        <p:sp>
          <p:nvSpPr>
            <p:cNvPr id="18" name="s16 t1 value"/>
            <p:cNvSpPr txBox="1"/>
            <p:nvPr/>
          </p:nvSpPr>
          <p:spPr>
            <a:xfrm>
              <a:off x="6583680" y="2185416"/>
              <a:ext cx="4873752" cy="457200"/>
            </a:xfrm>
            <a:prstGeom prst="rect">
              <a:avLst/>
            </a:prstGeom>
            <a:noFill/>
            <a:ln/>
          </p:spPr>
          <p:txBody>
            <a:bodyPr wrap="square" lIns="0" tIns="0" rIns="0" bIns="0" rtlCol="0" anchor="ctr"/>
            <a:lstStyle/>
            <a:p>
              <a:pPr marL="0" indent="0">
                <a:buNone/>
              </a:pPr>
              <a:r>
                <a:rPr lang="en-US" sz="2800" dirty="0">
                  <a:solidFill>
                    <a:srgbClr val="16222F"/>
                  </a:solidFill>
                  <a:latin typeface="Segoe UI Light" pitchFamily="34" charset="0"/>
                  <a:ea typeface="Segoe UI Light" pitchFamily="34" charset="-122"/>
                  <a:cs typeface="Segoe UI Light" pitchFamily="34" charset="-120"/>
                </a:rPr>
                <a:t>96%</a:t>
              </a:r>
              <a:endParaRPr lang="en-US" sz="2800" dirty="0"/>
            </a:p>
          </p:txBody>
        </p:sp>
        <p:sp>
          <p:nvSpPr>
            <p:cNvPr id="19" name="s16 t1 sub"/>
            <p:cNvSpPr txBox="1"/>
            <p:nvPr/>
          </p:nvSpPr>
          <p:spPr>
            <a:xfrm>
              <a:off x="6583680" y="269748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A single depth-limited decision tree reaches PR-AUC 0.396 of the best 0.414.</a:t>
              </a:r>
              <a:endParaRPr lang="en-US" sz="1050" dirty="0"/>
            </a:p>
          </p:txBody>
        </p:sp>
      </p:grpSp>
      <p:grpSp>
        <p:nvGrpSpPr>
          <p:cNvPr id="29" name="s16 t2">
            <a:extLst>
              <a:ext uri="{FF2B5EF4-FFF2-40B4-BE49-F238E27FC236}">
                <a16:creationId xmlns:a16="http://schemas.microsoft.com/office/drawing/2014/main" id="{EC5980E1-DE26-38C4-30C8-514EF5FD60DE}"/>
              </a:ext>
            </a:extLst>
          </p:cNvPr>
          <p:cNvGrpSpPr/>
          <p:nvPr/>
        </p:nvGrpSpPr>
        <p:grpSpPr>
          <a:xfrm>
            <a:off x="6355080" y="3291840"/>
            <a:ext cx="5285232" cy="1371600"/>
            <a:chOff x="6355080" y="3291840"/>
            <a:chExt cx="5285232" cy="1371600"/>
          </a:xfrm>
        </p:grpSpPr>
        <p:sp>
          <p:nvSpPr>
            <p:cNvPr id="20" name="s16 t2 bg"/>
            <p:cNvSpPr/>
            <p:nvPr/>
          </p:nvSpPr>
          <p:spPr>
            <a:xfrm>
              <a:off x="6355080" y="3291840"/>
              <a:ext cx="5285232" cy="1371600"/>
            </a:xfrm>
            <a:prstGeom prst="roundRect">
              <a:avLst>
                <a:gd name="adj" fmla="val 8000"/>
              </a:avLst>
            </a:prstGeom>
            <a:solidFill>
              <a:srgbClr val="F2F4F7"/>
            </a:solidFill>
            <a:ln w="12700">
              <a:solidFill>
                <a:srgbClr val="F2F4F7">
                  <a:alpha val="0"/>
                </a:srgbClr>
              </a:solidFill>
              <a:prstDash val="solid"/>
            </a:ln>
          </p:spPr>
        </p:sp>
        <p:sp>
          <p:nvSpPr>
            <p:cNvPr id="21" name="s16 t2 label"/>
            <p:cNvSpPr txBox="1"/>
            <p:nvPr/>
          </p:nvSpPr>
          <p:spPr>
            <a:xfrm>
              <a:off x="6583680" y="345643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FOLD-TO-FOLD SPREAD VS THE GAP BETWEEN THE BEST</a:t>
              </a:r>
              <a:endParaRPr lang="en-US" sz="900" dirty="0"/>
            </a:p>
          </p:txBody>
        </p:sp>
        <p:sp>
          <p:nvSpPr>
            <p:cNvPr id="22" name="s16 t2 value"/>
            <p:cNvSpPr txBox="1"/>
            <p:nvPr/>
          </p:nvSpPr>
          <p:spPr>
            <a:xfrm>
              <a:off x="6583680" y="369417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±0.09 vs &lt;0.001</a:t>
              </a:r>
              <a:endParaRPr lang="en-US" sz="2400" dirty="0"/>
            </a:p>
          </p:txBody>
        </p:sp>
        <p:sp>
          <p:nvSpPr>
            <p:cNvPr id="23" name="s16 t2 sub"/>
            <p:cNvSpPr txBox="1"/>
            <p:nvPr/>
          </p:nvSpPr>
          <p:spPr>
            <a:xfrm>
              <a:off x="6583680" y="420624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Cross-validation cannot separate the best trees, so we rank models within each recent window.</a:t>
              </a:r>
              <a:endParaRPr lang="en-US" sz="1050" dirty="0"/>
            </a:p>
          </p:txBody>
        </p:sp>
      </p:grpSp>
      <p:grpSp>
        <p:nvGrpSpPr>
          <p:cNvPr id="30" name="s16 t3">
            <a:extLst>
              <a:ext uri="{FF2B5EF4-FFF2-40B4-BE49-F238E27FC236}">
                <a16:creationId xmlns:a16="http://schemas.microsoft.com/office/drawing/2014/main" id="{0F02A9A6-B7B3-8706-37E7-B0FCA162708B}"/>
              </a:ext>
            </a:extLst>
          </p:cNvPr>
          <p:cNvGrpSpPr/>
          <p:nvPr/>
        </p:nvGrpSpPr>
        <p:grpSpPr>
          <a:xfrm>
            <a:off x="6355080" y="4800600"/>
            <a:ext cx="5285232" cy="1325880"/>
            <a:chOff x="6355080" y="4800600"/>
            <a:chExt cx="5285232" cy="1325880"/>
          </a:xfrm>
        </p:grpSpPr>
        <p:sp>
          <p:nvSpPr>
            <p:cNvPr id="24" name="s16 t3 bg"/>
            <p:cNvSpPr/>
            <p:nvPr/>
          </p:nvSpPr>
          <p:spPr>
            <a:xfrm>
              <a:off x="6355080" y="4800600"/>
              <a:ext cx="5285232" cy="1325880"/>
            </a:xfrm>
            <a:prstGeom prst="roundRect">
              <a:avLst>
                <a:gd name="adj" fmla="val 8276"/>
              </a:avLst>
            </a:prstGeom>
            <a:solidFill>
              <a:srgbClr val="F2F4F7"/>
            </a:solidFill>
            <a:ln w="12700">
              <a:solidFill>
                <a:srgbClr val="F2F4F7">
                  <a:alpha val="0"/>
                </a:srgbClr>
              </a:solidFill>
              <a:prstDash val="solid"/>
            </a:ln>
          </p:spPr>
        </p:sp>
        <p:sp>
          <p:nvSpPr>
            <p:cNvPr id="25" name="s16 t3 label"/>
            <p:cNvSpPr txBox="1"/>
            <p:nvPr/>
          </p:nvSpPr>
          <p:spPr>
            <a:xfrm>
              <a:off x="6583680" y="496519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WEIGHTING THE LOSS FOR IMBALANCE</a:t>
              </a:r>
              <a:endParaRPr lang="en-US" sz="900" dirty="0"/>
            </a:p>
          </p:txBody>
        </p:sp>
        <p:sp>
          <p:nvSpPr>
            <p:cNvPr id="26" name="s16 t3 value"/>
            <p:cNvSpPr txBox="1"/>
            <p:nvPr/>
          </p:nvSpPr>
          <p:spPr>
            <a:xfrm>
              <a:off x="6583680" y="520293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risk ×3</a:t>
              </a:r>
              <a:endParaRPr lang="en-US" sz="2400" dirty="0"/>
            </a:p>
          </p:txBody>
        </p:sp>
        <p:sp>
          <p:nvSpPr>
            <p:cNvPr id="27" name="s16 t3 sub"/>
            <p:cNvSpPr txBox="1"/>
            <p:nvPr/>
          </p:nvSpPr>
          <p:spPr>
            <a:xfrm>
              <a:off x="6583680" y="5715000"/>
              <a:ext cx="487375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No gain in ranking (PR-AUC 0.415 → 0.411); mean predicted risk 0.12 → 0.34. We move the threshold instead.</a:t>
              </a:r>
              <a:endParaRPr lang="en-US" sz="1050" dirty="0"/>
            </a:p>
          </p:txBody>
        </p:sp>
      </p:gr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s17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7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Checkout numbers in full</a:t>
            </a:r>
            <a:endParaRPr lang="en-US" sz="2700" dirty="0"/>
          </a:p>
        </p:txBody>
      </p:sp>
      <p:sp>
        <p:nvSpPr>
          <p:cNvPr id="4" name="s17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Lead-time error on the test window for every candidate, and what the late-delivery flag can and cannot do</a:t>
            </a:r>
            <a:endParaRPr lang="en-US" sz="1250" dirty="0"/>
          </a:p>
        </p:txBody>
      </p:sp>
      <p:sp>
        <p:nvSpPr>
          <p:cNvPr id="5" name="s17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7 panel 4"/>
          <p:cNvSpPr/>
          <p:nvPr/>
        </p:nvSpPr>
        <p:spPr>
          <a:xfrm>
            <a:off x="548640" y="1783080"/>
            <a:ext cx="6035040" cy="4343400"/>
          </a:xfrm>
          <a:prstGeom prst="roundRect">
            <a:avLst>
              <a:gd name="adj" fmla="val 2526"/>
            </a:avLst>
          </a:prstGeom>
          <a:solidFill>
            <a:srgbClr val="FFFFFF"/>
          </a:solidFill>
          <a:ln w="9525">
            <a:solidFill>
              <a:srgbClr val="E2E7EC"/>
            </a:solidFill>
            <a:prstDash val="solid"/>
          </a:ln>
        </p:spPr>
      </p:sp>
      <p:sp>
        <p:nvSpPr>
          <p:cNvPr id="7" name="s17 text 5"/>
          <p:cNvSpPr txBox="1"/>
          <p:nvPr/>
        </p:nvSpPr>
        <p:spPr>
          <a:xfrm>
            <a:off x="777240" y="1874520"/>
            <a:ext cx="5486400" cy="274320"/>
          </a:xfrm>
          <a:prstGeom prst="rect">
            <a:avLst/>
          </a:prstGeom>
          <a:noFill/>
          <a:ln/>
        </p:spPr>
        <p:txBody>
          <a:bodyPr wrap="square" lIns="0" tIns="0" rIns="0" bIns="0" rtlCol="0" anchor="t"/>
          <a:lstStyle/>
          <a:p>
            <a:pPr marL="0" indent="0">
              <a:buNone/>
            </a:pPr>
            <a:r>
              <a:rPr lang="en-US" sz="1100" dirty="0">
                <a:solidFill>
                  <a:srgbClr val="16222F"/>
                </a:solidFill>
                <a:latin typeface="Segoe UI Semibold" pitchFamily="34" charset="0"/>
                <a:ea typeface="Segoe UI Semibold" pitchFamily="34" charset="-122"/>
                <a:cs typeface="Segoe UI Semibold" pitchFamily="34" charset="-120"/>
              </a:rPr>
              <a:t>Test MAE, days (lower is better)</a:t>
            </a:r>
            <a:endParaRPr lang="en-US" sz="1100" dirty="0"/>
          </a:p>
        </p:txBody>
      </p:sp>
      <p:graphicFrame>
        <p:nvGraphicFramePr>
          <p:cNvPr id="8" name="Chart 0"/>
          <p:cNvGraphicFramePr/>
          <p:nvPr/>
        </p:nvGraphicFramePr>
        <p:xfrm>
          <a:off x="640080" y="2194560"/>
          <a:ext cx="5852160" cy="3840480"/>
        </p:xfrm>
        <a:graphic>
          <a:graphicData uri="http://schemas.openxmlformats.org/drawingml/2006/chart">
            <c:chart xmlns:c="http://schemas.openxmlformats.org/drawingml/2006/chart" xmlns:r="http://schemas.openxmlformats.org/officeDocument/2006/relationships" r:id="rId4"/>
          </a:graphicData>
        </a:graphic>
      </p:graphicFrame>
      <p:grpSp>
        <p:nvGrpSpPr>
          <p:cNvPr id="21" name="s17 t1">
            <a:extLst>
              <a:ext uri="{FF2B5EF4-FFF2-40B4-BE49-F238E27FC236}">
                <a16:creationId xmlns:a16="http://schemas.microsoft.com/office/drawing/2014/main" id="{5C55D57D-2C8D-CBAA-187E-64763E70B304}"/>
              </a:ext>
            </a:extLst>
          </p:cNvPr>
          <p:cNvGrpSpPr/>
          <p:nvPr/>
        </p:nvGrpSpPr>
        <p:grpSpPr>
          <a:xfrm>
            <a:off x="6858000" y="1783080"/>
            <a:ext cx="4782312" cy="1371600"/>
            <a:chOff x="6858000" y="1783080"/>
            <a:chExt cx="4782312" cy="1371600"/>
          </a:xfrm>
        </p:grpSpPr>
        <p:sp>
          <p:nvSpPr>
            <p:cNvPr id="9" name="s17 t1 bg"/>
            <p:cNvSpPr/>
            <p:nvPr/>
          </p:nvSpPr>
          <p:spPr>
            <a:xfrm>
              <a:off x="6858000" y="1783080"/>
              <a:ext cx="4782312" cy="1371600"/>
            </a:xfrm>
            <a:prstGeom prst="roundRect">
              <a:avLst>
                <a:gd name="adj" fmla="val 8000"/>
              </a:avLst>
            </a:prstGeom>
            <a:solidFill>
              <a:srgbClr val="EAF1F7"/>
            </a:solidFill>
            <a:ln w="12700">
              <a:solidFill>
                <a:srgbClr val="EAF1F7">
                  <a:alpha val="0"/>
                </a:srgbClr>
              </a:solidFill>
              <a:prstDash val="solid"/>
            </a:ln>
          </p:spPr>
        </p:sp>
        <p:sp>
          <p:nvSpPr>
            <p:cNvPr id="10" name="s17 t1 label"/>
            <p:cNvSpPr txBox="1"/>
            <p:nvPr/>
          </p:nvSpPr>
          <p:spPr>
            <a:xfrm>
              <a:off x="7086600" y="1947672"/>
              <a:ext cx="437083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FORECAST VS PROMISE BEATS A DEDICATED CLASSIFIER</a:t>
              </a:r>
              <a:endParaRPr lang="en-US" sz="900" dirty="0"/>
            </a:p>
          </p:txBody>
        </p:sp>
        <p:sp>
          <p:nvSpPr>
            <p:cNvPr id="11" name="s17 t1 value"/>
            <p:cNvSpPr txBox="1"/>
            <p:nvPr/>
          </p:nvSpPr>
          <p:spPr>
            <a:xfrm>
              <a:off x="7086600" y="218541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2.89× vs 1.24×</a:t>
              </a:r>
              <a:endParaRPr lang="en-US" sz="2400" dirty="0"/>
            </a:p>
          </p:txBody>
        </p:sp>
        <p:sp>
          <p:nvSpPr>
            <p:cNvPr id="12" name="s17 t1 sub"/>
            <p:cNvSpPr txBox="1"/>
            <p:nvPr/>
          </p:nvSpPr>
          <p:spPr>
            <a:xfrm>
              <a:off x="7086600" y="269748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lift over the no-skill floor; ROC-AUC 0.782 against 0.584.</a:t>
              </a:r>
              <a:endParaRPr lang="en-US" sz="1050" dirty="0"/>
            </a:p>
          </p:txBody>
        </p:sp>
      </p:grpSp>
      <p:grpSp>
        <p:nvGrpSpPr>
          <p:cNvPr id="22" name="s17 t2">
            <a:extLst>
              <a:ext uri="{FF2B5EF4-FFF2-40B4-BE49-F238E27FC236}">
                <a16:creationId xmlns:a16="http://schemas.microsoft.com/office/drawing/2014/main" id="{6D7D1A2A-B7C9-98E6-9590-CA94146D13CE}"/>
              </a:ext>
            </a:extLst>
          </p:cNvPr>
          <p:cNvGrpSpPr/>
          <p:nvPr/>
        </p:nvGrpSpPr>
        <p:grpSpPr>
          <a:xfrm>
            <a:off x="6858000" y="3291840"/>
            <a:ext cx="4782312" cy="1371600"/>
            <a:chOff x="6858000" y="3291840"/>
            <a:chExt cx="4782312" cy="1371600"/>
          </a:xfrm>
        </p:grpSpPr>
        <p:sp>
          <p:nvSpPr>
            <p:cNvPr id="13" name="s17 t2 bg"/>
            <p:cNvSpPr/>
            <p:nvPr/>
          </p:nvSpPr>
          <p:spPr>
            <a:xfrm>
              <a:off x="6858000" y="3291840"/>
              <a:ext cx="4782312" cy="1371600"/>
            </a:xfrm>
            <a:prstGeom prst="roundRect">
              <a:avLst>
                <a:gd name="adj" fmla="val 8000"/>
              </a:avLst>
            </a:prstGeom>
            <a:solidFill>
              <a:srgbClr val="F8F1E3"/>
            </a:solidFill>
            <a:ln w="12700">
              <a:solidFill>
                <a:srgbClr val="F8F1E3">
                  <a:alpha val="0"/>
                </a:srgbClr>
              </a:solidFill>
              <a:prstDash val="solid"/>
            </a:ln>
          </p:spPr>
        </p:sp>
        <p:sp>
          <p:nvSpPr>
            <p:cNvPr id="14" name="s17 t2 label"/>
            <p:cNvSpPr txBox="1"/>
            <p:nvPr/>
          </p:nvSpPr>
          <p:spPr>
            <a:xfrm>
              <a:off x="7086600" y="3456432"/>
              <a:ext cx="43708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WARNING THRESHOLD (11% RISK)</a:t>
              </a:r>
              <a:endParaRPr lang="en-US" sz="900" dirty="0"/>
            </a:p>
          </p:txBody>
        </p:sp>
        <p:sp>
          <p:nvSpPr>
            <p:cNvPr id="15" name="s17 t2 value"/>
            <p:cNvSpPr txBox="1"/>
            <p:nvPr/>
          </p:nvSpPr>
          <p:spPr>
            <a:xfrm>
              <a:off x="7086600" y="369417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83% caught</a:t>
              </a:r>
              <a:endParaRPr lang="en-US" sz="2400" dirty="0"/>
            </a:p>
          </p:txBody>
        </p:sp>
        <p:sp>
          <p:nvSpPr>
            <p:cNvPr id="16" name="s17 t2 sub"/>
            <p:cNvSpPr txBox="1"/>
            <p:nvPr/>
          </p:nvSpPr>
          <p:spPr>
            <a:xfrm>
              <a:off x="7086600" y="420624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…but 45% of buyers warned, 14% of them truly late. The ranked top 10% catches 35% at 26% precision.</a:t>
              </a:r>
              <a:endParaRPr lang="en-US" sz="1050" dirty="0"/>
            </a:p>
          </p:txBody>
        </p:sp>
      </p:grpSp>
      <p:grpSp>
        <p:nvGrpSpPr>
          <p:cNvPr id="23" name="s17 t3">
            <a:extLst>
              <a:ext uri="{FF2B5EF4-FFF2-40B4-BE49-F238E27FC236}">
                <a16:creationId xmlns:a16="http://schemas.microsoft.com/office/drawing/2014/main" id="{802E9201-83C3-5D71-6DDC-F14517CB0663}"/>
              </a:ext>
            </a:extLst>
          </p:cNvPr>
          <p:cNvGrpSpPr/>
          <p:nvPr/>
        </p:nvGrpSpPr>
        <p:grpSpPr>
          <a:xfrm>
            <a:off x="6858000" y="4800600"/>
            <a:ext cx="4782312" cy="1325880"/>
            <a:chOff x="6858000" y="4800600"/>
            <a:chExt cx="4782312" cy="1325880"/>
          </a:xfrm>
        </p:grpSpPr>
        <p:sp>
          <p:nvSpPr>
            <p:cNvPr id="17" name="s17 t3 bg"/>
            <p:cNvSpPr/>
            <p:nvPr/>
          </p:nvSpPr>
          <p:spPr>
            <a:xfrm>
              <a:off x="6858000" y="4800600"/>
              <a:ext cx="4782312" cy="1325880"/>
            </a:xfrm>
            <a:prstGeom prst="roundRect">
              <a:avLst>
                <a:gd name="adj" fmla="val 8276"/>
              </a:avLst>
            </a:prstGeom>
            <a:solidFill>
              <a:srgbClr val="F9ECEC"/>
            </a:solidFill>
            <a:ln w="12700">
              <a:solidFill>
                <a:srgbClr val="F9ECEC">
                  <a:alpha val="0"/>
                </a:srgbClr>
              </a:solidFill>
              <a:prstDash val="solid"/>
            </a:ln>
          </p:spPr>
        </p:sp>
        <p:sp>
          <p:nvSpPr>
            <p:cNvPr id="18" name="s17 t3 label"/>
            <p:cNvSpPr txBox="1"/>
            <p:nvPr/>
          </p:nvSpPr>
          <p:spPr>
            <a:xfrm>
              <a:off x="7086600" y="4965192"/>
              <a:ext cx="43708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EXPEDITING</a:t>
              </a:r>
              <a:endParaRPr lang="en-US" sz="900" dirty="0"/>
            </a:p>
          </p:txBody>
        </p:sp>
        <p:sp>
          <p:nvSpPr>
            <p:cNvPr id="19" name="s17 t3 value"/>
            <p:cNvSpPr txBox="1"/>
            <p:nvPr/>
          </p:nvSpPr>
          <p:spPr>
            <a:xfrm>
              <a:off x="7086600" y="520293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precision ≤ 0.29</a:t>
              </a:r>
              <a:endParaRPr lang="en-US" sz="2400" dirty="0"/>
            </a:p>
          </p:txBody>
        </p:sp>
        <p:sp>
          <p:nvSpPr>
            <p:cNvPr id="20" name="s17 t3 sub"/>
            <p:cNvSpPr txBox="1"/>
            <p:nvPr/>
          </p:nvSpPr>
          <p:spPr>
            <a:xfrm>
              <a:off x="7086600" y="5715000"/>
              <a:ext cx="437083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Break-even for a R$12 expedite against R$40 is 0.30; revisit only if expediting costs under about R$11.</a:t>
              </a:r>
              <a:endParaRPr lang="en-US" sz="1050" dirty="0"/>
            </a:p>
          </p:txBody>
        </p:sp>
      </p:gr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s18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8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Delivery numbers in full</a:t>
            </a:r>
            <a:endParaRPr lang="en-US" sz="2700" dirty="0"/>
          </a:p>
        </p:txBody>
      </p:sp>
      <p:sp>
        <p:nvSpPr>
          <p:cNvPr id="4" name="s18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Precision and recall of the review-risk list at every capacity, test window July – August 2018</a:t>
            </a:r>
            <a:endParaRPr lang="en-US" sz="1250" dirty="0"/>
          </a:p>
        </p:txBody>
      </p:sp>
      <p:sp>
        <p:nvSpPr>
          <p:cNvPr id="5" name="s18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8 panel 4"/>
          <p:cNvSpPr/>
          <p:nvPr/>
        </p:nvSpPr>
        <p:spPr>
          <a:xfrm>
            <a:off x="548640" y="1783080"/>
            <a:ext cx="6583680" cy="4343400"/>
          </a:xfrm>
          <a:prstGeom prst="roundRect">
            <a:avLst>
              <a:gd name="adj" fmla="val 2526"/>
            </a:avLst>
          </a:prstGeom>
          <a:solidFill>
            <a:srgbClr val="FFFFFF"/>
          </a:solidFill>
          <a:ln w="9525">
            <a:solidFill>
              <a:srgbClr val="E2E7EC"/>
            </a:solidFill>
            <a:prstDash val="solid"/>
          </a:ln>
        </p:spPr>
      </p:sp>
      <p:graphicFrame>
        <p:nvGraphicFramePr>
          <p:cNvPr id="7" name="Chart 0"/>
          <p:cNvGraphicFramePr/>
          <p:nvPr/>
        </p:nvGraphicFramePr>
        <p:xfrm>
          <a:off x="685800" y="1874520"/>
          <a:ext cx="6309360" cy="4160520"/>
        </p:xfrm>
        <a:graphic>
          <a:graphicData uri="http://schemas.openxmlformats.org/drawingml/2006/chart">
            <c:chart xmlns:c="http://schemas.openxmlformats.org/drawingml/2006/chart" xmlns:r="http://schemas.openxmlformats.org/officeDocument/2006/relationships" r:id="rId4"/>
          </a:graphicData>
        </a:graphic>
      </p:graphicFrame>
      <p:grpSp>
        <p:nvGrpSpPr>
          <p:cNvPr id="20" name="s18 t1">
            <a:extLst>
              <a:ext uri="{FF2B5EF4-FFF2-40B4-BE49-F238E27FC236}">
                <a16:creationId xmlns:a16="http://schemas.microsoft.com/office/drawing/2014/main" id="{79EA9CF4-B831-C171-B30D-205DCC2AEBDB}"/>
              </a:ext>
            </a:extLst>
          </p:cNvPr>
          <p:cNvGrpSpPr/>
          <p:nvPr/>
        </p:nvGrpSpPr>
        <p:grpSpPr>
          <a:xfrm>
            <a:off x="7406640" y="1783080"/>
            <a:ext cx="4233672" cy="1371600"/>
            <a:chOff x="7406640" y="1783080"/>
            <a:chExt cx="4233672" cy="1371600"/>
          </a:xfrm>
        </p:grpSpPr>
        <p:sp>
          <p:nvSpPr>
            <p:cNvPr id="8" name="s18 t1 bg"/>
            <p:cNvSpPr/>
            <p:nvPr/>
          </p:nvSpPr>
          <p:spPr>
            <a:xfrm>
              <a:off x="7406640" y="1783080"/>
              <a:ext cx="4233672" cy="1371600"/>
            </a:xfrm>
            <a:prstGeom prst="roundRect">
              <a:avLst>
                <a:gd name="adj" fmla="val 8000"/>
              </a:avLst>
            </a:prstGeom>
            <a:solidFill>
              <a:srgbClr val="EBF3EA"/>
            </a:solidFill>
            <a:ln w="12700">
              <a:solidFill>
                <a:srgbClr val="EBF3EA">
                  <a:alpha val="0"/>
                </a:srgbClr>
              </a:solidFill>
              <a:prstDash val="solid"/>
            </a:ln>
          </p:spPr>
        </p:sp>
        <p:sp>
          <p:nvSpPr>
            <p:cNvPr id="9" name="s18 t1 label"/>
            <p:cNvSpPr txBox="1"/>
            <p:nvPr/>
          </p:nvSpPr>
          <p:spPr>
            <a:xfrm>
              <a:off x="7635240" y="1947672"/>
              <a:ext cx="38221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RANKING QUALITY</a:t>
              </a:r>
              <a:endParaRPr lang="en-US" sz="900" dirty="0"/>
            </a:p>
          </p:txBody>
        </p:sp>
        <p:sp>
          <p:nvSpPr>
            <p:cNvPr id="10" name="s18 t1 value"/>
            <p:cNvSpPr txBox="1"/>
            <p:nvPr/>
          </p:nvSpPr>
          <p:spPr>
            <a:xfrm>
              <a:off x="7635240" y="218541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ROC-AUC 0.749</a:t>
              </a:r>
              <a:endParaRPr lang="en-US" sz="2400" dirty="0"/>
            </a:p>
          </p:txBody>
        </p:sp>
        <p:sp>
          <p:nvSpPr>
            <p:cNvPr id="11" name="s18 t1 sub"/>
            <p:cNvSpPr txBox="1"/>
            <p:nvPr/>
          </p:nvSpPr>
          <p:spPr>
            <a:xfrm>
              <a:off x="7635240" y="269748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0.414 against an 0.110 floor (3.75×); 0.415 on customers never seen in training.</a:t>
              </a:r>
              <a:endParaRPr lang="en-US" sz="1050" dirty="0"/>
            </a:p>
          </p:txBody>
        </p:sp>
      </p:grpSp>
      <p:grpSp>
        <p:nvGrpSpPr>
          <p:cNvPr id="21" name="s18 t2">
            <a:extLst>
              <a:ext uri="{FF2B5EF4-FFF2-40B4-BE49-F238E27FC236}">
                <a16:creationId xmlns:a16="http://schemas.microsoft.com/office/drawing/2014/main" id="{E8188E76-5474-A0F5-929E-1E0C1061BD11}"/>
              </a:ext>
            </a:extLst>
          </p:cNvPr>
          <p:cNvGrpSpPr/>
          <p:nvPr/>
        </p:nvGrpSpPr>
        <p:grpSpPr>
          <a:xfrm>
            <a:off x="7406640" y="3291840"/>
            <a:ext cx="4233672" cy="1371600"/>
            <a:chOff x="7406640" y="3291840"/>
            <a:chExt cx="4233672" cy="1371600"/>
          </a:xfrm>
        </p:grpSpPr>
        <p:sp>
          <p:nvSpPr>
            <p:cNvPr id="12" name="s18 t2 bg"/>
            <p:cNvSpPr/>
            <p:nvPr/>
          </p:nvSpPr>
          <p:spPr>
            <a:xfrm>
              <a:off x="7406640" y="3291840"/>
              <a:ext cx="4233672" cy="1371600"/>
            </a:xfrm>
            <a:prstGeom prst="roundRect">
              <a:avLst>
                <a:gd name="adj" fmla="val 8000"/>
              </a:avLst>
            </a:prstGeom>
            <a:solidFill>
              <a:srgbClr val="EAF1F7"/>
            </a:solidFill>
            <a:ln w="12700">
              <a:solidFill>
                <a:srgbClr val="EAF1F7">
                  <a:alpha val="0"/>
                </a:srgbClr>
              </a:solidFill>
              <a:prstDash val="solid"/>
            </a:ln>
          </p:spPr>
        </p:sp>
        <p:sp>
          <p:nvSpPr>
            <p:cNvPr id="13" name="s18 t2 label"/>
            <p:cNvSpPr txBox="1"/>
            <p:nvPr/>
          </p:nvSpPr>
          <p:spPr>
            <a:xfrm>
              <a:off x="7635240" y="3456432"/>
              <a:ext cx="38221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TOP 5% OF DELIVERIES</a:t>
              </a:r>
              <a:endParaRPr lang="en-US" sz="900" dirty="0"/>
            </a:p>
          </p:txBody>
        </p:sp>
        <p:sp>
          <p:nvSpPr>
            <p:cNvPr id="14" name="s18 t2 value"/>
            <p:cNvSpPr txBox="1"/>
            <p:nvPr/>
          </p:nvSpPr>
          <p:spPr>
            <a:xfrm>
              <a:off x="7635240" y="369417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68% · 31%</a:t>
              </a:r>
              <a:endParaRPr lang="en-US" sz="2400" dirty="0"/>
            </a:p>
          </p:txBody>
        </p:sp>
        <p:sp>
          <p:nvSpPr>
            <p:cNvPr id="15" name="s18 t2 sub"/>
            <p:cNvSpPr txBox="1"/>
            <p:nvPr/>
          </p:nvSpPr>
          <p:spPr>
            <a:xfrm>
              <a:off x="7635240" y="420624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precision and recall; ten a day: 57% and 25%; twenty a day: 44% and 38%.</a:t>
              </a:r>
              <a:endParaRPr lang="en-US" sz="1050" dirty="0"/>
            </a:p>
          </p:txBody>
        </p:sp>
      </p:grpSp>
      <p:grpSp>
        <p:nvGrpSpPr>
          <p:cNvPr id="22" name="s18 t3">
            <a:extLst>
              <a:ext uri="{FF2B5EF4-FFF2-40B4-BE49-F238E27FC236}">
                <a16:creationId xmlns:a16="http://schemas.microsoft.com/office/drawing/2014/main" id="{4C49480F-2ABB-5042-FFFE-8D5787E7FD6A}"/>
              </a:ext>
            </a:extLst>
          </p:cNvPr>
          <p:cNvGrpSpPr/>
          <p:nvPr/>
        </p:nvGrpSpPr>
        <p:grpSpPr>
          <a:xfrm>
            <a:off x="7406640" y="4800600"/>
            <a:ext cx="4233672" cy="1325880"/>
            <a:chOff x="7406640" y="4800600"/>
            <a:chExt cx="4233672" cy="1325880"/>
          </a:xfrm>
        </p:grpSpPr>
        <p:sp>
          <p:nvSpPr>
            <p:cNvPr id="16" name="s18 t3 bg"/>
            <p:cNvSpPr/>
            <p:nvPr/>
          </p:nvSpPr>
          <p:spPr>
            <a:xfrm>
              <a:off x="7406640" y="4800600"/>
              <a:ext cx="4233672" cy="1325880"/>
            </a:xfrm>
            <a:prstGeom prst="roundRect">
              <a:avLst>
                <a:gd name="adj" fmla="val 8276"/>
              </a:avLst>
            </a:prstGeom>
            <a:solidFill>
              <a:srgbClr val="F8F1E3"/>
            </a:solidFill>
            <a:ln w="12700">
              <a:solidFill>
                <a:srgbClr val="F8F1E3">
                  <a:alpha val="0"/>
                </a:srgbClr>
              </a:solidFill>
              <a:prstDash val="solid"/>
            </a:ln>
          </p:spPr>
        </p:sp>
        <p:sp>
          <p:nvSpPr>
            <p:cNvPr id="17" name="s18 t3 label"/>
            <p:cNvSpPr txBox="1"/>
            <p:nvPr/>
          </p:nvSpPr>
          <p:spPr>
            <a:xfrm>
              <a:off x="7635240" y="4965192"/>
              <a:ext cx="38221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BREAK-EVEN PRECISION</a:t>
              </a:r>
              <a:endParaRPr lang="en-US" sz="900" dirty="0"/>
            </a:p>
          </p:txBody>
        </p:sp>
        <p:sp>
          <p:nvSpPr>
            <p:cNvPr id="18" name="s18 t3 value"/>
            <p:cNvSpPr txBox="1"/>
            <p:nvPr/>
          </p:nvSpPr>
          <p:spPr>
            <a:xfrm>
              <a:off x="7635240" y="520293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0.125</a:t>
              </a:r>
              <a:endParaRPr lang="en-US" sz="2400" dirty="0"/>
            </a:p>
          </p:txBody>
        </p:sp>
        <p:sp>
          <p:nvSpPr>
            <p:cNvPr id="19" name="s18 t3 sub"/>
            <p:cNvSpPr txBox="1"/>
            <p:nvPr/>
          </p:nvSpPr>
          <p:spPr>
            <a:xfrm>
              <a:off x="7635240" y="5715000"/>
              <a:ext cx="382219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R$5 call against R$40 review: cleared at every capacity up to half of all deliveries.</a:t>
              </a:r>
              <a:endParaRPr lang="en-US" sz="1050" dirty="0"/>
            </a:p>
          </p:txBody>
        </p:sp>
      </p:gr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s19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9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Where the money numbers come from</a:t>
            </a:r>
            <a:endParaRPr lang="en-US" sz="2700" dirty="0"/>
          </a:p>
        </p:txBody>
      </p:sp>
      <p:sp>
        <p:nvSpPr>
          <p:cNvPr id="4" name="s19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Costs are stated assumptions, not data: Olist publishes none, so the conclusions rest on break-even precision</a:t>
            </a:r>
            <a:endParaRPr lang="en-US" sz="1250" dirty="0"/>
          </a:p>
        </p:txBody>
      </p:sp>
      <p:sp>
        <p:nvSpPr>
          <p:cNvPr id="5" name="s19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gridCol w="1399032">
                  <a:extLst>
                    <a:ext uri="{9D8B030D-6E8A-4147-A177-3AD203B41FA5}">
                      <a16:colId xmlns:a16="http://schemas.microsoft.com/office/drawing/2014/main" val="20005"/>
                    </a:ext>
                  </a:extLst>
                </a:gridCol>
              </a:tblGrid>
              <a:tr h="457200">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Action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acting</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 miss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Break-even precision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We reach</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Verdict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Call before the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0.125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0.35 reachable (0.57 all)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Expedite a flagged parcel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0.300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0.29</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don't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Quote the honest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R$0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60% closer dates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6" name="s19 t1">
            <a:extLst>
              <a:ext uri="{FF2B5EF4-FFF2-40B4-BE49-F238E27FC236}">
                <a16:creationId xmlns:a16="http://schemas.microsoft.com/office/drawing/2014/main" id="{452F3993-848D-92DE-6756-7C07D4FC410E}"/>
              </a:ext>
            </a:extLst>
          </p:cNvPr>
          <p:cNvGrpSpPr/>
          <p:nvPr/>
        </p:nvGrpSpPr>
        <p:grpSpPr>
          <a:xfrm>
            <a:off x="548640" y="3886200"/>
            <a:ext cx="3566160" cy="2240280"/>
            <a:chOff x="548640" y="3886200"/>
            <a:chExt cx="3566160" cy="2240280"/>
          </a:xfrm>
        </p:grpSpPr>
        <p:sp>
          <p:nvSpPr>
            <p:cNvPr id="7" name="s19 t1 bg"/>
            <p:cNvSpPr/>
            <p:nvPr/>
          </p:nvSpPr>
          <p:spPr>
            <a:xfrm>
              <a:off x="548640" y="3886200"/>
              <a:ext cx="3566160" cy="2240280"/>
            </a:xfrm>
            <a:prstGeom prst="roundRect">
              <a:avLst>
                <a:gd name="adj" fmla="val 4898"/>
              </a:avLst>
            </a:prstGeom>
            <a:solidFill>
              <a:srgbClr val="EBF3EA"/>
            </a:solidFill>
            <a:ln w="12700">
              <a:solidFill>
                <a:srgbClr val="EBF3EA">
                  <a:alpha val="0"/>
                </a:srgbClr>
              </a:solidFill>
              <a:prstDash val="solid"/>
            </a:ln>
          </p:spPr>
        </p:sp>
        <p:sp>
          <p:nvSpPr>
            <p:cNvPr id="8" name="s19 t1 label"/>
            <p:cNvSpPr txBox="1"/>
            <p:nvPr/>
          </p:nvSpPr>
          <p:spPr>
            <a:xfrm>
              <a:off x="777240" y="4050792"/>
              <a:ext cx="315468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9" name="s19 t1 value"/>
            <p:cNvSpPr txBox="1"/>
            <p:nvPr/>
          </p:nvSpPr>
          <p:spPr>
            <a:xfrm>
              <a:off x="777240"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R$775 – R$1,466</a:t>
              </a:r>
              <a:endParaRPr lang="en-US" sz="2400" dirty="0"/>
            </a:p>
          </p:txBody>
        </p:sp>
        <p:sp>
          <p:nvSpPr>
            <p:cNvPr id="10" name="s19 t1 sub"/>
            <p:cNvSpPr txBox="1"/>
            <p:nvPr/>
          </p:nvSpPr>
          <p:spPr>
            <a:xfrm>
              <a:off x="777240"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best operating point, counting only reachable customers vs counting every flagged one. Ten calls a day: R$433 – R$853.</a:t>
              </a:r>
              <a:endParaRPr lang="en-US" sz="1050" dirty="0"/>
            </a:p>
          </p:txBody>
        </p:sp>
      </p:grpSp>
      <p:grpSp>
        <p:nvGrpSpPr>
          <p:cNvPr id="19" name="s19 t2">
            <a:extLst>
              <a:ext uri="{FF2B5EF4-FFF2-40B4-BE49-F238E27FC236}">
                <a16:creationId xmlns:a16="http://schemas.microsoft.com/office/drawing/2014/main" id="{769258B6-4962-036A-87C2-1ECB9428732D}"/>
              </a:ext>
            </a:extLst>
          </p:cNvPr>
          <p:cNvGrpSpPr/>
          <p:nvPr/>
        </p:nvGrpSpPr>
        <p:grpSpPr>
          <a:xfrm>
            <a:off x="4315968" y="3886200"/>
            <a:ext cx="3566160" cy="2240280"/>
            <a:chOff x="4315968" y="3886200"/>
            <a:chExt cx="3566160" cy="2240280"/>
          </a:xfrm>
        </p:grpSpPr>
        <p:sp>
          <p:nvSpPr>
            <p:cNvPr id="11" name="s19 t2 bg"/>
            <p:cNvSpPr/>
            <p:nvPr/>
          </p:nvSpPr>
          <p:spPr>
            <a:xfrm>
              <a:off x="4315968" y="3886200"/>
              <a:ext cx="3566160" cy="2240280"/>
            </a:xfrm>
            <a:prstGeom prst="roundRect">
              <a:avLst>
                <a:gd name="adj" fmla="val 4898"/>
              </a:avLst>
            </a:prstGeom>
            <a:solidFill>
              <a:srgbClr val="F8F1E3"/>
            </a:solidFill>
            <a:ln w="12700">
              <a:solidFill>
                <a:srgbClr val="F8F1E3">
                  <a:alpha val="0"/>
                </a:srgbClr>
              </a:solidFill>
              <a:prstDash val="solid"/>
            </a:ln>
          </p:spPr>
        </p:sp>
        <p:sp>
          <p:nvSpPr>
            <p:cNvPr id="12" name="s19 t2 label"/>
            <p:cNvSpPr txBox="1"/>
            <p:nvPr/>
          </p:nvSpPr>
          <p:spPr>
            <a:xfrm>
              <a:off x="4544568" y="405079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THE ARITHMETIC</a:t>
              </a:r>
              <a:endParaRPr lang="en-US" sz="900" dirty="0"/>
            </a:p>
          </p:txBody>
        </p:sp>
        <p:sp>
          <p:nvSpPr>
            <p:cNvPr id="13" name="s19 t2 value"/>
            <p:cNvSpPr txBox="1"/>
            <p:nvPr/>
          </p:nvSpPr>
          <p:spPr>
            <a:xfrm>
              <a:off x="4544568"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 × R$40 − R$5</a:t>
              </a:r>
              <a:endParaRPr lang="en-US" sz="2400" dirty="0"/>
            </a:p>
          </p:txBody>
        </p:sp>
        <p:sp>
          <p:nvSpPr>
            <p:cNvPr id="14" name="s19 t2 sub"/>
            <p:cNvSpPr txBox="1"/>
            <p:nvPr/>
          </p:nvSpPr>
          <p:spPr>
            <a:xfrm>
              <a:off x="4544568"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per call, where p is the share of calls that reach a would-be 1–2★ reviewer who has not yet written.</a:t>
              </a:r>
              <a:endParaRPr lang="en-US" sz="1050" dirty="0"/>
            </a:p>
          </p:txBody>
        </p:sp>
      </p:grpSp>
      <p:grpSp>
        <p:nvGrpSpPr>
          <p:cNvPr id="21" name="s19 t3">
            <a:extLst>
              <a:ext uri="{FF2B5EF4-FFF2-40B4-BE49-F238E27FC236}">
                <a16:creationId xmlns:a16="http://schemas.microsoft.com/office/drawing/2014/main" id="{3B5C9297-7F79-648A-966E-2B414DF4439E}"/>
              </a:ext>
            </a:extLst>
          </p:cNvPr>
          <p:cNvGrpSpPr/>
          <p:nvPr/>
        </p:nvGrpSpPr>
        <p:grpSpPr>
          <a:xfrm>
            <a:off x="8083296" y="3886200"/>
            <a:ext cx="3557016" cy="2240280"/>
            <a:chOff x="8083296" y="3886200"/>
            <a:chExt cx="3557016" cy="2240280"/>
          </a:xfrm>
        </p:grpSpPr>
        <p:sp>
          <p:nvSpPr>
            <p:cNvPr id="15" name="s19 t3 bg"/>
            <p:cNvSpPr/>
            <p:nvPr/>
          </p:nvSpPr>
          <p:spPr>
            <a:xfrm>
              <a:off x="8083296" y="3886200"/>
              <a:ext cx="3557016" cy="2240280"/>
            </a:xfrm>
            <a:prstGeom prst="roundRect">
              <a:avLst>
                <a:gd name="adj" fmla="val 4898"/>
              </a:avLst>
            </a:prstGeom>
            <a:solidFill>
              <a:srgbClr val="F9ECEC"/>
            </a:solidFill>
            <a:ln w="12700">
              <a:solidFill>
                <a:srgbClr val="F9ECEC">
                  <a:alpha val="0"/>
                </a:srgbClr>
              </a:solidFill>
              <a:prstDash val="solid"/>
            </a:ln>
          </p:spPr>
        </p:sp>
        <p:sp>
          <p:nvSpPr>
            <p:cNvPr id="16" name="s19 t3 label"/>
            <p:cNvSpPr txBox="1"/>
            <p:nvPr/>
          </p:nvSpPr>
          <p:spPr>
            <a:xfrm>
              <a:off x="8311896" y="4050792"/>
              <a:ext cx="3145536"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WHAT THE PILOT MEASURES</a:t>
              </a:r>
              <a:endParaRPr lang="en-US" sz="900" dirty="0"/>
            </a:p>
          </p:txBody>
        </p:sp>
        <p:sp>
          <p:nvSpPr>
            <p:cNvPr id="17" name="s19 t3 value"/>
            <p:cNvSpPr txBox="1"/>
            <p:nvPr/>
          </p:nvSpPr>
          <p:spPr>
            <a:xfrm>
              <a:off x="8311896" y="4288536"/>
              <a:ext cx="3145536"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57% → 45%</a:t>
              </a:r>
              <a:endParaRPr lang="en-US" sz="2400" dirty="0"/>
            </a:p>
          </p:txBody>
        </p:sp>
        <p:sp>
          <p:nvSpPr>
            <p:cNvPr id="18" name="s19 t3 sub"/>
            <p:cNvSpPr txBox="1"/>
            <p:nvPr/>
          </p:nvSpPr>
          <p:spPr>
            <a:xfrm>
              <a:off x="8311896" y="4846320"/>
              <a:ext cx="3145536"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the cut in the called group's 1–2★ rate that pays back; 191 customers per arm, six weeks at ten calls a day.</a:t>
              </a:r>
              <a:endParaRPr lang="en-US" sz="1050" dirty="0"/>
            </a:p>
          </p:txBody>
        </p:sp>
      </p:gr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s20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0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Limits, and what we would do next</a:t>
            </a:r>
            <a:endParaRPr lang="en-US" sz="2700" dirty="0"/>
          </a:p>
        </p:txBody>
      </p:sp>
      <p:sp>
        <p:nvSpPr>
          <p:cNvPr id="4" name="s20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5" name="s20 panel 3"/>
          <p:cNvSpPr/>
          <p:nvPr/>
        </p:nvSpPr>
        <p:spPr>
          <a:xfrm>
            <a:off x="548640" y="1783080"/>
            <a:ext cx="5440680" cy="1280160"/>
          </a:xfrm>
          <a:prstGeom prst="roundRect">
            <a:avLst>
              <a:gd name="adj" fmla="val 8571"/>
            </a:avLst>
          </a:prstGeom>
          <a:solidFill>
            <a:srgbClr val="EAF1F7"/>
          </a:solidFill>
          <a:ln w="12700">
            <a:solidFill>
              <a:srgbClr val="EAF1F7">
                <a:alpha val="0"/>
              </a:srgbClr>
            </a:solidFill>
            <a:prstDash val="solid"/>
          </a:ln>
        </p:spPr>
      </p:sp>
      <p:sp>
        <p:nvSpPr>
          <p:cNvPr id="6" name="s20 text 4"/>
          <p:cNvSpPr txBox="1"/>
          <p:nvPr/>
        </p:nvSpPr>
        <p:spPr>
          <a:xfrm>
            <a:off x="777240" y="1920240"/>
            <a:ext cx="5029200" cy="310896"/>
          </a:xfrm>
          <a:prstGeom prst="rect">
            <a:avLst/>
          </a:prstGeom>
          <a:noFill/>
          <a:ln/>
        </p:spPr>
        <p:txBody>
          <a:bodyPr wrap="square" lIns="0" tIns="0" rIns="0" bIns="0" rtlCol="0" anchor="t"/>
          <a:lstStyle/>
          <a:p>
            <a:pPr marL="0" indent="0">
              <a:buNone/>
            </a:pPr>
            <a:r>
              <a:rPr lang="en-US" sz="1400" dirty="0">
                <a:solidFill>
                  <a:srgbClr val="245A84"/>
                </a:solidFill>
                <a:latin typeface="Segoe UI Semibold" pitchFamily="34" charset="0"/>
                <a:ea typeface="Segoe UI Semibold" pitchFamily="34" charset="-122"/>
                <a:cs typeface="Segoe UI Semibold" pitchFamily="34" charset="-120"/>
              </a:rPr>
              <a:t>A moving target</a:t>
            </a:r>
            <a:endParaRPr lang="en-US" sz="1400" dirty="0"/>
          </a:p>
        </p:txBody>
      </p:sp>
      <p:sp>
        <p:nvSpPr>
          <p:cNvPr id="7" name="s20 text 5"/>
          <p:cNvSpPr txBox="1"/>
          <p:nvPr/>
        </p:nvSpPr>
        <p:spPr>
          <a:xfrm>
            <a:off x="777240"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Lead time fell 5.3 days between training and test; the forecast over-predicts everywhere, from +1.2 days (Southeast) to +4.8 (North). Refit monthly.</a:t>
            </a:r>
            <a:endParaRPr lang="en-US" sz="1100" dirty="0"/>
          </a:p>
        </p:txBody>
      </p:sp>
      <p:sp>
        <p:nvSpPr>
          <p:cNvPr id="8" name="s20 panel 6"/>
          <p:cNvSpPr/>
          <p:nvPr/>
        </p:nvSpPr>
        <p:spPr>
          <a:xfrm>
            <a:off x="6199632" y="1783080"/>
            <a:ext cx="5440680" cy="1280160"/>
          </a:xfrm>
          <a:prstGeom prst="roundRect">
            <a:avLst>
              <a:gd name="adj" fmla="val 8571"/>
            </a:avLst>
          </a:prstGeom>
          <a:solidFill>
            <a:srgbClr val="F8F1E3"/>
          </a:solidFill>
          <a:ln w="12700">
            <a:solidFill>
              <a:srgbClr val="F8F1E3">
                <a:alpha val="0"/>
              </a:srgbClr>
            </a:solidFill>
            <a:prstDash val="solid"/>
          </a:ln>
        </p:spPr>
      </p:sp>
      <p:sp>
        <p:nvSpPr>
          <p:cNvPr id="9" name="s20 text 7"/>
          <p:cNvSpPr txBox="1"/>
          <p:nvPr/>
        </p:nvSpPr>
        <p:spPr>
          <a:xfrm>
            <a:off x="6428232" y="1920240"/>
            <a:ext cx="5029200" cy="310896"/>
          </a:xfrm>
          <a:prstGeom prst="rect">
            <a:avLst/>
          </a:prstGeom>
          <a:noFill/>
          <a:ln/>
        </p:spPr>
        <p:txBody>
          <a:bodyPr wrap="square" lIns="0" tIns="0" rIns="0" bIns="0" rtlCol="0" anchor="t"/>
          <a:lstStyle/>
          <a:p>
            <a:pPr marL="0" indent="0">
              <a:buNone/>
            </a:pPr>
            <a:r>
              <a:rPr lang="en-US" sz="1400" dirty="0">
                <a:solidFill>
                  <a:srgbClr val="93661A"/>
                </a:solidFill>
                <a:latin typeface="Segoe UI Semibold" pitchFamily="34" charset="0"/>
                <a:ea typeface="Segoe UI Semibold" pitchFamily="34" charset="-122"/>
                <a:cs typeface="Segoe UI Semibold" pitchFamily="34" charset="-120"/>
              </a:rPr>
              <a:t>Shocks no order can see</a:t>
            </a:r>
            <a:endParaRPr lang="en-US" sz="1400" dirty="0"/>
          </a:p>
        </p:txBody>
      </p:sp>
      <p:sp>
        <p:nvSpPr>
          <p:cNvPr id="10" name="s20 text 8"/>
          <p:cNvSpPr txBox="1"/>
          <p:nvPr/>
        </p:nvSpPr>
        <p:spPr>
          <a:xfrm>
            <a:off x="6428232"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Black Friday, a carrier slowdown, a truckers' strike: carrier capacity and promise policy, not order attributes. The late flag has a ceiling.</a:t>
            </a:r>
            <a:endParaRPr lang="en-US" sz="1100" dirty="0"/>
          </a:p>
        </p:txBody>
      </p:sp>
      <p:sp>
        <p:nvSpPr>
          <p:cNvPr id="11" name="s20 panel 9"/>
          <p:cNvSpPr/>
          <p:nvPr/>
        </p:nvSpPr>
        <p:spPr>
          <a:xfrm>
            <a:off x="548640" y="3200400"/>
            <a:ext cx="5440680" cy="1280160"/>
          </a:xfrm>
          <a:prstGeom prst="roundRect">
            <a:avLst>
              <a:gd name="adj" fmla="val 8571"/>
            </a:avLst>
          </a:prstGeom>
          <a:solidFill>
            <a:srgbClr val="F9ECEC"/>
          </a:solidFill>
          <a:ln w="12700">
            <a:solidFill>
              <a:srgbClr val="F9ECEC">
                <a:alpha val="0"/>
              </a:srgbClr>
            </a:solidFill>
            <a:prstDash val="solid"/>
          </a:ln>
        </p:spPr>
      </p:sp>
      <p:sp>
        <p:nvSpPr>
          <p:cNvPr id="12" name="s20 text 10"/>
          <p:cNvSpPr txBox="1"/>
          <p:nvPr/>
        </p:nvSpPr>
        <p:spPr>
          <a:xfrm>
            <a:off x="777240" y="3337560"/>
            <a:ext cx="5029200" cy="310896"/>
          </a:xfrm>
          <a:prstGeom prst="rect">
            <a:avLst/>
          </a:prstGeom>
          <a:noFill/>
          <a:ln/>
        </p:spPr>
        <p:txBody>
          <a:bodyPr wrap="square" lIns="0" tIns="0" rIns="0" bIns="0" rtlCol="0" anchor="t"/>
          <a:lstStyle/>
          <a:p>
            <a:pPr marL="0" indent="0">
              <a:buNone/>
            </a:pPr>
            <a:r>
              <a:rPr lang="en-US" sz="1400" dirty="0">
                <a:solidFill>
                  <a:srgbClr val="A3474D"/>
                </a:solidFill>
                <a:latin typeface="Segoe UI Semibold" pitchFamily="34" charset="0"/>
                <a:ea typeface="Segoe UI Semibold" pitchFamily="34" charset="-122"/>
                <a:cs typeface="Segoe UI Semibold" pitchFamily="34" charset="-120"/>
              </a:rPr>
              <a:t>A rating is not satisfaction</a:t>
            </a:r>
            <a:endParaRPr lang="en-US" sz="1400" dirty="0"/>
          </a:p>
        </p:txBody>
      </p:sp>
      <p:sp>
        <p:nvSpPr>
          <p:cNvPr id="13" name="s20 text 11"/>
          <p:cNvSpPr txBox="1"/>
          <p:nvPr/>
        </p:nvSpPr>
        <p:spPr>
          <a:xfrm>
            <a:off x="777240"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Reviews are self-selected; the quietly unhappy customer never writes one. Product, price and seller effects are not in the data.</a:t>
            </a:r>
            <a:endParaRPr lang="en-US" sz="1100" dirty="0"/>
          </a:p>
        </p:txBody>
      </p:sp>
      <p:sp>
        <p:nvSpPr>
          <p:cNvPr id="14" name="s20 panel 12"/>
          <p:cNvSpPr/>
          <p:nvPr/>
        </p:nvSpPr>
        <p:spPr>
          <a:xfrm>
            <a:off x="6199632" y="3200400"/>
            <a:ext cx="5440680" cy="1280160"/>
          </a:xfrm>
          <a:prstGeom prst="roundRect">
            <a:avLst>
              <a:gd name="adj" fmla="val 8571"/>
            </a:avLst>
          </a:prstGeom>
          <a:solidFill>
            <a:srgbClr val="EBF3EA"/>
          </a:solidFill>
          <a:ln w="12700">
            <a:solidFill>
              <a:srgbClr val="EBF3EA">
                <a:alpha val="0"/>
              </a:srgbClr>
            </a:solidFill>
            <a:prstDash val="solid"/>
          </a:ln>
        </p:spPr>
      </p:sp>
      <p:sp>
        <p:nvSpPr>
          <p:cNvPr id="15" name="s20 text 13"/>
          <p:cNvSpPr txBox="1"/>
          <p:nvPr/>
        </p:nvSpPr>
        <p:spPr>
          <a:xfrm>
            <a:off x="6428232" y="3337560"/>
            <a:ext cx="5029200" cy="310896"/>
          </a:xfrm>
          <a:prstGeom prst="rect">
            <a:avLst/>
          </a:prstGeom>
          <a:noFill/>
          <a:ln/>
        </p:spPr>
        <p:txBody>
          <a:bodyPr wrap="square" lIns="0" tIns="0" rIns="0" bIns="0" rtlCol="0" anchor="t"/>
          <a:lstStyle/>
          <a:p>
            <a:pPr marL="0" indent="0">
              <a:buNone/>
            </a:pPr>
            <a:r>
              <a:rPr lang="en-US" sz="1400" dirty="0">
                <a:solidFill>
                  <a:srgbClr val="41703F"/>
                </a:solidFill>
                <a:latin typeface="Segoe UI Semibold" pitchFamily="34" charset="0"/>
                <a:ea typeface="Segoe UI Semibold" pitchFamily="34" charset="-122"/>
                <a:cs typeface="Segoe UI Semibold" pitchFamily="34" charset="-120"/>
              </a:rPr>
              <a:t>Triage, not judgement</a:t>
            </a:r>
            <a:endParaRPr lang="en-US" sz="1400" dirty="0"/>
          </a:p>
        </p:txBody>
      </p:sp>
      <p:sp>
        <p:nvSpPr>
          <p:cNvPr id="16" name="s20 text 14"/>
          <p:cNvSpPr txBox="1"/>
          <p:nvPr/>
        </p:nvSpPr>
        <p:spPr>
          <a:xfrm>
            <a:off x="6428232"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review score largely restates lateness: never use it to penalise a seller for a carrier's delay.</a:t>
            </a:r>
            <a:endParaRPr lang="en-US" sz="1100" dirty="0"/>
          </a:p>
        </p:txBody>
      </p:sp>
      <p:sp>
        <p:nvSpPr>
          <p:cNvPr id="17" name="s20 panel 15"/>
          <p:cNvSpPr/>
          <p:nvPr/>
        </p:nvSpPr>
        <p:spPr>
          <a:xfrm>
            <a:off x="548640" y="4709160"/>
            <a:ext cx="11091672" cy="1371600"/>
          </a:xfrm>
          <a:prstGeom prst="roundRect">
            <a:avLst>
              <a:gd name="adj" fmla="val 8000"/>
            </a:avLst>
          </a:prstGeom>
          <a:solidFill>
            <a:srgbClr val="F2F4F7"/>
          </a:solidFill>
          <a:ln w="12700">
            <a:solidFill>
              <a:srgbClr val="F2F4F7">
                <a:alpha val="0"/>
              </a:srgbClr>
            </a:solidFill>
            <a:prstDash val="solid"/>
          </a:ln>
        </p:spPr>
      </p:sp>
      <p:sp>
        <p:nvSpPr>
          <p:cNvPr id="18" name="s20 text 16"/>
          <p:cNvSpPr txBox="1"/>
          <p:nvPr/>
        </p:nvSpPr>
        <p:spPr>
          <a:xfrm>
            <a:off x="777240" y="4818888"/>
            <a:ext cx="18288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NEXT</a:t>
            </a:r>
            <a:endParaRPr lang="en-US" sz="950" dirty="0"/>
          </a:p>
        </p:txBody>
      </p:sp>
      <p:sp>
        <p:nvSpPr>
          <p:cNvPr id="19" name="s20 text 17"/>
          <p:cNvSpPr txBox="1"/>
          <p:nvPr/>
        </p:nvSpPr>
        <p:spPr>
          <a:xfrm>
            <a:off x="777240" y="5074920"/>
            <a:ext cx="10607040" cy="960120"/>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Run the six-week pilot (two arms: calls at delivery, contact on the promised date).</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Test sending the survey after the parcel arrives.</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Add carrier tracking data; refit weekly during peaks such as Black Friday.</a:t>
            </a:r>
            <a:endParaRPr lang="en-US" sz="1150" dirty="0"/>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s21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1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app behind the story</a:t>
            </a:r>
            <a:endParaRPr lang="en-US" sz="2700" dirty="0"/>
          </a:p>
        </p:txBody>
      </p:sp>
      <p:sp>
        <p:nvSpPr>
          <p:cNvPr id="4" name="s21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team10-it5006-olist.streamlit.app  ·  the two screens a team uses besides Replay a day (slide 9)</a:t>
            </a:r>
            <a:endParaRPr lang="en-US" sz="1250" dirty="0"/>
          </a:p>
        </p:txBody>
      </p:sp>
      <p:sp>
        <p:nvSpPr>
          <p:cNvPr id="5" name="s21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21 panel 4"/>
          <p:cNvSpPr/>
          <p:nvPr/>
        </p:nvSpPr>
        <p:spPr>
          <a:xfrm>
            <a:off x="548640" y="1737360"/>
            <a:ext cx="6675120" cy="2268744"/>
          </a:xfrm>
          <a:prstGeom prst="roundRect">
            <a:avLst>
              <a:gd name="adj" fmla="val 3224"/>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7" name="s21 panel 5"/>
          <p:cNvSpPr/>
          <p:nvPr/>
        </p:nvSpPr>
        <p:spPr>
          <a:xfrm>
            <a:off x="557784" y="1746504"/>
            <a:ext cx="6656832" cy="292608"/>
          </a:xfrm>
          <a:prstGeom prst="roundRect">
            <a:avLst>
              <a:gd name="adj" fmla="val 18750"/>
            </a:avLst>
          </a:prstGeom>
          <a:solidFill>
            <a:srgbClr val="EEF1F4"/>
          </a:solidFill>
          <a:ln w="12700">
            <a:solidFill>
              <a:srgbClr val="EEF1F4">
                <a:alpha val="0"/>
              </a:srgbClr>
            </a:solidFill>
            <a:prstDash val="solid"/>
          </a:ln>
        </p:spPr>
      </p:sp>
      <p:sp>
        <p:nvSpPr>
          <p:cNvPr id="8" name="s21 dot 6"/>
          <p:cNvSpPr/>
          <p:nvPr/>
        </p:nvSpPr>
        <p:spPr>
          <a:xfrm>
            <a:off x="694944" y="1837944"/>
            <a:ext cx="100584" cy="100584"/>
          </a:xfrm>
          <a:prstGeom prst="ellipse">
            <a:avLst/>
          </a:prstGeom>
          <a:solidFill>
            <a:srgbClr val="C1666B"/>
          </a:solidFill>
          <a:ln w="12700">
            <a:solidFill>
              <a:srgbClr val="C1666B">
                <a:alpha val="0"/>
              </a:srgbClr>
            </a:solidFill>
            <a:prstDash val="solid"/>
          </a:ln>
        </p:spPr>
      </p:sp>
      <p:sp>
        <p:nvSpPr>
          <p:cNvPr id="9" name="s21 dot 7"/>
          <p:cNvSpPr/>
          <p:nvPr/>
        </p:nvSpPr>
        <p:spPr>
          <a:xfrm>
            <a:off x="859536" y="1837944"/>
            <a:ext cx="100584" cy="100584"/>
          </a:xfrm>
          <a:prstGeom prst="ellipse">
            <a:avLst/>
          </a:prstGeom>
          <a:solidFill>
            <a:srgbClr val="C08B2E"/>
          </a:solidFill>
          <a:ln w="12700">
            <a:solidFill>
              <a:srgbClr val="C08B2E">
                <a:alpha val="0"/>
              </a:srgbClr>
            </a:solidFill>
            <a:prstDash val="solid"/>
          </a:ln>
        </p:spPr>
      </p:sp>
      <p:sp>
        <p:nvSpPr>
          <p:cNvPr id="10" name="s21 dot 8"/>
          <p:cNvSpPr/>
          <p:nvPr/>
        </p:nvSpPr>
        <p:spPr>
          <a:xfrm>
            <a:off x="1024128" y="1837944"/>
            <a:ext cx="100584" cy="100584"/>
          </a:xfrm>
          <a:prstGeom prst="ellipse">
            <a:avLst/>
          </a:prstGeom>
          <a:solidFill>
            <a:srgbClr val="5B8C5A"/>
          </a:solidFill>
          <a:ln w="12700">
            <a:solidFill>
              <a:srgbClr val="5B8C5A">
                <a:alpha val="0"/>
              </a:srgbClr>
            </a:solidFill>
            <a:prstDash val="solid"/>
          </a:ln>
        </p:spPr>
      </p:sp>
      <p:pic>
        <p:nvPicPr>
          <p:cNvPr id="11" name="s21 screenshot 9" descr="E:\2025 NUS\IT5006\deck_build\img\shot_predict.png"/>
          <p:cNvPicPr>
            <a:picLocks noChangeAspect="1"/>
          </p:cNvPicPr>
          <p:nvPr/>
        </p:nvPicPr>
        <p:blipFill>
          <a:blip r:embed="rId4"/>
          <a:stretch>
            <a:fillRect/>
          </a:stretch>
        </p:blipFill>
        <p:spPr>
          <a:xfrm>
            <a:off x="640080" y="2084832"/>
            <a:ext cx="6492240" cy="1811544"/>
          </a:xfrm>
          <a:prstGeom prst="rect">
            <a:avLst/>
          </a:prstGeom>
        </p:spPr>
      </p:pic>
      <p:sp>
        <p:nvSpPr>
          <p:cNvPr id="12" name="s21 panel 10"/>
          <p:cNvSpPr/>
          <p:nvPr/>
        </p:nvSpPr>
        <p:spPr>
          <a:xfrm>
            <a:off x="548640" y="4188984"/>
            <a:ext cx="6675120" cy="2254084"/>
          </a:xfrm>
          <a:prstGeom prst="roundRect">
            <a:avLst>
              <a:gd name="adj" fmla="val 3245"/>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3" name="s21 panel 11"/>
          <p:cNvSpPr/>
          <p:nvPr/>
        </p:nvSpPr>
        <p:spPr>
          <a:xfrm>
            <a:off x="557784" y="4198128"/>
            <a:ext cx="6656832" cy="292608"/>
          </a:xfrm>
          <a:prstGeom prst="roundRect">
            <a:avLst>
              <a:gd name="adj" fmla="val 18750"/>
            </a:avLst>
          </a:prstGeom>
          <a:solidFill>
            <a:srgbClr val="EEF1F4"/>
          </a:solidFill>
          <a:ln w="12700">
            <a:solidFill>
              <a:srgbClr val="EEF1F4">
                <a:alpha val="0"/>
              </a:srgbClr>
            </a:solidFill>
            <a:prstDash val="solid"/>
          </a:ln>
        </p:spPr>
      </p:sp>
      <p:sp>
        <p:nvSpPr>
          <p:cNvPr id="14" name="s21 dot 12"/>
          <p:cNvSpPr/>
          <p:nvPr/>
        </p:nvSpPr>
        <p:spPr>
          <a:xfrm>
            <a:off x="694944" y="4289568"/>
            <a:ext cx="100584" cy="100584"/>
          </a:xfrm>
          <a:prstGeom prst="ellipse">
            <a:avLst/>
          </a:prstGeom>
          <a:solidFill>
            <a:srgbClr val="C1666B"/>
          </a:solidFill>
          <a:ln w="12700">
            <a:solidFill>
              <a:srgbClr val="C1666B">
                <a:alpha val="0"/>
              </a:srgbClr>
            </a:solidFill>
            <a:prstDash val="solid"/>
          </a:ln>
        </p:spPr>
      </p:sp>
      <p:sp>
        <p:nvSpPr>
          <p:cNvPr id="15" name="s21 dot 13"/>
          <p:cNvSpPr/>
          <p:nvPr/>
        </p:nvSpPr>
        <p:spPr>
          <a:xfrm>
            <a:off x="859536" y="4289568"/>
            <a:ext cx="100584" cy="100584"/>
          </a:xfrm>
          <a:prstGeom prst="ellipse">
            <a:avLst/>
          </a:prstGeom>
          <a:solidFill>
            <a:srgbClr val="C08B2E"/>
          </a:solidFill>
          <a:ln w="12700">
            <a:solidFill>
              <a:srgbClr val="C08B2E">
                <a:alpha val="0"/>
              </a:srgbClr>
            </a:solidFill>
            <a:prstDash val="solid"/>
          </a:ln>
        </p:spPr>
      </p:sp>
      <p:sp>
        <p:nvSpPr>
          <p:cNvPr id="16" name="s21 dot 14"/>
          <p:cNvSpPr/>
          <p:nvPr/>
        </p:nvSpPr>
        <p:spPr>
          <a:xfrm>
            <a:off x="1024128" y="4289568"/>
            <a:ext cx="100584" cy="100584"/>
          </a:xfrm>
          <a:prstGeom prst="ellipse">
            <a:avLst/>
          </a:prstGeom>
          <a:solidFill>
            <a:srgbClr val="5B8C5A"/>
          </a:solidFill>
          <a:ln w="12700">
            <a:solidFill>
              <a:srgbClr val="5B8C5A">
                <a:alpha val="0"/>
              </a:srgbClr>
            </a:solidFill>
            <a:prstDash val="solid"/>
          </a:ln>
        </p:spPr>
      </p:sp>
      <p:pic>
        <p:nvPicPr>
          <p:cNvPr id="17" name="s21 screenshot 15" descr="E:\2025 NUS\IT5006\deck_build\img\shot_card.png"/>
          <p:cNvPicPr>
            <a:picLocks noChangeAspect="1"/>
          </p:cNvPicPr>
          <p:nvPr/>
        </p:nvPicPr>
        <p:blipFill>
          <a:blip r:embed="rId5"/>
          <a:stretch>
            <a:fillRect/>
          </a:stretch>
        </p:blipFill>
        <p:spPr>
          <a:xfrm>
            <a:off x="640080" y="4536456"/>
            <a:ext cx="6492240" cy="1796884"/>
          </a:xfrm>
          <a:prstGeom prst="rect">
            <a:avLst/>
          </a:prstGeom>
        </p:spPr>
      </p:pic>
      <p:sp>
        <p:nvSpPr>
          <p:cNvPr id="18" name="s21 panel 16"/>
          <p:cNvSpPr/>
          <p:nvPr/>
        </p:nvSpPr>
        <p:spPr>
          <a:xfrm>
            <a:off x="7498080" y="1737360"/>
            <a:ext cx="4142232" cy="1325880"/>
          </a:xfrm>
          <a:prstGeom prst="roundRect">
            <a:avLst>
              <a:gd name="adj" fmla="val 8276"/>
            </a:avLst>
          </a:prstGeom>
          <a:solidFill>
            <a:srgbClr val="EAF1F7"/>
          </a:solidFill>
          <a:ln w="12700">
            <a:solidFill>
              <a:srgbClr val="EAF1F7">
                <a:alpha val="0"/>
              </a:srgbClr>
            </a:solidFill>
            <a:prstDash val="solid"/>
          </a:ln>
        </p:spPr>
      </p:sp>
      <p:sp>
        <p:nvSpPr>
          <p:cNvPr id="19" name="s21 text 17"/>
          <p:cNvSpPr txBox="1"/>
          <p:nvPr/>
        </p:nvSpPr>
        <p:spPr>
          <a:xfrm>
            <a:off x="7699248" y="1874520"/>
            <a:ext cx="3749040" cy="237744"/>
          </a:xfrm>
          <a:prstGeom prst="rect">
            <a:avLst/>
          </a:prstGeom>
          <a:noFill/>
          <a:ln/>
        </p:spPr>
        <p:txBody>
          <a:bodyPr wrap="square" lIns="0" tIns="0" rIns="0" bIns="0" rtlCol="0" anchor="t"/>
          <a:lstStyle/>
          <a:p>
            <a:pPr marL="0" indent="0">
              <a:buNone/>
            </a:pPr>
            <a:r>
              <a:rPr lang="en-US" sz="850" kern="0" spc="120" dirty="0">
                <a:solidFill>
                  <a:srgbClr val="245A84"/>
                </a:solidFill>
                <a:latin typeface="Segoe UI Semibold" pitchFamily="34" charset="0"/>
                <a:ea typeface="Segoe UI Semibold" pitchFamily="34" charset="-122"/>
                <a:cs typeface="Segoe UI Semibold" pitchFamily="34" charset="-120"/>
              </a:rPr>
              <a:t>PREDICT  ·  ONE ORDER AT CHECKOUT</a:t>
            </a:r>
            <a:endParaRPr lang="en-US" sz="850" dirty="0"/>
          </a:p>
        </p:txBody>
      </p:sp>
      <p:sp>
        <p:nvSpPr>
          <p:cNvPr id="20" name="s21 text 18"/>
          <p:cNvSpPr txBox="1"/>
          <p:nvPr/>
        </p:nvSpPr>
        <p:spPr>
          <a:xfrm>
            <a:off x="7699248" y="2148840"/>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Enter an order: the app returns the forecast delivery days, the risk of missing the promise and what operations should do with it.</a:t>
            </a:r>
            <a:endParaRPr lang="en-US" sz="1100" dirty="0"/>
          </a:p>
        </p:txBody>
      </p:sp>
      <p:sp>
        <p:nvSpPr>
          <p:cNvPr id="21" name="s21 panel 19"/>
          <p:cNvSpPr/>
          <p:nvPr/>
        </p:nvSpPr>
        <p:spPr>
          <a:xfrm>
            <a:off x="7498080" y="3218688"/>
            <a:ext cx="4142232" cy="1325880"/>
          </a:xfrm>
          <a:prstGeom prst="roundRect">
            <a:avLst>
              <a:gd name="adj" fmla="val 8276"/>
            </a:avLst>
          </a:prstGeom>
          <a:solidFill>
            <a:srgbClr val="F8F1E3"/>
          </a:solidFill>
          <a:ln w="12700">
            <a:solidFill>
              <a:srgbClr val="F8F1E3">
                <a:alpha val="0"/>
              </a:srgbClr>
            </a:solidFill>
            <a:prstDash val="solid"/>
          </a:ln>
        </p:spPr>
      </p:sp>
      <p:sp>
        <p:nvSpPr>
          <p:cNvPr id="22" name="s21 text 20"/>
          <p:cNvSpPr txBox="1"/>
          <p:nvPr/>
        </p:nvSpPr>
        <p:spPr>
          <a:xfrm>
            <a:off x="7699248" y="3355848"/>
            <a:ext cx="3749040" cy="237744"/>
          </a:xfrm>
          <a:prstGeom prst="rect">
            <a:avLst/>
          </a:prstGeom>
          <a:noFill/>
          <a:ln/>
        </p:spPr>
        <p:txBody>
          <a:bodyPr wrap="square" lIns="0" tIns="0" rIns="0" bIns="0" rtlCol="0" anchor="t"/>
          <a:lstStyle/>
          <a:p>
            <a:pPr marL="0" indent="0">
              <a:buNone/>
            </a:pPr>
            <a:r>
              <a:rPr lang="en-US" sz="850" kern="0" spc="120" dirty="0">
                <a:solidFill>
                  <a:srgbClr val="93661A"/>
                </a:solidFill>
                <a:latin typeface="Segoe UI Semibold" pitchFamily="34" charset="0"/>
                <a:ea typeface="Segoe UI Semibold" pitchFamily="34" charset="-122"/>
                <a:cs typeface="Segoe UI Semibold" pitchFamily="34" charset="-120"/>
              </a:rPr>
              <a:t>MODEL CARD  ·  WHAT IS DEPLOYED</a:t>
            </a:r>
            <a:endParaRPr lang="en-US" sz="850" dirty="0"/>
          </a:p>
        </p:txBody>
      </p:sp>
      <p:sp>
        <p:nvSpPr>
          <p:cNvPr id="23" name="s21 text 21"/>
          <p:cNvSpPr txBox="1"/>
          <p:nvPr/>
        </p:nvSpPr>
        <p:spPr>
          <a:xfrm>
            <a:off x="7699248" y="3630168"/>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three deployed estimators, their test metrics and fold-to-fold spread, where not to trust them, and a calculator for the pilot.</a:t>
            </a:r>
            <a:endParaRPr lang="en-US" sz="1100" dirty="0"/>
          </a:p>
        </p:txBody>
      </p:sp>
      <p:sp>
        <p:nvSpPr>
          <p:cNvPr id="24" name="s21 panel 22"/>
          <p:cNvSpPr/>
          <p:nvPr/>
        </p:nvSpPr>
        <p:spPr>
          <a:xfrm>
            <a:off x="7498080" y="4700016"/>
            <a:ext cx="4142232" cy="1325880"/>
          </a:xfrm>
          <a:prstGeom prst="roundRect">
            <a:avLst>
              <a:gd name="adj" fmla="val 8276"/>
            </a:avLst>
          </a:prstGeom>
          <a:solidFill>
            <a:srgbClr val="F2F4F7"/>
          </a:solidFill>
          <a:ln w="12700">
            <a:solidFill>
              <a:srgbClr val="F2F4F7">
                <a:alpha val="0"/>
              </a:srgbClr>
            </a:solidFill>
            <a:prstDash val="solid"/>
          </a:ln>
        </p:spPr>
      </p:sp>
      <p:sp>
        <p:nvSpPr>
          <p:cNvPr id="25" name="s21 text 23"/>
          <p:cNvSpPr txBox="1"/>
          <p:nvPr/>
        </p:nvSpPr>
        <p:spPr>
          <a:xfrm>
            <a:off x="7699248" y="4837176"/>
            <a:ext cx="3749040" cy="237744"/>
          </a:xfrm>
          <a:prstGeom prst="rect">
            <a:avLst/>
          </a:prstGeom>
          <a:noFill/>
          <a:ln/>
        </p:spPr>
        <p:txBody>
          <a:bodyPr wrap="square" lIns="0" tIns="0" rIns="0" bIns="0" rtlCol="0" anchor="t"/>
          <a:lstStyle/>
          <a:p>
            <a:pPr marL="0" indent="0">
              <a:buNone/>
            </a:pPr>
            <a:r>
              <a:rPr lang="en-US" sz="850" kern="0" spc="120" dirty="0">
                <a:solidFill>
                  <a:srgbClr val="41703F"/>
                </a:solidFill>
                <a:latin typeface="Segoe UI Semibold" pitchFamily="34" charset="0"/>
                <a:ea typeface="Segoe UI Semibold" pitchFamily="34" charset="-122"/>
                <a:cs typeface="Segoe UI Semibold" pitchFamily="34" charset="-120"/>
              </a:rPr>
              <a:t>ALSO IN THE APP</a:t>
            </a:r>
            <a:endParaRPr lang="en-US" sz="850" dirty="0"/>
          </a:p>
        </p:txBody>
      </p:sp>
      <p:sp>
        <p:nvSpPr>
          <p:cNvPr id="26" name="s21 text 24"/>
          <p:cNvSpPr txBox="1"/>
          <p:nvPr/>
        </p:nvSpPr>
        <p:spPr>
          <a:xfrm>
            <a:off x="7699248" y="5111496"/>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Batch scoring of a CSV file into a ranked call list (in Predict), Replay a day, and five tabs exploring the data: Overview, Delivery, Geography, Satisfaction, Data quality.</a:t>
            </a:r>
            <a:endParaRPr lang="en-US" sz="1100" dirty="0"/>
          </a:p>
        </p:txBody>
      </p:sp>
    </p:spTree>
  </p:cSld>
  <p:clrMapOvr>
    <a:masterClrMapping/>
  </p:clrMapOvr>
  <p:transition>
    <p:fade/>
  </p:transition>
</p:sld>
</file>

<file path=ppt/theme/theme1.xml><?xml version="1.0" encoding="utf-8"?>
<a:theme xmlns:a="http://schemas.openxmlformats.org/drawingml/2006/main" name="Olist Group 10 Story">
  <a:themeElements>
    <a:clrScheme name="Olist Group 10 Story">
      <a:dk1>
        <a:srgbClr val="16222F"/>
      </a:dk1>
      <a:lt1>
        <a:srgbClr val="FFFFFF"/>
      </a:lt1>
      <a:dk2>
        <a:srgbClr val="3F4D5B"/>
      </a:dk2>
      <a:lt2>
        <a:srgbClr val="F2F4F7"/>
      </a:lt2>
      <a:accent1>
        <a:srgbClr val="2F6F9F"/>
      </a:accent1>
      <a:accent2>
        <a:srgbClr val="C1666B"/>
      </a:accent2>
      <a:accent3>
        <a:srgbClr val="C08B2E"/>
      </a:accent3>
      <a:accent4>
        <a:srgbClr val="5B8C5A"/>
      </a:accent4>
      <a:accent5>
        <a:srgbClr val="7A6C9B"/>
      </a:accent5>
      <a:accent6>
        <a:srgbClr val="3F8E8C"/>
      </a:accent6>
      <a:hlink>
        <a:srgbClr val="2F6F9F"/>
      </a:hlink>
      <a:folHlink>
        <a:srgbClr val="6B7885"/>
      </a:folHlink>
    </a:clrScheme>
    <a:fontScheme name="Olist Group 10 Story">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5646</Words>
  <Application>Microsoft Office PowerPoint</Application>
  <PresentationFormat>宽屏</PresentationFormat>
  <Paragraphs>529</Paragraphs>
  <Slides>21</Slides>
  <Notes>21</Notes>
  <HiddenSlides>8</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21</vt:i4>
      </vt:variant>
    </vt:vector>
  </HeadingPairs>
  <TitlesOfParts>
    <vt:vector size="27" baseType="lpstr">
      <vt:lpstr>Georgia</vt:lpstr>
      <vt:lpstr>Segoe UI</vt:lpstr>
      <vt:lpstr>Arial</vt:lpstr>
      <vt:lpstr>Segoe UI Semibold</vt:lpstr>
      <vt:lpstr>Segoe UI Light</vt:lpstr>
      <vt:lpstr>Olist Group 10 Story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bad review before it's written</dc:title>
  <dc:subject>IT5006 Phase 3 final presentation</dc:subject>
  <dc:creator>Group 10 - Pan Pinyou, Li Yudan, Zhu Gengyu</dc:creator>
  <cp:lastModifiedBy>耕余 朱</cp:lastModifiedBy>
  <cp:revision>2</cp:revision>
  <dcterms:created xsi:type="dcterms:W3CDTF">2026-10-29T15:59:37Z</dcterms:created>
  <dcterms:modified xsi:type="dcterms:W3CDTF">2026-10-29T16:01:29Z</dcterms:modified>
</cp:coreProperties>
</file>