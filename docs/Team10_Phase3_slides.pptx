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3" d="100"/>
          <a:sy n="103" d="100"/>
        </p:scale>
        <p:origin x="798" y="8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16843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0:00–0:25 | Good morning/afternoon Professor and everyone. We are Team 10: Pan Pinyou, Li Yudan and Zhu Gengyu. Our project is not a story about chasing the fanciest algorithm — it is a detective story about timing: how to catch a 1-star e-commerce review BEFORE the customer has already written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0:25–1:10 | Let's start with one real customer in São Gonçalo. On 16 July 2018 the buyer ordered a R$65 health &amp; beauty item from 2,267 km away. Olist promised delivery by 7 August. That day came and went — silence. Two days later, Olist's automated system emailed the buyer asking 'How was your order?' Frustrated and empty-handed, the buyer gave 1 star on 11 August. When the parcel finally arrived 10.5 days late on 17 August, the 1-star review was already nearly 6 days old.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1:10–1:50 | Was this buyer just unlucky? We checked all 95,561 delivered orders. When a parcel arrives on time, only 9.2% of buyers leave a 1- or 2-star review. Once it crosses the promised date, bad reviews jump nearly six times to 54% — and past 4 days late, over 61% to 79% are unhappy. Only 1 in 12 parcels arrives late, yet they cause a full third of all bad reviews on Olist.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1:50–2:35 | Here is the twist that changed our entire project. Why not just call every risky order right after delivery? We checked WHEN reviews are actually written. For on-time orders — which still account for 66% of all bad reviews — buyers wait about 2.1 days after delivery before reviewing. That gives support a real 2-day window to call. But for late orders, Olist fires the survey on the promised date — so 87.3% of unhappy late buyers have ALREADY submitted their 1- or 2-star review before the box even lands! So the real question isn't just WHO is unhappy, it's WHEN Olist can still act.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2:35–3:15 | Why couldn't Olist's existing calendar catch this? Because the ground underneath them kept moving. Average delivery time actually halved from 17 days to under 8 days — yet sudden shocks like the Feb–Mar 2018 carrier jam pushed lateness past 21%, and the May 2018 national truckers' strike forced Olist to pad promises up to 37 days. And if an analytics team accidentally leaks future timestamps or mixes dates randomly, you get a fake 1.00 AUC that collapses in production. So we tested everything strictly forward in time on unseen July–August 2018 orders.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3:15–4:00 | That diagnosis gave us our solution map: three moments before the review, and one simple tool for each. First, at checkout, Operations uses a delivery-time forecast to quote honest dates and flag risky routes. Second, on the promised date, Customer Care doesn't need machine learning at all — just a calendar rule that messages the buyer and pauses the review survey the moment an order goes overdue. Third, at delivery, Customer Experience gets a daily top-10 call list for buyers most likely to leave 1–2 stars. Notice: even a single tree captures 96% of the signal. Choosing the right moment mattered far more than a fancy model.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4:00–4:45 | Let's check the proof on unseen July and August 2018 orders. First, at checkout: Olist's padded promises miss actual arrival by nearly 10 days. Our forecast cuts that error by 60% down to 3.9 days — for free. It also catches 35% of late orders in the top 10%, including our opening São Gonçalo buyer at #23 that day. Just as important is what NOT to do: if express shipping costs R$12 against a R$40 bad review, you need 30% precision to break even — and checkout-only flags plateau at 27 to 28% because 75% of transit happens later with the carrier. So quote honest dates and send free warnings, don't burn cash rushing parcels blind.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4:45–5:30 | Now look at Moment 3 — at delivery. If a support team calls 10 orders at random, only 11 out of 100 calls reach an unhappy customer. With our daily top-10 list across all 62 unseen test days, 57 out of 100 calls reach a real 1- or 2-star buyer — over 5 times random! And here's the crucial check: some of those hits are orders that never arrived, and the promised-date rule is what reaches them. Drop every never-delivered order and the daily top-10 still hits 45 unhappy customers per 100 calls, against 10 at random; on strictly on-time parcels — where 99.5% of buyers haven't written yet and wait 2.1 days — the top 5% are 28% unhappy, three and a half times random. That catches broken, wrong, or high-freight items while we can still fix them.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5:30–6:15 | Everything we just showed lives inside our deployed Streamlit web app, which we'll demo live in two minutes. In the 'Replay a day' tab, you pick any unseen day in July or August 2018 — here 16 July with 244 reviewed orders — get the blind morning call list first, and then click 'Reveal what actually happened'. 8 out of 10 flagged orders actually left 1–2 stars: 4 wrote while waiting for a late box, and 4 never received their parcel at all. And #1 on that list at 85% risk is our opening São Gonçalo buyer!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6:15–6:50 | So what should Olist actually launch on Monday? Four concrete moves: One, at checkout, quote our honest forecast and show a free warning banner above 11% risk. Two, on the promised date, automatically apologise and pause the review survey whenever an order goes overdue. Three, at delivery, have support call the daily top-10 risk list. And four, do NOT pay R$12 to rush orders off a checkout flag alone — wait for a live carrier scan.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6:50–7:25 | Under a R$5 call against a R$40 bad-review cost, daily triage is worth R$775 to R$1,466 per thousand orders. Now here is our honest catch: in the historical dataset, nobody was ever called — so we know we find the right unhappy customers, not how often a call changes their mind. Instead of guessing, Olist can run a 6-week A/B pilot tomorrow using our app: take each morning's top 10, randomly call 5 and hold 5 as control. Converting just 1 in 5 breaks even at 44.7%, and in 6 weeks we have 80% statistical power to prove a 1-in-4 drop to 42.9% — plus Arm B testing the promised-date survey pause.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7:25–7:50 | Stepping back, three takeaways stood out. First, timing beats fancy models: checking WHEN reviews are written unlocked far more value than switching algorithms. Second, judge strictly on unseen future data and refit monthly as the network moves. Third, design honestly around blind spots — and never use delay scores to punish sellers for carrier delays beyond their control.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7:50–8:00 (+ 2:00 Live App Demo) | The review arrived before the parcel — with three simple interventions, Olist can get there first. Let's switch over to our live Streamlit app now to replay 16 July 2018 and score a live checkout order!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hyperlink" Target="https://team10-it5006-olist.streamlit.app/" TargetMode="External"/><Relationship Id="rId10"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jpg"/><Relationship Id="rId4"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5.png"/><Relationship Id="rId12" Type="http://schemas.openxmlformats.org/officeDocument/2006/relationships/slide" Target="slide2.xml"/><Relationship Id="rId13" Type="http://schemas.openxmlformats.org/officeDocument/2006/relationships/slide" Target="slide5.xml"/><Relationship Id="rId14" Type="http://schemas.openxmlformats.org/officeDocument/2006/relationships/slide" Target="slide7.xml"/><Relationship Id="rId15" Type="http://schemas.openxmlformats.org/officeDocument/2006/relationships/slide" Target="slide10.xml"/><Relationship Id="rId16" Type="http://schemas.openxmlformats.org/officeDocument/2006/relationships/slide" Target="slide12.xml"/><Relationship Id="rId17" Type="http://schemas.openxmlformats.org/officeDocument/2006/relationships/slide" Target="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2.xml"/><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slide" Target="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2.jp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6.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slide" Target="slide2.xml"/><Relationship Id="rId10" Type="http://schemas.openxmlformats.org/officeDocument/2006/relationships/slide" Target="slide5.xml"/><Relationship Id="rId11" Type="http://schemas.openxmlformats.org/officeDocument/2006/relationships/slide" Target="slide7.xml"/><Relationship Id="rId12" Type="http://schemas.openxmlformats.org/officeDocument/2006/relationships/slide" Target="slide10.xml"/><Relationship Id="rId13" Type="http://schemas.openxmlformats.org/officeDocument/2006/relationships/slide" Target="slide12.xml"/><Relationship Id="rId14" Type="http://schemas.openxmlformats.org/officeDocument/2006/relationships/image" Target="../media/image13.png"/><Relationship Id="rId15" Type="http://schemas.openxmlformats.org/officeDocument/2006/relationships/slide" Target="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2.xml"/><Relationship Id="rId9" Type="http://schemas.openxmlformats.org/officeDocument/2006/relationships/image" Target="../media/image17.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9.png"/><Relationship Id="rId13" Type="http://schemas.openxmlformats.org/officeDocument/2006/relationships/slide" Target="slide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slide" Target="slide2.xml"/><Relationship Id="rId9" Type="http://schemas.openxmlformats.org/officeDocument/2006/relationships/slide" Target="slide5.xml"/><Relationship Id="rId10" Type="http://schemas.openxmlformats.org/officeDocument/2006/relationships/slide" Target="slide7.xml"/><Relationship Id="rId11" Type="http://schemas.openxmlformats.org/officeDocument/2006/relationships/slide" Target="slide10.xml"/><Relationship Id="rId12" Type="http://schemas.openxmlformats.org/officeDocument/2006/relationships/slide" Target="slide12.xml"/><Relationship Id="rId13" Type="http://schemas.openxmlformats.org/officeDocument/2006/relationships/slide" Target="slide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2.xml"/><Relationship Id="rId9" Type="http://schemas.openxmlformats.org/officeDocument/2006/relationships/image" Target="../media/image17.png"/><Relationship Id="rId10" Type="http://schemas.openxmlformats.org/officeDocument/2006/relationships/image" Target="../media/image20.png"/><Relationship Id="rId11" Type="http://schemas.openxmlformats.org/officeDocument/2006/relationships/image" Target="../media/image15.png"/><Relationship Id="rId12" Type="http://schemas.openxmlformats.org/officeDocument/2006/relationships/image" Target="../media/image19.png"/><Relationship Id="rId13" Type="http://schemas.openxmlformats.org/officeDocument/2006/relationships/slide" Target="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2.xml"/><Relationship Id="rId9" Type="http://schemas.openxmlformats.org/officeDocument/2006/relationships/image" Target="../media/image13.png"/><Relationship Id="rId10" Type="http://schemas.openxmlformats.org/officeDocument/2006/relationships/image" Target="../media/image20.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slide" Target="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jpg"/><Relationship Id="rId4" Type="http://schemas.openxmlformats.org/officeDocument/2006/relationships/hyperlink" Target="https://team10-it5006-olist.streamlit.app/" TargetMode="External"/><Relationship Id="rId5" Type="http://schemas.openxmlformats.org/officeDocument/2006/relationships/image" Target="../media/image21.png"/><Relationship Id="rId6" Type="http://schemas.openxmlformats.org/officeDocument/2006/relationships/slide" Target="slide2.xml"/><Relationship Id="rId7" Type="http://schemas.openxmlformats.org/officeDocument/2006/relationships/slide" Target="slide5.xml"/><Relationship Id="rId8" Type="http://schemas.openxmlformats.org/officeDocument/2006/relationships/slide" Target="slide7.xml"/><Relationship Id="rId9" Type="http://schemas.openxmlformats.org/officeDocument/2006/relationships/slide" Target="slide10.xml"/><Relationship Id="rId10" Type="http://schemas.openxmlformats.org/officeDocument/2006/relationships/slide" Target="slide12.xml"/><Relationship Id="rId11" Type="http://schemas.openxmlformats.org/officeDocument/2006/relationships/image" Target="../media/image3.png"/><Relationship Id="rId12" Type="http://schemas.openxmlformats.org/officeDocument/2006/relationships/image" Target="../media/image4.png"/><Relationship Id="rId13" Type="http://schemas.openxmlformats.org/officeDocument/2006/relationships/image" Target="../media/image5.png"/><Relationship Id="rId14" Type="http://schemas.openxmlformats.org/officeDocument/2006/relationships/image" Target="../media/image6.png"/><Relationship Id="rId15" Type="http://schemas.openxmlformats.org/officeDocument/2006/relationships/slide" Target="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2.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slide" Target="slide2.xml"/><Relationship Id="rId9" Type="http://schemas.openxmlformats.org/officeDocument/2006/relationships/slide" Target="slide5.xml"/><Relationship Id="rId10" Type="http://schemas.openxmlformats.org/officeDocument/2006/relationships/slide" Target="slide7.xml"/><Relationship Id="rId11" Type="http://schemas.openxmlformats.org/officeDocument/2006/relationships/slide" Target="slide10.xml"/><Relationship Id="rId12" Type="http://schemas.openxmlformats.org/officeDocument/2006/relationships/slide" Target="slide12.xml"/><Relationship Id="rId13" Type="http://schemas.openxmlformats.org/officeDocument/2006/relationships/image" Target="../media/image17.png"/><Relationship Id="rId14" Type="http://schemas.openxmlformats.org/officeDocument/2006/relationships/image" Target="../media/image14.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slide" Target="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jp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slide" Target="slide2.xml"/><Relationship Id="rId7" Type="http://schemas.openxmlformats.org/officeDocument/2006/relationships/slide" Target="slide5.xml"/><Relationship Id="rId8" Type="http://schemas.openxmlformats.org/officeDocument/2006/relationships/slide" Target="slide7.xml"/><Relationship Id="rId9" Type="http://schemas.openxmlformats.org/officeDocument/2006/relationships/slide" Target="slide10.xml"/><Relationship Id="rId10" Type="http://schemas.openxmlformats.org/officeDocument/2006/relationships/slide" Target="slide12.xml"/><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slide" Target="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2.xml"/><Relationship Id="rId9" Type="http://schemas.openxmlformats.org/officeDocument/2006/relationships/image" Target="../media/image17.png"/><Relationship Id="rId10" Type="http://schemas.openxmlformats.org/officeDocument/2006/relationships/image" Target="../media/image14.png"/><Relationship Id="rId11" Type="http://schemas.openxmlformats.org/officeDocument/2006/relationships/image" Target="../media/image18.png"/><Relationship Id="rId12" Type="http://schemas.openxmlformats.org/officeDocument/2006/relationships/image" Target="../media/image16.png"/><Relationship Id="rId13" Type="http://schemas.openxmlformats.org/officeDocument/2006/relationships/slide" Target="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hyperlink" Target="https://team10-it5006-olist.streamlit.app/" TargetMode="External"/><Relationship Id="rId9" Type="http://schemas.openxmlformats.org/officeDocument/2006/relationships/image" Target="../media/image7.png"/><Relationship Id="rId10" Type="http://schemas.openxmlformats.org/officeDocument/2006/relationships/hyperlink" Target="https://github.com/gengyuzccc-cell/Team10_IT5006_Ecommerce_Analytics_AY2627Sem1" TargetMode="External"/><Relationship Id="rId11" Type="http://schemas.openxmlformats.org/officeDocument/2006/relationships/image" Target="../media/image28.png"/><Relationship Id="rId12" Type="http://schemas.openxmlformats.org/officeDocument/2006/relationships/slide" Target="slide2.xml"/><Relationship Id="rId13" Type="http://schemas.openxmlformats.org/officeDocument/2006/relationships/slide" Target="slide4.xml"/><Relationship Id="rId14" Type="http://schemas.openxmlformats.org/officeDocument/2006/relationships/slide" Target="slide8.xml"/><Relationship Id="rId15" Type="http://schemas.openxmlformats.org/officeDocument/2006/relationships/slide" Target="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image2.jpg"/>
          <p:cNvPicPr>
            <a:picLocks noChangeAspect="1"/>
          </p:cNvPicPr>
          <p:nvPr/>
        </p:nvPicPr>
        <p:blipFill>
          <a:blip r:embed="rId3"/>
          <a:stretch>
            <a:fillRect/>
          </a:stretch>
        </p:blipFill>
        <p:spPr>
          <a:xfrm>
            <a:off x="0" y="0"/>
            <a:ext cx="12191695" cy="6858000"/>
          </a:xfrm>
          <a:prstGeom prst="rect">
            <a:avLst/>
          </a:prstGeom>
        </p:spPr>
      </p:pic>
      <p:pic>
        <p:nvPicPr>
          <p:cNvPr id="3" name="!!BrazilMap" descr="image3.png"/>
          <p:cNvPicPr>
            <a:picLocks noChangeAspect="1"/>
          </p:cNvPicPr>
          <p:nvPr/>
        </p:nvPicPr>
        <p:blipFill>
          <a:blip r:embed="rId4"/>
          <a:stretch>
            <a:fillRect/>
          </a:stretch>
        </p:blipFill>
        <p:spPr>
          <a:xfrm>
            <a:off x="6355080" y="164592"/>
            <a:ext cx="5623560" cy="5779008"/>
          </a:xfrm>
          <a:prstGeom prst="rect">
            <a:avLst/>
          </a:prstGeom>
        </p:spPr>
      </p:pic>
      <p:sp>
        <p:nvSpPr>
          <p:cNvPr id="4" name="Pill"/>
          <p:cNvSpPr/>
          <p:nvPr/>
        </p:nvSpPr>
        <p:spPr>
          <a:xfrm>
            <a:off x="658368" y="530352"/>
            <a:ext cx="4800600" cy="292608"/>
          </a:xfrm>
          <a:prstGeom prst="roundRect">
            <a:avLst>
              <a:gd name="adj" fmla="val 50000"/>
            </a:avLst>
          </a:prstGeom>
          <a:solidFill>
            <a:srgbClr val="172554"/>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60A5FA"/>
                </a:solidFill>
                <a:latin typeface="Segoe UI"/>
              </a:rPr>
              <a:t>NUS IT5006  ·  TEAM 10  ·  PHASE 3 FINAL PRESENTATION</a:t>
            </a:r>
          </a:p>
        </p:txBody>
      </p:sp>
      <p:sp>
        <p:nvSpPr>
          <p:cNvPr id="5" name="HeroTitle"/>
          <p:cNvSpPr txBox="1"/>
          <p:nvPr/>
        </p:nvSpPr>
        <p:spPr>
          <a:xfrm>
            <a:off x="658368" y="1051560"/>
            <a:ext cx="6172200" cy="1600200"/>
          </a:xfrm>
          <a:prstGeom prst="rect">
            <a:avLst/>
          </a:prstGeom>
          <a:noFill/>
        </p:spPr>
        <p:txBody>
          <a:bodyPr wrap="square" lIns="0" tIns="0" rIns="0" bIns="0" anchor="t">
            <a:spAutoFit/>
          </a:bodyPr>
          <a:lstStyle/>
          <a:p>
            <a:pPr algn="l">
              <a:lnSpc>
                <a:spcPct val="108000"/>
              </a:lnSpc>
            </a:pPr>
            <a:r>
              <a:rPr sz="4500" b="1" i="0">
                <a:solidFill>
                  <a:srgbClr val="F8FAFC"/>
                </a:solidFill>
                <a:effectLst>
                  <a:outerShdw blurRad="57150" dist="22860" dir="5400000" algn="tl">
                    <a:srgbClr val="090D16">
                      <a:alpha val="35000"/>
                    </a:srgbClr>
                  </a:outerShdw>
                </a:effectLst>
                <a:latin typeface="Segoe UI"/>
              </a:rPr>
              <a:t>Catch the bad review</a:t>
            </a:r>
          </a:p>
          <a:p>
            <a:pPr algn="l">
              <a:lnSpc>
                <a:spcPct val="108000"/>
              </a:lnSpc>
            </a:pPr>
            <a:r>
              <a:rPr sz="4500" b="1" i="0">
                <a:solidFill>
                  <a:srgbClr val="FB7185"/>
                </a:solidFill>
                <a:effectLst>
                  <a:glow rad="127000">
                    <a:srgbClr val="FB7185">
                      <a:alpha val="24000"/>
                    </a:srgbClr>
                  </a:glow>
                </a:effectLst>
                <a:latin typeface="Segoe UI"/>
              </a:rPr>
              <a:t>before it's written.</a:t>
            </a:r>
          </a:p>
        </p:txBody>
      </p:sp>
      <p:sp>
        <p:nvSpPr>
          <p:cNvPr id="6" name="Text"/>
          <p:cNvSpPr txBox="1"/>
          <p:nvPr/>
        </p:nvSpPr>
        <p:spPr>
          <a:xfrm>
            <a:off x="658368" y="2724912"/>
            <a:ext cx="5806440" cy="822960"/>
          </a:xfrm>
          <a:prstGeom prst="rect">
            <a:avLst/>
          </a:prstGeom>
          <a:noFill/>
        </p:spPr>
        <p:txBody>
          <a:bodyPr wrap="square" lIns="0" tIns="0" rIns="0" bIns="0" anchor="t">
            <a:spAutoFit/>
          </a:bodyPr>
          <a:lstStyle/>
          <a:p>
            <a:pPr algn="l">
              <a:lnSpc>
                <a:spcPct val="132000"/>
              </a:lnSpc>
            </a:pPr>
            <a:r>
              <a:rPr sz="1500" b="0" i="0">
                <a:solidFill>
                  <a:srgbClr val="CBD5E1"/>
                </a:solidFill>
                <a:latin typeface="Segoe UI"/>
              </a:rPr>
              <a:t>How </a:t>
            </a:r>
            <a:r>
              <a:rPr sz="1500" b="1" i="0">
                <a:solidFill>
                  <a:srgbClr val="F8FAFC"/>
                </a:solidFill>
                <a:latin typeface="Segoe UI"/>
              </a:rPr>
              <a:t>100,000 Brazilian e-commerce orders</a:t>
            </a:r>
            <a:r>
              <a:rPr sz="1500" b="0" i="0">
                <a:solidFill>
                  <a:srgbClr val="CBD5E1"/>
                </a:solidFill>
                <a:latin typeface="Segoe UI"/>
              </a:rPr>
              <a:t> revealed why unhappy buyers slip past support — and </a:t>
            </a:r>
            <a:r>
              <a:rPr sz="1500" b="1" i="0">
                <a:solidFill>
                  <a:srgbClr val="34D399"/>
                </a:solidFill>
                <a:latin typeface="Segoe UI"/>
              </a:rPr>
              <a:t>three simple interventions</a:t>
            </a:r>
            <a:r>
              <a:rPr sz="1500" b="0" i="0">
                <a:solidFill>
                  <a:srgbClr val="CBD5E1"/>
                </a:solidFill>
                <a:latin typeface="Segoe UI"/>
              </a:rPr>
              <a:t> that reach them in time.</a:t>
            </a:r>
          </a:p>
        </p:txBody>
      </p:sp>
      <p:sp>
        <p:nvSpPr>
          <p:cNvPr id="7" name="JourneyHeroCard"/>
          <p:cNvSpPr/>
          <p:nvPr/>
        </p:nvSpPr>
        <p:spPr>
          <a:xfrm>
            <a:off x="658368" y="3749039"/>
            <a:ext cx="5833872" cy="1417320"/>
          </a:xfrm>
          <a:prstGeom prst="roundRect">
            <a:avLst>
              <a:gd name="adj" fmla="val 3800"/>
            </a:avLst>
          </a:prstGeom>
          <a:solidFill>
            <a:srgbClr val="111C31"/>
          </a:solidFill>
          <a:ln w="12700">
            <a:solidFill>
              <a:srgbClr val="263650"/>
            </a:solidFill>
          </a:ln>
          <a:effectLst>
            <a:outerShdw blurRad="177800" dist="44450" dir="5400000" algn="tl"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
          <p:cNvSpPr txBox="1"/>
          <p:nvPr/>
        </p:nvSpPr>
        <p:spPr>
          <a:xfrm>
            <a:off x="877824" y="3877056"/>
            <a:ext cx="5303520" cy="219456"/>
          </a:xfrm>
          <a:prstGeom prst="rect">
            <a:avLst/>
          </a:prstGeom>
          <a:noFill/>
        </p:spPr>
        <p:txBody>
          <a:bodyPr wrap="square" lIns="0" tIns="0" rIns="0" bIns="0" anchor="t">
            <a:spAutoFit/>
          </a:bodyPr>
          <a:lstStyle/>
          <a:p>
            <a:pPr algn="l">
              <a:lnSpc>
                <a:spcPct val="122000"/>
              </a:lnSpc>
            </a:pPr>
            <a:r>
              <a:rPr sz="880" b="1" i="0" spc="160">
                <a:solidFill>
                  <a:srgbClr val="94A3B8"/>
                </a:solidFill>
                <a:latin typeface="Segoe UI"/>
              </a:rPr>
              <a:t>FOUR MOMENTS IN EVERY ORDER'S LIFE</a:t>
            </a:r>
          </a:p>
        </p:txBody>
      </p:sp>
      <p:sp>
        <p:nvSpPr>
          <p:cNvPr id="9" name="Rectangle 8"/>
          <p:cNvSpPr/>
          <p:nvPr/>
        </p:nvSpPr>
        <p:spPr>
          <a:xfrm>
            <a:off x="1325880" y="4443984"/>
            <a:ext cx="4434840" cy="2286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g1" descr="image4.png"/>
          <p:cNvPicPr>
            <a:picLocks noChangeAspect="1"/>
          </p:cNvPicPr>
          <p:nvPr/>
        </p:nvPicPr>
        <p:blipFill>
          <a:blip r:embed="rId5"/>
          <a:stretch>
            <a:fillRect/>
          </a:stretch>
        </p:blipFill>
        <p:spPr>
          <a:xfrm>
            <a:off x="1088136" y="4187952"/>
            <a:ext cx="512064" cy="512064"/>
          </a:xfrm>
          <a:prstGeom prst="rect">
            <a:avLst/>
          </a:prstGeom>
        </p:spPr>
      </p:pic>
      <p:sp>
        <p:nvSpPr>
          <p:cNvPr id="11" name="Text"/>
          <p:cNvSpPr txBox="1"/>
          <p:nvPr/>
        </p:nvSpPr>
        <p:spPr>
          <a:xfrm>
            <a:off x="758952" y="4727448"/>
            <a:ext cx="1170432" cy="384048"/>
          </a:xfrm>
          <a:prstGeom prst="rect">
            <a:avLst/>
          </a:prstGeom>
          <a:noFill/>
        </p:spPr>
        <p:txBody>
          <a:bodyPr wrap="square" lIns="0" tIns="0" rIns="0" bIns="0" anchor="t">
            <a:spAutoFit/>
          </a:bodyPr>
          <a:lstStyle/>
          <a:p>
            <a:pPr algn="ctr">
              <a:lnSpc>
                <a:spcPct val="112000"/>
              </a:lnSpc>
            </a:pPr>
            <a:r>
              <a:rPr sz="1000" b="1" i="0">
                <a:solidFill>
                  <a:srgbClr val="60A5FA"/>
                </a:solidFill>
                <a:latin typeface="Segoe UI"/>
              </a:rPr>
              <a:t>1. Checkout</a:t>
            </a:r>
          </a:p>
          <a:p>
            <a:pPr algn="ctr">
              <a:lnSpc>
                <a:spcPct val="112000"/>
              </a:lnSpc>
            </a:pPr>
            <a:r>
              <a:rPr sz="850" b="0" i="0">
                <a:solidFill>
                  <a:srgbClr val="94A3B8"/>
                </a:solidFill>
                <a:latin typeface="Segoe UI"/>
              </a:rPr>
              <a:t>Quote honest date</a:t>
            </a:r>
          </a:p>
        </p:txBody>
      </p:sp>
      <p:pic>
        <p:nvPicPr>
          <p:cNvPr id="12" name="!!g2" descr="image5.png"/>
          <p:cNvPicPr>
            <a:picLocks noChangeAspect="1"/>
          </p:cNvPicPr>
          <p:nvPr/>
        </p:nvPicPr>
        <p:blipFill>
          <a:blip r:embed="rId6"/>
          <a:stretch>
            <a:fillRect/>
          </a:stretch>
        </p:blipFill>
        <p:spPr>
          <a:xfrm>
            <a:off x="2523744" y="4187952"/>
            <a:ext cx="512064" cy="512064"/>
          </a:xfrm>
          <a:prstGeom prst="rect">
            <a:avLst/>
          </a:prstGeom>
        </p:spPr>
      </p:pic>
      <p:sp>
        <p:nvSpPr>
          <p:cNvPr id="13" name="Text"/>
          <p:cNvSpPr txBox="1"/>
          <p:nvPr/>
        </p:nvSpPr>
        <p:spPr>
          <a:xfrm>
            <a:off x="2194560" y="4727448"/>
            <a:ext cx="1170432" cy="384048"/>
          </a:xfrm>
          <a:prstGeom prst="rect">
            <a:avLst/>
          </a:prstGeom>
          <a:noFill/>
        </p:spPr>
        <p:txBody>
          <a:bodyPr wrap="square" lIns="0" tIns="0" rIns="0" bIns="0" anchor="t">
            <a:spAutoFit/>
          </a:bodyPr>
          <a:lstStyle/>
          <a:p>
            <a:pPr algn="ctr">
              <a:lnSpc>
                <a:spcPct val="112000"/>
              </a:lnSpc>
            </a:pPr>
            <a:r>
              <a:rPr sz="1000" b="1" i="0">
                <a:solidFill>
                  <a:srgbClr val="FBBF24"/>
                </a:solidFill>
                <a:latin typeface="Segoe UI"/>
              </a:rPr>
              <a:t>2. Promised date</a:t>
            </a:r>
          </a:p>
          <a:p>
            <a:pPr algn="ctr">
              <a:lnSpc>
                <a:spcPct val="112000"/>
              </a:lnSpc>
            </a:pPr>
            <a:r>
              <a:rPr sz="850" b="0" i="0">
                <a:solidFill>
                  <a:srgbClr val="94A3B8"/>
                </a:solidFill>
                <a:latin typeface="Segoe UI"/>
              </a:rPr>
              <a:t>Speak first if late</a:t>
            </a:r>
          </a:p>
        </p:txBody>
      </p:sp>
      <p:pic>
        <p:nvPicPr>
          <p:cNvPr id="14" name="!!g3" descr="image6.png"/>
          <p:cNvPicPr>
            <a:picLocks noChangeAspect="1"/>
          </p:cNvPicPr>
          <p:nvPr/>
        </p:nvPicPr>
        <p:blipFill>
          <a:blip r:embed="rId7"/>
          <a:stretch>
            <a:fillRect/>
          </a:stretch>
        </p:blipFill>
        <p:spPr>
          <a:xfrm>
            <a:off x="3959352" y="4187952"/>
            <a:ext cx="512064" cy="512064"/>
          </a:xfrm>
          <a:prstGeom prst="rect">
            <a:avLst/>
          </a:prstGeom>
        </p:spPr>
      </p:pic>
      <p:sp>
        <p:nvSpPr>
          <p:cNvPr id="15" name="Text"/>
          <p:cNvSpPr txBox="1"/>
          <p:nvPr/>
        </p:nvSpPr>
        <p:spPr>
          <a:xfrm>
            <a:off x="3630168" y="4727448"/>
            <a:ext cx="1170432" cy="384048"/>
          </a:xfrm>
          <a:prstGeom prst="rect">
            <a:avLst/>
          </a:prstGeom>
          <a:noFill/>
        </p:spPr>
        <p:txBody>
          <a:bodyPr wrap="square" lIns="0" tIns="0" rIns="0" bIns="0" anchor="t">
            <a:spAutoFit/>
          </a:bodyPr>
          <a:lstStyle/>
          <a:p>
            <a:pPr algn="ctr">
              <a:lnSpc>
                <a:spcPct val="112000"/>
              </a:lnSpc>
            </a:pPr>
            <a:r>
              <a:rPr sz="1000" b="1" i="0">
                <a:solidFill>
                  <a:srgbClr val="34D399"/>
                </a:solidFill>
                <a:latin typeface="Segoe UI"/>
              </a:rPr>
              <a:t>3. Delivery</a:t>
            </a:r>
          </a:p>
          <a:p>
            <a:pPr algn="ctr">
              <a:lnSpc>
                <a:spcPct val="112000"/>
              </a:lnSpc>
            </a:pPr>
            <a:r>
              <a:rPr sz="850" b="0" i="0">
                <a:solidFill>
                  <a:srgbClr val="94A3B8"/>
                </a:solidFill>
                <a:latin typeface="Segoe UI"/>
              </a:rPr>
              <a:t>Call top-10 risk list</a:t>
            </a:r>
          </a:p>
        </p:txBody>
      </p:sp>
      <p:pic>
        <p:nvPicPr>
          <p:cNvPr id="16" name="!!g4" descr="image7.png"/>
          <p:cNvPicPr>
            <a:picLocks noChangeAspect="1"/>
          </p:cNvPicPr>
          <p:nvPr/>
        </p:nvPicPr>
        <p:blipFill>
          <a:blip r:embed="rId8"/>
          <a:stretch>
            <a:fillRect/>
          </a:stretch>
        </p:blipFill>
        <p:spPr>
          <a:xfrm>
            <a:off x="5394959" y="4187952"/>
            <a:ext cx="512064" cy="512064"/>
          </a:xfrm>
          <a:prstGeom prst="rect">
            <a:avLst/>
          </a:prstGeom>
        </p:spPr>
      </p:pic>
      <p:sp>
        <p:nvSpPr>
          <p:cNvPr id="17" name="Text"/>
          <p:cNvSpPr txBox="1"/>
          <p:nvPr/>
        </p:nvSpPr>
        <p:spPr>
          <a:xfrm>
            <a:off x="5065776" y="4727448"/>
            <a:ext cx="1170432" cy="384048"/>
          </a:xfrm>
          <a:prstGeom prst="rect">
            <a:avLst/>
          </a:prstGeom>
          <a:noFill/>
        </p:spPr>
        <p:txBody>
          <a:bodyPr wrap="square" lIns="0" tIns="0" rIns="0" bIns="0" anchor="t">
            <a:spAutoFit/>
          </a:bodyPr>
          <a:lstStyle/>
          <a:p>
            <a:pPr algn="ctr">
              <a:lnSpc>
                <a:spcPct val="112000"/>
              </a:lnSpc>
            </a:pPr>
            <a:r>
              <a:rPr sz="1000" b="1" i="0">
                <a:solidFill>
                  <a:srgbClr val="FB7185"/>
                </a:solidFill>
                <a:latin typeface="Segoe UI"/>
              </a:rPr>
              <a:t>4. Review</a:t>
            </a:r>
          </a:p>
          <a:p>
            <a:pPr algn="ctr">
              <a:lnSpc>
                <a:spcPct val="112000"/>
              </a:lnSpc>
            </a:pPr>
            <a:r>
              <a:rPr sz="850" b="0" i="0">
                <a:solidFill>
                  <a:srgbClr val="94A3B8"/>
                </a:solidFill>
                <a:latin typeface="Segoe UI"/>
              </a:rPr>
              <a:t>1–2★ or 5★ posted</a:t>
            </a:r>
          </a:p>
        </p:txBody>
      </p:sp>
      <p:sp>
        <p:nvSpPr>
          <p:cNvPr id="18" name="Text"/>
          <p:cNvSpPr txBox="1"/>
          <p:nvPr/>
        </p:nvSpPr>
        <p:spPr>
          <a:xfrm>
            <a:off x="658368" y="5440680"/>
            <a:ext cx="5852160" cy="472309"/>
          </a:xfrm>
          <a:prstGeom prst="rect">
            <a:avLst/>
          </a:prstGeom>
          <a:noFill/>
        </p:spPr>
        <p:txBody>
          <a:bodyPr wrap="square" lIns="0" tIns="0" rIns="0" bIns="0" anchor="t">
            <a:spAutoFit/>
          </a:bodyPr>
          <a:lstStyle/>
          <a:p>
            <a:pPr>
              <a:lnSpc>
                <a:spcPct val="135000"/>
              </a:lnSpc>
            </a:pPr>
            <a:r>
              <a:rPr lang="en-US" sz="1250" b="1" i="0" dirty="0">
                <a:solidFill>
                  <a:srgbClr val="F8FAFC"/>
                </a:solidFill>
                <a:latin typeface="Segoe UI"/>
              </a:rPr>
              <a:t>P</a:t>
            </a:r>
            <a:r>
              <a:rPr lang="en-US" altLang="zh-CN" sz="1250" b="1" i="0" dirty="0">
                <a:solidFill>
                  <a:srgbClr val="F8FAFC"/>
                </a:solidFill>
                <a:latin typeface="Segoe UI"/>
              </a:rPr>
              <a:t>an </a:t>
            </a:r>
            <a:r>
              <a:rPr lang="en-US" altLang="zh-CN" sz="1250" b="1" i="0" dirty="0" err="1">
                <a:solidFill>
                  <a:srgbClr val="F8FAFC"/>
                </a:solidFill>
                <a:latin typeface="Segoe UI"/>
              </a:rPr>
              <a:t>Pinyou</a:t>
            </a:r>
            <a:r>
              <a:rPr sz="1150" b="0" i="0" dirty="0">
                <a:solidFill>
                  <a:srgbClr val="94A3B8"/>
                </a:solidFill>
                <a:latin typeface="Segoe UI"/>
              </a:rPr>
              <a:t>  ·  </a:t>
            </a:r>
            <a:r>
              <a:rPr lang="en-US" altLang="zh-CN" sz="1200" b="1" dirty="0">
                <a:solidFill>
                  <a:srgbClr val="F8FAFC"/>
                </a:solidFill>
                <a:latin typeface="Segoe UI"/>
              </a:rPr>
              <a:t>Li Yudan</a:t>
            </a:r>
            <a:r>
              <a:rPr lang="zh-CN" altLang="en-US" sz="1200" dirty="0">
                <a:solidFill>
                  <a:srgbClr val="94A3B8"/>
                </a:solidFill>
                <a:latin typeface="Segoe UI"/>
              </a:rPr>
              <a:t>  </a:t>
            </a:r>
            <a:r>
              <a:rPr lang="en-US" altLang="zh-CN" sz="1200">
                <a:solidFill>
                  <a:srgbClr val="94A3B8"/>
                </a:solidFill>
                <a:latin typeface="Segoe UI"/>
              </a:rPr>
              <a:t>·  </a:t>
            </a:r>
            <a:r>
              <a:rPr lang="en-US" altLang="zh-CN" sz="1200" b="1">
                <a:solidFill>
                  <a:srgbClr val="F8FAFC"/>
                </a:solidFill>
                <a:latin typeface="Segoe UI"/>
              </a:rPr>
              <a:t>Zhu </a:t>
            </a:r>
            <a:r>
              <a:rPr lang="en-US" altLang="zh-CN" sz="1200" b="1" dirty="0" err="1">
                <a:solidFill>
                  <a:srgbClr val="F8FAFC"/>
                </a:solidFill>
                <a:latin typeface="Segoe UI"/>
              </a:rPr>
              <a:t>Gengyu</a:t>
            </a:r>
            <a:r>
              <a:rPr lang="en-US" altLang="zh-CN" sz="1100" dirty="0">
                <a:solidFill>
                  <a:srgbClr val="94A3B8"/>
                </a:solidFill>
                <a:latin typeface="Segoe UI"/>
              </a:rPr>
              <a:t> </a:t>
            </a:r>
            <a:endParaRPr lang="en-US" altLang="zh-CN" sz="1200" b="1" dirty="0">
              <a:solidFill>
                <a:srgbClr val="F8FAFC"/>
              </a:solidFill>
              <a:latin typeface="Segoe UI"/>
            </a:endParaRPr>
          </a:p>
          <a:p>
            <a:pPr>
              <a:lnSpc>
                <a:spcPct val="135000"/>
              </a:lnSpc>
            </a:pPr>
            <a:r>
              <a:rPr sz="1150" b="0" i="0" dirty="0">
                <a:solidFill>
                  <a:srgbClr val="94A3B8"/>
                </a:solidFill>
                <a:latin typeface="Segoe UI"/>
              </a:rPr>
              <a:t/>
            </a:r>
            <a:r>
              <a:rPr sz="1050" b="0" i="0" dirty="0" err="1">
                <a:solidFill>
                  <a:srgbClr val="94A3B8"/>
                </a:solidFill>
                <a:latin typeface="Segoe UI"/>
              </a:rPr>
              <a:t>Olist</a:t>
            </a:r>
            <a:r>
              <a:rPr sz="1050" b="0" i="0" dirty="0">
                <a:solidFill>
                  <a:srgbClr val="94A3B8"/>
                </a:solidFill>
                <a:latin typeface="Segoe UI"/>
              </a:rPr>
              <a:t> Brazilian E-Commerce  ·  99,441 orders (2016–2018)  ·  AY2026/27 Sem 1</a:t>
            </a:r>
          </a:p>
        </p:txBody>
      </p:sp>
      <p:sp>
        <p:nvSpPr>
          <p:cNvPr id="19" name="LiveAppQRCard">
            <a:hlinkClick r:id="rId9"/>
          </p:cNvPr>
          <p:cNvSpPr/>
          <p:nvPr/>
        </p:nvSpPr>
        <p:spPr>
          <a:xfrm>
            <a:off x="7955279" y="5321808"/>
            <a:ext cx="3639312" cy="1060704"/>
          </a:xfrm>
          <a:prstGeom prst="roundRect">
            <a:avLst>
              <a:gd name="adj" fmla="val 3800"/>
            </a:avLst>
          </a:prstGeom>
          <a:solidFill>
            <a:srgbClr val="132038"/>
          </a:solidFill>
          <a:ln w="12700">
            <a:solidFill>
              <a:srgbClr val="2D436B"/>
            </a:solidFill>
          </a:ln>
          <a:effectLst>
            <a:outerShdw blurRad="177800" dist="44450" dir="5400000" algn="tl" rotWithShape="0">
              <a:srgbClr val="0F172A">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image8.png">
            <a:hlinkClick r:id="rId9"/>
          </p:cNvPr>
          <p:cNvPicPr>
            <a:picLocks noChangeAspect="1"/>
          </p:cNvPicPr>
          <p:nvPr/>
        </p:nvPicPr>
        <p:blipFill>
          <a:blip r:embed="rId10"/>
          <a:stretch>
            <a:fillRect/>
          </a:stretch>
        </p:blipFill>
        <p:spPr>
          <a:xfrm>
            <a:off x="8101583" y="5422392"/>
            <a:ext cx="859536" cy="859536"/>
          </a:xfrm>
          <a:prstGeom prst="rect">
            <a:avLst/>
          </a:prstGeom>
        </p:spPr>
      </p:pic>
      <p:sp>
        <p:nvSpPr>
          <p:cNvPr id="21" name="Text">
            <a:hlinkClick r:id="rId9"/>
          </p:cNvPr>
          <p:cNvSpPr txBox="1"/>
          <p:nvPr/>
        </p:nvSpPr>
        <p:spPr>
          <a:xfrm>
            <a:off x="9089136" y="5440680"/>
            <a:ext cx="2377440" cy="822960"/>
          </a:xfrm>
          <a:prstGeom prst="rect">
            <a:avLst/>
          </a:prstGeom>
          <a:noFill/>
        </p:spPr>
        <p:txBody>
          <a:bodyPr wrap="square" lIns="0" tIns="0" rIns="0" bIns="0" anchor="t">
            <a:spAutoFit/>
          </a:bodyPr>
          <a:lstStyle/>
          <a:p>
            <a:pPr algn="l">
              <a:lnSpc>
                <a:spcPct val="118000"/>
              </a:lnSpc>
              <a:spcAft>
                <a:spcPts val="200"/>
              </a:spcAft>
            </a:pPr>
            <a:r>
              <a:rPr sz="880" b="1" i="0" spc="140">
                <a:solidFill>
                  <a:srgbClr val="34D399"/>
                </a:solidFill>
                <a:latin typeface="Segoe UI"/>
              </a:rPr>
              <a:t>LIVE INTERACTIVE APP</a:t>
            </a:r>
          </a:p>
          <a:p>
            <a:pPr algn="l">
              <a:lnSpc>
                <a:spcPct val="118000"/>
              </a:lnSpc>
              <a:spcAft>
                <a:spcPts val="200"/>
              </a:spcAft>
            </a:pPr>
            <a:r>
              <a:rPr sz="1080" b="1" i="0">
                <a:solidFill>
                  <a:srgbClr val="F8FAFC"/>
                </a:solidFill>
                <a:latin typeface="Segoe UI"/>
              </a:rPr>
              <a:t>team10-it5006-olist.streamlit.app</a:t>
            </a:r>
          </a:p>
          <a:p>
            <a:pPr algn="l">
              <a:lnSpc>
                <a:spcPct val="118000"/>
              </a:lnSpc>
            </a:pPr>
            <a:r>
              <a:rPr sz="919" b="0" i="0">
                <a:solidFill>
                  <a:srgbClr val="CBD5E1"/>
                </a:solidFill>
                <a:latin typeface="Segoe UI"/>
              </a:rPr>
              <a:t>Scan or click to try Predict &amp; Replay live ↗</a:t>
            </a:r>
          </a:p>
        </p:txBody>
      </p:sp>
      <p:sp>
        <p:nvSpPr>
          <p:cNvPr id="22" name="Card"/>
          <p:cNvSpPr/>
          <p:nvPr/>
        </p:nvSpPr>
        <p:spPr>
          <a:xfrm>
            <a:off x="7498079" y="493776"/>
            <a:ext cx="4096512" cy="329184"/>
          </a:xfrm>
          <a:prstGeom prst="roundRect">
            <a:avLst>
              <a:gd name="adj" fmla="val 3800"/>
            </a:avLst>
          </a:prstGeom>
          <a:solidFill>
            <a:srgbClr val="111C31"/>
          </a:solidFill>
          <a:ln w="12700">
            <a:solidFill>
              <a:srgbClr val="26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
          <p:cNvSpPr txBox="1"/>
          <p:nvPr/>
        </p:nvSpPr>
        <p:spPr>
          <a:xfrm>
            <a:off x="7607808" y="557784"/>
            <a:ext cx="3877056" cy="219456"/>
          </a:xfrm>
          <a:prstGeom prst="rect">
            <a:avLst/>
          </a:prstGeom>
          <a:noFill/>
        </p:spPr>
        <p:txBody>
          <a:bodyPr wrap="square" lIns="0" tIns="0" rIns="0" bIns="0" anchor="t">
            <a:spAutoFit/>
          </a:bodyPr>
          <a:lstStyle/>
          <a:p>
            <a:pPr algn="ctr">
              <a:lnSpc>
                <a:spcPct val="122000"/>
              </a:lnSpc>
            </a:pPr>
            <a:r>
              <a:rPr sz="980" b="1" i="0">
                <a:solidFill>
                  <a:srgbClr val="60A5FA"/>
                </a:solidFill>
                <a:latin typeface="Segoe UI"/>
              </a:rPr>
              <a:t>● </a:t>
            </a:r>
            <a:r>
              <a:rPr sz="940" b="0" i="0">
                <a:solidFill>
                  <a:srgbClr val="CBD5E1"/>
                </a:solidFill>
                <a:latin typeface="Segoe UI"/>
              </a:rPr>
              <a:t>Customer postcodes    </a:t>
            </a:r>
            <a:r>
              <a:rPr sz="980" b="1" i="0">
                <a:solidFill>
                  <a:srgbClr val="FBBF24"/>
                </a:solidFill>
                <a:latin typeface="Segoe UI"/>
              </a:rPr>
              <a:t>● </a:t>
            </a:r>
            <a:r>
              <a:rPr sz="940" b="0" i="0">
                <a:solidFill>
                  <a:srgbClr val="CBD5E1"/>
                </a:solidFill>
                <a:latin typeface="Segoe UI"/>
              </a:rPr>
              <a:t>Seller postcodes across Brazil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20"/>
                                        <p:tgtEl>
                                          <p:spTgt spid="4"/>
                                        </p:tgtEl>
                                      </p:cBhvr>
                                    </p:animEffect>
                                    <p:anim calcmode="lin" valueType="num">
                                      <p:cBhvr>
                                        <p:cTn id="8" dur="520" fill="hold"/>
                                        <p:tgtEl>
                                          <p:spTgt spid="4"/>
                                        </p:tgtEl>
                                        <p:attrNameLst>
                                          <p:attrName>ppt_x</p:attrName>
                                        </p:attrNameLst>
                                      </p:cBhvr>
                                      <p:tavLst>
                                        <p:tav tm="0">
                                          <p:val>
                                            <p:strVal val="#ppt_x"/>
                                          </p:val>
                                        </p:tav>
                                        <p:tav tm="100000">
                                          <p:val>
                                            <p:strVal val="#ppt_x"/>
                                          </p:val>
                                        </p:tav>
                                      </p:tavLst>
                                    </p:anim>
                                    <p:anim calcmode="lin" valueType="num">
                                      <p:cBhvr>
                                        <p:cTn id="9" dur="520" decel="100000" fill="hold"/>
                                        <p:tgtEl>
                                          <p:spTgt spid="4"/>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20"/>
                                        <p:tgtEl>
                                          <p:spTgt spid="5"/>
                                        </p:tgtEl>
                                      </p:cBhvr>
                                    </p:animEffect>
                                    <p:anim calcmode="lin" valueType="num">
                                      <p:cBhvr>
                                        <p:cTn id="13" dur="520" fill="hold"/>
                                        <p:tgtEl>
                                          <p:spTgt spid="5"/>
                                        </p:tgtEl>
                                        <p:attrNameLst>
                                          <p:attrName>ppt_x</p:attrName>
                                        </p:attrNameLst>
                                      </p:cBhvr>
                                      <p:tavLst>
                                        <p:tav tm="0">
                                          <p:val>
                                            <p:strVal val="#ppt_x"/>
                                          </p:val>
                                        </p:tav>
                                        <p:tav tm="100000">
                                          <p:val>
                                            <p:strVal val="#ppt_x"/>
                                          </p:val>
                                        </p:tav>
                                      </p:tavLst>
                                    </p:anim>
                                    <p:anim calcmode="lin" valueType="num">
                                      <p:cBhvr>
                                        <p:cTn id="14" dur="520" decel="100000" fill="hold"/>
                                        <p:tgtEl>
                                          <p:spTgt spid="5"/>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20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60"/>
                                        <p:tgtEl>
                                          <p:spTgt spid="6"/>
                                        </p:tgtEl>
                                      </p:cBhvr>
                                    </p:animEffect>
                                    <p:anim calcmode="lin" valueType="num">
                                      <p:cBhvr>
                                        <p:cTn id="18" dur="460" fill="hold"/>
                                        <p:tgtEl>
                                          <p:spTgt spid="6"/>
                                        </p:tgtEl>
                                        <p:attrNameLst>
                                          <p:attrName>ppt_x</p:attrName>
                                        </p:attrNameLst>
                                      </p:cBhvr>
                                      <p:tavLst>
                                        <p:tav tm="0">
                                          <p:val>
                                            <p:strVal val="#ppt_x"/>
                                          </p:val>
                                        </p:tav>
                                        <p:tav tm="100000">
                                          <p:val>
                                            <p:strVal val="#ppt_x"/>
                                          </p:val>
                                        </p:tav>
                                      </p:tavLst>
                                    </p:anim>
                                    <p:anim calcmode="lin" valueType="num">
                                      <p:cBhvr>
                                        <p:cTn id="19" dur="460" decel="100000" fill="hold"/>
                                        <p:tgtEl>
                                          <p:spTgt spid="6"/>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36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80"/>
                                        <p:tgtEl>
                                          <p:spTgt spid="7"/>
                                        </p:tgtEl>
                                      </p:cBhvr>
                                    </p:animEffect>
                                    <p:anim calcmode="lin" valueType="num">
                                      <p:cBhvr>
                                        <p:cTn id="23" dur="480" fill="hold"/>
                                        <p:tgtEl>
                                          <p:spTgt spid="7"/>
                                        </p:tgtEl>
                                        <p:attrNameLst>
                                          <p:attrName>ppt_x</p:attrName>
                                        </p:attrNameLst>
                                      </p:cBhvr>
                                      <p:tavLst>
                                        <p:tav tm="0">
                                          <p:val>
                                            <p:strVal val="#ppt_x"/>
                                          </p:val>
                                        </p:tav>
                                        <p:tav tm="100000">
                                          <p:val>
                                            <p:strVal val="#ppt_x"/>
                                          </p:val>
                                        </p:tav>
                                      </p:tavLst>
                                    </p:anim>
                                    <p:anim calcmode="lin" valueType="num">
                                      <p:cBhvr>
                                        <p:cTn id="24" dur="480" decel="100000" fill="hold"/>
                                        <p:tgtEl>
                                          <p:spTgt spid="7"/>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36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80"/>
                                        <p:tgtEl>
                                          <p:spTgt spid="9"/>
                                        </p:tgtEl>
                                      </p:cBhvr>
                                    </p:animEffect>
                                    <p:anim calcmode="lin" valueType="num">
                                      <p:cBhvr>
                                        <p:cTn id="28" dur="480" fill="hold"/>
                                        <p:tgtEl>
                                          <p:spTgt spid="9"/>
                                        </p:tgtEl>
                                        <p:attrNameLst>
                                          <p:attrName>ppt_x</p:attrName>
                                        </p:attrNameLst>
                                      </p:cBhvr>
                                      <p:tavLst>
                                        <p:tav tm="0">
                                          <p:val>
                                            <p:strVal val="#ppt_x"/>
                                          </p:val>
                                        </p:tav>
                                        <p:tav tm="100000">
                                          <p:val>
                                            <p:strVal val="#ppt_x"/>
                                          </p:val>
                                        </p:tav>
                                      </p:tavLst>
                                    </p:anim>
                                    <p:anim calcmode="lin" valueType="num">
                                      <p:cBhvr>
                                        <p:cTn id="29" dur="480" decel="100000" fill="hold"/>
                                        <p:tgtEl>
                                          <p:spTgt spid="9"/>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36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80"/>
                                        <p:tgtEl>
                                          <p:spTgt spid="10"/>
                                        </p:tgtEl>
                                      </p:cBhvr>
                                    </p:animEffect>
                                    <p:anim calcmode="lin" valueType="num">
                                      <p:cBhvr>
                                        <p:cTn id="33" dur="480" fill="hold"/>
                                        <p:tgtEl>
                                          <p:spTgt spid="10"/>
                                        </p:tgtEl>
                                        <p:attrNameLst>
                                          <p:attrName>ppt_x</p:attrName>
                                        </p:attrNameLst>
                                      </p:cBhvr>
                                      <p:tavLst>
                                        <p:tav tm="0">
                                          <p:val>
                                            <p:strVal val="#ppt_x"/>
                                          </p:val>
                                        </p:tav>
                                        <p:tav tm="100000">
                                          <p:val>
                                            <p:strVal val="#ppt_x"/>
                                          </p:val>
                                        </p:tav>
                                      </p:tavLst>
                                    </p:anim>
                                    <p:anim calcmode="lin" valueType="num">
                                      <p:cBhvr>
                                        <p:cTn id="34" dur="480" decel="100000" fill="hold"/>
                                        <p:tgtEl>
                                          <p:spTgt spid="10"/>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36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480"/>
                                        <p:tgtEl>
                                          <p:spTgt spid="11"/>
                                        </p:tgtEl>
                                      </p:cBhvr>
                                    </p:animEffect>
                                    <p:anim calcmode="lin" valueType="num">
                                      <p:cBhvr>
                                        <p:cTn id="38" dur="480" fill="hold"/>
                                        <p:tgtEl>
                                          <p:spTgt spid="11"/>
                                        </p:tgtEl>
                                        <p:attrNameLst>
                                          <p:attrName>ppt_x</p:attrName>
                                        </p:attrNameLst>
                                      </p:cBhvr>
                                      <p:tavLst>
                                        <p:tav tm="0">
                                          <p:val>
                                            <p:strVal val="#ppt_x"/>
                                          </p:val>
                                        </p:tav>
                                        <p:tav tm="100000">
                                          <p:val>
                                            <p:strVal val="#ppt_x"/>
                                          </p:val>
                                        </p:tav>
                                      </p:tavLst>
                                    </p:anim>
                                    <p:anim calcmode="lin" valueType="num">
                                      <p:cBhvr>
                                        <p:cTn id="39" dur="480" decel="100000" fill="hold"/>
                                        <p:tgtEl>
                                          <p:spTgt spid="11"/>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36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480"/>
                                        <p:tgtEl>
                                          <p:spTgt spid="12"/>
                                        </p:tgtEl>
                                      </p:cBhvr>
                                    </p:animEffect>
                                    <p:anim calcmode="lin" valueType="num">
                                      <p:cBhvr>
                                        <p:cTn id="43" dur="480" fill="hold"/>
                                        <p:tgtEl>
                                          <p:spTgt spid="12"/>
                                        </p:tgtEl>
                                        <p:attrNameLst>
                                          <p:attrName>ppt_x</p:attrName>
                                        </p:attrNameLst>
                                      </p:cBhvr>
                                      <p:tavLst>
                                        <p:tav tm="0">
                                          <p:val>
                                            <p:strVal val="#ppt_x"/>
                                          </p:val>
                                        </p:tav>
                                        <p:tav tm="100000">
                                          <p:val>
                                            <p:strVal val="#ppt_x"/>
                                          </p:val>
                                        </p:tav>
                                      </p:tavLst>
                                    </p:anim>
                                    <p:anim calcmode="lin" valueType="num">
                                      <p:cBhvr>
                                        <p:cTn id="44" dur="480" decel="100000" fill="hold"/>
                                        <p:tgtEl>
                                          <p:spTgt spid="12"/>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3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480"/>
                                        <p:tgtEl>
                                          <p:spTgt spid="13"/>
                                        </p:tgtEl>
                                      </p:cBhvr>
                                    </p:animEffect>
                                    <p:anim calcmode="lin" valueType="num">
                                      <p:cBhvr>
                                        <p:cTn id="48" dur="480" fill="hold"/>
                                        <p:tgtEl>
                                          <p:spTgt spid="13"/>
                                        </p:tgtEl>
                                        <p:attrNameLst>
                                          <p:attrName>ppt_x</p:attrName>
                                        </p:attrNameLst>
                                      </p:cBhvr>
                                      <p:tavLst>
                                        <p:tav tm="0">
                                          <p:val>
                                            <p:strVal val="#ppt_x"/>
                                          </p:val>
                                        </p:tav>
                                        <p:tav tm="100000">
                                          <p:val>
                                            <p:strVal val="#ppt_x"/>
                                          </p:val>
                                        </p:tav>
                                      </p:tavLst>
                                    </p:anim>
                                    <p:anim calcmode="lin" valueType="num">
                                      <p:cBhvr>
                                        <p:cTn id="49" dur="480" decel="100000" fill="hold"/>
                                        <p:tgtEl>
                                          <p:spTgt spid="13"/>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36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480"/>
                                        <p:tgtEl>
                                          <p:spTgt spid="14"/>
                                        </p:tgtEl>
                                      </p:cBhvr>
                                    </p:animEffect>
                                    <p:anim calcmode="lin" valueType="num">
                                      <p:cBhvr>
                                        <p:cTn id="53" dur="480" fill="hold"/>
                                        <p:tgtEl>
                                          <p:spTgt spid="14"/>
                                        </p:tgtEl>
                                        <p:attrNameLst>
                                          <p:attrName>ppt_x</p:attrName>
                                        </p:attrNameLst>
                                      </p:cBhvr>
                                      <p:tavLst>
                                        <p:tav tm="0">
                                          <p:val>
                                            <p:strVal val="#ppt_x"/>
                                          </p:val>
                                        </p:tav>
                                        <p:tav tm="100000">
                                          <p:val>
                                            <p:strVal val="#ppt_x"/>
                                          </p:val>
                                        </p:tav>
                                      </p:tavLst>
                                    </p:anim>
                                    <p:anim calcmode="lin" valueType="num">
                                      <p:cBhvr>
                                        <p:cTn id="54" dur="480" decel="100000" fill="hold"/>
                                        <p:tgtEl>
                                          <p:spTgt spid="14"/>
                                        </p:tgtEl>
                                        <p:attrNameLst>
                                          <p:attrName>ppt_y</p:attrName>
                                        </p:attrNameLst>
                                      </p:cBhvr>
                                      <p:tavLst>
                                        <p:tav tm="0">
                                          <p:val>
                                            <p:strVal val="#ppt_y+0.018"/>
                                          </p:val>
                                        </p:tav>
                                        <p:tav tm="100000">
                                          <p:val>
                                            <p:strVal val="#ppt_y"/>
                                          </p:val>
                                        </p:tav>
                                      </p:tavLst>
                                    </p:anim>
                                  </p:childTnLst>
                                </p:cTn>
                              </p:par>
                              <p:par>
                                <p:cTn id="55" presetID="42" presetClass="entr" presetSubtype="4" fill="hold" grpId="0" nodeType="withEffect">
                                  <p:stCondLst>
                                    <p:cond delay="3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480"/>
                                        <p:tgtEl>
                                          <p:spTgt spid="15"/>
                                        </p:tgtEl>
                                      </p:cBhvr>
                                    </p:animEffect>
                                    <p:anim calcmode="lin" valueType="num">
                                      <p:cBhvr>
                                        <p:cTn id="58" dur="480" fill="hold"/>
                                        <p:tgtEl>
                                          <p:spTgt spid="15"/>
                                        </p:tgtEl>
                                        <p:attrNameLst>
                                          <p:attrName>ppt_x</p:attrName>
                                        </p:attrNameLst>
                                      </p:cBhvr>
                                      <p:tavLst>
                                        <p:tav tm="0">
                                          <p:val>
                                            <p:strVal val="#ppt_x"/>
                                          </p:val>
                                        </p:tav>
                                        <p:tav tm="100000">
                                          <p:val>
                                            <p:strVal val="#ppt_x"/>
                                          </p:val>
                                        </p:tav>
                                      </p:tavLst>
                                    </p:anim>
                                    <p:anim calcmode="lin" valueType="num">
                                      <p:cBhvr>
                                        <p:cTn id="59" dur="480" decel="100000" fill="hold"/>
                                        <p:tgtEl>
                                          <p:spTgt spid="15"/>
                                        </p:tgtEl>
                                        <p:attrNameLst>
                                          <p:attrName>ppt_y</p:attrName>
                                        </p:attrNameLst>
                                      </p:cBhvr>
                                      <p:tavLst>
                                        <p:tav tm="0">
                                          <p:val>
                                            <p:strVal val="#ppt_y+0.018"/>
                                          </p:val>
                                        </p:tav>
                                        <p:tav tm="100000">
                                          <p:val>
                                            <p:strVal val="#ppt_y"/>
                                          </p:val>
                                        </p:tav>
                                      </p:tavLst>
                                    </p:anim>
                                  </p:childTnLst>
                                </p:cTn>
                              </p:par>
                              <p:par>
                                <p:cTn id="60" presetID="42" presetClass="entr" presetSubtype="4" fill="hold" grpId="0" nodeType="withEffect">
                                  <p:stCondLst>
                                    <p:cond delay="36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480"/>
                                        <p:tgtEl>
                                          <p:spTgt spid="16"/>
                                        </p:tgtEl>
                                      </p:cBhvr>
                                    </p:animEffect>
                                    <p:anim calcmode="lin" valueType="num">
                                      <p:cBhvr>
                                        <p:cTn id="63" dur="480" fill="hold"/>
                                        <p:tgtEl>
                                          <p:spTgt spid="16"/>
                                        </p:tgtEl>
                                        <p:attrNameLst>
                                          <p:attrName>ppt_x</p:attrName>
                                        </p:attrNameLst>
                                      </p:cBhvr>
                                      <p:tavLst>
                                        <p:tav tm="0">
                                          <p:val>
                                            <p:strVal val="#ppt_x"/>
                                          </p:val>
                                        </p:tav>
                                        <p:tav tm="100000">
                                          <p:val>
                                            <p:strVal val="#ppt_x"/>
                                          </p:val>
                                        </p:tav>
                                      </p:tavLst>
                                    </p:anim>
                                    <p:anim calcmode="lin" valueType="num">
                                      <p:cBhvr>
                                        <p:cTn id="64" dur="480" decel="100000" fill="hold"/>
                                        <p:tgtEl>
                                          <p:spTgt spid="16"/>
                                        </p:tgtEl>
                                        <p:attrNameLst>
                                          <p:attrName>ppt_y</p:attrName>
                                        </p:attrNameLst>
                                      </p:cBhvr>
                                      <p:tavLst>
                                        <p:tav tm="0">
                                          <p:val>
                                            <p:strVal val="#ppt_y+0.018"/>
                                          </p:val>
                                        </p:tav>
                                        <p:tav tm="100000">
                                          <p:val>
                                            <p:strVal val="#ppt_y"/>
                                          </p:val>
                                        </p:tav>
                                      </p:tavLst>
                                    </p:anim>
                                  </p:childTnLst>
                                </p:cTn>
                              </p:par>
                              <p:par>
                                <p:cTn id="65" presetID="42" presetClass="entr" presetSubtype="4" fill="hold" grpId="0" nodeType="withEffect">
                                  <p:stCondLst>
                                    <p:cond delay="36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480"/>
                                        <p:tgtEl>
                                          <p:spTgt spid="17"/>
                                        </p:tgtEl>
                                      </p:cBhvr>
                                    </p:animEffect>
                                    <p:anim calcmode="lin" valueType="num">
                                      <p:cBhvr>
                                        <p:cTn id="68" dur="480" fill="hold"/>
                                        <p:tgtEl>
                                          <p:spTgt spid="17"/>
                                        </p:tgtEl>
                                        <p:attrNameLst>
                                          <p:attrName>ppt_x</p:attrName>
                                        </p:attrNameLst>
                                      </p:cBhvr>
                                      <p:tavLst>
                                        <p:tav tm="0">
                                          <p:val>
                                            <p:strVal val="#ppt_x"/>
                                          </p:val>
                                        </p:tav>
                                        <p:tav tm="100000">
                                          <p:val>
                                            <p:strVal val="#ppt_x"/>
                                          </p:val>
                                        </p:tav>
                                      </p:tavLst>
                                    </p:anim>
                                    <p:anim calcmode="lin" valueType="num">
                                      <p:cBhvr>
                                        <p:cTn id="69" dur="480" decel="100000" fill="hold"/>
                                        <p:tgtEl>
                                          <p:spTgt spid="17"/>
                                        </p:tgtEl>
                                        <p:attrNameLst>
                                          <p:attrName>ppt_y</p:attrName>
                                        </p:attrNameLst>
                                      </p:cBhvr>
                                      <p:tavLst>
                                        <p:tav tm="0">
                                          <p:val>
                                            <p:strVal val="#ppt_y+0.018"/>
                                          </p:val>
                                        </p:tav>
                                        <p:tav tm="100000">
                                          <p:val>
                                            <p:strVal val="#ppt_y"/>
                                          </p:val>
                                        </p:tav>
                                      </p:tavLst>
                                    </p:anim>
                                  </p:childTnLst>
                                </p:cTn>
                              </p:par>
                              <p:par>
                                <p:cTn id="70" presetID="10" presetClass="entr" presetSubtype="0" fill="hold" grpId="0" nodeType="withEffect">
                                  <p:stCondLst>
                                    <p:cond delay="52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420"/>
                                        <p:tgtEl>
                                          <p:spTgt spid="18"/>
                                        </p:tgtEl>
                                      </p:cBhvr>
                                    </p:animEffect>
                                  </p:childTnLst>
                                </p:cTn>
                              </p:par>
                              <p:par>
                                <p:cTn id="73" presetID="10" presetClass="entr" presetSubtype="0" fill="hold" grpId="0" nodeType="withEffect">
                                  <p:stCondLst>
                                    <p:cond delay="52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420"/>
                                        <p:tgtEl>
                                          <p:spTgt spid="19"/>
                                        </p:tgtEl>
                                      </p:cBhvr>
                                    </p:animEffect>
                                  </p:childTnLst>
                                </p:cTn>
                              </p:par>
                              <p:par>
                                <p:cTn id="76" presetID="10" presetClass="entr" presetSubtype="0" fill="hold" grpId="0" nodeType="withEffect">
                                  <p:stCondLst>
                                    <p:cond delay="52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420"/>
                                        <p:tgtEl>
                                          <p:spTgt spid="20"/>
                                        </p:tgtEl>
                                      </p:cBhvr>
                                    </p:animEffect>
                                  </p:childTnLst>
                                </p:cTn>
                              </p:par>
                              <p:par>
                                <p:cTn id="79" presetID="10" presetClass="entr" presetSubtype="0" fill="hold" grpId="0" nodeType="withEffect">
                                  <p:stCondLst>
                                    <p:cond delay="520"/>
                                  </p:stCondLst>
                                  <p:childTnLst>
                                    <p:set>
                                      <p:cBhvr>
                                        <p:cTn id="80" dur="1" fill="hold">
                                          <p:stCondLst>
                                            <p:cond delay="0"/>
                                          </p:stCondLst>
                                        </p:cTn>
                                        <p:tgtEl>
                                          <p:spTgt spid="21"/>
                                        </p:tgtEl>
                                        <p:attrNameLst>
                                          <p:attrName>style.visibility</p:attrName>
                                        </p:attrNameLst>
                                      </p:cBhvr>
                                      <p:to>
                                        <p:strVal val="visible"/>
                                      </p:to>
                                    </p:set>
                                    <p:animEffect transition="in" filter="fade">
                                      <p:cBhvr>
                                        <p:cTn id="81" dur="42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image2.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3516782" cy="256032"/>
          </a:xfrm>
          <a:prstGeom prst="roundRect">
            <a:avLst>
              <a:gd name="adj" fmla="val 50000"/>
            </a:avLst>
          </a:prstGeom>
          <a:solidFill>
            <a:srgbClr val="311524"/>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FB7185"/>
                </a:solidFill>
                <a:latin typeface="Segoe UI"/>
              </a:rPr>
              <a:t>01 · THE PROBLEM — ONE REAL ORDER</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3050" b="1" i="0">
                <a:solidFill>
                  <a:srgbClr val="F8FAFC"/>
                </a:solidFill>
                <a:effectLst>
                  <a:outerShdw blurRad="57150" dist="22860" dir="5400000" algn="tl">
                    <a:srgbClr val="0F172A">
                      <a:alpha val="25000"/>
                    </a:srgbClr>
                  </a:outerShdw>
                </a:effectLst>
                <a:latin typeface="Segoe UI"/>
              </a:rPr>
              <a:t>This review arrived </a:t>
            </a:r>
            <a:r>
              <a:rPr sz="3050" b="1" i="0">
                <a:solidFill>
                  <a:srgbClr val="FB7185"/>
                </a:solidFill>
                <a:effectLst>
                  <a:glow rad="88900">
                    <a:srgbClr val="FB7185">
                      <a:alpha val="18000"/>
                    </a:srgbClr>
                  </a:glow>
                </a:effectLst>
                <a:latin typeface="Segoe UI"/>
              </a:rPr>
              <a:t>before the parcel did</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94A3B8"/>
                </a:solidFill>
                <a:latin typeface="Segoe UI"/>
              </a:rPr>
              <a:t>Order #e1320973  ·  Health &amp; beauty item (R$65 + R$28 freight)  ·  2,267 km from São Luís (MA) to São Gonçalo (RJ)</a:t>
            </a:r>
          </a:p>
        </p:txBody>
      </p:sp>
      <p:sp>
        <p:nvSpPr>
          <p:cNvPr id="6" name="RouteMapCard"/>
          <p:cNvSpPr/>
          <p:nvPr/>
        </p:nvSpPr>
        <p:spPr>
          <a:xfrm>
            <a:off x="566928" y="1572768"/>
            <a:ext cx="3822191" cy="4553712"/>
          </a:xfrm>
          <a:prstGeom prst="roundRect">
            <a:avLst>
              <a:gd name="adj" fmla="val 3800"/>
            </a:avLst>
          </a:prstGeom>
          <a:solidFill>
            <a:srgbClr val="111C31"/>
          </a:solidFill>
          <a:ln w="12700">
            <a:solidFill>
              <a:srgbClr val="263650"/>
            </a:solidFill>
          </a:ln>
          <a:effectLst>
            <a:outerShdw blurRad="177800" dist="44450" dir="5400000" algn="tl"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BrazilMap" descr="image9.png"/>
          <p:cNvPicPr>
            <a:picLocks noChangeAspect="1"/>
          </p:cNvPicPr>
          <p:nvPr/>
        </p:nvPicPr>
        <p:blipFill>
          <a:blip r:embed="rId4"/>
          <a:stretch>
            <a:fillRect/>
          </a:stretch>
        </p:blipFill>
        <p:spPr>
          <a:xfrm>
            <a:off x="1024128" y="1664208"/>
            <a:ext cx="2880360" cy="4114800"/>
          </a:xfrm>
          <a:prstGeom prst="rect">
            <a:avLst/>
          </a:prstGeom>
        </p:spPr>
      </p:pic>
      <p:sp>
        <p:nvSpPr>
          <p:cNvPr id="8" name="Pill"/>
          <p:cNvSpPr/>
          <p:nvPr/>
        </p:nvSpPr>
        <p:spPr>
          <a:xfrm>
            <a:off x="768096" y="1719072"/>
            <a:ext cx="1783080" cy="256032"/>
          </a:xfrm>
          <a:prstGeom prst="roundRect">
            <a:avLst>
              <a:gd name="adj" fmla="val 50000"/>
            </a:avLst>
          </a:prstGeom>
          <a:solidFill>
            <a:srgbClr val="261F15"/>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80" b="1">
                <a:solidFill>
                  <a:srgbClr val="FBBF24"/>
                </a:solidFill>
                <a:latin typeface="Segoe UI"/>
              </a:rPr>
              <a:t>Seller · São Luís (MA)</a:t>
            </a:r>
          </a:p>
        </p:txBody>
      </p:sp>
      <p:sp>
        <p:nvSpPr>
          <p:cNvPr id="9" name="Pill"/>
          <p:cNvSpPr/>
          <p:nvPr/>
        </p:nvSpPr>
        <p:spPr>
          <a:xfrm>
            <a:off x="1993392" y="5376672"/>
            <a:ext cx="2176272" cy="256032"/>
          </a:xfrm>
          <a:prstGeom prst="roundRect">
            <a:avLst>
              <a:gd name="adj" fmla="val 50000"/>
            </a:avLst>
          </a:prstGeom>
          <a:solidFill>
            <a:srgbClr val="142644"/>
          </a:solidFill>
          <a:ln w="12700">
            <a:solidFill>
              <a:srgbClr val="60A5FA"/>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80" b="1">
                <a:solidFill>
                  <a:srgbClr val="60A5FA"/>
                </a:solidFill>
                <a:latin typeface="Segoe UI"/>
              </a:rPr>
              <a:t>Buyer · São Gonçalo (RJ)</a:t>
            </a:r>
          </a:p>
        </p:txBody>
      </p:sp>
      <p:sp>
        <p:nvSpPr>
          <p:cNvPr id="10" name="Text"/>
          <p:cNvSpPr txBox="1"/>
          <p:nvPr/>
        </p:nvSpPr>
        <p:spPr>
          <a:xfrm>
            <a:off x="731520" y="5724144"/>
            <a:ext cx="3493008" cy="310896"/>
          </a:xfrm>
          <a:prstGeom prst="rect">
            <a:avLst/>
          </a:prstGeom>
          <a:noFill/>
        </p:spPr>
        <p:txBody>
          <a:bodyPr wrap="square" lIns="0" tIns="0" rIns="0" bIns="0" anchor="t">
            <a:spAutoFit/>
          </a:bodyPr>
          <a:lstStyle/>
          <a:p>
            <a:pPr algn="ctr">
              <a:lnSpc>
                <a:spcPct val="122000"/>
              </a:lnSpc>
            </a:pPr>
            <a:r>
              <a:rPr sz="1050" b="1" i="0">
                <a:solidFill>
                  <a:srgbClr val="F8FAFC"/>
                </a:solidFill>
                <a:latin typeface="Segoe UI"/>
              </a:rPr>
              <a:t>2,267 km cross-country haul</a:t>
            </a:r>
            <a:r>
              <a:rPr sz="1000" b="0" i="0">
                <a:solidFill>
                  <a:srgbClr val="94A3B8"/>
                </a:solidFill>
                <a:latin typeface="Segoe UI"/>
              </a:rPr>
              <a:t>  ·  Promised ~21 days, took 31.8 days</a:t>
            </a:r>
          </a:p>
        </p:txBody>
      </p:sp>
      <p:sp>
        <p:nvSpPr>
          <p:cNvPr id="11" name="Rectangle 10"/>
          <p:cNvSpPr/>
          <p:nvPr/>
        </p:nvSpPr>
        <p:spPr>
          <a:xfrm>
            <a:off x="5952744" y="1901952"/>
            <a:ext cx="27432" cy="324612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
          <p:cNvSpPr txBox="1"/>
          <p:nvPr/>
        </p:nvSpPr>
        <p:spPr>
          <a:xfrm>
            <a:off x="4498848" y="1682496"/>
            <a:ext cx="1170432" cy="475488"/>
          </a:xfrm>
          <a:prstGeom prst="rect">
            <a:avLst/>
          </a:prstGeom>
          <a:noFill/>
        </p:spPr>
        <p:txBody>
          <a:bodyPr wrap="square" lIns="0" tIns="0" rIns="0" bIns="0" anchor="t">
            <a:spAutoFit/>
          </a:bodyPr>
          <a:lstStyle/>
          <a:p>
            <a:pPr algn="r">
              <a:lnSpc>
                <a:spcPct val="112000"/>
              </a:lnSpc>
            </a:pPr>
            <a:r>
              <a:rPr sz="1100" b="1" i="0">
                <a:solidFill>
                  <a:srgbClr val="CBD5E1"/>
                </a:solidFill>
                <a:latin typeface="Segoe UI"/>
              </a:rPr>
              <a:t>16 Jul 2018</a:t>
            </a:r>
          </a:p>
          <a:p>
            <a:pPr algn="r">
              <a:lnSpc>
                <a:spcPct val="112000"/>
              </a:lnSpc>
            </a:pPr>
            <a:r>
              <a:rPr sz="950" b="1" i="0">
                <a:solidFill>
                  <a:srgbClr val="60A5FA"/>
                </a:solidFill>
                <a:latin typeface="Segoe UI"/>
              </a:rPr>
              <a:t>Day 0</a:t>
            </a:r>
          </a:p>
        </p:txBody>
      </p:sp>
      <p:pic>
        <p:nvPicPr>
          <p:cNvPr id="13" name="Picture 12" descr="image4.png"/>
          <p:cNvPicPr>
            <a:picLocks noChangeAspect="1"/>
          </p:cNvPicPr>
          <p:nvPr/>
        </p:nvPicPr>
        <p:blipFill>
          <a:blip r:embed="rId5"/>
          <a:stretch>
            <a:fillRect/>
          </a:stretch>
        </p:blipFill>
        <p:spPr>
          <a:xfrm>
            <a:off x="5760720" y="1709928"/>
            <a:ext cx="411480" cy="411480"/>
          </a:xfrm>
          <a:prstGeom prst="rect">
            <a:avLst/>
          </a:prstGeom>
        </p:spPr>
      </p:pic>
      <p:sp>
        <p:nvSpPr>
          <p:cNvPr id="14" name="TimelineCard_0"/>
          <p:cNvSpPr/>
          <p:nvPr/>
        </p:nvSpPr>
        <p:spPr>
          <a:xfrm>
            <a:off x="6327648" y="1609344"/>
            <a:ext cx="5285232" cy="630936"/>
          </a:xfrm>
          <a:prstGeom prst="roundRect">
            <a:avLst>
              <a:gd name="adj" fmla="val 3800"/>
            </a:avLst>
          </a:prstGeom>
          <a:solidFill>
            <a:srgbClr val="12213A"/>
          </a:solidFill>
          <a:ln w="11430">
            <a:solidFill>
              <a:srgbClr val="263650"/>
            </a:solidFill>
          </a:ln>
          <a:effectLst>
            <a:outerShdw blurRad="177800" dist="44450" dir="5400000" algn="tl" rotWithShape="0">
              <a:srgbClr val="0F172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imelineCard_0_accent"/>
          <p:cNvSpPr/>
          <p:nvPr/>
        </p:nvSpPr>
        <p:spPr>
          <a:xfrm>
            <a:off x="6327648" y="1773936"/>
            <a:ext cx="59436" cy="301751"/>
          </a:xfrm>
          <a:prstGeom prst="roundRect">
            <a:avLst>
              <a:gd name="adj" fmla="val 25000"/>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p:cNvSpPr txBox="1"/>
          <p:nvPr/>
        </p:nvSpPr>
        <p:spPr>
          <a:xfrm>
            <a:off x="6528816" y="1691640"/>
            <a:ext cx="4956048" cy="475488"/>
          </a:xfrm>
          <a:prstGeom prst="rect">
            <a:avLst/>
          </a:prstGeom>
          <a:noFill/>
        </p:spPr>
        <p:txBody>
          <a:bodyPr wrap="square" lIns="0" tIns="0" rIns="0" bIns="0" anchor="t">
            <a:spAutoFit/>
          </a:bodyPr>
          <a:lstStyle/>
          <a:p>
            <a:pPr algn="l">
              <a:lnSpc>
                <a:spcPct val="112000"/>
              </a:lnSpc>
              <a:spcAft>
                <a:spcPts val="150"/>
              </a:spcAft>
            </a:pPr>
            <a:r>
              <a:rPr sz="1220" b="1" i="0">
                <a:solidFill>
                  <a:srgbClr val="F8FAFC"/>
                </a:solidFill>
                <a:latin typeface="Segoe UI"/>
              </a:rPr>
              <a:t>Order placed at checkout</a:t>
            </a:r>
          </a:p>
          <a:p>
            <a:pPr algn="l">
              <a:lnSpc>
                <a:spcPct val="115000"/>
              </a:lnSpc>
            </a:pPr>
            <a:r>
              <a:rPr sz="1030" b="0" i="0">
                <a:solidFill>
                  <a:srgbClr val="CBD5E1"/>
                </a:solidFill>
                <a:latin typeface="Segoe UI"/>
              </a:rPr>
              <a:t>Olist promises delivery by </a:t>
            </a:r>
            <a:r>
              <a:rPr sz="1030" b="1" i="0">
                <a:solidFill>
                  <a:srgbClr val="F8FAFC"/>
                </a:solidFill>
                <a:latin typeface="Segoe UI"/>
              </a:rPr>
              <a:t>7 August (~21-day window)</a:t>
            </a:r>
            <a:r>
              <a:rPr sz="1030" b="0" i="0">
                <a:solidFill>
                  <a:srgbClr val="CBD5E1"/>
                </a:solidFill>
                <a:latin typeface="Segoe UI"/>
              </a:rPr>
              <a:t>.</a:t>
            </a:r>
          </a:p>
        </p:txBody>
      </p:sp>
      <p:sp>
        <p:nvSpPr>
          <p:cNvPr id="17" name="Text"/>
          <p:cNvSpPr txBox="1"/>
          <p:nvPr/>
        </p:nvSpPr>
        <p:spPr>
          <a:xfrm>
            <a:off x="4498848" y="2432304"/>
            <a:ext cx="1170432" cy="475488"/>
          </a:xfrm>
          <a:prstGeom prst="rect">
            <a:avLst/>
          </a:prstGeom>
          <a:noFill/>
        </p:spPr>
        <p:txBody>
          <a:bodyPr wrap="square" lIns="0" tIns="0" rIns="0" bIns="0" anchor="t">
            <a:spAutoFit/>
          </a:bodyPr>
          <a:lstStyle/>
          <a:p>
            <a:pPr algn="r">
              <a:lnSpc>
                <a:spcPct val="112000"/>
              </a:lnSpc>
            </a:pPr>
            <a:r>
              <a:rPr sz="1100" b="1" i="0">
                <a:solidFill>
                  <a:srgbClr val="CBD5E1"/>
                </a:solidFill>
                <a:latin typeface="Segoe UI"/>
              </a:rPr>
              <a:t>7 Aug 2018</a:t>
            </a:r>
          </a:p>
          <a:p>
            <a:pPr algn="r">
              <a:lnSpc>
                <a:spcPct val="112000"/>
              </a:lnSpc>
            </a:pPr>
            <a:r>
              <a:rPr sz="950" b="1" i="0">
                <a:solidFill>
                  <a:srgbClr val="FBBF24"/>
                </a:solidFill>
                <a:latin typeface="Segoe UI"/>
              </a:rPr>
              <a:t>Day 22</a:t>
            </a:r>
          </a:p>
        </p:txBody>
      </p:sp>
      <p:pic>
        <p:nvPicPr>
          <p:cNvPr id="18" name="Picture 17" descr="image5.png"/>
          <p:cNvPicPr>
            <a:picLocks noChangeAspect="1"/>
          </p:cNvPicPr>
          <p:nvPr/>
        </p:nvPicPr>
        <p:blipFill>
          <a:blip r:embed="rId6"/>
          <a:stretch>
            <a:fillRect/>
          </a:stretch>
        </p:blipFill>
        <p:spPr>
          <a:xfrm>
            <a:off x="5760720" y="2459736"/>
            <a:ext cx="411480" cy="411480"/>
          </a:xfrm>
          <a:prstGeom prst="rect">
            <a:avLst/>
          </a:prstGeom>
        </p:spPr>
      </p:pic>
      <p:sp>
        <p:nvSpPr>
          <p:cNvPr id="19" name="TimelineCard_1"/>
          <p:cNvSpPr/>
          <p:nvPr/>
        </p:nvSpPr>
        <p:spPr>
          <a:xfrm>
            <a:off x="6327648" y="2359152"/>
            <a:ext cx="5285232" cy="630936"/>
          </a:xfrm>
          <a:prstGeom prst="roundRect">
            <a:avLst>
              <a:gd name="adj" fmla="val 3800"/>
            </a:avLst>
          </a:prstGeom>
          <a:solidFill>
            <a:srgbClr val="221D15"/>
          </a:solidFill>
          <a:ln w="11430">
            <a:solidFill>
              <a:srgbClr val="78350F"/>
            </a:solidFill>
          </a:ln>
          <a:effectLst>
            <a:outerShdw blurRad="177800" dist="44450" dir="5400000" algn="tl" rotWithShape="0">
              <a:srgbClr val="0F172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imelineCard_1_accent"/>
          <p:cNvSpPr/>
          <p:nvPr/>
        </p:nvSpPr>
        <p:spPr>
          <a:xfrm>
            <a:off x="6327648" y="2523744"/>
            <a:ext cx="59436" cy="301751"/>
          </a:xfrm>
          <a:prstGeom prst="roundRect">
            <a:avLst>
              <a:gd name="adj" fmla="val 25000"/>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
          <p:cNvSpPr txBox="1"/>
          <p:nvPr/>
        </p:nvSpPr>
        <p:spPr>
          <a:xfrm>
            <a:off x="6528816" y="2441448"/>
            <a:ext cx="4956048" cy="475488"/>
          </a:xfrm>
          <a:prstGeom prst="rect">
            <a:avLst/>
          </a:prstGeom>
          <a:noFill/>
        </p:spPr>
        <p:txBody>
          <a:bodyPr wrap="square" lIns="0" tIns="0" rIns="0" bIns="0" anchor="t">
            <a:spAutoFit/>
          </a:bodyPr>
          <a:lstStyle/>
          <a:p>
            <a:pPr algn="l">
              <a:lnSpc>
                <a:spcPct val="112000"/>
              </a:lnSpc>
              <a:spcAft>
                <a:spcPts val="150"/>
              </a:spcAft>
            </a:pPr>
            <a:r>
              <a:rPr sz="1220" b="1" i="0">
                <a:solidFill>
                  <a:srgbClr val="F8FAFC"/>
                </a:solidFill>
                <a:latin typeface="Segoe UI"/>
              </a:rPr>
              <a:t>Promised date passes — no parcel</a:t>
            </a:r>
          </a:p>
          <a:p>
            <a:pPr algn="l">
              <a:lnSpc>
                <a:spcPct val="115000"/>
              </a:lnSpc>
            </a:pPr>
            <a:r>
              <a:rPr sz="1030" b="0" i="0">
                <a:solidFill>
                  <a:srgbClr val="CBD5E1"/>
                </a:solidFill>
                <a:latin typeface="Segoe UI"/>
              </a:rPr>
              <a:t>Still in carrier transit. </a:t>
            </a:r>
            <a:r>
              <a:rPr sz="1030" b="1" i="0">
                <a:solidFill>
                  <a:srgbClr val="F8FAFC"/>
                </a:solidFill>
                <a:latin typeface="Segoe UI"/>
              </a:rPr>
              <a:t>Zero proactive warning</a:t>
            </a:r>
            <a:r>
              <a:rPr sz="1030" b="0" i="0">
                <a:solidFill>
                  <a:srgbClr val="CBD5E1"/>
                </a:solidFill>
                <a:latin typeface="Segoe UI"/>
              </a:rPr>
              <a:t> sent to the buyer.</a:t>
            </a:r>
          </a:p>
        </p:txBody>
      </p:sp>
      <p:sp>
        <p:nvSpPr>
          <p:cNvPr id="22" name="Text"/>
          <p:cNvSpPr txBox="1"/>
          <p:nvPr/>
        </p:nvSpPr>
        <p:spPr>
          <a:xfrm>
            <a:off x="4498848" y="3182112"/>
            <a:ext cx="1170432" cy="475488"/>
          </a:xfrm>
          <a:prstGeom prst="rect">
            <a:avLst/>
          </a:prstGeom>
          <a:noFill/>
        </p:spPr>
        <p:txBody>
          <a:bodyPr wrap="square" lIns="0" tIns="0" rIns="0" bIns="0" anchor="t">
            <a:spAutoFit/>
          </a:bodyPr>
          <a:lstStyle/>
          <a:p>
            <a:pPr algn="r">
              <a:lnSpc>
                <a:spcPct val="112000"/>
              </a:lnSpc>
            </a:pPr>
            <a:r>
              <a:rPr sz="1100" b="1" i="0">
                <a:solidFill>
                  <a:srgbClr val="CBD5E1"/>
                </a:solidFill>
                <a:latin typeface="Segoe UI"/>
              </a:rPr>
              <a:t>9 Aug 2018</a:t>
            </a:r>
          </a:p>
          <a:p>
            <a:pPr algn="r">
              <a:lnSpc>
                <a:spcPct val="112000"/>
              </a:lnSpc>
            </a:pPr>
            <a:r>
              <a:rPr sz="950" b="1" i="0">
                <a:solidFill>
                  <a:srgbClr val="94A3B8"/>
                </a:solidFill>
                <a:latin typeface="Segoe UI"/>
              </a:rPr>
              <a:t>Day 24</a:t>
            </a:r>
          </a:p>
        </p:txBody>
      </p:sp>
      <p:pic>
        <p:nvPicPr>
          <p:cNvPr id="23" name="Picture 22" descr="image10.png"/>
          <p:cNvPicPr>
            <a:picLocks noChangeAspect="1"/>
          </p:cNvPicPr>
          <p:nvPr/>
        </p:nvPicPr>
        <p:blipFill>
          <a:blip r:embed="rId7"/>
          <a:stretch>
            <a:fillRect/>
          </a:stretch>
        </p:blipFill>
        <p:spPr>
          <a:xfrm>
            <a:off x="5760720" y="3209544"/>
            <a:ext cx="411480" cy="411480"/>
          </a:xfrm>
          <a:prstGeom prst="rect">
            <a:avLst/>
          </a:prstGeom>
        </p:spPr>
      </p:pic>
      <p:sp>
        <p:nvSpPr>
          <p:cNvPr id="24" name="TimelineCard_2"/>
          <p:cNvSpPr/>
          <p:nvPr/>
        </p:nvSpPr>
        <p:spPr>
          <a:xfrm>
            <a:off x="6327648" y="3108960"/>
            <a:ext cx="5285232" cy="630936"/>
          </a:xfrm>
          <a:prstGeom prst="roundRect">
            <a:avLst>
              <a:gd name="adj" fmla="val 3800"/>
            </a:avLst>
          </a:prstGeom>
          <a:solidFill>
            <a:srgbClr val="152033"/>
          </a:solidFill>
          <a:ln w="11430">
            <a:solidFill>
              <a:srgbClr val="263650"/>
            </a:solidFill>
          </a:ln>
          <a:effectLst>
            <a:outerShdw blurRad="177800" dist="44450" dir="5400000" algn="tl" rotWithShape="0">
              <a:srgbClr val="0F172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imelineCard_2_accent"/>
          <p:cNvSpPr/>
          <p:nvPr/>
        </p:nvSpPr>
        <p:spPr>
          <a:xfrm>
            <a:off x="6327648" y="3273552"/>
            <a:ext cx="59436" cy="301751"/>
          </a:xfrm>
          <a:prstGeom prst="roundRect">
            <a:avLst>
              <a:gd name="adj" fmla="val 25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p:cNvSpPr txBox="1"/>
          <p:nvPr/>
        </p:nvSpPr>
        <p:spPr>
          <a:xfrm>
            <a:off x="6528816" y="3191256"/>
            <a:ext cx="4956048" cy="475488"/>
          </a:xfrm>
          <a:prstGeom prst="rect">
            <a:avLst/>
          </a:prstGeom>
          <a:noFill/>
        </p:spPr>
        <p:txBody>
          <a:bodyPr wrap="square" lIns="0" tIns="0" rIns="0" bIns="0" anchor="t">
            <a:spAutoFit/>
          </a:bodyPr>
          <a:lstStyle/>
          <a:p>
            <a:pPr algn="l">
              <a:lnSpc>
                <a:spcPct val="112000"/>
              </a:lnSpc>
              <a:spcAft>
                <a:spcPts val="150"/>
              </a:spcAft>
            </a:pPr>
            <a:r>
              <a:rPr sz="1220" b="1" i="0">
                <a:solidFill>
                  <a:srgbClr val="F8FAFC"/>
                </a:solidFill>
                <a:latin typeface="Segoe UI"/>
              </a:rPr>
              <a:t>Olist's automated survey fires anyway</a:t>
            </a:r>
          </a:p>
          <a:p>
            <a:pPr algn="l">
              <a:lnSpc>
                <a:spcPct val="115000"/>
              </a:lnSpc>
            </a:pPr>
            <a:r>
              <a:rPr sz="1030" b="0" i="0">
                <a:solidFill>
                  <a:srgbClr val="CBD5E1"/>
                </a:solidFill>
                <a:latin typeface="Segoe UI"/>
              </a:rPr>
              <a:t>Triggered by the </a:t>
            </a:r>
            <a:r>
              <a:rPr sz="1030" b="1" i="0">
                <a:solidFill>
                  <a:srgbClr val="94A3B8"/>
                </a:solidFill>
                <a:latin typeface="Segoe UI"/>
              </a:rPr>
              <a:t>promised calendar date</a:t>
            </a:r>
            <a:r>
              <a:rPr sz="1030" b="0" i="0">
                <a:solidFill>
                  <a:srgbClr val="CBD5E1"/>
                </a:solidFill>
                <a:latin typeface="Segoe UI"/>
              </a:rPr>
              <a:t> — not by actual delivery.</a:t>
            </a:r>
          </a:p>
        </p:txBody>
      </p:sp>
      <p:sp>
        <p:nvSpPr>
          <p:cNvPr id="27" name="Text"/>
          <p:cNvSpPr txBox="1"/>
          <p:nvPr/>
        </p:nvSpPr>
        <p:spPr>
          <a:xfrm>
            <a:off x="4498848" y="3931920"/>
            <a:ext cx="1170432" cy="475488"/>
          </a:xfrm>
          <a:prstGeom prst="rect">
            <a:avLst/>
          </a:prstGeom>
          <a:noFill/>
        </p:spPr>
        <p:txBody>
          <a:bodyPr wrap="square" lIns="0" tIns="0" rIns="0" bIns="0" anchor="t">
            <a:spAutoFit/>
          </a:bodyPr>
          <a:lstStyle/>
          <a:p>
            <a:pPr algn="r">
              <a:lnSpc>
                <a:spcPct val="112000"/>
              </a:lnSpc>
            </a:pPr>
            <a:r>
              <a:rPr sz="1100" b="1" i="0">
                <a:solidFill>
                  <a:srgbClr val="F8FAFC"/>
                </a:solidFill>
                <a:latin typeface="Segoe UI"/>
              </a:rPr>
              <a:t>11 Aug 2018</a:t>
            </a:r>
          </a:p>
          <a:p>
            <a:pPr algn="r">
              <a:lnSpc>
                <a:spcPct val="112000"/>
              </a:lnSpc>
            </a:pPr>
            <a:r>
              <a:rPr sz="950" b="1" i="0">
                <a:solidFill>
                  <a:srgbClr val="FB7185"/>
                </a:solidFill>
                <a:latin typeface="Segoe UI"/>
              </a:rPr>
              <a:t>Day 26</a:t>
            </a:r>
          </a:p>
        </p:txBody>
      </p:sp>
      <p:pic>
        <p:nvPicPr>
          <p:cNvPr id="28" name="Picture 27" descr="image7.png"/>
          <p:cNvPicPr>
            <a:picLocks noChangeAspect="1"/>
          </p:cNvPicPr>
          <p:nvPr/>
        </p:nvPicPr>
        <p:blipFill>
          <a:blip r:embed="rId8"/>
          <a:stretch>
            <a:fillRect/>
          </a:stretch>
        </p:blipFill>
        <p:spPr>
          <a:xfrm>
            <a:off x="5760720" y="3959352"/>
            <a:ext cx="411480" cy="411480"/>
          </a:xfrm>
          <a:prstGeom prst="rect">
            <a:avLst/>
          </a:prstGeom>
        </p:spPr>
      </p:pic>
      <p:sp>
        <p:nvSpPr>
          <p:cNvPr id="29" name="TimelineCard_3"/>
          <p:cNvSpPr/>
          <p:nvPr/>
        </p:nvSpPr>
        <p:spPr>
          <a:xfrm>
            <a:off x="6327648" y="3858768"/>
            <a:ext cx="5285232" cy="630936"/>
          </a:xfrm>
          <a:prstGeom prst="roundRect">
            <a:avLst>
              <a:gd name="adj" fmla="val 3800"/>
            </a:avLst>
          </a:prstGeom>
          <a:solidFill>
            <a:srgbClr val="2D1522"/>
          </a:solidFill>
          <a:ln w="16510">
            <a:solidFill>
              <a:srgbClr val="FB7185"/>
            </a:solidFill>
          </a:ln>
          <a:effectLst>
            <a:outerShdw blurRad="177800" dist="44450" dir="5400000" algn="tl" rotWithShape="0">
              <a:srgbClr val="0F172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imelineCard_3_accent"/>
          <p:cNvSpPr/>
          <p:nvPr/>
        </p:nvSpPr>
        <p:spPr>
          <a:xfrm>
            <a:off x="6327648" y="4023359"/>
            <a:ext cx="59436" cy="301751"/>
          </a:xfrm>
          <a:prstGeom prst="roundRect">
            <a:avLst>
              <a:gd name="adj" fmla="val 25000"/>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
          <p:cNvSpPr txBox="1"/>
          <p:nvPr/>
        </p:nvSpPr>
        <p:spPr>
          <a:xfrm>
            <a:off x="6528816" y="3941063"/>
            <a:ext cx="4251960" cy="475488"/>
          </a:xfrm>
          <a:prstGeom prst="rect">
            <a:avLst/>
          </a:prstGeom>
          <a:noFill/>
        </p:spPr>
        <p:txBody>
          <a:bodyPr wrap="square" lIns="0" tIns="0" rIns="0" bIns="0" anchor="t">
            <a:spAutoFit/>
          </a:bodyPr>
          <a:lstStyle/>
          <a:p>
            <a:pPr algn="l">
              <a:lnSpc>
                <a:spcPct val="112000"/>
              </a:lnSpc>
              <a:spcAft>
                <a:spcPts val="150"/>
              </a:spcAft>
            </a:pPr>
            <a:r>
              <a:rPr sz="1220" b="1" i="0">
                <a:solidFill>
                  <a:srgbClr val="F8FAFC"/>
                </a:solidFill>
                <a:latin typeface="Segoe UI"/>
              </a:rPr>
              <a:t>Customer submits a 1-star review</a:t>
            </a:r>
          </a:p>
          <a:p>
            <a:pPr algn="l">
              <a:lnSpc>
                <a:spcPct val="115000"/>
              </a:lnSpc>
            </a:pPr>
            <a:r>
              <a:rPr sz="1030" b="0" i="0">
                <a:solidFill>
                  <a:srgbClr val="CBD5E1"/>
                </a:solidFill>
                <a:latin typeface="Segoe UI"/>
              </a:rPr>
              <a:t>Frustrated and still empty-handed, the buyer locks in </a:t>
            </a:r>
            <a:r>
              <a:rPr sz="1030" b="1" i="0">
                <a:solidFill>
                  <a:srgbClr val="FB7185"/>
                </a:solidFill>
                <a:latin typeface="Segoe UI"/>
              </a:rPr>
              <a:t>1★ while waiting</a:t>
            </a:r>
            <a:r>
              <a:rPr sz="1030" b="0" i="0">
                <a:solidFill>
                  <a:srgbClr val="CBD5E1"/>
                </a:solidFill>
                <a:latin typeface="Segoe UI"/>
              </a:rPr>
              <a:t>.</a:t>
            </a:r>
          </a:p>
        </p:txBody>
      </p:sp>
      <p:pic>
        <p:nvPicPr>
          <p:cNvPr id="32" name="Picture 31" descr="image11.png"/>
          <p:cNvPicPr>
            <a:picLocks noChangeAspect="1"/>
          </p:cNvPicPr>
          <p:nvPr/>
        </p:nvPicPr>
        <p:blipFill>
          <a:blip r:embed="rId9"/>
          <a:stretch>
            <a:fillRect/>
          </a:stretch>
        </p:blipFill>
        <p:spPr>
          <a:xfrm>
            <a:off x="10661904" y="3995928"/>
            <a:ext cx="146304" cy="146304"/>
          </a:xfrm>
          <a:prstGeom prst="rect">
            <a:avLst/>
          </a:prstGeom>
        </p:spPr>
      </p:pic>
      <p:pic>
        <p:nvPicPr>
          <p:cNvPr id="33" name="Picture 32" descr="image12.png"/>
          <p:cNvPicPr>
            <a:picLocks noChangeAspect="1"/>
          </p:cNvPicPr>
          <p:nvPr/>
        </p:nvPicPr>
        <p:blipFill>
          <a:blip r:embed="rId10"/>
          <a:stretch>
            <a:fillRect/>
          </a:stretch>
        </p:blipFill>
        <p:spPr>
          <a:xfrm>
            <a:off x="10826496" y="3995928"/>
            <a:ext cx="146304" cy="146304"/>
          </a:xfrm>
          <a:prstGeom prst="rect">
            <a:avLst/>
          </a:prstGeom>
        </p:spPr>
      </p:pic>
      <p:pic>
        <p:nvPicPr>
          <p:cNvPr id="34" name="Picture 33" descr="image12.png"/>
          <p:cNvPicPr>
            <a:picLocks noChangeAspect="1"/>
          </p:cNvPicPr>
          <p:nvPr/>
        </p:nvPicPr>
        <p:blipFill>
          <a:blip r:embed="rId10"/>
          <a:stretch>
            <a:fillRect/>
          </a:stretch>
        </p:blipFill>
        <p:spPr>
          <a:xfrm>
            <a:off x="10991088" y="3995928"/>
            <a:ext cx="146304" cy="146304"/>
          </a:xfrm>
          <a:prstGeom prst="rect">
            <a:avLst/>
          </a:prstGeom>
        </p:spPr>
      </p:pic>
      <p:pic>
        <p:nvPicPr>
          <p:cNvPr id="35" name="Picture 34" descr="image12.png"/>
          <p:cNvPicPr>
            <a:picLocks noChangeAspect="1"/>
          </p:cNvPicPr>
          <p:nvPr/>
        </p:nvPicPr>
        <p:blipFill>
          <a:blip r:embed="rId10"/>
          <a:stretch>
            <a:fillRect/>
          </a:stretch>
        </p:blipFill>
        <p:spPr>
          <a:xfrm>
            <a:off x="11155680" y="3995928"/>
            <a:ext cx="146304" cy="146304"/>
          </a:xfrm>
          <a:prstGeom prst="rect">
            <a:avLst/>
          </a:prstGeom>
        </p:spPr>
      </p:pic>
      <p:pic>
        <p:nvPicPr>
          <p:cNvPr id="36" name="Picture 35" descr="image12.png"/>
          <p:cNvPicPr>
            <a:picLocks noChangeAspect="1"/>
          </p:cNvPicPr>
          <p:nvPr/>
        </p:nvPicPr>
        <p:blipFill>
          <a:blip r:embed="rId10"/>
          <a:stretch>
            <a:fillRect/>
          </a:stretch>
        </p:blipFill>
        <p:spPr>
          <a:xfrm>
            <a:off x="11320272" y="3995928"/>
            <a:ext cx="146304" cy="146304"/>
          </a:xfrm>
          <a:prstGeom prst="rect">
            <a:avLst/>
          </a:prstGeom>
        </p:spPr>
      </p:pic>
      <p:sp>
        <p:nvSpPr>
          <p:cNvPr id="37" name="Text"/>
          <p:cNvSpPr txBox="1"/>
          <p:nvPr/>
        </p:nvSpPr>
        <p:spPr>
          <a:xfrm>
            <a:off x="4498848" y="4681728"/>
            <a:ext cx="1170432" cy="475488"/>
          </a:xfrm>
          <a:prstGeom prst="rect">
            <a:avLst/>
          </a:prstGeom>
          <a:noFill/>
        </p:spPr>
        <p:txBody>
          <a:bodyPr wrap="square" lIns="0" tIns="0" rIns="0" bIns="0" anchor="t">
            <a:spAutoFit/>
          </a:bodyPr>
          <a:lstStyle/>
          <a:p>
            <a:pPr algn="r">
              <a:lnSpc>
                <a:spcPct val="112000"/>
              </a:lnSpc>
            </a:pPr>
            <a:r>
              <a:rPr sz="1100" b="1" i="0">
                <a:solidFill>
                  <a:srgbClr val="CBD5E1"/>
                </a:solidFill>
                <a:latin typeface="Segoe UI"/>
              </a:rPr>
              <a:t>17 Aug 2018</a:t>
            </a:r>
          </a:p>
          <a:p>
            <a:pPr algn="r">
              <a:lnSpc>
                <a:spcPct val="112000"/>
              </a:lnSpc>
            </a:pPr>
            <a:r>
              <a:rPr sz="950" b="1" i="0">
                <a:solidFill>
                  <a:srgbClr val="34D399"/>
                </a:solidFill>
                <a:latin typeface="Segoe UI"/>
              </a:rPr>
              <a:t>Day 32</a:t>
            </a:r>
          </a:p>
        </p:txBody>
      </p:sp>
      <p:pic>
        <p:nvPicPr>
          <p:cNvPr id="38" name="Picture 37" descr="image6.png"/>
          <p:cNvPicPr>
            <a:picLocks noChangeAspect="1"/>
          </p:cNvPicPr>
          <p:nvPr/>
        </p:nvPicPr>
        <p:blipFill>
          <a:blip r:embed="rId11"/>
          <a:stretch>
            <a:fillRect/>
          </a:stretch>
        </p:blipFill>
        <p:spPr>
          <a:xfrm>
            <a:off x="5760720" y="4709160"/>
            <a:ext cx="411480" cy="411480"/>
          </a:xfrm>
          <a:prstGeom prst="rect">
            <a:avLst/>
          </a:prstGeom>
        </p:spPr>
      </p:pic>
      <p:sp>
        <p:nvSpPr>
          <p:cNvPr id="39" name="TimelineCard_4"/>
          <p:cNvSpPr/>
          <p:nvPr/>
        </p:nvSpPr>
        <p:spPr>
          <a:xfrm>
            <a:off x="6327648" y="4608576"/>
            <a:ext cx="5285232" cy="630936"/>
          </a:xfrm>
          <a:prstGeom prst="roundRect">
            <a:avLst>
              <a:gd name="adj" fmla="val 3800"/>
            </a:avLst>
          </a:prstGeom>
          <a:solidFill>
            <a:srgbClr val="112624"/>
          </a:solidFill>
          <a:ln w="11430">
            <a:solidFill>
              <a:srgbClr val="065F46"/>
            </a:solidFill>
          </a:ln>
          <a:effectLst>
            <a:outerShdw blurRad="177800" dist="44450" dir="5400000" algn="tl" rotWithShape="0">
              <a:srgbClr val="0F172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imelineCard_4_accent"/>
          <p:cNvSpPr/>
          <p:nvPr/>
        </p:nvSpPr>
        <p:spPr>
          <a:xfrm>
            <a:off x="6327648" y="4773168"/>
            <a:ext cx="59436" cy="301751"/>
          </a:xfrm>
          <a:prstGeom prst="roundRect">
            <a:avLst>
              <a:gd name="adj" fmla="val 25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
          <p:cNvSpPr txBox="1"/>
          <p:nvPr/>
        </p:nvSpPr>
        <p:spPr>
          <a:xfrm>
            <a:off x="6528816" y="4690872"/>
            <a:ext cx="4956048" cy="475488"/>
          </a:xfrm>
          <a:prstGeom prst="rect">
            <a:avLst/>
          </a:prstGeom>
          <a:noFill/>
        </p:spPr>
        <p:txBody>
          <a:bodyPr wrap="square" lIns="0" tIns="0" rIns="0" bIns="0" anchor="t">
            <a:spAutoFit/>
          </a:bodyPr>
          <a:lstStyle/>
          <a:p>
            <a:pPr algn="l">
              <a:lnSpc>
                <a:spcPct val="112000"/>
              </a:lnSpc>
              <a:spcAft>
                <a:spcPts val="150"/>
              </a:spcAft>
            </a:pPr>
            <a:r>
              <a:rPr sz="1220" b="1" i="0">
                <a:solidFill>
                  <a:srgbClr val="F8FAFC"/>
                </a:solidFill>
                <a:latin typeface="Segoe UI"/>
              </a:rPr>
              <a:t>Parcel finally arrives (10.5 days late)</a:t>
            </a:r>
          </a:p>
          <a:p>
            <a:pPr algn="l">
              <a:lnSpc>
                <a:spcPct val="115000"/>
              </a:lnSpc>
            </a:pPr>
            <a:r>
              <a:rPr sz="1030" b="0" i="0">
                <a:solidFill>
                  <a:srgbClr val="CBD5E1"/>
                </a:solidFill>
                <a:latin typeface="Segoe UI"/>
              </a:rPr>
              <a:t>Too late for recovery — the damage on the product page is </a:t>
            </a:r>
            <a:r>
              <a:rPr sz="1030" b="1" i="0">
                <a:solidFill>
                  <a:srgbClr val="F8FAFC"/>
                </a:solidFill>
                <a:latin typeface="Segoe UI"/>
              </a:rPr>
              <a:t>already done</a:t>
            </a:r>
            <a:r>
              <a:rPr sz="1030" b="0" i="0">
                <a:solidFill>
                  <a:srgbClr val="CBD5E1"/>
                </a:solidFill>
                <a:latin typeface="Segoe UI"/>
              </a:rPr>
              <a:t>.</a:t>
            </a:r>
          </a:p>
        </p:txBody>
      </p:sp>
      <p:sp>
        <p:nvSpPr>
          <p:cNvPr id="42" name="HookPunchline"/>
          <p:cNvSpPr/>
          <p:nvPr/>
        </p:nvSpPr>
        <p:spPr>
          <a:xfrm>
            <a:off x="4553712" y="5431536"/>
            <a:ext cx="7059168" cy="694944"/>
          </a:xfrm>
          <a:prstGeom prst="roundRect">
            <a:avLst>
              <a:gd name="adj" fmla="val 3800"/>
            </a:avLst>
          </a:prstGeom>
          <a:solidFill>
            <a:srgbClr val="291421"/>
          </a:solidFill>
          <a:ln w="15240">
            <a:solidFill>
              <a:srgbClr val="FB7185"/>
            </a:solidFill>
          </a:ln>
          <a:effectLst>
            <a:outerShdw blurRad="177800" dist="44450" dir="5400000" algn="tl" rotWithShape="0">
              <a:srgbClr val="0F172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
          <p:cNvSpPr txBox="1"/>
          <p:nvPr/>
        </p:nvSpPr>
        <p:spPr>
          <a:xfrm>
            <a:off x="4754880" y="5541264"/>
            <a:ext cx="6720840" cy="493776"/>
          </a:xfrm>
          <a:prstGeom prst="rect">
            <a:avLst/>
          </a:prstGeom>
          <a:noFill/>
        </p:spPr>
        <p:txBody>
          <a:bodyPr wrap="square" lIns="0" tIns="0" rIns="0" bIns="0" anchor="t">
            <a:spAutoFit/>
          </a:bodyPr>
          <a:lstStyle/>
          <a:p>
            <a:pPr algn="l">
              <a:lnSpc>
                <a:spcPct val="122000"/>
              </a:lnSpc>
            </a:pPr>
            <a:r>
              <a:rPr sz="1350" b="0" i="0">
                <a:solidFill>
                  <a:srgbClr val="F8FAFC"/>
                </a:solidFill>
                <a:latin typeface="Segoe UI"/>
              </a:rPr>
              <a:t>When the box reached the door, the 1-star review was already </a:t>
            </a:r>
            <a:r>
              <a:rPr sz="1450" b="1" i="0">
                <a:solidFill>
                  <a:srgbClr val="FB7185"/>
                </a:solidFill>
                <a:effectLst>
                  <a:glow rad="88900">
                    <a:srgbClr val="FB7185">
                      <a:alpha val="22000"/>
                    </a:srgbClr>
                  </a:glow>
                </a:effectLst>
                <a:latin typeface="Segoe UI"/>
              </a:rPr>
              <a:t>5.8 days old.</a:t>
            </a:r>
          </a:p>
          <a:p>
            <a:pPr algn="l">
              <a:lnSpc>
                <a:spcPct val="122000"/>
              </a:lnSpc>
            </a:pPr>
            <a:r>
              <a:rPr sz="1050" b="0" i="0">
                <a:solidFill>
                  <a:srgbClr val="CBD5E1"/>
                </a:solidFill>
                <a:latin typeface="Segoe UI"/>
              </a:rPr>
              <a:t>Any apology triggered at delivery was dead on arrival. Was this a rare fluke — or a marketplace-wide flaw?</a:t>
            </a:r>
          </a:p>
        </p:txBody>
      </p:sp>
      <p:sp>
        <p:nvSpPr>
          <p:cNvPr id="44" name="!!NavDock"/>
          <p:cNvSpPr/>
          <p:nvPr/>
        </p:nvSpPr>
        <p:spPr>
          <a:xfrm>
            <a:off x="566928" y="6327648"/>
            <a:ext cx="11055096" cy="384048"/>
          </a:xfrm>
          <a:prstGeom prst="roundRect">
            <a:avLst>
              <a:gd name="adj" fmla="val 50000"/>
            </a:avLst>
          </a:prstGeom>
          <a:solidFill>
            <a:srgbClr val="111B2E"/>
          </a:solidFill>
          <a:ln w="9525">
            <a:solidFill>
              <a:srgbClr val="233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Nav_1">
            <a:hlinkClick r:id="rId12" action="ppaction://hlinksldjump"/>
          </p:cNvPr>
          <p:cNvSpPr/>
          <p:nvPr/>
        </p:nvSpPr>
        <p:spPr>
          <a:xfrm>
            <a:off x="658368" y="6373368"/>
            <a:ext cx="1261872" cy="292608"/>
          </a:xfrm>
          <a:prstGeom prst="roundRect">
            <a:avLst>
              <a:gd name="adj" fmla="val 50000"/>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0B1220"/>
                </a:solidFill>
                <a:latin typeface="Segoe UI"/>
              </a:rPr>
              <a:t>01  The Problem</a:t>
            </a:r>
          </a:p>
        </p:txBody>
      </p:sp>
      <p:sp>
        <p:nvSpPr>
          <p:cNvPr id="46" name="Nav_2">
            <a:hlinkClick r:id="rId13" action="ppaction://hlinksldjump"/>
          </p:cNvPr>
          <p:cNvSpPr/>
          <p:nvPr/>
        </p:nvSpPr>
        <p:spPr>
          <a:xfrm>
            <a:off x="1993391" y="6373368"/>
            <a:ext cx="1261872"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02  Why &amp; Tools</a:t>
            </a:r>
          </a:p>
        </p:txBody>
      </p:sp>
      <p:sp>
        <p:nvSpPr>
          <p:cNvPr id="47" name="Nav_3">
            <a:hlinkClick r:id="rId14" action="ppaction://hlinksldjump"/>
          </p:cNvPr>
          <p:cNvSpPr/>
          <p:nvPr/>
        </p:nvSpPr>
        <p:spPr>
          <a:xfrm>
            <a:off x="3328415" y="6373368"/>
            <a:ext cx="1261872"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03  Proof &amp; App</a:t>
            </a:r>
          </a:p>
        </p:txBody>
      </p:sp>
      <p:sp>
        <p:nvSpPr>
          <p:cNvPr id="48" name="Nav_4">
            <a:hlinkClick r:id="rId15" action="ppaction://hlinksldjump"/>
          </p:cNvPr>
          <p:cNvSpPr/>
          <p:nvPr/>
        </p:nvSpPr>
        <p:spPr>
          <a:xfrm>
            <a:off x="4663440" y="6373368"/>
            <a:ext cx="1261872"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04  Monday Plan</a:t>
            </a:r>
          </a:p>
        </p:txBody>
      </p:sp>
      <p:sp>
        <p:nvSpPr>
          <p:cNvPr id="49" name="Nav_5">
            <a:hlinkClick r:id="rId16" action="ppaction://hlinksldjump"/>
          </p:cNvPr>
          <p:cNvSpPr/>
          <p:nvPr/>
        </p:nvSpPr>
        <p:spPr>
          <a:xfrm>
            <a:off x="5998464" y="6373368"/>
            <a:ext cx="1130198"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05  Takeaways</a:t>
            </a:r>
          </a:p>
        </p:txBody>
      </p:sp>
      <p:sp>
        <p:nvSpPr>
          <p:cNvPr id="50" name="DockJourneyLine"/>
          <p:cNvSpPr/>
          <p:nvPr/>
        </p:nvSpPr>
        <p:spPr>
          <a:xfrm>
            <a:off x="8915400" y="6510528"/>
            <a:ext cx="1115568"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g1" descr="image4.png"/>
          <p:cNvPicPr>
            <a:picLocks noChangeAspect="1"/>
          </p:cNvPicPr>
          <p:nvPr/>
        </p:nvPicPr>
        <p:blipFill>
          <a:blip r:embed="rId5"/>
          <a:stretch>
            <a:fillRect/>
          </a:stretch>
        </p:blipFill>
        <p:spPr>
          <a:xfrm>
            <a:off x="8778240" y="6409944"/>
            <a:ext cx="219456" cy="219456"/>
          </a:xfrm>
          <a:prstGeom prst="rect">
            <a:avLst/>
          </a:prstGeom>
        </p:spPr>
      </p:pic>
      <p:pic>
        <p:nvPicPr>
          <p:cNvPr id="52" name="!!g2" descr="image5.png"/>
          <p:cNvPicPr>
            <a:picLocks noChangeAspect="1"/>
          </p:cNvPicPr>
          <p:nvPr/>
        </p:nvPicPr>
        <p:blipFill>
          <a:blip r:embed="rId6"/>
          <a:stretch>
            <a:fillRect/>
          </a:stretch>
        </p:blipFill>
        <p:spPr>
          <a:xfrm>
            <a:off x="9144000" y="6377940"/>
            <a:ext cx="283464" cy="283464"/>
          </a:xfrm>
          <a:prstGeom prst="rect">
            <a:avLst/>
          </a:prstGeom>
        </p:spPr>
      </p:pic>
      <p:pic>
        <p:nvPicPr>
          <p:cNvPr id="53" name="!!g3" descr="image6.png"/>
          <p:cNvPicPr>
            <a:picLocks noChangeAspect="1"/>
          </p:cNvPicPr>
          <p:nvPr/>
        </p:nvPicPr>
        <p:blipFill>
          <a:blip r:embed="rId11"/>
          <a:stretch>
            <a:fillRect/>
          </a:stretch>
        </p:blipFill>
        <p:spPr>
          <a:xfrm>
            <a:off x="9509760" y="6409944"/>
            <a:ext cx="219456" cy="219456"/>
          </a:xfrm>
          <a:prstGeom prst="rect">
            <a:avLst/>
          </a:prstGeom>
        </p:spPr>
      </p:pic>
      <p:pic>
        <p:nvPicPr>
          <p:cNvPr id="54" name="!!g4" descr="image7.png"/>
          <p:cNvPicPr>
            <a:picLocks noChangeAspect="1"/>
          </p:cNvPicPr>
          <p:nvPr/>
        </p:nvPicPr>
        <p:blipFill>
          <a:blip r:embed="rId8"/>
          <a:stretch>
            <a:fillRect/>
          </a:stretch>
        </p:blipFill>
        <p:spPr>
          <a:xfrm>
            <a:off x="9875520" y="6377940"/>
            <a:ext cx="283464" cy="283464"/>
          </a:xfrm>
          <a:prstGeom prst="rect">
            <a:avLst/>
          </a:prstGeom>
        </p:spPr>
      </p:pic>
      <p:sp>
        <p:nvSpPr>
          <p:cNvPr id="55" name="Nav_QA">
            <a:hlinkClick r:id="rId17" action="ppaction://hlinksldjump"/>
          </p:cNvPr>
          <p:cNvSpPr/>
          <p:nvPr/>
        </p:nvSpPr>
        <p:spPr>
          <a:xfrm>
            <a:off x="10387584" y="6373368"/>
            <a:ext cx="1152144" cy="292608"/>
          </a:xfrm>
          <a:prstGeom prst="roundRect">
            <a:avLst>
              <a:gd name="adj" fmla="val 50000"/>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F8FAFC"/>
                </a:solidFill>
                <a:latin typeface="Segoe UI"/>
              </a:rPr>
              <a:t>Q&amp;A · 02/13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5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20"/>
                                        <p:tgtEl>
                                          <p:spTgt spid="3"/>
                                        </p:tgtEl>
                                      </p:cBhvr>
                                    </p:animEffect>
                                    <p:anim calcmode="lin" valueType="num">
                                      <p:cBhvr>
                                        <p:cTn id="8" dur="420" fill="hold"/>
                                        <p:tgtEl>
                                          <p:spTgt spid="3"/>
                                        </p:tgtEl>
                                        <p:attrNameLst>
                                          <p:attrName>ppt_x</p:attrName>
                                        </p:attrNameLst>
                                      </p:cBhvr>
                                      <p:tavLst>
                                        <p:tav tm="0">
                                          <p:val>
                                            <p:strVal val="#ppt_x"/>
                                          </p:val>
                                        </p:tav>
                                        <p:tav tm="100000">
                                          <p:val>
                                            <p:strVal val="#ppt_x"/>
                                          </p:val>
                                        </p:tav>
                                      </p:tavLst>
                                    </p:anim>
                                    <p:anim calcmode="lin" valueType="num">
                                      <p:cBhvr>
                                        <p:cTn id="9" dur="42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20"/>
                                        <p:tgtEl>
                                          <p:spTgt spid="4"/>
                                        </p:tgtEl>
                                      </p:cBhvr>
                                    </p:animEffect>
                                    <p:anim calcmode="lin" valueType="num">
                                      <p:cBhvr>
                                        <p:cTn id="13" dur="420" fill="hold"/>
                                        <p:tgtEl>
                                          <p:spTgt spid="4"/>
                                        </p:tgtEl>
                                        <p:attrNameLst>
                                          <p:attrName>ppt_x</p:attrName>
                                        </p:attrNameLst>
                                      </p:cBhvr>
                                      <p:tavLst>
                                        <p:tav tm="0">
                                          <p:val>
                                            <p:strVal val="#ppt_x"/>
                                          </p:val>
                                        </p:tav>
                                        <p:tav tm="100000">
                                          <p:val>
                                            <p:strVal val="#ppt_x"/>
                                          </p:val>
                                        </p:tav>
                                      </p:tavLst>
                                    </p:anim>
                                    <p:anim calcmode="lin" valueType="num">
                                      <p:cBhvr>
                                        <p:cTn id="14" dur="42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20"/>
                                        <p:tgtEl>
                                          <p:spTgt spid="5"/>
                                        </p:tgtEl>
                                      </p:cBhvr>
                                    </p:animEffect>
                                    <p:anim calcmode="lin" valueType="num">
                                      <p:cBhvr>
                                        <p:cTn id="18" dur="420" fill="hold"/>
                                        <p:tgtEl>
                                          <p:spTgt spid="5"/>
                                        </p:tgtEl>
                                        <p:attrNameLst>
                                          <p:attrName>ppt_x</p:attrName>
                                        </p:attrNameLst>
                                      </p:cBhvr>
                                      <p:tavLst>
                                        <p:tav tm="0">
                                          <p:val>
                                            <p:strVal val="#ppt_x"/>
                                          </p:val>
                                        </p:tav>
                                        <p:tav tm="100000">
                                          <p:val>
                                            <p:strVal val="#ppt_x"/>
                                          </p:val>
                                        </p:tav>
                                      </p:tavLst>
                                    </p:anim>
                                    <p:anim calcmode="lin" valueType="num">
                                      <p:cBhvr>
                                        <p:cTn id="19" dur="42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18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50"/>
                                        <p:tgtEl>
                                          <p:spTgt spid="6"/>
                                        </p:tgtEl>
                                      </p:cBhvr>
                                    </p:animEffect>
                                    <p:anim calcmode="lin" valueType="num">
                                      <p:cBhvr>
                                        <p:cTn id="23" dur="45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8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anim calcmode="lin" valueType="num">
                                      <p:cBhvr>
                                        <p:cTn id="28" dur="450" fill="hold"/>
                                        <p:tgtEl>
                                          <p:spTgt spid="11"/>
                                        </p:tgtEl>
                                        <p:attrNameLst>
                                          <p:attrName>ppt_x</p:attrName>
                                        </p:attrNameLst>
                                      </p:cBhvr>
                                      <p:tavLst>
                                        <p:tav tm="0">
                                          <p:val>
                                            <p:strVal val="#ppt_x"/>
                                          </p:val>
                                        </p:tav>
                                        <p:tav tm="100000">
                                          <p:val>
                                            <p:strVal val="#ppt_x"/>
                                          </p:val>
                                        </p:tav>
                                      </p:tavLst>
                                    </p:anim>
                                    <p:anim calcmode="lin" valueType="num">
                                      <p:cBhvr>
                                        <p:cTn id="29" dur="450" decel="100000" fill="hold"/>
                                        <p:tgtEl>
                                          <p:spTgt spid="11"/>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8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anim calcmode="lin" valueType="num">
                                      <p:cBhvr>
                                        <p:cTn id="33" dur="450" fill="hold"/>
                                        <p:tgtEl>
                                          <p:spTgt spid="12"/>
                                        </p:tgtEl>
                                        <p:attrNameLst>
                                          <p:attrName>ppt_x</p:attrName>
                                        </p:attrNameLst>
                                      </p:cBhvr>
                                      <p:tavLst>
                                        <p:tav tm="0">
                                          <p:val>
                                            <p:strVal val="#ppt_x"/>
                                          </p:val>
                                        </p:tav>
                                        <p:tav tm="100000">
                                          <p:val>
                                            <p:strVal val="#ppt_x"/>
                                          </p:val>
                                        </p:tav>
                                      </p:tavLst>
                                    </p:anim>
                                    <p:anim calcmode="lin" valueType="num">
                                      <p:cBhvr>
                                        <p:cTn id="34" dur="450" decel="100000" fill="hold"/>
                                        <p:tgtEl>
                                          <p:spTgt spid="12"/>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18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anim calcmode="lin" valueType="num">
                                      <p:cBhvr>
                                        <p:cTn id="38" dur="450" fill="hold"/>
                                        <p:tgtEl>
                                          <p:spTgt spid="13"/>
                                        </p:tgtEl>
                                        <p:attrNameLst>
                                          <p:attrName>ppt_x</p:attrName>
                                        </p:attrNameLst>
                                      </p:cBhvr>
                                      <p:tavLst>
                                        <p:tav tm="0">
                                          <p:val>
                                            <p:strVal val="#ppt_x"/>
                                          </p:val>
                                        </p:tav>
                                        <p:tav tm="100000">
                                          <p:val>
                                            <p:strVal val="#ppt_x"/>
                                          </p:val>
                                        </p:tav>
                                      </p:tavLst>
                                    </p:anim>
                                    <p:anim calcmode="lin" valueType="num">
                                      <p:cBhvr>
                                        <p:cTn id="39" dur="450" decel="100000" fill="hold"/>
                                        <p:tgtEl>
                                          <p:spTgt spid="13"/>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18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50"/>
                                        <p:tgtEl>
                                          <p:spTgt spid="14"/>
                                        </p:tgtEl>
                                      </p:cBhvr>
                                    </p:animEffect>
                                    <p:anim calcmode="lin" valueType="num">
                                      <p:cBhvr>
                                        <p:cTn id="43" dur="450" fill="hold"/>
                                        <p:tgtEl>
                                          <p:spTgt spid="14"/>
                                        </p:tgtEl>
                                        <p:attrNameLst>
                                          <p:attrName>ppt_x</p:attrName>
                                        </p:attrNameLst>
                                      </p:cBhvr>
                                      <p:tavLst>
                                        <p:tav tm="0">
                                          <p:val>
                                            <p:strVal val="#ppt_x"/>
                                          </p:val>
                                        </p:tav>
                                        <p:tav tm="100000">
                                          <p:val>
                                            <p:strVal val="#ppt_x"/>
                                          </p:val>
                                        </p:tav>
                                      </p:tavLst>
                                    </p:anim>
                                    <p:anim calcmode="lin" valueType="num">
                                      <p:cBhvr>
                                        <p:cTn id="44" dur="450" decel="100000" fill="hold"/>
                                        <p:tgtEl>
                                          <p:spTgt spid="14"/>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18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50"/>
                                        <p:tgtEl>
                                          <p:spTgt spid="15"/>
                                        </p:tgtEl>
                                      </p:cBhvr>
                                    </p:animEffect>
                                    <p:anim calcmode="lin" valueType="num">
                                      <p:cBhvr>
                                        <p:cTn id="48" dur="450" fill="hold"/>
                                        <p:tgtEl>
                                          <p:spTgt spid="15"/>
                                        </p:tgtEl>
                                        <p:attrNameLst>
                                          <p:attrName>ppt_x</p:attrName>
                                        </p:attrNameLst>
                                      </p:cBhvr>
                                      <p:tavLst>
                                        <p:tav tm="0">
                                          <p:val>
                                            <p:strVal val="#ppt_x"/>
                                          </p:val>
                                        </p:tav>
                                        <p:tav tm="100000">
                                          <p:val>
                                            <p:strVal val="#ppt_x"/>
                                          </p:val>
                                        </p:tav>
                                      </p:tavLst>
                                    </p:anim>
                                    <p:anim calcmode="lin" valueType="num">
                                      <p:cBhvr>
                                        <p:cTn id="49" dur="450" decel="100000" fill="hold"/>
                                        <p:tgtEl>
                                          <p:spTgt spid="15"/>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18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450"/>
                                        <p:tgtEl>
                                          <p:spTgt spid="16"/>
                                        </p:tgtEl>
                                      </p:cBhvr>
                                    </p:animEffect>
                                    <p:anim calcmode="lin" valueType="num">
                                      <p:cBhvr>
                                        <p:cTn id="53" dur="450" fill="hold"/>
                                        <p:tgtEl>
                                          <p:spTgt spid="16"/>
                                        </p:tgtEl>
                                        <p:attrNameLst>
                                          <p:attrName>ppt_x</p:attrName>
                                        </p:attrNameLst>
                                      </p:cBhvr>
                                      <p:tavLst>
                                        <p:tav tm="0">
                                          <p:val>
                                            <p:strVal val="#ppt_x"/>
                                          </p:val>
                                        </p:tav>
                                        <p:tav tm="100000">
                                          <p:val>
                                            <p:strVal val="#ppt_x"/>
                                          </p:val>
                                        </p:tav>
                                      </p:tavLst>
                                    </p:anim>
                                    <p:anim calcmode="lin" valueType="num">
                                      <p:cBhvr>
                                        <p:cTn id="54" dur="450" decel="100000" fill="hold"/>
                                        <p:tgtEl>
                                          <p:spTgt spid="16"/>
                                        </p:tgtEl>
                                        <p:attrNameLst>
                                          <p:attrName>ppt_y</p:attrName>
                                        </p:attrNameLst>
                                      </p:cBhvr>
                                      <p:tavLst>
                                        <p:tav tm="0">
                                          <p:val>
                                            <p:strVal val="#ppt_y+0.018"/>
                                          </p:val>
                                        </p:tav>
                                        <p:tav tm="100000">
                                          <p:val>
                                            <p:strVal val="#ppt_y"/>
                                          </p:val>
                                        </p:tav>
                                      </p:tavLst>
                                    </p:anim>
                                  </p:childTnLst>
                                </p:cTn>
                              </p:par>
                              <p:par>
                                <p:cTn id="55" presetID="42" presetClass="entr" presetSubtype="4" fill="hold" grpId="0" nodeType="withEffect">
                                  <p:stCondLst>
                                    <p:cond delay="18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450"/>
                                        <p:tgtEl>
                                          <p:spTgt spid="17"/>
                                        </p:tgtEl>
                                      </p:cBhvr>
                                    </p:animEffect>
                                    <p:anim calcmode="lin" valueType="num">
                                      <p:cBhvr>
                                        <p:cTn id="58" dur="450" fill="hold"/>
                                        <p:tgtEl>
                                          <p:spTgt spid="17"/>
                                        </p:tgtEl>
                                        <p:attrNameLst>
                                          <p:attrName>ppt_x</p:attrName>
                                        </p:attrNameLst>
                                      </p:cBhvr>
                                      <p:tavLst>
                                        <p:tav tm="0">
                                          <p:val>
                                            <p:strVal val="#ppt_x"/>
                                          </p:val>
                                        </p:tav>
                                        <p:tav tm="100000">
                                          <p:val>
                                            <p:strVal val="#ppt_x"/>
                                          </p:val>
                                        </p:tav>
                                      </p:tavLst>
                                    </p:anim>
                                    <p:anim calcmode="lin" valueType="num">
                                      <p:cBhvr>
                                        <p:cTn id="59" dur="450" decel="100000" fill="hold"/>
                                        <p:tgtEl>
                                          <p:spTgt spid="17"/>
                                        </p:tgtEl>
                                        <p:attrNameLst>
                                          <p:attrName>ppt_y</p:attrName>
                                        </p:attrNameLst>
                                      </p:cBhvr>
                                      <p:tavLst>
                                        <p:tav tm="0">
                                          <p:val>
                                            <p:strVal val="#ppt_y+0.018"/>
                                          </p:val>
                                        </p:tav>
                                        <p:tav tm="100000">
                                          <p:val>
                                            <p:strVal val="#ppt_y"/>
                                          </p:val>
                                        </p:tav>
                                      </p:tavLst>
                                    </p:anim>
                                  </p:childTnLst>
                                </p:cTn>
                              </p:par>
                              <p:par>
                                <p:cTn id="60" presetID="42" presetClass="entr" presetSubtype="4" fill="hold" grpId="0" nodeType="withEffect">
                                  <p:stCondLst>
                                    <p:cond delay="18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450"/>
                                        <p:tgtEl>
                                          <p:spTgt spid="18"/>
                                        </p:tgtEl>
                                      </p:cBhvr>
                                    </p:animEffect>
                                    <p:anim calcmode="lin" valueType="num">
                                      <p:cBhvr>
                                        <p:cTn id="63" dur="450" fill="hold"/>
                                        <p:tgtEl>
                                          <p:spTgt spid="18"/>
                                        </p:tgtEl>
                                        <p:attrNameLst>
                                          <p:attrName>ppt_x</p:attrName>
                                        </p:attrNameLst>
                                      </p:cBhvr>
                                      <p:tavLst>
                                        <p:tav tm="0">
                                          <p:val>
                                            <p:strVal val="#ppt_x"/>
                                          </p:val>
                                        </p:tav>
                                        <p:tav tm="100000">
                                          <p:val>
                                            <p:strVal val="#ppt_x"/>
                                          </p:val>
                                        </p:tav>
                                      </p:tavLst>
                                    </p:anim>
                                    <p:anim calcmode="lin" valueType="num">
                                      <p:cBhvr>
                                        <p:cTn id="64" dur="450" decel="100000" fill="hold"/>
                                        <p:tgtEl>
                                          <p:spTgt spid="18"/>
                                        </p:tgtEl>
                                        <p:attrNameLst>
                                          <p:attrName>ppt_y</p:attrName>
                                        </p:attrNameLst>
                                      </p:cBhvr>
                                      <p:tavLst>
                                        <p:tav tm="0">
                                          <p:val>
                                            <p:strVal val="#ppt_y+0.018"/>
                                          </p:val>
                                        </p:tav>
                                        <p:tav tm="100000">
                                          <p:val>
                                            <p:strVal val="#ppt_y"/>
                                          </p:val>
                                        </p:tav>
                                      </p:tavLst>
                                    </p:anim>
                                  </p:childTnLst>
                                </p:cTn>
                              </p:par>
                              <p:par>
                                <p:cTn id="65" presetID="42" presetClass="entr" presetSubtype="4" fill="hold" grpId="0" nodeType="withEffect">
                                  <p:stCondLst>
                                    <p:cond delay="18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450"/>
                                        <p:tgtEl>
                                          <p:spTgt spid="19"/>
                                        </p:tgtEl>
                                      </p:cBhvr>
                                    </p:animEffect>
                                    <p:anim calcmode="lin" valueType="num">
                                      <p:cBhvr>
                                        <p:cTn id="68" dur="450" fill="hold"/>
                                        <p:tgtEl>
                                          <p:spTgt spid="19"/>
                                        </p:tgtEl>
                                        <p:attrNameLst>
                                          <p:attrName>ppt_x</p:attrName>
                                        </p:attrNameLst>
                                      </p:cBhvr>
                                      <p:tavLst>
                                        <p:tav tm="0">
                                          <p:val>
                                            <p:strVal val="#ppt_x"/>
                                          </p:val>
                                        </p:tav>
                                        <p:tav tm="100000">
                                          <p:val>
                                            <p:strVal val="#ppt_x"/>
                                          </p:val>
                                        </p:tav>
                                      </p:tavLst>
                                    </p:anim>
                                    <p:anim calcmode="lin" valueType="num">
                                      <p:cBhvr>
                                        <p:cTn id="69" dur="450" decel="100000" fill="hold"/>
                                        <p:tgtEl>
                                          <p:spTgt spid="19"/>
                                        </p:tgtEl>
                                        <p:attrNameLst>
                                          <p:attrName>ppt_y</p:attrName>
                                        </p:attrNameLst>
                                      </p:cBhvr>
                                      <p:tavLst>
                                        <p:tav tm="0">
                                          <p:val>
                                            <p:strVal val="#ppt_y+0.018"/>
                                          </p:val>
                                        </p:tav>
                                        <p:tav tm="100000">
                                          <p:val>
                                            <p:strVal val="#ppt_y"/>
                                          </p:val>
                                        </p:tav>
                                      </p:tavLst>
                                    </p:anim>
                                  </p:childTnLst>
                                </p:cTn>
                              </p:par>
                              <p:par>
                                <p:cTn id="70" presetID="42" presetClass="entr" presetSubtype="4" fill="hold" grpId="0" nodeType="withEffect">
                                  <p:stCondLst>
                                    <p:cond delay="18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450"/>
                                        <p:tgtEl>
                                          <p:spTgt spid="20"/>
                                        </p:tgtEl>
                                      </p:cBhvr>
                                    </p:animEffect>
                                    <p:anim calcmode="lin" valueType="num">
                                      <p:cBhvr>
                                        <p:cTn id="73" dur="450" fill="hold"/>
                                        <p:tgtEl>
                                          <p:spTgt spid="20"/>
                                        </p:tgtEl>
                                        <p:attrNameLst>
                                          <p:attrName>ppt_x</p:attrName>
                                        </p:attrNameLst>
                                      </p:cBhvr>
                                      <p:tavLst>
                                        <p:tav tm="0">
                                          <p:val>
                                            <p:strVal val="#ppt_x"/>
                                          </p:val>
                                        </p:tav>
                                        <p:tav tm="100000">
                                          <p:val>
                                            <p:strVal val="#ppt_x"/>
                                          </p:val>
                                        </p:tav>
                                      </p:tavLst>
                                    </p:anim>
                                    <p:anim calcmode="lin" valueType="num">
                                      <p:cBhvr>
                                        <p:cTn id="74" dur="450" decel="100000" fill="hold"/>
                                        <p:tgtEl>
                                          <p:spTgt spid="20"/>
                                        </p:tgtEl>
                                        <p:attrNameLst>
                                          <p:attrName>ppt_y</p:attrName>
                                        </p:attrNameLst>
                                      </p:cBhvr>
                                      <p:tavLst>
                                        <p:tav tm="0">
                                          <p:val>
                                            <p:strVal val="#ppt_y+0.018"/>
                                          </p:val>
                                        </p:tav>
                                        <p:tav tm="100000">
                                          <p:val>
                                            <p:strVal val="#ppt_y"/>
                                          </p:val>
                                        </p:tav>
                                      </p:tavLst>
                                    </p:anim>
                                  </p:childTnLst>
                                </p:cTn>
                              </p:par>
                              <p:par>
                                <p:cTn id="75" presetID="42" presetClass="entr" presetSubtype="4" fill="hold" grpId="0" nodeType="withEffect">
                                  <p:stCondLst>
                                    <p:cond delay="180"/>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450"/>
                                        <p:tgtEl>
                                          <p:spTgt spid="21"/>
                                        </p:tgtEl>
                                      </p:cBhvr>
                                    </p:animEffect>
                                    <p:anim calcmode="lin" valueType="num">
                                      <p:cBhvr>
                                        <p:cTn id="78" dur="450" fill="hold"/>
                                        <p:tgtEl>
                                          <p:spTgt spid="21"/>
                                        </p:tgtEl>
                                        <p:attrNameLst>
                                          <p:attrName>ppt_x</p:attrName>
                                        </p:attrNameLst>
                                      </p:cBhvr>
                                      <p:tavLst>
                                        <p:tav tm="0">
                                          <p:val>
                                            <p:strVal val="#ppt_x"/>
                                          </p:val>
                                        </p:tav>
                                        <p:tav tm="100000">
                                          <p:val>
                                            <p:strVal val="#ppt_x"/>
                                          </p:val>
                                        </p:tav>
                                      </p:tavLst>
                                    </p:anim>
                                    <p:anim calcmode="lin" valueType="num">
                                      <p:cBhvr>
                                        <p:cTn id="79" dur="450" decel="100000" fill="hold"/>
                                        <p:tgtEl>
                                          <p:spTgt spid="21"/>
                                        </p:tgtEl>
                                        <p:attrNameLst>
                                          <p:attrName>ppt_y</p:attrName>
                                        </p:attrNameLst>
                                      </p:cBhvr>
                                      <p:tavLst>
                                        <p:tav tm="0">
                                          <p:val>
                                            <p:strVal val="#ppt_y+0.018"/>
                                          </p:val>
                                        </p:tav>
                                        <p:tav tm="100000">
                                          <p:val>
                                            <p:strVal val="#ppt_y"/>
                                          </p:val>
                                        </p:tav>
                                      </p:tavLst>
                                    </p:anim>
                                  </p:childTnLst>
                                </p:cTn>
                              </p:par>
                              <p:par>
                                <p:cTn id="80" presetID="42" presetClass="entr" presetSubtype="4" fill="hold" grpId="0" nodeType="withEffect">
                                  <p:stCondLst>
                                    <p:cond delay="36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450"/>
                                        <p:tgtEl>
                                          <p:spTgt spid="22"/>
                                        </p:tgtEl>
                                      </p:cBhvr>
                                    </p:animEffect>
                                    <p:anim calcmode="lin" valueType="num">
                                      <p:cBhvr>
                                        <p:cTn id="83" dur="450" fill="hold"/>
                                        <p:tgtEl>
                                          <p:spTgt spid="22"/>
                                        </p:tgtEl>
                                        <p:attrNameLst>
                                          <p:attrName>ppt_x</p:attrName>
                                        </p:attrNameLst>
                                      </p:cBhvr>
                                      <p:tavLst>
                                        <p:tav tm="0">
                                          <p:val>
                                            <p:strVal val="#ppt_x"/>
                                          </p:val>
                                        </p:tav>
                                        <p:tav tm="100000">
                                          <p:val>
                                            <p:strVal val="#ppt_x"/>
                                          </p:val>
                                        </p:tav>
                                      </p:tavLst>
                                    </p:anim>
                                    <p:anim calcmode="lin" valueType="num">
                                      <p:cBhvr>
                                        <p:cTn id="84" dur="450" decel="100000" fill="hold"/>
                                        <p:tgtEl>
                                          <p:spTgt spid="22"/>
                                        </p:tgtEl>
                                        <p:attrNameLst>
                                          <p:attrName>ppt_y</p:attrName>
                                        </p:attrNameLst>
                                      </p:cBhvr>
                                      <p:tavLst>
                                        <p:tav tm="0">
                                          <p:val>
                                            <p:strVal val="#ppt_y+0.018"/>
                                          </p:val>
                                        </p:tav>
                                        <p:tav tm="100000">
                                          <p:val>
                                            <p:strVal val="#ppt_y"/>
                                          </p:val>
                                        </p:tav>
                                      </p:tavLst>
                                    </p:anim>
                                  </p:childTnLst>
                                </p:cTn>
                              </p:par>
                              <p:par>
                                <p:cTn id="85" presetID="42" presetClass="entr" presetSubtype="4" fill="hold" grpId="0" nodeType="withEffect">
                                  <p:stCondLst>
                                    <p:cond delay="360"/>
                                  </p:stCondLst>
                                  <p:childTnLst>
                                    <p:set>
                                      <p:cBhvr>
                                        <p:cTn id="86" dur="1" fill="hold">
                                          <p:stCondLst>
                                            <p:cond delay="0"/>
                                          </p:stCondLst>
                                        </p:cTn>
                                        <p:tgtEl>
                                          <p:spTgt spid="23"/>
                                        </p:tgtEl>
                                        <p:attrNameLst>
                                          <p:attrName>style.visibility</p:attrName>
                                        </p:attrNameLst>
                                      </p:cBhvr>
                                      <p:to>
                                        <p:strVal val="visible"/>
                                      </p:to>
                                    </p:set>
                                    <p:animEffect transition="in" filter="fade">
                                      <p:cBhvr>
                                        <p:cTn id="87" dur="450"/>
                                        <p:tgtEl>
                                          <p:spTgt spid="23"/>
                                        </p:tgtEl>
                                      </p:cBhvr>
                                    </p:animEffect>
                                    <p:anim calcmode="lin" valueType="num">
                                      <p:cBhvr>
                                        <p:cTn id="88" dur="450" fill="hold"/>
                                        <p:tgtEl>
                                          <p:spTgt spid="23"/>
                                        </p:tgtEl>
                                        <p:attrNameLst>
                                          <p:attrName>ppt_x</p:attrName>
                                        </p:attrNameLst>
                                      </p:cBhvr>
                                      <p:tavLst>
                                        <p:tav tm="0">
                                          <p:val>
                                            <p:strVal val="#ppt_x"/>
                                          </p:val>
                                        </p:tav>
                                        <p:tav tm="100000">
                                          <p:val>
                                            <p:strVal val="#ppt_x"/>
                                          </p:val>
                                        </p:tav>
                                      </p:tavLst>
                                    </p:anim>
                                    <p:anim calcmode="lin" valueType="num">
                                      <p:cBhvr>
                                        <p:cTn id="89" dur="450" decel="100000" fill="hold"/>
                                        <p:tgtEl>
                                          <p:spTgt spid="23"/>
                                        </p:tgtEl>
                                        <p:attrNameLst>
                                          <p:attrName>ppt_y</p:attrName>
                                        </p:attrNameLst>
                                      </p:cBhvr>
                                      <p:tavLst>
                                        <p:tav tm="0">
                                          <p:val>
                                            <p:strVal val="#ppt_y+0.018"/>
                                          </p:val>
                                        </p:tav>
                                        <p:tav tm="100000">
                                          <p:val>
                                            <p:strVal val="#ppt_y"/>
                                          </p:val>
                                        </p:tav>
                                      </p:tavLst>
                                    </p:anim>
                                  </p:childTnLst>
                                </p:cTn>
                              </p:par>
                              <p:par>
                                <p:cTn id="90" presetID="42" presetClass="entr" presetSubtype="4" fill="hold" grpId="0" nodeType="withEffect">
                                  <p:stCondLst>
                                    <p:cond delay="36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450"/>
                                        <p:tgtEl>
                                          <p:spTgt spid="24"/>
                                        </p:tgtEl>
                                      </p:cBhvr>
                                    </p:animEffect>
                                    <p:anim calcmode="lin" valueType="num">
                                      <p:cBhvr>
                                        <p:cTn id="93" dur="450" fill="hold"/>
                                        <p:tgtEl>
                                          <p:spTgt spid="24"/>
                                        </p:tgtEl>
                                        <p:attrNameLst>
                                          <p:attrName>ppt_x</p:attrName>
                                        </p:attrNameLst>
                                      </p:cBhvr>
                                      <p:tavLst>
                                        <p:tav tm="0">
                                          <p:val>
                                            <p:strVal val="#ppt_x"/>
                                          </p:val>
                                        </p:tav>
                                        <p:tav tm="100000">
                                          <p:val>
                                            <p:strVal val="#ppt_x"/>
                                          </p:val>
                                        </p:tav>
                                      </p:tavLst>
                                    </p:anim>
                                    <p:anim calcmode="lin" valueType="num">
                                      <p:cBhvr>
                                        <p:cTn id="94" dur="450" decel="100000" fill="hold"/>
                                        <p:tgtEl>
                                          <p:spTgt spid="24"/>
                                        </p:tgtEl>
                                        <p:attrNameLst>
                                          <p:attrName>ppt_y</p:attrName>
                                        </p:attrNameLst>
                                      </p:cBhvr>
                                      <p:tavLst>
                                        <p:tav tm="0">
                                          <p:val>
                                            <p:strVal val="#ppt_y+0.018"/>
                                          </p:val>
                                        </p:tav>
                                        <p:tav tm="100000">
                                          <p:val>
                                            <p:strVal val="#ppt_y"/>
                                          </p:val>
                                        </p:tav>
                                      </p:tavLst>
                                    </p:anim>
                                  </p:childTnLst>
                                </p:cTn>
                              </p:par>
                              <p:par>
                                <p:cTn id="95" presetID="42" presetClass="entr" presetSubtype="4" fill="hold" grpId="0" nodeType="withEffect">
                                  <p:stCondLst>
                                    <p:cond delay="36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450"/>
                                        <p:tgtEl>
                                          <p:spTgt spid="25"/>
                                        </p:tgtEl>
                                      </p:cBhvr>
                                    </p:animEffect>
                                    <p:anim calcmode="lin" valueType="num">
                                      <p:cBhvr>
                                        <p:cTn id="98" dur="450" fill="hold"/>
                                        <p:tgtEl>
                                          <p:spTgt spid="25"/>
                                        </p:tgtEl>
                                        <p:attrNameLst>
                                          <p:attrName>ppt_x</p:attrName>
                                        </p:attrNameLst>
                                      </p:cBhvr>
                                      <p:tavLst>
                                        <p:tav tm="0">
                                          <p:val>
                                            <p:strVal val="#ppt_x"/>
                                          </p:val>
                                        </p:tav>
                                        <p:tav tm="100000">
                                          <p:val>
                                            <p:strVal val="#ppt_x"/>
                                          </p:val>
                                        </p:tav>
                                      </p:tavLst>
                                    </p:anim>
                                    <p:anim calcmode="lin" valueType="num">
                                      <p:cBhvr>
                                        <p:cTn id="99" dur="450" decel="100000" fill="hold"/>
                                        <p:tgtEl>
                                          <p:spTgt spid="25"/>
                                        </p:tgtEl>
                                        <p:attrNameLst>
                                          <p:attrName>ppt_y</p:attrName>
                                        </p:attrNameLst>
                                      </p:cBhvr>
                                      <p:tavLst>
                                        <p:tav tm="0">
                                          <p:val>
                                            <p:strVal val="#ppt_y+0.018"/>
                                          </p:val>
                                        </p:tav>
                                        <p:tav tm="100000">
                                          <p:val>
                                            <p:strVal val="#ppt_y"/>
                                          </p:val>
                                        </p:tav>
                                      </p:tavLst>
                                    </p:anim>
                                  </p:childTnLst>
                                </p:cTn>
                              </p:par>
                              <p:par>
                                <p:cTn id="100" presetID="42" presetClass="entr" presetSubtype="4" fill="hold" grpId="0" nodeType="withEffect">
                                  <p:stCondLst>
                                    <p:cond delay="36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450"/>
                                        <p:tgtEl>
                                          <p:spTgt spid="26"/>
                                        </p:tgtEl>
                                      </p:cBhvr>
                                    </p:animEffect>
                                    <p:anim calcmode="lin" valueType="num">
                                      <p:cBhvr>
                                        <p:cTn id="103" dur="450" fill="hold"/>
                                        <p:tgtEl>
                                          <p:spTgt spid="26"/>
                                        </p:tgtEl>
                                        <p:attrNameLst>
                                          <p:attrName>ppt_x</p:attrName>
                                        </p:attrNameLst>
                                      </p:cBhvr>
                                      <p:tavLst>
                                        <p:tav tm="0">
                                          <p:val>
                                            <p:strVal val="#ppt_x"/>
                                          </p:val>
                                        </p:tav>
                                        <p:tav tm="100000">
                                          <p:val>
                                            <p:strVal val="#ppt_x"/>
                                          </p:val>
                                        </p:tav>
                                      </p:tavLst>
                                    </p:anim>
                                    <p:anim calcmode="lin" valueType="num">
                                      <p:cBhvr>
                                        <p:cTn id="104" dur="450" decel="100000" fill="hold"/>
                                        <p:tgtEl>
                                          <p:spTgt spid="26"/>
                                        </p:tgtEl>
                                        <p:attrNameLst>
                                          <p:attrName>ppt_y</p:attrName>
                                        </p:attrNameLst>
                                      </p:cBhvr>
                                      <p:tavLst>
                                        <p:tav tm="0">
                                          <p:val>
                                            <p:strVal val="#ppt_y+0.018"/>
                                          </p:val>
                                        </p:tav>
                                        <p:tav tm="100000">
                                          <p:val>
                                            <p:strVal val="#ppt_y"/>
                                          </p:val>
                                        </p:tav>
                                      </p:tavLst>
                                    </p:anim>
                                  </p:childTnLst>
                                </p:cTn>
                              </p:par>
                              <p:par>
                                <p:cTn id="105" presetID="42" presetClass="entr" presetSubtype="4" fill="hold" grpId="0" nodeType="withEffect">
                                  <p:stCondLst>
                                    <p:cond delay="36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450"/>
                                        <p:tgtEl>
                                          <p:spTgt spid="27"/>
                                        </p:tgtEl>
                                      </p:cBhvr>
                                    </p:animEffect>
                                    <p:anim calcmode="lin" valueType="num">
                                      <p:cBhvr>
                                        <p:cTn id="108" dur="450" fill="hold"/>
                                        <p:tgtEl>
                                          <p:spTgt spid="27"/>
                                        </p:tgtEl>
                                        <p:attrNameLst>
                                          <p:attrName>ppt_x</p:attrName>
                                        </p:attrNameLst>
                                      </p:cBhvr>
                                      <p:tavLst>
                                        <p:tav tm="0">
                                          <p:val>
                                            <p:strVal val="#ppt_x"/>
                                          </p:val>
                                        </p:tav>
                                        <p:tav tm="100000">
                                          <p:val>
                                            <p:strVal val="#ppt_x"/>
                                          </p:val>
                                        </p:tav>
                                      </p:tavLst>
                                    </p:anim>
                                    <p:anim calcmode="lin" valueType="num">
                                      <p:cBhvr>
                                        <p:cTn id="109" dur="450" decel="100000" fill="hold"/>
                                        <p:tgtEl>
                                          <p:spTgt spid="27"/>
                                        </p:tgtEl>
                                        <p:attrNameLst>
                                          <p:attrName>ppt_y</p:attrName>
                                        </p:attrNameLst>
                                      </p:cBhvr>
                                      <p:tavLst>
                                        <p:tav tm="0">
                                          <p:val>
                                            <p:strVal val="#ppt_y+0.018"/>
                                          </p:val>
                                        </p:tav>
                                        <p:tav tm="100000">
                                          <p:val>
                                            <p:strVal val="#ppt_y"/>
                                          </p:val>
                                        </p:tav>
                                      </p:tavLst>
                                    </p:anim>
                                  </p:childTnLst>
                                </p:cTn>
                              </p:par>
                              <p:par>
                                <p:cTn id="110" presetID="42" presetClass="entr" presetSubtype="4" fill="hold" grpId="0" nodeType="withEffect">
                                  <p:stCondLst>
                                    <p:cond delay="36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2" dur="450"/>
                                        <p:tgtEl>
                                          <p:spTgt spid="28"/>
                                        </p:tgtEl>
                                      </p:cBhvr>
                                    </p:animEffect>
                                    <p:anim calcmode="lin" valueType="num">
                                      <p:cBhvr>
                                        <p:cTn id="113" dur="450" fill="hold"/>
                                        <p:tgtEl>
                                          <p:spTgt spid="28"/>
                                        </p:tgtEl>
                                        <p:attrNameLst>
                                          <p:attrName>ppt_x</p:attrName>
                                        </p:attrNameLst>
                                      </p:cBhvr>
                                      <p:tavLst>
                                        <p:tav tm="0">
                                          <p:val>
                                            <p:strVal val="#ppt_x"/>
                                          </p:val>
                                        </p:tav>
                                        <p:tav tm="100000">
                                          <p:val>
                                            <p:strVal val="#ppt_x"/>
                                          </p:val>
                                        </p:tav>
                                      </p:tavLst>
                                    </p:anim>
                                    <p:anim calcmode="lin" valueType="num">
                                      <p:cBhvr>
                                        <p:cTn id="114" dur="450" decel="100000" fill="hold"/>
                                        <p:tgtEl>
                                          <p:spTgt spid="28"/>
                                        </p:tgtEl>
                                        <p:attrNameLst>
                                          <p:attrName>ppt_y</p:attrName>
                                        </p:attrNameLst>
                                      </p:cBhvr>
                                      <p:tavLst>
                                        <p:tav tm="0">
                                          <p:val>
                                            <p:strVal val="#ppt_y+0.018"/>
                                          </p:val>
                                        </p:tav>
                                        <p:tav tm="100000">
                                          <p:val>
                                            <p:strVal val="#ppt_y"/>
                                          </p:val>
                                        </p:tav>
                                      </p:tavLst>
                                    </p:anim>
                                  </p:childTnLst>
                                </p:cTn>
                              </p:par>
                              <p:par>
                                <p:cTn id="115" presetID="42" presetClass="entr" presetSubtype="4" fill="hold" grpId="0" nodeType="withEffect">
                                  <p:stCondLst>
                                    <p:cond delay="360"/>
                                  </p:stCondLst>
                                  <p:childTnLst>
                                    <p:set>
                                      <p:cBhvr>
                                        <p:cTn id="116" dur="1" fill="hold">
                                          <p:stCondLst>
                                            <p:cond delay="0"/>
                                          </p:stCondLst>
                                        </p:cTn>
                                        <p:tgtEl>
                                          <p:spTgt spid="29"/>
                                        </p:tgtEl>
                                        <p:attrNameLst>
                                          <p:attrName>style.visibility</p:attrName>
                                        </p:attrNameLst>
                                      </p:cBhvr>
                                      <p:to>
                                        <p:strVal val="visible"/>
                                      </p:to>
                                    </p:set>
                                    <p:animEffect transition="in" filter="fade">
                                      <p:cBhvr>
                                        <p:cTn id="117" dur="450"/>
                                        <p:tgtEl>
                                          <p:spTgt spid="29"/>
                                        </p:tgtEl>
                                      </p:cBhvr>
                                    </p:animEffect>
                                    <p:anim calcmode="lin" valueType="num">
                                      <p:cBhvr>
                                        <p:cTn id="118" dur="450" fill="hold"/>
                                        <p:tgtEl>
                                          <p:spTgt spid="29"/>
                                        </p:tgtEl>
                                        <p:attrNameLst>
                                          <p:attrName>ppt_x</p:attrName>
                                        </p:attrNameLst>
                                      </p:cBhvr>
                                      <p:tavLst>
                                        <p:tav tm="0">
                                          <p:val>
                                            <p:strVal val="#ppt_x"/>
                                          </p:val>
                                        </p:tav>
                                        <p:tav tm="100000">
                                          <p:val>
                                            <p:strVal val="#ppt_x"/>
                                          </p:val>
                                        </p:tav>
                                      </p:tavLst>
                                    </p:anim>
                                    <p:anim calcmode="lin" valueType="num">
                                      <p:cBhvr>
                                        <p:cTn id="119" dur="450" decel="100000" fill="hold"/>
                                        <p:tgtEl>
                                          <p:spTgt spid="29"/>
                                        </p:tgtEl>
                                        <p:attrNameLst>
                                          <p:attrName>ppt_y</p:attrName>
                                        </p:attrNameLst>
                                      </p:cBhvr>
                                      <p:tavLst>
                                        <p:tav tm="0">
                                          <p:val>
                                            <p:strVal val="#ppt_y+0.018"/>
                                          </p:val>
                                        </p:tav>
                                        <p:tav tm="100000">
                                          <p:val>
                                            <p:strVal val="#ppt_y"/>
                                          </p:val>
                                        </p:tav>
                                      </p:tavLst>
                                    </p:anim>
                                  </p:childTnLst>
                                </p:cTn>
                              </p:par>
                              <p:par>
                                <p:cTn id="120" presetID="42" presetClass="entr" presetSubtype="4" fill="hold" grpId="0" nodeType="withEffect">
                                  <p:stCondLst>
                                    <p:cond delay="360"/>
                                  </p:stCondLst>
                                  <p:childTnLst>
                                    <p:set>
                                      <p:cBhvr>
                                        <p:cTn id="121" dur="1" fill="hold">
                                          <p:stCondLst>
                                            <p:cond delay="0"/>
                                          </p:stCondLst>
                                        </p:cTn>
                                        <p:tgtEl>
                                          <p:spTgt spid="30"/>
                                        </p:tgtEl>
                                        <p:attrNameLst>
                                          <p:attrName>style.visibility</p:attrName>
                                        </p:attrNameLst>
                                      </p:cBhvr>
                                      <p:to>
                                        <p:strVal val="visible"/>
                                      </p:to>
                                    </p:set>
                                    <p:animEffect transition="in" filter="fade">
                                      <p:cBhvr>
                                        <p:cTn id="122" dur="450"/>
                                        <p:tgtEl>
                                          <p:spTgt spid="30"/>
                                        </p:tgtEl>
                                      </p:cBhvr>
                                    </p:animEffect>
                                    <p:anim calcmode="lin" valueType="num">
                                      <p:cBhvr>
                                        <p:cTn id="123" dur="450" fill="hold"/>
                                        <p:tgtEl>
                                          <p:spTgt spid="30"/>
                                        </p:tgtEl>
                                        <p:attrNameLst>
                                          <p:attrName>ppt_x</p:attrName>
                                        </p:attrNameLst>
                                      </p:cBhvr>
                                      <p:tavLst>
                                        <p:tav tm="0">
                                          <p:val>
                                            <p:strVal val="#ppt_x"/>
                                          </p:val>
                                        </p:tav>
                                        <p:tav tm="100000">
                                          <p:val>
                                            <p:strVal val="#ppt_x"/>
                                          </p:val>
                                        </p:tav>
                                      </p:tavLst>
                                    </p:anim>
                                    <p:anim calcmode="lin" valueType="num">
                                      <p:cBhvr>
                                        <p:cTn id="124" dur="450" decel="100000" fill="hold"/>
                                        <p:tgtEl>
                                          <p:spTgt spid="30"/>
                                        </p:tgtEl>
                                        <p:attrNameLst>
                                          <p:attrName>ppt_y</p:attrName>
                                        </p:attrNameLst>
                                      </p:cBhvr>
                                      <p:tavLst>
                                        <p:tav tm="0">
                                          <p:val>
                                            <p:strVal val="#ppt_y+0.018"/>
                                          </p:val>
                                        </p:tav>
                                        <p:tav tm="100000">
                                          <p:val>
                                            <p:strVal val="#ppt_y"/>
                                          </p:val>
                                        </p:tav>
                                      </p:tavLst>
                                    </p:anim>
                                  </p:childTnLst>
                                </p:cTn>
                              </p:par>
                              <p:par>
                                <p:cTn id="125" presetID="42" presetClass="entr" presetSubtype="4" fill="hold" grpId="0" nodeType="withEffect">
                                  <p:stCondLst>
                                    <p:cond delay="36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450"/>
                                        <p:tgtEl>
                                          <p:spTgt spid="31"/>
                                        </p:tgtEl>
                                      </p:cBhvr>
                                    </p:animEffect>
                                    <p:anim calcmode="lin" valueType="num">
                                      <p:cBhvr>
                                        <p:cTn id="128" dur="450" fill="hold"/>
                                        <p:tgtEl>
                                          <p:spTgt spid="31"/>
                                        </p:tgtEl>
                                        <p:attrNameLst>
                                          <p:attrName>ppt_x</p:attrName>
                                        </p:attrNameLst>
                                      </p:cBhvr>
                                      <p:tavLst>
                                        <p:tav tm="0">
                                          <p:val>
                                            <p:strVal val="#ppt_x"/>
                                          </p:val>
                                        </p:tav>
                                        <p:tav tm="100000">
                                          <p:val>
                                            <p:strVal val="#ppt_x"/>
                                          </p:val>
                                        </p:tav>
                                      </p:tavLst>
                                    </p:anim>
                                    <p:anim calcmode="lin" valueType="num">
                                      <p:cBhvr>
                                        <p:cTn id="129" dur="450" decel="100000" fill="hold"/>
                                        <p:tgtEl>
                                          <p:spTgt spid="31"/>
                                        </p:tgtEl>
                                        <p:attrNameLst>
                                          <p:attrName>ppt_y</p:attrName>
                                        </p:attrNameLst>
                                      </p:cBhvr>
                                      <p:tavLst>
                                        <p:tav tm="0">
                                          <p:val>
                                            <p:strVal val="#ppt_y+0.018"/>
                                          </p:val>
                                        </p:tav>
                                        <p:tav tm="100000">
                                          <p:val>
                                            <p:strVal val="#ppt_y"/>
                                          </p:val>
                                        </p:tav>
                                      </p:tavLst>
                                    </p:anim>
                                  </p:childTnLst>
                                </p:cTn>
                              </p:par>
                              <p:par>
                                <p:cTn id="130" presetID="42" presetClass="entr" presetSubtype="4" fill="hold" grpId="0" nodeType="withEffect">
                                  <p:stCondLst>
                                    <p:cond delay="360"/>
                                  </p:stCondLst>
                                  <p:childTnLst>
                                    <p:set>
                                      <p:cBhvr>
                                        <p:cTn id="131" dur="1" fill="hold">
                                          <p:stCondLst>
                                            <p:cond delay="0"/>
                                          </p:stCondLst>
                                        </p:cTn>
                                        <p:tgtEl>
                                          <p:spTgt spid="32"/>
                                        </p:tgtEl>
                                        <p:attrNameLst>
                                          <p:attrName>style.visibility</p:attrName>
                                        </p:attrNameLst>
                                      </p:cBhvr>
                                      <p:to>
                                        <p:strVal val="visible"/>
                                      </p:to>
                                    </p:set>
                                    <p:animEffect transition="in" filter="fade">
                                      <p:cBhvr>
                                        <p:cTn id="132" dur="450"/>
                                        <p:tgtEl>
                                          <p:spTgt spid="32"/>
                                        </p:tgtEl>
                                      </p:cBhvr>
                                    </p:animEffect>
                                    <p:anim calcmode="lin" valueType="num">
                                      <p:cBhvr>
                                        <p:cTn id="133" dur="450" fill="hold"/>
                                        <p:tgtEl>
                                          <p:spTgt spid="32"/>
                                        </p:tgtEl>
                                        <p:attrNameLst>
                                          <p:attrName>ppt_x</p:attrName>
                                        </p:attrNameLst>
                                      </p:cBhvr>
                                      <p:tavLst>
                                        <p:tav tm="0">
                                          <p:val>
                                            <p:strVal val="#ppt_x"/>
                                          </p:val>
                                        </p:tav>
                                        <p:tav tm="100000">
                                          <p:val>
                                            <p:strVal val="#ppt_x"/>
                                          </p:val>
                                        </p:tav>
                                      </p:tavLst>
                                    </p:anim>
                                    <p:anim calcmode="lin" valueType="num">
                                      <p:cBhvr>
                                        <p:cTn id="134" dur="450" decel="100000" fill="hold"/>
                                        <p:tgtEl>
                                          <p:spTgt spid="32"/>
                                        </p:tgtEl>
                                        <p:attrNameLst>
                                          <p:attrName>ppt_y</p:attrName>
                                        </p:attrNameLst>
                                      </p:cBhvr>
                                      <p:tavLst>
                                        <p:tav tm="0">
                                          <p:val>
                                            <p:strVal val="#ppt_y+0.018"/>
                                          </p:val>
                                        </p:tav>
                                        <p:tav tm="100000">
                                          <p:val>
                                            <p:strVal val="#ppt_y"/>
                                          </p:val>
                                        </p:tav>
                                      </p:tavLst>
                                    </p:anim>
                                  </p:childTnLst>
                                </p:cTn>
                              </p:par>
                              <p:par>
                                <p:cTn id="135" presetID="42" presetClass="entr" presetSubtype="4" fill="hold" grpId="0" nodeType="withEffect">
                                  <p:stCondLst>
                                    <p:cond delay="360"/>
                                  </p:stCondLst>
                                  <p:childTnLst>
                                    <p:set>
                                      <p:cBhvr>
                                        <p:cTn id="136" dur="1" fill="hold">
                                          <p:stCondLst>
                                            <p:cond delay="0"/>
                                          </p:stCondLst>
                                        </p:cTn>
                                        <p:tgtEl>
                                          <p:spTgt spid="33"/>
                                        </p:tgtEl>
                                        <p:attrNameLst>
                                          <p:attrName>style.visibility</p:attrName>
                                        </p:attrNameLst>
                                      </p:cBhvr>
                                      <p:to>
                                        <p:strVal val="visible"/>
                                      </p:to>
                                    </p:set>
                                    <p:animEffect transition="in" filter="fade">
                                      <p:cBhvr>
                                        <p:cTn id="137" dur="450"/>
                                        <p:tgtEl>
                                          <p:spTgt spid="33"/>
                                        </p:tgtEl>
                                      </p:cBhvr>
                                    </p:animEffect>
                                    <p:anim calcmode="lin" valueType="num">
                                      <p:cBhvr>
                                        <p:cTn id="138" dur="450" fill="hold"/>
                                        <p:tgtEl>
                                          <p:spTgt spid="33"/>
                                        </p:tgtEl>
                                        <p:attrNameLst>
                                          <p:attrName>ppt_x</p:attrName>
                                        </p:attrNameLst>
                                      </p:cBhvr>
                                      <p:tavLst>
                                        <p:tav tm="0">
                                          <p:val>
                                            <p:strVal val="#ppt_x"/>
                                          </p:val>
                                        </p:tav>
                                        <p:tav tm="100000">
                                          <p:val>
                                            <p:strVal val="#ppt_x"/>
                                          </p:val>
                                        </p:tav>
                                      </p:tavLst>
                                    </p:anim>
                                    <p:anim calcmode="lin" valueType="num">
                                      <p:cBhvr>
                                        <p:cTn id="139" dur="450" decel="100000" fill="hold"/>
                                        <p:tgtEl>
                                          <p:spTgt spid="33"/>
                                        </p:tgtEl>
                                        <p:attrNameLst>
                                          <p:attrName>ppt_y</p:attrName>
                                        </p:attrNameLst>
                                      </p:cBhvr>
                                      <p:tavLst>
                                        <p:tav tm="0">
                                          <p:val>
                                            <p:strVal val="#ppt_y+0.018"/>
                                          </p:val>
                                        </p:tav>
                                        <p:tav tm="100000">
                                          <p:val>
                                            <p:strVal val="#ppt_y"/>
                                          </p:val>
                                        </p:tav>
                                      </p:tavLst>
                                    </p:anim>
                                  </p:childTnLst>
                                </p:cTn>
                              </p:par>
                              <p:par>
                                <p:cTn id="140" presetID="42" presetClass="entr" presetSubtype="4" fill="hold" grpId="0" nodeType="withEffect">
                                  <p:stCondLst>
                                    <p:cond delay="360"/>
                                  </p:stCondLst>
                                  <p:childTnLst>
                                    <p:set>
                                      <p:cBhvr>
                                        <p:cTn id="141" dur="1" fill="hold">
                                          <p:stCondLst>
                                            <p:cond delay="0"/>
                                          </p:stCondLst>
                                        </p:cTn>
                                        <p:tgtEl>
                                          <p:spTgt spid="34"/>
                                        </p:tgtEl>
                                        <p:attrNameLst>
                                          <p:attrName>style.visibility</p:attrName>
                                        </p:attrNameLst>
                                      </p:cBhvr>
                                      <p:to>
                                        <p:strVal val="visible"/>
                                      </p:to>
                                    </p:set>
                                    <p:animEffect transition="in" filter="fade">
                                      <p:cBhvr>
                                        <p:cTn id="142" dur="450"/>
                                        <p:tgtEl>
                                          <p:spTgt spid="34"/>
                                        </p:tgtEl>
                                      </p:cBhvr>
                                    </p:animEffect>
                                    <p:anim calcmode="lin" valueType="num">
                                      <p:cBhvr>
                                        <p:cTn id="143" dur="450" fill="hold"/>
                                        <p:tgtEl>
                                          <p:spTgt spid="34"/>
                                        </p:tgtEl>
                                        <p:attrNameLst>
                                          <p:attrName>ppt_x</p:attrName>
                                        </p:attrNameLst>
                                      </p:cBhvr>
                                      <p:tavLst>
                                        <p:tav tm="0">
                                          <p:val>
                                            <p:strVal val="#ppt_x"/>
                                          </p:val>
                                        </p:tav>
                                        <p:tav tm="100000">
                                          <p:val>
                                            <p:strVal val="#ppt_x"/>
                                          </p:val>
                                        </p:tav>
                                      </p:tavLst>
                                    </p:anim>
                                    <p:anim calcmode="lin" valueType="num">
                                      <p:cBhvr>
                                        <p:cTn id="144" dur="450" decel="100000" fill="hold"/>
                                        <p:tgtEl>
                                          <p:spTgt spid="34"/>
                                        </p:tgtEl>
                                        <p:attrNameLst>
                                          <p:attrName>ppt_y</p:attrName>
                                        </p:attrNameLst>
                                      </p:cBhvr>
                                      <p:tavLst>
                                        <p:tav tm="0">
                                          <p:val>
                                            <p:strVal val="#ppt_y+0.018"/>
                                          </p:val>
                                        </p:tav>
                                        <p:tav tm="100000">
                                          <p:val>
                                            <p:strVal val="#ppt_y"/>
                                          </p:val>
                                        </p:tav>
                                      </p:tavLst>
                                    </p:anim>
                                  </p:childTnLst>
                                </p:cTn>
                              </p:par>
                              <p:par>
                                <p:cTn id="145" presetID="42" presetClass="entr" presetSubtype="4" fill="hold" grpId="0" nodeType="withEffect">
                                  <p:stCondLst>
                                    <p:cond delay="360"/>
                                  </p:stCondLst>
                                  <p:childTnLst>
                                    <p:set>
                                      <p:cBhvr>
                                        <p:cTn id="146" dur="1" fill="hold">
                                          <p:stCondLst>
                                            <p:cond delay="0"/>
                                          </p:stCondLst>
                                        </p:cTn>
                                        <p:tgtEl>
                                          <p:spTgt spid="35"/>
                                        </p:tgtEl>
                                        <p:attrNameLst>
                                          <p:attrName>style.visibility</p:attrName>
                                        </p:attrNameLst>
                                      </p:cBhvr>
                                      <p:to>
                                        <p:strVal val="visible"/>
                                      </p:to>
                                    </p:set>
                                    <p:animEffect transition="in" filter="fade">
                                      <p:cBhvr>
                                        <p:cTn id="147" dur="450"/>
                                        <p:tgtEl>
                                          <p:spTgt spid="35"/>
                                        </p:tgtEl>
                                      </p:cBhvr>
                                    </p:animEffect>
                                    <p:anim calcmode="lin" valueType="num">
                                      <p:cBhvr>
                                        <p:cTn id="148" dur="450" fill="hold"/>
                                        <p:tgtEl>
                                          <p:spTgt spid="35"/>
                                        </p:tgtEl>
                                        <p:attrNameLst>
                                          <p:attrName>ppt_x</p:attrName>
                                        </p:attrNameLst>
                                      </p:cBhvr>
                                      <p:tavLst>
                                        <p:tav tm="0">
                                          <p:val>
                                            <p:strVal val="#ppt_x"/>
                                          </p:val>
                                        </p:tav>
                                        <p:tav tm="100000">
                                          <p:val>
                                            <p:strVal val="#ppt_x"/>
                                          </p:val>
                                        </p:tav>
                                      </p:tavLst>
                                    </p:anim>
                                    <p:anim calcmode="lin" valueType="num">
                                      <p:cBhvr>
                                        <p:cTn id="149" dur="450" decel="100000" fill="hold"/>
                                        <p:tgtEl>
                                          <p:spTgt spid="35"/>
                                        </p:tgtEl>
                                        <p:attrNameLst>
                                          <p:attrName>ppt_y</p:attrName>
                                        </p:attrNameLst>
                                      </p:cBhvr>
                                      <p:tavLst>
                                        <p:tav tm="0">
                                          <p:val>
                                            <p:strVal val="#ppt_y+0.018"/>
                                          </p:val>
                                        </p:tav>
                                        <p:tav tm="100000">
                                          <p:val>
                                            <p:strVal val="#ppt_y"/>
                                          </p:val>
                                        </p:tav>
                                      </p:tavLst>
                                    </p:anim>
                                  </p:childTnLst>
                                </p:cTn>
                              </p:par>
                              <p:par>
                                <p:cTn id="150" presetID="42" presetClass="entr" presetSubtype="4" fill="hold" grpId="0" nodeType="withEffect">
                                  <p:stCondLst>
                                    <p:cond delay="360"/>
                                  </p:stCondLst>
                                  <p:childTnLst>
                                    <p:set>
                                      <p:cBhvr>
                                        <p:cTn id="151" dur="1" fill="hold">
                                          <p:stCondLst>
                                            <p:cond delay="0"/>
                                          </p:stCondLst>
                                        </p:cTn>
                                        <p:tgtEl>
                                          <p:spTgt spid="36"/>
                                        </p:tgtEl>
                                        <p:attrNameLst>
                                          <p:attrName>style.visibility</p:attrName>
                                        </p:attrNameLst>
                                      </p:cBhvr>
                                      <p:to>
                                        <p:strVal val="visible"/>
                                      </p:to>
                                    </p:set>
                                    <p:animEffect transition="in" filter="fade">
                                      <p:cBhvr>
                                        <p:cTn id="152" dur="450"/>
                                        <p:tgtEl>
                                          <p:spTgt spid="36"/>
                                        </p:tgtEl>
                                      </p:cBhvr>
                                    </p:animEffect>
                                    <p:anim calcmode="lin" valueType="num">
                                      <p:cBhvr>
                                        <p:cTn id="153" dur="450" fill="hold"/>
                                        <p:tgtEl>
                                          <p:spTgt spid="36"/>
                                        </p:tgtEl>
                                        <p:attrNameLst>
                                          <p:attrName>ppt_x</p:attrName>
                                        </p:attrNameLst>
                                      </p:cBhvr>
                                      <p:tavLst>
                                        <p:tav tm="0">
                                          <p:val>
                                            <p:strVal val="#ppt_x"/>
                                          </p:val>
                                        </p:tav>
                                        <p:tav tm="100000">
                                          <p:val>
                                            <p:strVal val="#ppt_x"/>
                                          </p:val>
                                        </p:tav>
                                      </p:tavLst>
                                    </p:anim>
                                    <p:anim calcmode="lin" valueType="num">
                                      <p:cBhvr>
                                        <p:cTn id="154" dur="450" decel="100000" fill="hold"/>
                                        <p:tgtEl>
                                          <p:spTgt spid="36"/>
                                        </p:tgtEl>
                                        <p:attrNameLst>
                                          <p:attrName>ppt_y</p:attrName>
                                        </p:attrNameLst>
                                      </p:cBhvr>
                                      <p:tavLst>
                                        <p:tav tm="0">
                                          <p:val>
                                            <p:strVal val="#ppt_y+0.018"/>
                                          </p:val>
                                        </p:tav>
                                        <p:tav tm="100000">
                                          <p:val>
                                            <p:strVal val="#ppt_y"/>
                                          </p:val>
                                        </p:tav>
                                      </p:tavLst>
                                    </p:anim>
                                  </p:childTnLst>
                                </p:cTn>
                              </p:par>
                              <p:par>
                                <p:cTn id="155" presetID="42" presetClass="entr" presetSubtype="4" fill="hold" grpId="0" nodeType="withEffect">
                                  <p:stCondLst>
                                    <p:cond delay="540"/>
                                  </p:stCondLst>
                                  <p:childTnLst>
                                    <p:set>
                                      <p:cBhvr>
                                        <p:cTn id="156" dur="1" fill="hold">
                                          <p:stCondLst>
                                            <p:cond delay="0"/>
                                          </p:stCondLst>
                                        </p:cTn>
                                        <p:tgtEl>
                                          <p:spTgt spid="37"/>
                                        </p:tgtEl>
                                        <p:attrNameLst>
                                          <p:attrName>style.visibility</p:attrName>
                                        </p:attrNameLst>
                                      </p:cBhvr>
                                      <p:to>
                                        <p:strVal val="visible"/>
                                      </p:to>
                                    </p:set>
                                    <p:animEffect transition="in" filter="fade">
                                      <p:cBhvr>
                                        <p:cTn id="157" dur="480"/>
                                        <p:tgtEl>
                                          <p:spTgt spid="37"/>
                                        </p:tgtEl>
                                      </p:cBhvr>
                                    </p:animEffect>
                                    <p:anim calcmode="lin" valueType="num">
                                      <p:cBhvr>
                                        <p:cTn id="158" dur="480" fill="hold"/>
                                        <p:tgtEl>
                                          <p:spTgt spid="37"/>
                                        </p:tgtEl>
                                        <p:attrNameLst>
                                          <p:attrName>ppt_x</p:attrName>
                                        </p:attrNameLst>
                                      </p:cBhvr>
                                      <p:tavLst>
                                        <p:tav tm="0">
                                          <p:val>
                                            <p:strVal val="#ppt_x"/>
                                          </p:val>
                                        </p:tav>
                                        <p:tav tm="100000">
                                          <p:val>
                                            <p:strVal val="#ppt_x"/>
                                          </p:val>
                                        </p:tav>
                                      </p:tavLst>
                                    </p:anim>
                                    <p:anim calcmode="lin" valueType="num">
                                      <p:cBhvr>
                                        <p:cTn id="159" dur="480" decel="100000" fill="hold"/>
                                        <p:tgtEl>
                                          <p:spTgt spid="37"/>
                                        </p:tgtEl>
                                        <p:attrNameLst>
                                          <p:attrName>ppt_y</p:attrName>
                                        </p:attrNameLst>
                                      </p:cBhvr>
                                      <p:tavLst>
                                        <p:tav tm="0">
                                          <p:val>
                                            <p:strVal val="#ppt_y+0.018"/>
                                          </p:val>
                                        </p:tav>
                                        <p:tav tm="100000">
                                          <p:val>
                                            <p:strVal val="#ppt_y"/>
                                          </p:val>
                                        </p:tav>
                                      </p:tavLst>
                                    </p:anim>
                                  </p:childTnLst>
                                </p:cTn>
                              </p:par>
                              <p:par>
                                <p:cTn id="160" presetID="42" presetClass="entr" presetSubtype="4" fill="hold" grpId="0" nodeType="withEffect">
                                  <p:stCondLst>
                                    <p:cond delay="540"/>
                                  </p:stCondLst>
                                  <p:childTnLst>
                                    <p:set>
                                      <p:cBhvr>
                                        <p:cTn id="161" dur="1" fill="hold">
                                          <p:stCondLst>
                                            <p:cond delay="0"/>
                                          </p:stCondLst>
                                        </p:cTn>
                                        <p:tgtEl>
                                          <p:spTgt spid="38"/>
                                        </p:tgtEl>
                                        <p:attrNameLst>
                                          <p:attrName>style.visibility</p:attrName>
                                        </p:attrNameLst>
                                      </p:cBhvr>
                                      <p:to>
                                        <p:strVal val="visible"/>
                                      </p:to>
                                    </p:set>
                                    <p:animEffect transition="in" filter="fade">
                                      <p:cBhvr>
                                        <p:cTn id="162" dur="480"/>
                                        <p:tgtEl>
                                          <p:spTgt spid="38"/>
                                        </p:tgtEl>
                                      </p:cBhvr>
                                    </p:animEffect>
                                    <p:anim calcmode="lin" valueType="num">
                                      <p:cBhvr>
                                        <p:cTn id="163" dur="480" fill="hold"/>
                                        <p:tgtEl>
                                          <p:spTgt spid="38"/>
                                        </p:tgtEl>
                                        <p:attrNameLst>
                                          <p:attrName>ppt_x</p:attrName>
                                        </p:attrNameLst>
                                      </p:cBhvr>
                                      <p:tavLst>
                                        <p:tav tm="0">
                                          <p:val>
                                            <p:strVal val="#ppt_x"/>
                                          </p:val>
                                        </p:tav>
                                        <p:tav tm="100000">
                                          <p:val>
                                            <p:strVal val="#ppt_x"/>
                                          </p:val>
                                        </p:tav>
                                      </p:tavLst>
                                    </p:anim>
                                    <p:anim calcmode="lin" valueType="num">
                                      <p:cBhvr>
                                        <p:cTn id="164" dur="480" decel="100000" fill="hold"/>
                                        <p:tgtEl>
                                          <p:spTgt spid="38"/>
                                        </p:tgtEl>
                                        <p:attrNameLst>
                                          <p:attrName>ppt_y</p:attrName>
                                        </p:attrNameLst>
                                      </p:cBhvr>
                                      <p:tavLst>
                                        <p:tav tm="0">
                                          <p:val>
                                            <p:strVal val="#ppt_y+0.018"/>
                                          </p:val>
                                        </p:tav>
                                        <p:tav tm="100000">
                                          <p:val>
                                            <p:strVal val="#ppt_y"/>
                                          </p:val>
                                        </p:tav>
                                      </p:tavLst>
                                    </p:anim>
                                  </p:childTnLst>
                                </p:cTn>
                              </p:par>
                              <p:par>
                                <p:cTn id="165" presetID="42" presetClass="entr" presetSubtype="4" fill="hold" grpId="0" nodeType="withEffect">
                                  <p:stCondLst>
                                    <p:cond delay="540"/>
                                  </p:stCondLst>
                                  <p:childTnLst>
                                    <p:set>
                                      <p:cBhvr>
                                        <p:cTn id="166" dur="1" fill="hold">
                                          <p:stCondLst>
                                            <p:cond delay="0"/>
                                          </p:stCondLst>
                                        </p:cTn>
                                        <p:tgtEl>
                                          <p:spTgt spid="39"/>
                                        </p:tgtEl>
                                        <p:attrNameLst>
                                          <p:attrName>style.visibility</p:attrName>
                                        </p:attrNameLst>
                                      </p:cBhvr>
                                      <p:to>
                                        <p:strVal val="visible"/>
                                      </p:to>
                                    </p:set>
                                    <p:animEffect transition="in" filter="fade">
                                      <p:cBhvr>
                                        <p:cTn id="167" dur="480"/>
                                        <p:tgtEl>
                                          <p:spTgt spid="39"/>
                                        </p:tgtEl>
                                      </p:cBhvr>
                                    </p:animEffect>
                                    <p:anim calcmode="lin" valueType="num">
                                      <p:cBhvr>
                                        <p:cTn id="168" dur="480" fill="hold"/>
                                        <p:tgtEl>
                                          <p:spTgt spid="39"/>
                                        </p:tgtEl>
                                        <p:attrNameLst>
                                          <p:attrName>ppt_x</p:attrName>
                                        </p:attrNameLst>
                                      </p:cBhvr>
                                      <p:tavLst>
                                        <p:tav tm="0">
                                          <p:val>
                                            <p:strVal val="#ppt_x"/>
                                          </p:val>
                                        </p:tav>
                                        <p:tav tm="100000">
                                          <p:val>
                                            <p:strVal val="#ppt_x"/>
                                          </p:val>
                                        </p:tav>
                                      </p:tavLst>
                                    </p:anim>
                                    <p:anim calcmode="lin" valueType="num">
                                      <p:cBhvr>
                                        <p:cTn id="169" dur="480" decel="100000" fill="hold"/>
                                        <p:tgtEl>
                                          <p:spTgt spid="39"/>
                                        </p:tgtEl>
                                        <p:attrNameLst>
                                          <p:attrName>ppt_y</p:attrName>
                                        </p:attrNameLst>
                                      </p:cBhvr>
                                      <p:tavLst>
                                        <p:tav tm="0">
                                          <p:val>
                                            <p:strVal val="#ppt_y+0.018"/>
                                          </p:val>
                                        </p:tav>
                                        <p:tav tm="100000">
                                          <p:val>
                                            <p:strVal val="#ppt_y"/>
                                          </p:val>
                                        </p:tav>
                                      </p:tavLst>
                                    </p:anim>
                                  </p:childTnLst>
                                </p:cTn>
                              </p:par>
                              <p:par>
                                <p:cTn id="170" presetID="42" presetClass="entr" presetSubtype="4" fill="hold" grpId="0" nodeType="withEffect">
                                  <p:stCondLst>
                                    <p:cond delay="540"/>
                                  </p:stCondLst>
                                  <p:childTnLst>
                                    <p:set>
                                      <p:cBhvr>
                                        <p:cTn id="171" dur="1" fill="hold">
                                          <p:stCondLst>
                                            <p:cond delay="0"/>
                                          </p:stCondLst>
                                        </p:cTn>
                                        <p:tgtEl>
                                          <p:spTgt spid="40"/>
                                        </p:tgtEl>
                                        <p:attrNameLst>
                                          <p:attrName>style.visibility</p:attrName>
                                        </p:attrNameLst>
                                      </p:cBhvr>
                                      <p:to>
                                        <p:strVal val="visible"/>
                                      </p:to>
                                    </p:set>
                                    <p:animEffect transition="in" filter="fade">
                                      <p:cBhvr>
                                        <p:cTn id="172" dur="480"/>
                                        <p:tgtEl>
                                          <p:spTgt spid="40"/>
                                        </p:tgtEl>
                                      </p:cBhvr>
                                    </p:animEffect>
                                    <p:anim calcmode="lin" valueType="num">
                                      <p:cBhvr>
                                        <p:cTn id="173" dur="480" fill="hold"/>
                                        <p:tgtEl>
                                          <p:spTgt spid="40"/>
                                        </p:tgtEl>
                                        <p:attrNameLst>
                                          <p:attrName>ppt_x</p:attrName>
                                        </p:attrNameLst>
                                      </p:cBhvr>
                                      <p:tavLst>
                                        <p:tav tm="0">
                                          <p:val>
                                            <p:strVal val="#ppt_x"/>
                                          </p:val>
                                        </p:tav>
                                        <p:tav tm="100000">
                                          <p:val>
                                            <p:strVal val="#ppt_x"/>
                                          </p:val>
                                        </p:tav>
                                      </p:tavLst>
                                    </p:anim>
                                    <p:anim calcmode="lin" valueType="num">
                                      <p:cBhvr>
                                        <p:cTn id="174" dur="480" decel="100000" fill="hold"/>
                                        <p:tgtEl>
                                          <p:spTgt spid="40"/>
                                        </p:tgtEl>
                                        <p:attrNameLst>
                                          <p:attrName>ppt_y</p:attrName>
                                        </p:attrNameLst>
                                      </p:cBhvr>
                                      <p:tavLst>
                                        <p:tav tm="0">
                                          <p:val>
                                            <p:strVal val="#ppt_y+0.018"/>
                                          </p:val>
                                        </p:tav>
                                        <p:tav tm="100000">
                                          <p:val>
                                            <p:strVal val="#ppt_y"/>
                                          </p:val>
                                        </p:tav>
                                      </p:tavLst>
                                    </p:anim>
                                  </p:childTnLst>
                                </p:cTn>
                              </p:par>
                              <p:par>
                                <p:cTn id="175" presetID="42" presetClass="entr" presetSubtype="4" fill="hold" grpId="0" nodeType="withEffect">
                                  <p:stCondLst>
                                    <p:cond delay="540"/>
                                  </p:stCondLst>
                                  <p:childTnLst>
                                    <p:set>
                                      <p:cBhvr>
                                        <p:cTn id="176" dur="1" fill="hold">
                                          <p:stCondLst>
                                            <p:cond delay="0"/>
                                          </p:stCondLst>
                                        </p:cTn>
                                        <p:tgtEl>
                                          <p:spTgt spid="41"/>
                                        </p:tgtEl>
                                        <p:attrNameLst>
                                          <p:attrName>style.visibility</p:attrName>
                                        </p:attrNameLst>
                                      </p:cBhvr>
                                      <p:to>
                                        <p:strVal val="visible"/>
                                      </p:to>
                                    </p:set>
                                    <p:animEffect transition="in" filter="fade">
                                      <p:cBhvr>
                                        <p:cTn id="177" dur="480"/>
                                        <p:tgtEl>
                                          <p:spTgt spid="41"/>
                                        </p:tgtEl>
                                      </p:cBhvr>
                                    </p:animEffect>
                                    <p:anim calcmode="lin" valueType="num">
                                      <p:cBhvr>
                                        <p:cTn id="178" dur="480" fill="hold"/>
                                        <p:tgtEl>
                                          <p:spTgt spid="41"/>
                                        </p:tgtEl>
                                        <p:attrNameLst>
                                          <p:attrName>ppt_x</p:attrName>
                                        </p:attrNameLst>
                                      </p:cBhvr>
                                      <p:tavLst>
                                        <p:tav tm="0">
                                          <p:val>
                                            <p:strVal val="#ppt_x"/>
                                          </p:val>
                                        </p:tav>
                                        <p:tav tm="100000">
                                          <p:val>
                                            <p:strVal val="#ppt_x"/>
                                          </p:val>
                                        </p:tav>
                                      </p:tavLst>
                                    </p:anim>
                                    <p:anim calcmode="lin" valueType="num">
                                      <p:cBhvr>
                                        <p:cTn id="179" dur="480" decel="100000" fill="hold"/>
                                        <p:tgtEl>
                                          <p:spTgt spid="41"/>
                                        </p:tgtEl>
                                        <p:attrNameLst>
                                          <p:attrName>ppt_y</p:attrName>
                                        </p:attrNameLst>
                                      </p:cBhvr>
                                      <p:tavLst>
                                        <p:tav tm="0">
                                          <p:val>
                                            <p:strVal val="#ppt_y+0.018"/>
                                          </p:val>
                                        </p:tav>
                                        <p:tav tm="100000">
                                          <p:val>
                                            <p:strVal val="#ppt_y"/>
                                          </p:val>
                                        </p:tav>
                                      </p:tavLst>
                                    </p:anim>
                                  </p:childTnLst>
                                </p:cTn>
                              </p:par>
                              <p:par>
                                <p:cTn id="180" presetID="42" presetClass="entr" presetSubtype="4" fill="hold" grpId="0" nodeType="withEffect">
                                  <p:stCondLst>
                                    <p:cond delay="540"/>
                                  </p:stCondLst>
                                  <p:childTnLst>
                                    <p:set>
                                      <p:cBhvr>
                                        <p:cTn id="181" dur="1" fill="hold">
                                          <p:stCondLst>
                                            <p:cond delay="0"/>
                                          </p:stCondLst>
                                        </p:cTn>
                                        <p:tgtEl>
                                          <p:spTgt spid="42"/>
                                        </p:tgtEl>
                                        <p:attrNameLst>
                                          <p:attrName>style.visibility</p:attrName>
                                        </p:attrNameLst>
                                      </p:cBhvr>
                                      <p:to>
                                        <p:strVal val="visible"/>
                                      </p:to>
                                    </p:set>
                                    <p:animEffect transition="in" filter="fade">
                                      <p:cBhvr>
                                        <p:cTn id="182" dur="480"/>
                                        <p:tgtEl>
                                          <p:spTgt spid="42"/>
                                        </p:tgtEl>
                                      </p:cBhvr>
                                    </p:animEffect>
                                    <p:anim calcmode="lin" valueType="num">
                                      <p:cBhvr>
                                        <p:cTn id="183" dur="480" fill="hold"/>
                                        <p:tgtEl>
                                          <p:spTgt spid="42"/>
                                        </p:tgtEl>
                                        <p:attrNameLst>
                                          <p:attrName>ppt_x</p:attrName>
                                        </p:attrNameLst>
                                      </p:cBhvr>
                                      <p:tavLst>
                                        <p:tav tm="0">
                                          <p:val>
                                            <p:strVal val="#ppt_x"/>
                                          </p:val>
                                        </p:tav>
                                        <p:tav tm="100000">
                                          <p:val>
                                            <p:strVal val="#ppt_x"/>
                                          </p:val>
                                        </p:tav>
                                      </p:tavLst>
                                    </p:anim>
                                    <p:anim calcmode="lin" valueType="num">
                                      <p:cBhvr>
                                        <p:cTn id="184" dur="480" decel="100000" fill="hold"/>
                                        <p:tgtEl>
                                          <p:spTgt spid="42"/>
                                        </p:tgtEl>
                                        <p:attrNameLst>
                                          <p:attrName>ppt_y</p:attrName>
                                        </p:attrNameLst>
                                      </p:cBhvr>
                                      <p:tavLst>
                                        <p:tav tm="0">
                                          <p:val>
                                            <p:strVal val="#ppt_y+0.018"/>
                                          </p:val>
                                        </p:tav>
                                        <p:tav tm="100000">
                                          <p:val>
                                            <p:strVal val="#ppt_y"/>
                                          </p:val>
                                        </p:tav>
                                      </p:tavLst>
                                    </p:anim>
                                  </p:childTnLst>
                                </p:cTn>
                              </p:par>
                              <p:par>
                                <p:cTn id="185" presetID="42" presetClass="entr" presetSubtype="4" fill="hold" grpId="0" nodeType="withEffect">
                                  <p:stCondLst>
                                    <p:cond delay="540"/>
                                  </p:stCondLst>
                                  <p:childTnLst>
                                    <p:set>
                                      <p:cBhvr>
                                        <p:cTn id="186" dur="1" fill="hold">
                                          <p:stCondLst>
                                            <p:cond delay="0"/>
                                          </p:stCondLst>
                                        </p:cTn>
                                        <p:tgtEl>
                                          <p:spTgt spid="43"/>
                                        </p:tgtEl>
                                        <p:attrNameLst>
                                          <p:attrName>style.visibility</p:attrName>
                                        </p:attrNameLst>
                                      </p:cBhvr>
                                      <p:to>
                                        <p:strVal val="visible"/>
                                      </p:to>
                                    </p:set>
                                    <p:animEffect transition="in" filter="fade">
                                      <p:cBhvr>
                                        <p:cTn id="187" dur="480"/>
                                        <p:tgtEl>
                                          <p:spTgt spid="43"/>
                                        </p:tgtEl>
                                      </p:cBhvr>
                                    </p:animEffect>
                                    <p:anim calcmode="lin" valueType="num">
                                      <p:cBhvr>
                                        <p:cTn id="188" dur="480" fill="hold"/>
                                        <p:tgtEl>
                                          <p:spTgt spid="43"/>
                                        </p:tgtEl>
                                        <p:attrNameLst>
                                          <p:attrName>ppt_x</p:attrName>
                                        </p:attrNameLst>
                                      </p:cBhvr>
                                      <p:tavLst>
                                        <p:tav tm="0">
                                          <p:val>
                                            <p:strVal val="#ppt_x"/>
                                          </p:val>
                                        </p:tav>
                                        <p:tav tm="100000">
                                          <p:val>
                                            <p:strVal val="#ppt_x"/>
                                          </p:val>
                                        </p:tav>
                                      </p:tavLst>
                                    </p:anim>
                                    <p:anim calcmode="lin" valueType="num">
                                      <p:cBhvr>
                                        <p:cTn id="189" dur="480" decel="100000" fill="hold"/>
                                        <p:tgtEl>
                                          <p:spTgt spid="43"/>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light_studio_bg.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5009083" cy="256032"/>
          </a:xfrm>
          <a:prstGeom prst="roundRect">
            <a:avLst>
              <a:gd name="adj" fmla="val 50000"/>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E11D48"/>
                </a:solidFill>
                <a:latin typeface="Segoe UI"/>
              </a:rPr>
              <a:t>01 · THE PROBLEM — ACROSS 95,561 DELIVERED ORDERS</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3050" b="1" i="0">
                <a:solidFill>
                  <a:srgbClr val="0F172A"/>
                </a:solidFill>
                <a:latin typeface="Segoe UI"/>
              </a:rPr>
              <a:t>A broken promise turns into </a:t>
            </a:r>
            <a:r>
              <a:rPr sz="3050" b="1" i="0">
                <a:solidFill>
                  <a:srgbClr val="E11D48"/>
                </a:solidFill>
                <a:latin typeface="Segoe UI"/>
              </a:rPr>
              <a:t>a bad review</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64748B"/>
                </a:solidFill>
                <a:latin typeface="Segoe UI"/>
              </a:rPr>
              <a:t>Across the entire marketplace, crossing the promised delivery date multiplies 1–2★ reviews nearly sixfold.</a:t>
            </a:r>
          </a:p>
        </p:txBody>
      </p:sp>
      <p:sp>
        <p:nvSpPr>
          <p:cNvPr id="6" name="OnTimeCard"/>
          <p:cNvSpPr/>
          <p:nvPr/>
        </p:nvSpPr>
        <p:spPr>
          <a:xfrm>
            <a:off x="566928" y="1664208"/>
            <a:ext cx="2304288" cy="2176272"/>
          </a:xfrm>
          <a:prstGeom prst="roundRect">
            <a:avLst>
              <a:gd name="adj" fmla="val 3800"/>
            </a:avLst>
          </a:prstGeom>
          <a:solidFill>
            <a:srgbClr val="FFFFFF"/>
          </a:solidFill>
          <a:ln w="15240">
            <a:solidFill>
              <a:srgbClr val="A7F3D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nTimeCard_accent"/>
          <p:cNvSpPr/>
          <p:nvPr/>
        </p:nvSpPr>
        <p:spPr>
          <a:xfrm>
            <a:off x="713232" y="1664208"/>
            <a:ext cx="2011680" cy="50292"/>
          </a:xfrm>
          <a:prstGeom prst="roundRect">
            <a:avLst>
              <a:gd name="adj" fmla="val 25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
          <p:cNvSpPr txBox="1"/>
          <p:nvPr/>
        </p:nvSpPr>
        <p:spPr>
          <a:xfrm>
            <a:off x="749808" y="1847088"/>
            <a:ext cx="1938528" cy="1847088"/>
          </a:xfrm>
          <a:prstGeom prst="rect">
            <a:avLst/>
          </a:prstGeom>
          <a:noFill/>
        </p:spPr>
        <p:txBody>
          <a:bodyPr wrap="square" lIns="0" tIns="0" rIns="0" bIns="0" anchor="t">
            <a:spAutoFit/>
          </a:bodyPr>
          <a:lstStyle/>
          <a:p>
            <a:pPr algn="l">
              <a:lnSpc>
                <a:spcPct val="122000"/>
              </a:lnSpc>
              <a:spcAft>
                <a:spcPts val="600"/>
              </a:spcAft>
            </a:pPr>
            <a:r>
              <a:rPr sz="919" b="1" i="0" spc="140">
                <a:solidFill>
                  <a:srgbClr val="059669"/>
                </a:solidFill>
                <a:latin typeface="Segoe UI"/>
              </a:rPr>
              <a:t>DELIVERED ON TIME</a:t>
            </a:r>
          </a:p>
          <a:p>
            <a:pPr algn="l">
              <a:lnSpc>
                <a:spcPct val="102000"/>
              </a:lnSpc>
              <a:spcAft>
                <a:spcPts val="600"/>
              </a:spcAft>
            </a:pPr>
            <a:r>
              <a:rPr sz="4400" b="1" i="0">
                <a:solidFill>
                  <a:srgbClr val="059669"/>
                </a:solidFill>
                <a:latin typeface="Segoe UI"/>
              </a:rPr>
              <a:t>9.2%</a:t>
            </a:r>
          </a:p>
          <a:p>
            <a:pPr algn="l">
              <a:lnSpc>
                <a:spcPct val="122000"/>
              </a:lnSpc>
              <a:spcAft>
                <a:spcPts val="400"/>
              </a:spcAft>
            </a:pPr>
            <a:r>
              <a:rPr sz="1220" b="1" i="0">
                <a:solidFill>
                  <a:srgbClr val="0F172A"/>
                </a:solidFill>
                <a:latin typeface="Segoe UI"/>
              </a:rPr>
              <a:t>leave a 1–2★ review</a:t>
            </a:r>
          </a:p>
          <a:p>
            <a:pPr algn="l">
              <a:lnSpc>
                <a:spcPct val="125000"/>
              </a:lnSpc>
            </a:pPr>
            <a:r>
              <a:rPr sz="1000" b="0" i="0">
                <a:solidFill>
                  <a:srgbClr val="64748B"/>
                </a:solidFill>
                <a:latin typeface="Segoe UI"/>
              </a:rPr>
              <a:t>87,902 orders (92.0%)
Baseline product &amp; fit issues</a:t>
            </a:r>
          </a:p>
        </p:txBody>
      </p:sp>
      <p:sp>
        <p:nvSpPr>
          <p:cNvPr id="9" name="LateCard"/>
          <p:cNvSpPr/>
          <p:nvPr/>
        </p:nvSpPr>
        <p:spPr>
          <a:xfrm>
            <a:off x="3163824" y="1664208"/>
            <a:ext cx="2432304" cy="2176272"/>
          </a:xfrm>
          <a:prstGeom prst="roundRect">
            <a:avLst>
              <a:gd name="adj" fmla="val 3800"/>
            </a:avLst>
          </a:prstGeom>
          <a:solidFill>
            <a:srgbClr val="FFF1F2"/>
          </a:solidFill>
          <a:ln w="17780">
            <a:solidFill>
              <a:srgbClr val="FECDD3"/>
            </a:solidFill>
          </a:ln>
          <a:effectLst>
            <a:outerShdw blurRad="177800" dist="44450" dir="5400000" algn="tl" rotWithShape="0">
              <a:srgbClr val="E11D4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teCard_accent"/>
          <p:cNvSpPr/>
          <p:nvPr/>
        </p:nvSpPr>
        <p:spPr>
          <a:xfrm>
            <a:off x="3310128" y="1664208"/>
            <a:ext cx="2139696" cy="50292"/>
          </a:xfrm>
          <a:prstGeom prst="roundRect">
            <a:avLst>
              <a:gd name="adj" fmla="val 25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
          <p:cNvSpPr txBox="1"/>
          <p:nvPr/>
        </p:nvSpPr>
        <p:spPr>
          <a:xfrm>
            <a:off x="3364992" y="1847088"/>
            <a:ext cx="2066543" cy="1847088"/>
          </a:xfrm>
          <a:prstGeom prst="rect">
            <a:avLst/>
          </a:prstGeom>
          <a:noFill/>
        </p:spPr>
        <p:txBody>
          <a:bodyPr wrap="square" lIns="0" tIns="0" rIns="0" bIns="0" anchor="t">
            <a:spAutoFit/>
          </a:bodyPr>
          <a:lstStyle/>
          <a:p>
            <a:pPr algn="l">
              <a:lnSpc>
                <a:spcPct val="122000"/>
              </a:lnSpc>
              <a:spcAft>
                <a:spcPts val="600"/>
              </a:spcAft>
            </a:pPr>
            <a:r>
              <a:rPr sz="919" b="1" i="0" spc="140">
                <a:solidFill>
                  <a:srgbClr val="E11D48"/>
                </a:solidFill>
                <a:latin typeface="Segoe UI"/>
              </a:rPr>
              <a:t>DELIVERED LATE</a:t>
            </a:r>
          </a:p>
          <a:p>
            <a:pPr algn="l">
              <a:lnSpc>
                <a:spcPct val="102000"/>
              </a:lnSpc>
              <a:spcAft>
                <a:spcPts val="600"/>
              </a:spcAft>
            </a:pPr>
            <a:r>
              <a:rPr sz="4400" b="1" i="0">
                <a:solidFill>
                  <a:srgbClr val="E11D48"/>
                </a:solidFill>
                <a:latin typeface="Segoe UI"/>
              </a:rPr>
              <a:t>54.0%</a:t>
            </a:r>
          </a:p>
          <a:p>
            <a:pPr algn="l">
              <a:lnSpc>
                <a:spcPct val="122000"/>
              </a:lnSpc>
              <a:spcAft>
                <a:spcPts val="400"/>
              </a:spcAft>
            </a:pPr>
            <a:r>
              <a:rPr sz="1220" b="1" i="0">
                <a:solidFill>
                  <a:srgbClr val="0F172A"/>
                </a:solidFill>
                <a:latin typeface="Segoe UI"/>
              </a:rPr>
              <a:t>leave a 1–2★ review</a:t>
            </a:r>
          </a:p>
          <a:p>
            <a:pPr algn="l">
              <a:lnSpc>
                <a:spcPct val="125000"/>
              </a:lnSpc>
            </a:pPr>
            <a:r>
              <a:rPr sz="1000" b="0" i="0">
                <a:solidFill>
                  <a:srgbClr val="334155"/>
                </a:solidFill>
                <a:latin typeface="Segoe UI"/>
              </a:rPr>
              <a:t>7,659 orders (8.0%)
More than half turn unhappy</a:t>
            </a:r>
          </a:p>
        </p:txBody>
      </p:sp>
      <p:sp>
        <p:nvSpPr>
          <p:cNvPr id="12" name="Pill"/>
          <p:cNvSpPr/>
          <p:nvPr/>
        </p:nvSpPr>
        <p:spPr>
          <a:xfrm>
            <a:off x="2615184" y="2542032"/>
            <a:ext cx="804672" cy="365760"/>
          </a:xfrm>
          <a:prstGeom prst="roundRect">
            <a:avLst>
              <a:gd name="adj" fmla="val 50000"/>
            </a:avLst>
          </a:prstGeom>
          <a:solidFill>
            <a:srgbClr val="0F172A"/>
          </a:solidFill>
          <a:ln>
            <a:noFill/>
          </a:ln>
          <a:effectLst>
            <a:outerShdw blurRad="127000" dist="31750" dir="5400000" algn="tl" rotWithShape="0">
              <a:srgbClr val="0F172A">
                <a:alpha val="18000"/>
              </a:srgbClr>
            </a:outerShdw>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1250" b="1">
                <a:solidFill>
                  <a:srgbClr val="FFFFFF"/>
                </a:solidFill>
                <a:latin typeface="Segoe UI"/>
              </a:rPr>
              <a:t>5.9×</a:t>
            </a:r>
          </a:p>
        </p:txBody>
      </p:sp>
      <p:sp>
        <p:nvSpPr>
          <p:cNvPr id="13" name="ImpactCard"/>
          <p:cNvSpPr/>
          <p:nvPr/>
        </p:nvSpPr>
        <p:spPr>
          <a:xfrm>
            <a:off x="566928" y="4041648"/>
            <a:ext cx="5029200" cy="2029968"/>
          </a:xfrm>
          <a:prstGeom prst="roundRect">
            <a:avLst>
              <a:gd name="adj" fmla="val 3800"/>
            </a:avLst>
          </a:prstGeom>
          <a:solidFill>
            <a:srgbClr val="FFFFFF"/>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ImpactCard_accent"/>
          <p:cNvSpPr/>
          <p:nvPr/>
        </p:nvSpPr>
        <p:spPr>
          <a:xfrm>
            <a:off x="566928" y="4206240"/>
            <a:ext cx="59436" cy="1700784"/>
          </a:xfrm>
          <a:prstGeom prst="roundRect">
            <a:avLst>
              <a:gd name="adj" fmla="val 25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
          <p:cNvSpPr txBox="1"/>
          <p:nvPr/>
        </p:nvSpPr>
        <p:spPr>
          <a:xfrm>
            <a:off x="804672" y="4187952"/>
            <a:ext cx="4617720" cy="1755648"/>
          </a:xfrm>
          <a:prstGeom prst="rect">
            <a:avLst/>
          </a:prstGeom>
          <a:noFill/>
        </p:spPr>
        <p:txBody>
          <a:bodyPr wrap="square" lIns="0" tIns="0" rIns="0" bIns="0" anchor="t">
            <a:spAutoFit/>
          </a:bodyPr>
          <a:lstStyle/>
          <a:p>
            <a:pPr algn="l">
              <a:lnSpc>
                <a:spcPct val="128000"/>
              </a:lnSpc>
              <a:spcAft>
                <a:spcPts val="600"/>
              </a:spcAft>
            </a:pPr>
            <a:r>
              <a:rPr sz="919" b="1" i="0" spc="140">
                <a:solidFill>
                  <a:srgbClr val="D97706"/>
                </a:solidFill>
                <a:latin typeface="Segoe UI"/>
              </a:rPr>
              <a:t>WHY THIS HURTS THE WHOLE MARKETPLACE</a:t>
            </a:r>
          </a:p>
          <a:p>
            <a:pPr algn="l">
              <a:lnSpc>
                <a:spcPct val="128000"/>
              </a:lnSpc>
            </a:pPr>
            <a:r>
              <a:rPr sz="1350" b="0" i="0">
                <a:solidFill>
                  <a:srgbClr val="334155"/>
                </a:solidFill>
                <a:latin typeface="Segoe UI"/>
              </a:rPr>
              <a:t>Only </a:t>
            </a:r>
            <a:r>
              <a:rPr sz="1350" b="1" i="0">
                <a:solidFill>
                  <a:srgbClr val="0F172A"/>
                </a:solidFill>
                <a:latin typeface="Segoe UI"/>
              </a:rPr>
              <a:t>1 in 12 parcels (8.0%)</a:t>
            </a:r>
            <a:r>
              <a:rPr sz="1350" b="0" i="0">
                <a:solidFill>
                  <a:srgbClr val="334155"/>
                </a:solidFill>
                <a:latin typeface="Segoe UI"/>
              </a:rPr>
              <a:t> arrives late — yet they generate </a:t>
            </a:r>
            <a:r>
              <a:rPr sz="1400" b="1" i="0">
                <a:solidFill>
                  <a:srgbClr val="E11D48"/>
                </a:solidFill>
                <a:latin typeface="Segoe UI"/>
              </a:rPr>
              <a:t>34% (one-third)</a:t>
            </a:r>
            <a:r>
              <a:rPr sz="1350" b="0" i="0">
                <a:solidFill>
                  <a:srgbClr val="334155"/>
                </a:solidFill>
                <a:latin typeface="Segoe UI"/>
              </a:rPr>
              <a:t> of every 1–2★ review on Olist.</a:t>
            </a:r>
          </a:p>
          <a:p>
            <a:pPr algn="l">
              <a:lnSpc>
                <a:spcPct val="128000"/>
              </a:lnSpc>
            </a:pPr>
            <a:r>
              <a:rPr sz="1100" b="1" i="0">
                <a:solidFill>
                  <a:srgbClr val="E11D48"/>
                </a:solidFill>
                <a:latin typeface="Segoe UI"/>
              </a:rPr>
              <a:t>• </a:t>
            </a:r>
            <a:r>
              <a:rPr sz="1100" b="1" i="0">
                <a:solidFill>
                  <a:srgbClr val="0F172A"/>
                </a:solidFill>
                <a:latin typeface="Segoe UI"/>
              </a:rPr>
              <a:t>Lasting revenue drag: </a:t>
            </a:r>
            <a:r>
              <a:rPr sz="1080" b="0" i="0">
                <a:solidFill>
                  <a:srgbClr val="334155"/>
                </a:solidFill>
                <a:latin typeface="Segoe UI"/>
              </a:rPr>
              <a:t>On Olist's own data, bad logistics reviews directly depress a seller's future sales &amp; ratings </a:t>
            </a:r>
            <a:r>
              <a:rPr sz="1050" b="0" i="0">
                <a:solidFill>
                  <a:srgbClr val="64748B"/>
                </a:solidFill>
                <a:latin typeface="Segoe UI"/>
              </a:rPr>
              <a:t>(Deshpande &amp; Pendem, 2023).</a:t>
            </a:r>
          </a:p>
        </p:txBody>
      </p:sp>
      <p:sp>
        <p:nvSpPr>
          <p:cNvPr id="16" name="EscalationChartCard"/>
          <p:cNvSpPr/>
          <p:nvPr/>
        </p:nvSpPr>
        <p:spPr>
          <a:xfrm>
            <a:off x="5833872" y="1664208"/>
            <a:ext cx="5779008" cy="4407408"/>
          </a:xfrm>
          <a:prstGeom prst="roundRect">
            <a:avLst>
              <a:gd name="adj" fmla="val 3800"/>
            </a:avLst>
          </a:prstGeom>
          <a:solidFill>
            <a:srgbClr val="FFFFFF"/>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
          <p:cNvSpPr txBox="1"/>
          <p:nvPr/>
        </p:nvSpPr>
        <p:spPr>
          <a:xfrm>
            <a:off x="6089904" y="1828800"/>
            <a:ext cx="5303520" cy="457200"/>
          </a:xfrm>
          <a:prstGeom prst="rect">
            <a:avLst/>
          </a:prstGeom>
          <a:noFill/>
        </p:spPr>
        <p:txBody>
          <a:bodyPr wrap="square" lIns="0" tIns="0" rIns="0" bIns="0" anchor="t">
            <a:spAutoFit/>
          </a:bodyPr>
          <a:lstStyle/>
          <a:p>
            <a:pPr algn="l">
              <a:lnSpc>
                <a:spcPct val="122000"/>
              </a:lnSpc>
              <a:spcAft>
                <a:spcPts val="200"/>
              </a:spcAft>
            </a:pPr>
            <a:r>
              <a:rPr sz="1350" b="1" i="0">
                <a:solidFill>
                  <a:srgbClr val="0F172A"/>
                </a:solidFill>
                <a:latin typeface="Segoe UI"/>
              </a:rPr>
              <a:t>How fast anger climbs once the promised date is crossed</a:t>
            </a:r>
          </a:p>
          <a:p>
            <a:pPr algn="l">
              <a:lnSpc>
                <a:spcPct val="122000"/>
              </a:lnSpc>
            </a:pPr>
            <a:r>
              <a:rPr sz="1019" b="0" i="0">
                <a:solidFill>
                  <a:srgbClr val="64748B"/>
                </a:solidFill>
                <a:latin typeface="Segoe UI"/>
              </a:rPr>
              <a:t>Share of orders leaving 1–2★, grouped by arrival vs. promised date</a:t>
            </a:r>
          </a:p>
        </p:txBody>
      </p:sp>
      <p:sp>
        <p:nvSpPr>
          <p:cNvPr id="18" name="Rectangle 17"/>
          <p:cNvSpPr/>
          <p:nvPr/>
        </p:nvSpPr>
        <p:spPr>
          <a:xfrm>
            <a:off x="6089904" y="5102352"/>
            <a:ext cx="5266944"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863840" y="2505456"/>
            <a:ext cx="22860" cy="261518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Pill"/>
          <p:cNvSpPr/>
          <p:nvPr/>
        </p:nvSpPr>
        <p:spPr>
          <a:xfrm>
            <a:off x="7242048" y="2395728"/>
            <a:ext cx="1261872" cy="219456"/>
          </a:xfrm>
          <a:prstGeom prst="roundRect">
            <a:avLst>
              <a:gd name="adj" fmla="val 50000"/>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50" b="1">
                <a:solidFill>
                  <a:srgbClr val="D97706"/>
                </a:solidFill>
                <a:latin typeface="Segoe UI"/>
              </a:rPr>
              <a:t>Promised date</a:t>
            </a:r>
          </a:p>
        </p:txBody>
      </p:sp>
      <p:sp>
        <p:nvSpPr>
          <p:cNvPr id="21" name="Rounded Rectangle 20"/>
          <p:cNvSpPr/>
          <p:nvPr/>
        </p:nvSpPr>
        <p:spPr>
          <a:xfrm>
            <a:off x="6163056" y="4864909"/>
            <a:ext cx="621792" cy="237442"/>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
          <p:cNvSpPr txBox="1"/>
          <p:nvPr/>
        </p:nvSpPr>
        <p:spPr>
          <a:xfrm>
            <a:off x="6089904" y="4608877"/>
            <a:ext cx="768096" cy="219456"/>
          </a:xfrm>
          <a:prstGeom prst="rect">
            <a:avLst/>
          </a:prstGeom>
          <a:noFill/>
        </p:spPr>
        <p:txBody>
          <a:bodyPr wrap="square" lIns="0" tIns="0" rIns="0" bIns="0" anchor="t">
            <a:spAutoFit/>
          </a:bodyPr>
          <a:lstStyle/>
          <a:p>
            <a:pPr algn="ctr">
              <a:lnSpc>
                <a:spcPct val="122000"/>
              </a:lnSpc>
            </a:pPr>
            <a:r>
              <a:rPr sz="1120" b="1" i="0">
                <a:solidFill>
                  <a:srgbClr val="059669"/>
                </a:solidFill>
                <a:latin typeface="Segoe UI"/>
              </a:rPr>
              <a:t>8.9%</a:t>
            </a:r>
          </a:p>
        </p:txBody>
      </p:sp>
      <p:sp>
        <p:nvSpPr>
          <p:cNvPr id="23" name="Text"/>
          <p:cNvSpPr txBox="1"/>
          <p:nvPr/>
        </p:nvSpPr>
        <p:spPr>
          <a:xfrm>
            <a:off x="6053328" y="5175504"/>
            <a:ext cx="841248" cy="310896"/>
          </a:xfrm>
          <a:prstGeom prst="rect">
            <a:avLst/>
          </a:prstGeom>
          <a:noFill/>
        </p:spPr>
        <p:txBody>
          <a:bodyPr wrap="square" lIns="0" tIns="0" rIns="0" bIns="0" anchor="t">
            <a:spAutoFit/>
          </a:bodyPr>
          <a:lstStyle/>
          <a:p>
            <a:pPr algn="ctr">
              <a:lnSpc>
                <a:spcPct val="122000"/>
              </a:lnSpc>
            </a:pPr>
            <a:r>
              <a:rPr sz="919" b="0" i="0">
                <a:solidFill>
                  <a:srgbClr val="64748B"/>
                </a:solidFill>
                <a:latin typeface="Segoe UI"/>
              </a:rPr>
              <a:t>&gt; 10d early</a:t>
            </a:r>
          </a:p>
        </p:txBody>
      </p:sp>
      <p:sp>
        <p:nvSpPr>
          <p:cNvPr id="24" name="Rounded Rectangle 23"/>
          <p:cNvSpPr/>
          <p:nvPr/>
        </p:nvSpPr>
        <p:spPr>
          <a:xfrm>
            <a:off x="7022592" y="4843566"/>
            <a:ext cx="621792" cy="258785"/>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
          <p:cNvSpPr txBox="1"/>
          <p:nvPr/>
        </p:nvSpPr>
        <p:spPr>
          <a:xfrm>
            <a:off x="6949440" y="4587534"/>
            <a:ext cx="768096" cy="219456"/>
          </a:xfrm>
          <a:prstGeom prst="rect">
            <a:avLst/>
          </a:prstGeom>
          <a:noFill/>
        </p:spPr>
        <p:txBody>
          <a:bodyPr wrap="square" lIns="0" tIns="0" rIns="0" bIns="0" anchor="t">
            <a:spAutoFit/>
          </a:bodyPr>
          <a:lstStyle/>
          <a:p>
            <a:pPr algn="ctr">
              <a:lnSpc>
                <a:spcPct val="122000"/>
              </a:lnSpc>
            </a:pPr>
            <a:r>
              <a:rPr sz="1120" b="1" i="0">
                <a:solidFill>
                  <a:srgbClr val="059669"/>
                </a:solidFill>
                <a:latin typeface="Segoe UI"/>
              </a:rPr>
              <a:t>9.7%</a:t>
            </a:r>
          </a:p>
        </p:txBody>
      </p:sp>
      <p:sp>
        <p:nvSpPr>
          <p:cNvPr id="26" name="Text"/>
          <p:cNvSpPr txBox="1"/>
          <p:nvPr/>
        </p:nvSpPr>
        <p:spPr>
          <a:xfrm>
            <a:off x="6912864" y="5175504"/>
            <a:ext cx="841248" cy="310896"/>
          </a:xfrm>
          <a:prstGeom prst="rect">
            <a:avLst/>
          </a:prstGeom>
          <a:noFill/>
        </p:spPr>
        <p:txBody>
          <a:bodyPr wrap="square" lIns="0" tIns="0" rIns="0" bIns="0" anchor="t">
            <a:spAutoFit/>
          </a:bodyPr>
          <a:lstStyle/>
          <a:p>
            <a:pPr algn="ctr">
              <a:lnSpc>
                <a:spcPct val="122000"/>
              </a:lnSpc>
            </a:pPr>
            <a:r>
              <a:rPr sz="919" b="0" i="0">
                <a:solidFill>
                  <a:srgbClr val="64748B"/>
                </a:solidFill>
                <a:latin typeface="Segoe UI"/>
              </a:rPr>
              <a:t>0–10d early</a:t>
            </a:r>
          </a:p>
        </p:txBody>
      </p:sp>
      <p:sp>
        <p:nvSpPr>
          <p:cNvPr id="27" name="Rounded Rectangle 26"/>
          <p:cNvSpPr/>
          <p:nvPr/>
        </p:nvSpPr>
        <p:spPr>
          <a:xfrm>
            <a:off x="7991856" y="4592783"/>
            <a:ext cx="621792" cy="509568"/>
          </a:xfrm>
          <a:prstGeom prst="roundRect">
            <a:avLst>
              <a:gd name="adj" fmla="val 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
          <p:cNvSpPr txBox="1"/>
          <p:nvPr/>
        </p:nvSpPr>
        <p:spPr>
          <a:xfrm>
            <a:off x="7918704" y="4336751"/>
            <a:ext cx="768096" cy="219456"/>
          </a:xfrm>
          <a:prstGeom prst="rect">
            <a:avLst/>
          </a:prstGeom>
          <a:noFill/>
        </p:spPr>
        <p:txBody>
          <a:bodyPr wrap="square" lIns="0" tIns="0" rIns="0" bIns="0" anchor="t">
            <a:spAutoFit/>
          </a:bodyPr>
          <a:lstStyle/>
          <a:p>
            <a:pPr algn="ctr">
              <a:lnSpc>
                <a:spcPct val="122000"/>
              </a:lnSpc>
            </a:pPr>
            <a:r>
              <a:rPr sz="1120" b="1" i="0">
                <a:solidFill>
                  <a:srgbClr val="D97706"/>
                </a:solidFill>
                <a:latin typeface="Segoe UI"/>
              </a:rPr>
              <a:t>19.1%</a:t>
            </a:r>
          </a:p>
        </p:txBody>
      </p:sp>
      <p:sp>
        <p:nvSpPr>
          <p:cNvPr id="29" name="Text"/>
          <p:cNvSpPr txBox="1"/>
          <p:nvPr/>
        </p:nvSpPr>
        <p:spPr>
          <a:xfrm>
            <a:off x="7882128" y="5175504"/>
            <a:ext cx="841248" cy="310896"/>
          </a:xfrm>
          <a:prstGeom prst="rect">
            <a:avLst/>
          </a:prstGeom>
          <a:noFill/>
        </p:spPr>
        <p:txBody>
          <a:bodyPr wrap="square" lIns="0" tIns="0" rIns="0" bIns="0" anchor="t">
            <a:spAutoFit/>
          </a:bodyPr>
          <a:lstStyle/>
          <a:p>
            <a:pPr algn="ctr">
              <a:lnSpc>
                <a:spcPct val="122000"/>
              </a:lnSpc>
            </a:pPr>
            <a:r>
              <a:rPr sz="919" b="1" i="0">
                <a:solidFill>
                  <a:srgbClr val="0F172A"/>
                </a:solidFill>
                <a:latin typeface="Segoe UI"/>
              </a:rPr>
              <a:t>1–3d late</a:t>
            </a:r>
          </a:p>
        </p:txBody>
      </p:sp>
      <p:sp>
        <p:nvSpPr>
          <p:cNvPr id="30" name="Rounded Rectangle 29"/>
          <p:cNvSpPr/>
          <p:nvPr/>
        </p:nvSpPr>
        <p:spPr>
          <a:xfrm>
            <a:off x="8851392" y="3466931"/>
            <a:ext cx="621792" cy="1635420"/>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
          <p:cNvSpPr txBox="1"/>
          <p:nvPr/>
        </p:nvSpPr>
        <p:spPr>
          <a:xfrm>
            <a:off x="8778240" y="3210899"/>
            <a:ext cx="768096" cy="219456"/>
          </a:xfrm>
          <a:prstGeom prst="rect">
            <a:avLst/>
          </a:prstGeom>
          <a:noFill/>
        </p:spPr>
        <p:txBody>
          <a:bodyPr wrap="square" lIns="0" tIns="0" rIns="0" bIns="0" anchor="t">
            <a:spAutoFit/>
          </a:bodyPr>
          <a:lstStyle/>
          <a:p>
            <a:pPr algn="ctr">
              <a:lnSpc>
                <a:spcPct val="122000"/>
              </a:lnSpc>
            </a:pPr>
            <a:r>
              <a:rPr sz="1120" b="1" i="0">
                <a:solidFill>
                  <a:srgbClr val="E11D48"/>
                </a:solidFill>
                <a:latin typeface="Segoe UI"/>
              </a:rPr>
              <a:t>61.3%</a:t>
            </a:r>
          </a:p>
        </p:txBody>
      </p:sp>
      <p:sp>
        <p:nvSpPr>
          <p:cNvPr id="32" name="Text"/>
          <p:cNvSpPr txBox="1"/>
          <p:nvPr/>
        </p:nvSpPr>
        <p:spPr>
          <a:xfrm>
            <a:off x="8741664" y="5175504"/>
            <a:ext cx="841248" cy="310896"/>
          </a:xfrm>
          <a:prstGeom prst="rect">
            <a:avLst/>
          </a:prstGeom>
          <a:noFill/>
        </p:spPr>
        <p:txBody>
          <a:bodyPr wrap="square" lIns="0" tIns="0" rIns="0" bIns="0" anchor="t">
            <a:spAutoFit/>
          </a:bodyPr>
          <a:lstStyle/>
          <a:p>
            <a:pPr algn="ctr">
              <a:lnSpc>
                <a:spcPct val="122000"/>
              </a:lnSpc>
            </a:pPr>
            <a:r>
              <a:rPr sz="919" b="1" i="0">
                <a:solidFill>
                  <a:srgbClr val="0F172A"/>
                </a:solidFill>
                <a:latin typeface="Segoe UI"/>
              </a:rPr>
              <a:t>4–7d late</a:t>
            </a:r>
          </a:p>
        </p:txBody>
      </p:sp>
      <p:sp>
        <p:nvSpPr>
          <p:cNvPr id="33" name="Rounded Rectangle 32"/>
          <p:cNvSpPr/>
          <p:nvPr/>
        </p:nvSpPr>
        <p:spPr>
          <a:xfrm>
            <a:off x="9710928" y="3021392"/>
            <a:ext cx="621792" cy="2080959"/>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
          <p:cNvSpPr txBox="1"/>
          <p:nvPr/>
        </p:nvSpPr>
        <p:spPr>
          <a:xfrm>
            <a:off x="9637776" y="2765360"/>
            <a:ext cx="768096" cy="219456"/>
          </a:xfrm>
          <a:prstGeom prst="rect">
            <a:avLst/>
          </a:prstGeom>
          <a:noFill/>
        </p:spPr>
        <p:txBody>
          <a:bodyPr wrap="square" lIns="0" tIns="0" rIns="0" bIns="0" anchor="t">
            <a:spAutoFit/>
          </a:bodyPr>
          <a:lstStyle/>
          <a:p>
            <a:pPr algn="ctr">
              <a:lnSpc>
                <a:spcPct val="122000"/>
              </a:lnSpc>
            </a:pPr>
            <a:r>
              <a:rPr sz="1120" b="1" i="0">
                <a:solidFill>
                  <a:srgbClr val="E11D48"/>
                </a:solidFill>
                <a:latin typeface="Segoe UI"/>
              </a:rPr>
              <a:t>78.0%</a:t>
            </a:r>
          </a:p>
        </p:txBody>
      </p:sp>
      <p:sp>
        <p:nvSpPr>
          <p:cNvPr id="35" name="Text"/>
          <p:cNvSpPr txBox="1"/>
          <p:nvPr/>
        </p:nvSpPr>
        <p:spPr>
          <a:xfrm>
            <a:off x="9601200" y="5175504"/>
            <a:ext cx="841248" cy="310896"/>
          </a:xfrm>
          <a:prstGeom prst="rect">
            <a:avLst/>
          </a:prstGeom>
          <a:noFill/>
        </p:spPr>
        <p:txBody>
          <a:bodyPr wrap="square" lIns="0" tIns="0" rIns="0" bIns="0" anchor="t">
            <a:spAutoFit/>
          </a:bodyPr>
          <a:lstStyle/>
          <a:p>
            <a:pPr algn="ctr">
              <a:lnSpc>
                <a:spcPct val="122000"/>
              </a:lnSpc>
            </a:pPr>
            <a:r>
              <a:rPr sz="919" b="1" i="0">
                <a:solidFill>
                  <a:srgbClr val="0F172A"/>
                </a:solidFill>
                <a:latin typeface="Segoe UI"/>
              </a:rPr>
              <a:t>8–14d late</a:t>
            </a:r>
          </a:p>
        </p:txBody>
      </p:sp>
      <p:sp>
        <p:nvSpPr>
          <p:cNvPr id="36" name="Rounded Rectangle 35"/>
          <p:cNvSpPr/>
          <p:nvPr/>
        </p:nvSpPr>
        <p:spPr>
          <a:xfrm>
            <a:off x="10570463" y="3005385"/>
            <a:ext cx="621792" cy="2096966"/>
          </a:xfrm>
          <a:prstGeom prst="roundRect">
            <a:avLst>
              <a:gd name="adj" fmla="val 8000"/>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
          <p:cNvSpPr txBox="1"/>
          <p:nvPr/>
        </p:nvSpPr>
        <p:spPr>
          <a:xfrm>
            <a:off x="10497311" y="2749353"/>
            <a:ext cx="768096" cy="219456"/>
          </a:xfrm>
          <a:prstGeom prst="rect">
            <a:avLst/>
          </a:prstGeom>
          <a:noFill/>
        </p:spPr>
        <p:txBody>
          <a:bodyPr wrap="square" lIns="0" tIns="0" rIns="0" bIns="0" anchor="t">
            <a:spAutoFit/>
          </a:bodyPr>
          <a:lstStyle/>
          <a:p>
            <a:pPr algn="ctr">
              <a:lnSpc>
                <a:spcPct val="122000"/>
              </a:lnSpc>
            </a:pPr>
            <a:r>
              <a:rPr sz="1120" b="1" i="0">
                <a:solidFill>
                  <a:srgbClr val="BE123C"/>
                </a:solidFill>
                <a:latin typeface="Segoe UI"/>
              </a:rPr>
              <a:t>78.6%</a:t>
            </a:r>
          </a:p>
        </p:txBody>
      </p:sp>
      <p:sp>
        <p:nvSpPr>
          <p:cNvPr id="38" name="Text"/>
          <p:cNvSpPr txBox="1"/>
          <p:nvPr/>
        </p:nvSpPr>
        <p:spPr>
          <a:xfrm>
            <a:off x="10460736" y="5175504"/>
            <a:ext cx="841248" cy="310896"/>
          </a:xfrm>
          <a:prstGeom prst="rect">
            <a:avLst/>
          </a:prstGeom>
          <a:noFill/>
        </p:spPr>
        <p:txBody>
          <a:bodyPr wrap="square" lIns="0" tIns="0" rIns="0" bIns="0" anchor="t">
            <a:spAutoFit/>
          </a:bodyPr>
          <a:lstStyle/>
          <a:p>
            <a:pPr algn="ctr">
              <a:lnSpc>
                <a:spcPct val="122000"/>
              </a:lnSpc>
            </a:pPr>
            <a:r>
              <a:rPr sz="919" b="1" i="0">
                <a:solidFill>
                  <a:srgbClr val="0F172A"/>
                </a:solidFill>
                <a:latin typeface="Segoe UI"/>
              </a:rPr>
              <a:t>&gt; 14d late</a:t>
            </a:r>
          </a:p>
        </p:txBody>
      </p:sp>
      <p:sp>
        <p:nvSpPr>
          <p:cNvPr id="39" name="Text"/>
          <p:cNvSpPr txBox="1"/>
          <p:nvPr/>
        </p:nvSpPr>
        <p:spPr>
          <a:xfrm>
            <a:off x="6089904" y="5559552"/>
            <a:ext cx="5266944" cy="384048"/>
          </a:xfrm>
          <a:prstGeom prst="rect">
            <a:avLst/>
          </a:prstGeom>
          <a:noFill/>
        </p:spPr>
        <p:txBody>
          <a:bodyPr wrap="square" lIns="0" tIns="0" rIns="0" bIns="0" anchor="t">
            <a:spAutoFit/>
          </a:bodyPr>
          <a:lstStyle/>
          <a:p>
            <a:pPr algn="l">
              <a:lnSpc>
                <a:spcPct val="122000"/>
              </a:lnSpc>
            </a:pPr>
            <a:r>
              <a:rPr sz="1050" b="1" i="0">
                <a:solidFill>
                  <a:srgbClr val="0F172A"/>
                </a:solidFill>
                <a:latin typeface="Segoe UI"/>
              </a:rPr>
              <a:t>Sharp cliff at Day +4: </a:t>
            </a:r>
            <a:r>
              <a:rPr sz="1050" b="0" i="0">
                <a:solidFill>
                  <a:srgbClr val="334155"/>
                </a:solidFill>
                <a:latin typeface="Segoe UI"/>
              </a:rPr>
              <a:t>1–3 days late doubles bad reviews (19.1%); 4+ days late jumps past </a:t>
            </a:r>
            <a:r>
              <a:rPr sz="1050" b="1" i="0">
                <a:solidFill>
                  <a:srgbClr val="E11D48"/>
                </a:solidFill>
                <a:latin typeface="Segoe UI"/>
              </a:rPr>
              <a:t>61%–79%</a:t>
            </a:r>
            <a:r>
              <a:rPr sz="1050" b="0" i="0">
                <a:solidFill>
                  <a:srgbClr val="334155"/>
                </a:solidFill>
                <a:latin typeface="Segoe UI"/>
              </a:rPr>
              <a:t>.</a:t>
            </a:r>
          </a:p>
        </p:txBody>
      </p:sp>
      <p:sp>
        <p:nvSpPr>
          <p:cNvPr id="40" name="!!NavDock"/>
          <p:cNvSpPr/>
          <p:nvPr/>
        </p:nvSpPr>
        <p:spPr>
          <a:xfrm>
            <a:off x="566928" y="6327648"/>
            <a:ext cx="11055096" cy="384048"/>
          </a:xfrm>
          <a:prstGeom prst="roundRect">
            <a:avLst>
              <a:gd name="adj" fmla="val 50000"/>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Nav_1">
            <a:hlinkClick r:id="rId4" action="ppaction://hlinksldjump"/>
          </p:cNvPr>
          <p:cNvSpPr/>
          <p:nvPr/>
        </p:nvSpPr>
        <p:spPr>
          <a:xfrm>
            <a:off x="658368" y="6373368"/>
            <a:ext cx="1261872" cy="292608"/>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FFFFFF"/>
                </a:solidFill>
                <a:latin typeface="Segoe UI"/>
              </a:rPr>
              <a:t>01  The Problem</a:t>
            </a:r>
          </a:p>
        </p:txBody>
      </p:sp>
      <p:sp>
        <p:nvSpPr>
          <p:cNvPr id="42" name="Nav_2">
            <a:hlinkClick r:id="rId5" action="ppaction://hlinksldjump"/>
          </p:cNvPr>
          <p:cNvSpPr/>
          <p:nvPr/>
        </p:nvSpPr>
        <p:spPr>
          <a:xfrm>
            <a:off x="1993391"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02  Why &amp; Tools</a:t>
            </a:r>
          </a:p>
        </p:txBody>
      </p:sp>
      <p:sp>
        <p:nvSpPr>
          <p:cNvPr id="43" name="Nav_3">
            <a:hlinkClick r:id="rId6" action="ppaction://hlinksldjump"/>
          </p:cNvPr>
          <p:cNvSpPr/>
          <p:nvPr/>
        </p:nvSpPr>
        <p:spPr>
          <a:xfrm>
            <a:off x="3328415"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03  Proof &amp; App</a:t>
            </a:r>
          </a:p>
        </p:txBody>
      </p:sp>
      <p:sp>
        <p:nvSpPr>
          <p:cNvPr id="44" name="Nav_4">
            <a:hlinkClick r:id="rId7" action="ppaction://hlinksldjump"/>
          </p:cNvPr>
          <p:cNvSpPr/>
          <p:nvPr/>
        </p:nvSpPr>
        <p:spPr>
          <a:xfrm>
            <a:off x="4663440"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04  Monday Plan</a:t>
            </a:r>
          </a:p>
        </p:txBody>
      </p:sp>
      <p:sp>
        <p:nvSpPr>
          <p:cNvPr id="45" name="Nav_5">
            <a:hlinkClick r:id="rId8" action="ppaction://hlinksldjump"/>
          </p:cNvPr>
          <p:cNvSpPr/>
          <p:nvPr/>
        </p:nvSpPr>
        <p:spPr>
          <a:xfrm>
            <a:off x="5998464" y="6373368"/>
            <a:ext cx="1130198"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05  Takeaways</a:t>
            </a:r>
          </a:p>
        </p:txBody>
      </p:sp>
      <p:sp>
        <p:nvSpPr>
          <p:cNvPr id="46" name="DockJourneyLine"/>
          <p:cNvSpPr/>
          <p:nvPr/>
        </p:nvSpPr>
        <p:spPr>
          <a:xfrm>
            <a:off x="8915400" y="6510528"/>
            <a:ext cx="1115568"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g1" descr="g_checkout_muted.png"/>
          <p:cNvPicPr>
            <a:picLocks noChangeAspect="1"/>
          </p:cNvPicPr>
          <p:nvPr/>
        </p:nvPicPr>
        <p:blipFill>
          <a:blip r:embed="rId9"/>
          <a:stretch>
            <a:fillRect/>
          </a:stretch>
        </p:blipFill>
        <p:spPr>
          <a:xfrm>
            <a:off x="8778240" y="6409944"/>
            <a:ext cx="219456" cy="219456"/>
          </a:xfrm>
          <a:prstGeom prst="rect">
            <a:avLst/>
          </a:prstGeom>
        </p:spPr>
      </p:pic>
      <p:pic>
        <p:nvPicPr>
          <p:cNvPr id="48" name="!!g2" descr="g_promise_amber.png"/>
          <p:cNvPicPr>
            <a:picLocks noChangeAspect="1"/>
          </p:cNvPicPr>
          <p:nvPr/>
        </p:nvPicPr>
        <p:blipFill>
          <a:blip r:embed="rId10"/>
          <a:stretch>
            <a:fillRect/>
          </a:stretch>
        </p:blipFill>
        <p:spPr>
          <a:xfrm>
            <a:off x="9144000" y="6377940"/>
            <a:ext cx="283464" cy="283464"/>
          </a:xfrm>
          <a:prstGeom prst="rect">
            <a:avLst/>
          </a:prstGeom>
        </p:spPr>
      </p:pic>
      <p:pic>
        <p:nvPicPr>
          <p:cNvPr id="49" name="!!g3" descr="g_delivery_muted.png"/>
          <p:cNvPicPr>
            <a:picLocks noChangeAspect="1"/>
          </p:cNvPicPr>
          <p:nvPr/>
        </p:nvPicPr>
        <p:blipFill>
          <a:blip r:embed="rId11"/>
          <a:stretch>
            <a:fillRect/>
          </a:stretch>
        </p:blipFill>
        <p:spPr>
          <a:xfrm>
            <a:off x="9509760" y="6409944"/>
            <a:ext cx="219456" cy="219456"/>
          </a:xfrm>
          <a:prstGeom prst="rect">
            <a:avLst/>
          </a:prstGeom>
        </p:spPr>
      </p:pic>
      <p:pic>
        <p:nvPicPr>
          <p:cNvPr id="50" name="!!g4" descr="g_review_rose.png"/>
          <p:cNvPicPr>
            <a:picLocks noChangeAspect="1"/>
          </p:cNvPicPr>
          <p:nvPr/>
        </p:nvPicPr>
        <p:blipFill>
          <a:blip r:embed="rId12"/>
          <a:stretch>
            <a:fillRect/>
          </a:stretch>
        </p:blipFill>
        <p:spPr>
          <a:xfrm>
            <a:off x="9875520" y="6377940"/>
            <a:ext cx="283464" cy="283464"/>
          </a:xfrm>
          <a:prstGeom prst="rect">
            <a:avLst/>
          </a:prstGeom>
        </p:spPr>
      </p:pic>
      <p:sp>
        <p:nvSpPr>
          <p:cNvPr id="51" name="Nav_QA">
            <a:hlinkClick r:id="rId13" action="ppaction://hlinksldjump"/>
          </p:cNvPr>
          <p:cNvSpPr/>
          <p:nvPr/>
        </p:nvSpPr>
        <p:spPr>
          <a:xfrm>
            <a:off x="10387584" y="6373368"/>
            <a:ext cx="1152144" cy="292608"/>
          </a:xfrm>
          <a:prstGeom prst="roundRect">
            <a:avLst>
              <a:gd name="adj" fmla="val 50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0F172A"/>
                </a:solidFill>
                <a:latin typeface="Segoe UI"/>
              </a:rPr>
              <a:t>Q&amp;A · 03/13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20"/>
                                        <p:tgtEl>
                                          <p:spTgt spid="3"/>
                                        </p:tgtEl>
                                      </p:cBhvr>
                                    </p:animEffect>
                                    <p:anim calcmode="lin" valueType="num">
                                      <p:cBhvr>
                                        <p:cTn id="8" dur="420" fill="hold"/>
                                        <p:tgtEl>
                                          <p:spTgt spid="3"/>
                                        </p:tgtEl>
                                        <p:attrNameLst>
                                          <p:attrName>ppt_x</p:attrName>
                                        </p:attrNameLst>
                                      </p:cBhvr>
                                      <p:tavLst>
                                        <p:tav tm="0">
                                          <p:val>
                                            <p:strVal val="#ppt_x"/>
                                          </p:val>
                                        </p:tav>
                                        <p:tav tm="100000">
                                          <p:val>
                                            <p:strVal val="#ppt_x"/>
                                          </p:val>
                                        </p:tav>
                                      </p:tavLst>
                                    </p:anim>
                                    <p:anim calcmode="lin" valueType="num">
                                      <p:cBhvr>
                                        <p:cTn id="9" dur="42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20"/>
                                        <p:tgtEl>
                                          <p:spTgt spid="4"/>
                                        </p:tgtEl>
                                      </p:cBhvr>
                                    </p:animEffect>
                                    <p:anim calcmode="lin" valueType="num">
                                      <p:cBhvr>
                                        <p:cTn id="13" dur="420" fill="hold"/>
                                        <p:tgtEl>
                                          <p:spTgt spid="4"/>
                                        </p:tgtEl>
                                        <p:attrNameLst>
                                          <p:attrName>ppt_x</p:attrName>
                                        </p:attrNameLst>
                                      </p:cBhvr>
                                      <p:tavLst>
                                        <p:tav tm="0">
                                          <p:val>
                                            <p:strVal val="#ppt_x"/>
                                          </p:val>
                                        </p:tav>
                                        <p:tav tm="100000">
                                          <p:val>
                                            <p:strVal val="#ppt_x"/>
                                          </p:val>
                                        </p:tav>
                                      </p:tavLst>
                                    </p:anim>
                                    <p:anim calcmode="lin" valueType="num">
                                      <p:cBhvr>
                                        <p:cTn id="14" dur="42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20"/>
                                        <p:tgtEl>
                                          <p:spTgt spid="5"/>
                                        </p:tgtEl>
                                      </p:cBhvr>
                                    </p:animEffect>
                                    <p:anim calcmode="lin" valueType="num">
                                      <p:cBhvr>
                                        <p:cTn id="18" dur="420" fill="hold"/>
                                        <p:tgtEl>
                                          <p:spTgt spid="5"/>
                                        </p:tgtEl>
                                        <p:attrNameLst>
                                          <p:attrName>ppt_x</p:attrName>
                                        </p:attrNameLst>
                                      </p:cBhvr>
                                      <p:tavLst>
                                        <p:tav tm="0">
                                          <p:val>
                                            <p:strVal val="#ppt_x"/>
                                          </p:val>
                                        </p:tav>
                                        <p:tav tm="100000">
                                          <p:val>
                                            <p:strVal val="#ppt_x"/>
                                          </p:val>
                                        </p:tav>
                                      </p:tavLst>
                                    </p:anim>
                                    <p:anim calcmode="lin" valueType="num">
                                      <p:cBhvr>
                                        <p:cTn id="19" dur="42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18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60"/>
                                        <p:tgtEl>
                                          <p:spTgt spid="6"/>
                                        </p:tgtEl>
                                      </p:cBhvr>
                                    </p:animEffect>
                                    <p:anim calcmode="lin" valueType="num">
                                      <p:cBhvr>
                                        <p:cTn id="23" dur="460" fill="hold"/>
                                        <p:tgtEl>
                                          <p:spTgt spid="6"/>
                                        </p:tgtEl>
                                        <p:attrNameLst>
                                          <p:attrName>ppt_x</p:attrName>
                                        </p:attrNameLst>
                                      </p:cBhvr>
                                      <p:tavLst>
                                        <p:tav tm="0">
                                          <p:val>
                                            <p:strVal val="#ppt_x"/>
                                          </p:val>
                                        </p:tav>
                                        <p:tav tm="100000">
                                          <p:val>
                                            <p:strVal val="#ppt_x"/>
                                          </p:val>
                                        </p:tav>
                                      </p:tavLst>
                                    </p:anim>
                                    <p:anim calcmode="lin" valueType="num">
                                      <p:cBhvr>
                                        <p:cTn id="24" dur="46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8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60"/>
                                        <p:tgtEl>
                                          <p:spTgt spid="7"/>
                                        </p:tgtEl>
                                      </p:cBhvr>
                                    </p:animEffect>
                                    <p:anim calcmode="lin" valueType="num">
                                      <p:cBhvr>
                                        <p:cTn id="28" dur="460" fill="hold"/>
                                        <p:tgtEl>
                                          <p:spTgt spid="7"/>
                                        </p:tgtEl>
                                        <p:attrNameLst>
                                          <p:attrName>ppt_x</p:attrName>
                                        </p:attrNameLst>
                                      </p:cBhvr>
                                      <p:tavLst>
                                        <p:tav tm="0">
                                          <p:val>
                                            <p:strVal val="#ppt_x"/>
                                          </p:val>
                                        </p:tav>
                                        <p:tav tm="100000">
                                          <p:val>
                                            <p:strVal val="#ppt_x"/>
                                          </p:val>
                                        </p:tav>
                                      </p:tavLst>
                                    </p:anim>
                                    <p:anim calcmode="lin" valueType="num">
                                      <p:cBhvr>
                                        <p:cTn id="29" dur="460" decel="100000" fill="hold"/>
                                        <p:tgtEl>
                                          <p:spTgt spid="7"/>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8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60"/>
                                        <p:tgtEl>
                                          <p:spTgt spid="8"/>
                                        </p:tgtEl>
                                      </p:cBhvr>
                                    </p:animEffect>
                                    <p:anim calcmode="lin" valueType="num">
                                      <p:cBhvr>
                                        <p:cTn id="33" dur="460" fill="hold"/>
                                        <p:tgtEl>
                                          <p:spTgt spid="8"/>
                                        </p:tgtEl>
                                        <p:attrNameLst>
                                          <p:attrName>ppt_x</p:attrName>
                                        </p:attrNameLst>
                                      </p:cBhvr>
                                      <p:tavLst>
                                        <p:tav tm="0">
                                          <p:val>
                                            <p:strVal val="#ppt_x"/>
                                          </p:val>
                                        </p:tav>
                                        <p:tav tm="100000">
                                          <p:val>
                                            <p:strVal val="#ppt_x"/>
                                          </p:val>
                                        </p:tav>
                                      </p:tavLst>
                                    </p:anim>
                                    <p:anim calcmode="lin" valueType="num">
                                      <p:cBhvr>
                                        <p:cTn id="34" dur="460" decel="100000" fill="hold"/>
                                        <p:tgtEl>
                                          <p:spTgt spid="8"/>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18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60"/>
                                        <p:tgtEl>
                                          <p:spTgt spid="9"/>
                                        </p:tgtEl>
                                      </p:cBhvr>
                                    </p:animEffect>
                                    <p:anim calcmode="lin" valueType="num">
                                      <p:cBhvr>
                                        <p:cTn id="38" dur="460" fill="hold"/>
                                        <p:tgtEl>
                                          <p:spTgt spid="9"/>
                                        </p:tgtEl>
                                        <p:attrNameLst>
                                          <p:attrName>ppt_x</p:attrName>
                                        </p:attrNameLst>
                                      </p:cBhvr>
                                      <p:tavLst>
                                        <p:tav tm="0">
                                          <p:val>
                                            <p:strVal val="#ppt_x"/>
                                          </p:val>
                                        </p:tav>
                                        <p:tav tm="100000">
                                          <p:val>
                                            <p:strVal val="#ppt_x"/>
                                          </p:val>
                                        </p:tav>
                                      </p:tavLst>
                                    </p:anim>
                                    <p:anim calcmode="lin" valueType="num">
                                      <p:cBhvr>
                                        <p:cTn id="39" dur="460" decel="100000" fill="hold"/>
                                        <p:tgtEl>
                                          <p:spTgt spid="9"/>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18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460"/>
                                        <p:tgtEl>
                                          <p:spTgt spid="10"/>
                                        </p:tgtEl>
                                      </p:cBhvr>
                                    </p:animEffect>
                                    <p:anim calcmode="lin" valueType="num">
                                      <p:cBhvr>
                                        <p:cTn id="43" dur="460" fill="hold"/>
                                        <p:tgtEl>
                                          <p:spTgt spid="10"/>
                                        </p:tgtEl>
                                        <p:attrNameLst>
                                          <p:attrName>ppt_x</p:attrName>
                                        </p:attrNameLst>
                                      </p:cBhvr>
                                      <p:tavLst>
                                        <p:tav tm="0">
                                          <p:val>
                                            <p:strVal val="#ppt_x"/>
                                          </p:val>
                                        </p:tav>
                                        <p:tav tm="100000">
                                          <p:val>
                                            <p:strVal val="#ppt_x"/>
                                          </p:val>
                                        </p:tav>
                                      </p:tavLst>
                                    </p:anim>
                                    <p:anim calcmode="lin" valueType="num">
                                      <p:cBhvr>
                                        <p:cTn id="44" dur="460" decel="100000" fill="hold"/>
                                        <p:tgtEl>
                                          <p:spTgt spid="10"/>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18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460"/>
                                        <p:tgtEl>
                                          <p:spTgt spid="11"/>
                                        </p:tgtEl>
                                      </p:cBhvr>
                                    </p:animEffect>
                                    <p:anim calcmode="lin" valueType="num">
                                      <p:cBhvr>
                                        <p:cTn id="48" dur="460" fill="hold"/>
                                        <p:tgtEl>
                                          <p:spTgt spid="11"/>
                                        </p:tgtEl>
                                        <p:attrNameLst>
                                          <p:attrName>ppt_x</p:attrName>
                                        </p:attrNameLst>
                                      </p:cBhvr>
                                      <p:tavLst>
                                        <p:tav tm="0">
                                          <p:val>
                                            <p:strVal val="#ppt_x"/>
                                          </p:val>
                                        </p:tav>
                                        <p:tav tm="100000">
                                          <p:val>
                                            <p:strVal val="#ppt_x"/>
                                          </p:val>
                                        </p:tav>
                                      </p:tavLst>
                                    </p:anim>
                                    <p:anim calcmode="lin" valueType="num">
                                      <p:cBhvr>
                                        <p:cTn id="49" dur="460" decel="100000" fill="hold"/>
                                        <p:tgtEl>
                                          <p:spTgt spid="11"/>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18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60"/>
                                        <p:tgtEl>
                                          <p:spTgt spid="12"/>
                                        </p:tgtEl>
                                      </p:cBhvr>
                                    </p:animEffect>
                                    <p:anim calcmode="lin" valueType="num">
                                      <p:cBhvr>
                                        <p:cTn id="53" dur="460" fill="hold"/>
                                        <p:tgtEl>
                                          <p:spTgt spid="12"/>
                                        </p:tgtEl>
                                        <p:attrNameLst>
                                          <p:attrName>ppt_x</p:attrName>
                                        </p:attrNameLst>
                                      </p:cBhvr>
                                      <p:tavLst>
                                        <p:tav tm="0">
                                          <p:val>
                                            <p:strVal val="#ppt_x"/>
                                          </p:val>
                                        </p:tav>
                                        <p:tav tm="100000">
                                          <p:val>
                                            <p:strVal val="#ppt_x"/>
                                          </p:val>
                                        </p:tav>
                                      </p:tavLst>
                                    </p:anim>
                                    <p:anim calcmode="lin" valueType="num">
                                      <p:cBhvr>
                                        <p:cTn id="54" dur="460" decel="100000" fill="hold"/>
                                        <p:tgtEl>
                                          <p:spTgt spid="12"/>
                                        </p:tgtEl>
                                        <p:attrNameLst>
                                          <p:attrName>ppt_y</p:attrName>
                                        </p:attrNameLst>
                                      </p:cBhvr>
                                      <p:tavLst>
                                        <p:tav tm="0">
                                          <p:val>
                                            <p:strVal val="#ppt_y+0.018"/>
                                          </p:val>
                                        </p:tav>
                                        <p:tav tm="100000">
                                          <p:val>
                                            <p:strVal val="#ppt_y"/>
                                          </p:val>
                                        </p:tav>
                                      </p:tavLst>
                                    </p:anim>
                                  </p:childTnLst>
                                </p:cTn>
                              </p:par>
                              <p:par>
                                <p:cTn id="55" presetID="22" presetClass="entr" presetSubtype="4" fill="hold" grpId="0" nodeType="withEffect">
                                  <p:stCondLst>
                                    <p:cond delay="330"/>
                                  </p:stCondLst>
                                  <p:childTnLst>
                                    <p:set>
                                      <p:cBhvr>
                                        <p:cTn id="56" dur="1" fill="hold">
                                          <p:stCondLst>
                                            <p:cond delay="0"/>
                                          </p:stCondLst>
                                        </p:cTn>
                                        <p:tgtEl>
                                          <p:spTgt spid="21"/>
                                        </p:tgtEl>
                                        <p:attrNameLst>
                                          <p:attrName>style.visibility</p:attrName>
                                        </p:attrNameLst>
                                      </p:cBhvr>
                                      <p:to>
                                        <p:strVal val="visible"/>
                                      </p:to>
                                    </p:set>
                                    <p:animEffect transition="in" filter="wipe(up)">
                                      <p:cBhvr>
                                        <p:cTn id="57" dur="520"/>
                                        <p:tgtEl>
                                          <p:spTgt spid="21"/>
                                        </p:tgtEl>
                                      </p:cBhvr>
                                    </p:animEffect>
                                  </p:childTnLst>
                                </p:cTn>
                              </p:par>
                              <p:par>
                                <p:cTn id="58" presetID="22" presetClass="entr" presetSubtype="4" fill="hold" grpId="0" nodeType="withEffect">
                                  <p:stCondLst>
                                    <p:cond delay="330"/>
                                  </p:stCondLst>
                                  <p:childTnLst>
                                    <p:set>
                                      <p:cBhvr>
                                        <p:cTn id="59" dur="1" fill="hold">
                                          <p:stCondLst>
                                            <p:cond delay="0"/>
                                          </p:stCondLst>
                                        </p:cTn>
                                        <p:tgtEl>
                                          <p:spTgt spid="24"/>
                                        </p:tgtEl>
                                        <p:attrNameLst>
                                          <p:attrName>style.visibility</p:attrName>
                                        </p:attrNameLst>
                                      </p:cBhvr>
                                      <p:to>
                                        <p:strVal val="visible"/>
                                      </p:to>
                                    </p:set>
                                    <p:animEffect transition="in" filter="wipe(up)">
                                      <p:cBhvr>
                                        <p:cTn id="60" dur="520"/>
                                        <p:tgtEl>
                                          <p:spTgt spid="24"/>
                                        </p:tgtEl>
                                      </p:cBhvr>
                                    </p:animEffect>
                                  </p:childTnLst>
                                </p:cTn>
                              </p:par>
                              <p:par>
                                <p:cTn id="61" presetID="22" presetClass="entr" presetSubtype="4" fill="hold" grpId="0" nodeType="withEffect">
                                  <p:stCondLst>
                                    <p:cond delay="330"/>
                                  </p:stCondLst>
                                  <p:childTnLst>
                                    <p:set>
                                      <p:cBhvr>
                                        <p:cTn id="62" dur="1" fill="hold">
                                          <p:stCondLst>
                                            <p:cond delay="0"/>
                                          </p:stCondLst>
                                        </p:cTn>
                                        <p:tgtEl>
                                          <p:spTgt spid="27"/>
                                        </p:tgtEl>
                                        <p:attrNameLst>
                                          <p:attrName>style.visibility</p:attrName>
                                        </p:attrNameLst>
                                      </p:cBhvr>
                                      <p:to>
                                        <p:strVal val="visible"/>
                                      </p:to>
                                    </p:set>
                                    <p:animEffect transition="in" filter="wipe(up)">
                                      <p:cBhvr>
                                        <p:cTn id="63" dur="520"/>
                                        <p:tgtEl>
                                          <p:spTgt spid="27"/>
                                        </p:tgtEl>
                                      </p:cBhvr>
                                    </p:animEffect>
                                  </p:childTnLst>
                                </p:cTn>
                              </p:par>
                              <p:par>
                                <p:cTn id="64" presetID="22" presetClass="entr" presetSubtype="4" fill="hold" grpId="0" nodeType="withEffect">
                                  <p:stCondLst>
                                    <p:cond delay="330"/>
                                  </p:stCondLst>
                                  <p:childTnLst>
                                    <p:set>
                                      <p:cBhvr>
                                        <p:cTn id="65" dur="1" fill="hold">
                                          <p:stCondLst>
                                            <p:cond delay="0"/>
                                          </p:stCondLst>
                                        </p:cTn>
                                        <p:tgtEl>
                                          <p:spTgt spid="30"/>
                                        </p:tgtEl>
                                        <p:attrNameLst>
                                          <p:attrName>style.visibility</p:attrName>
                                        </p:attrNameLst>
                                      </p:cBhvr>
                                      <p:to>
                                        <p:strVal val="visible"/>
                                      </p:to>
                                    </p:set>
                                    <p:animEffect transition="in" filter="wipe(up)">
                                      <p:cBhvr>
                                        <p:cTn id="66" dur="520"/>
                                        <p:tgtEl>
                                          <p:spTgt spid="30"/>
                                        </p:tgtEl>
                                      </p:cBhvr>
                                    </p:animEffect>
                                  </p:childTnLst>
                                </p:cTn>
                              </p:par>
                              <p:par>
                                <p:cTn id="67" presetID="22" presetClass="entr" presetSubtype="4" fill="hold" grpId="0" nodeType="withEffect">
                                  <p:stCondLst>
                                    <p:cond delay="330"/>
                                  </p:stCondLst>
                                  <p:childTnLst>
                                    <p:set>
                                      <p:cBhvr>
                                        <p:cTn id="68" dur="1" fill="hold">
                                          <p:stCondLst>
                                            <p:cond delay="0"/>
                                          </p:stCondLst>
                                        </p:cTn>
                                        <p:tgtEl>
                                          <p:spTgt spid="33"/>
                                        </p:tgtEl>
                                        <p:attrNameLst>
                                          <p:attrName>style.visibility</p:attrName>
                                        </p:attrNameLst>
                                      </p:cBhvr>
                                      <p:to>
                                        <p:strVal val="visible"/>
                                      </p:to>
                                    </p:set>
                                    <p:animEffect transition="in" filter="wipe(up)">
                                      <p:cBhvr>
                                        <p:cTn id="69" dur="520"/>
                                        <p:tgtEl>
                                          <p:spTgt spid="33"/>
                                        </p:tgtEl>
                                      </p:cBhvr>
                                    </p:animEffect>
                                  </p:childTnLst>
                                </p:cTn>
                              </p:par>
                              <p:par>
                                <p:cTn id="70" presetID="22" presetClass="entr" presetSubtype="4" fill="hold" grpId="0" nodeType="withEffect">
                                  <p:stCondLst>
                                    <p:cond delay="330"/>
                                  </p:stCondLst>
                                  <p:childTnLst>
                                    <p:set>
                                      <p:cBhvr>
                                        <p:cTn id="71" dur="1" fill="hold">
                                          <p:stCondLst>
                                            <p:cond delay="0"/>
                                          </p:stCondLst>
                                        </p:cTn>
                                        <p:tgtEl>
                                          <p:spTgt spid="36"/>
                                        </p:tgtEl>
                                        <p:attrNameLst>
                                          <p:attrName>style.visibility</p:attrName>
                                        </p:attrNameLst>
                                      </p:cBhvr>
                                      <p:to>
                                        <p:strVal val="visible"/>
                                      </p:to>
                                    </p:set>
                                    <p:animEffect transition="in" filter="wipe(up)">
                                      <p:cBhvr>
                                        <p:cTn id="72" dur="520"/>
                                        <p:tgtEl>
                                          <p:spTgt spid="36"/>
                                        </p:tgtEl>
                                      </p:cBhvr>
                                    </p:animEffect>
                                  </p:childTnLst>
                                </p:cTn>
                              </p:par>
                              <p:par>
                                <p:cTn id="73" presetID="42" presetClass="entr" presetSubtype="4" fill="hold" grpId="0" nodeType="withEffect">
                                  <p:stCondLst>
                                    <p:cond delay="490"/>
                                  </p:stCondLst>
                                  <p:childTnLst>
                                    <p:set>
                                      <p:cBhvr>
                                        <p:cTn id="74" dur="1" fill="hold">
                                          <p:stCondLst>
                                            <p:cond delay="0"/>
                                          </p:stCondLst>
                                        </p:cTn>
                                        <p:tgtEl>
                                          <p:spTgt spid="13"/>
                                        </p:tgtEl>
                                        <p:attrNameLst>
                                          <p:attrName>style.visibility</p:attrName>
                                        </p:attrNameLst>
                                      </p:cBhvr>
                                      <p:to>
                                        <p:strVal val="visible"/>
                                      </p:to>
                                    </p:set>
                                    <p:animEffect transition="in" filter="fade">
                                      <p:cBhvr>
                                        <p:cTn id="75" dur="440"/>
                                        <p:tgtEl>
                                          <p:spTgt spid="13"/>
                                        </p:tgtEl>
                                      </p:cBhvr>
                                    </p:animEffect>
                                    <p:anim calcmode="lin" valueType="num">
                                      <p:cBhvr>
                                        <p:cTn id="76" dur="440" fill="hold"/>
                                        <p:tgtEl>
                                          <p:spTgt spid="13"/>
                                        </p:tgtEl>
                                        <p:attrNameLst>
                                          <p:attrName>ppt_x</p:attrName>
                                        </p:attrNameLst>
                                      </p:cBhvr>
                                      <p:tavLst>
                                        <p:tav tm="0">
                                          <p:val>
                                            <p:strVal val="#ppt_x"/>
                                          </p:val>
                                        </p:tav>
                                        <p:tav tm="100000">
                                          <p:val>
                                            <p:strVal val="#ppt_x"/>
                                          </p:val>
                                        </p:tav>
                                      </p:tavLst>
                                    </p:anim>
                                    <p:anim calcmode="lin" valueType="num">
                                      <p:cBhvr>
                                        <p:cTn id="77" dur="440" decel="100000" fill="hold"/>
                                        <p:tgtEl>
                                          <p:spTgt spid="13"/>
                                        </p:tgtEl>
                                        <p:attrNameLst>
                                          <p:attrName>ppt_y</p:attrName>
                                        </p:attrNameLst>
                                      </p:cBhvr>
                                      <p:tavLst>
                                        <p:tav tm="0">
                                          <p:val>
                                            <p:strVal val="#ppt_y+0.018"/>
                                          </p:val>
                                        </p:tav>
                                        <p:tav tm="100000">
                                          <p:val>
                                            <p:strVal val="#ppt_y"/>
                                          </p:val>
                                        </p:tav>
                                      </p:tavLst>
                                    </p:anim>
                                  </p:childTnLst>
                                </p:cTn>
                              </p:par>
                              <p:par>
                                <p:cTn id="78" presetID="42" presetClass="entr" presetSubtype="4" fill="hold" grpId="0" nodeType="withEffect">
                                  <p:stCondLst>
                                    <p:cond delay="490"/>
                                  </p:stCondLst>
                                  <p:childTnLst>
                                    <p:set>
                                      <p:cBhvr>
                                        <p:cTn id="79" dur="1" fill="hold">
                                          <p:stCondLst>
                                            <p:cond delay="0"/>
                                          </p:stCondLst>
                                        </p:cTn>
                                        <p:tgtEl>
                                          <p:spTgt spid="14"/>
                                        </p:tgtEl>
                                        <p:attrNameLst>
                                          <p:attrName>style.visibility</p:attrName>
                                        </p:attrNameLst>
                                      </p:cBhvr>
                                      <p:to>
                                        <p:strVal val="visible"/>
                                      </p:to>
                                    </p:set>
                                    <p:animEffect transition="in" filter="fade">
                                      <p:cBhvr>
                                        <p:cTn id="80" dur="440"/>
                                        <p:tgtEl>
                                          <p:spTgt spid="14"/>
                                        </p:tgtEl>
                                      </p:cBhvr>
                                    </p:animEffect>
                                    <p:anim calcmode="lin" valueType="num">
                                      <p:cBhvr>
                                        <p:cTn id="81" dur="440" fill="hold"/>
                                        <p:tgtEl>
                                          <p:spTgt spid="14"/>
                                        </p:tgtEl>
                                        <p:attrNameLst>
                                          <p:attrName>ppt_x</p:attrName>
                                        </p:attrNameLst>
                                      </p:cBhvr>
                                      <p:tavLst>
                                        <p:tav tm="0">
                                          <p:val>
                                            <p:strVal val="#ppt_x"/>
                                          </p:val>
                                        </p:tav>
                                        <p:tav tm="100000">
                                          <p:val>
                                            <p:strVal val="#ppt_x"/>
                                          </p:val>
                                        </p:tav>
                                      </p:tavLst>
                                    </p:anim>
                                    <p:anim calcmode="lin" valueType="num">
                                      <p:cBhvr>
                                        <p:cTn id="82" dur="440" decel="100000" fill="hold"/>
                                        <p:tgtEl>
                                          <p:spTgt spid="14"/>
                                        </p:tgtEl>
                                        <p:attrNameLst>
                                          <p:attrName>ppt_y</p:attrName>
                                        </p:attrNameLst>
                                      </p:cBhvr>
                                      <p:tavLst>
                                        <p:tav tm="0">
                                          <p:val>
                                            <p:strVal val="#ppt_y+0.018"/>
                                          </p:val>
                                        </p:tav>
                                        <p:tav tm="100000">
                                          <p:val>
                                            <p:strVal val="#ppt_y"/>
                                          </p:val>
                                        </p:tav>
                                      </p:tavLst>
                                    </p:anim>
                                  </p:childTnLst>
                                </p:cTn>
                              </p:par>
                              <p:par>
                                <p:cTn id="83" presetID="42" presetClass="entr" presetSubtype="4" fill="hold" grpId="0" nodeType="withEffect">
                                  <p:stCondLst>
                                    <p:cond delay="490"/>
                                  </p:stCondLst>
                                  <p:childTnLst>
                                    <p:set>
                                      <p:cBhvr>
                                        <p:cTn id="84" dur="1" fill="hold">
                                          <p:stCondLst>
                                            <p:cond delay="0"/>
                                          </p:stCondLst>
                                        </p:cTn>
                                        <p:tgtEl>
                                          <p:spTgt spid="15"/>
                                        </p:tgtEl>
                                        <p:attrNameLst>
                                          <p:attrName>style.visibility</p:attrName>
                                        </p:attrNameLst>
                                      </p:cBhvr>
                                      <p:to>
                                        <p:strVal val="visible"/>
                                      </p:to>
                                    </p:set>
                                    <p:animEffect transition="in" filter="fade">
                                      <p:cBhvr>
                                        <p:cTn id="85" dur="440"/>
                                        <p:tgtEl>
                                          <p:spTgt spid="15"/>
                                        </p:tgtEl>
                                      </p:cBhvr>
                                    </p:animEffect>
                                    <p:anim calcmode="lin" valueType="num">
                                      <p:cBhvr>
                                        <p:cTn id="86" dur="440" fill="hold"/>
                                        <p:tgtEl>
                                          <p:spTgt spid="15"/>
                                        </p:tgtEl>
                                        <p:attrNameLst>
                                          <p:attrName>ppt_x</p:attrName>
                                        </p:attrNameLst>
                                      </p:cBhvr>
                                      <p:tavLst>
                                        <p:tav tm="0">
                                          <p:val>
                                            <p:strVal val="#ppt_x"/>
                                          </p:val>
                                        </p:tav>
                                        <p:tav tm="100000">
                                          <p:val>
                                            <p:strVal val="#ppt_x"/>
                                          </p:val>
                                        </p:tav>
                                      </p:tavLst>
                                    </p:anim>
                                    <p:anim calcmode="lin" valueType="num">
                                      <p:cBhvr>
                                        <p:cTn id="87" dur="440" decel="100000" fill="hold"/>
                                        <p:tgtEl>
                                          <p:spTgt spid="15"/>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1" grpId="0" animBg="1"/>
      <p:bldP spid="24" grpId="0" animBg="1"/>
      <p:bldP spid="27" grpId="0" animBg="1"/>
      <p:bldP spid="30" grpId="0" animBg="1"/>
      <p:bldP spid="33" grpId="0" animBg="1"/>
      <p:bldP spid="3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light_studio_bg.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4076395" cy="256032"/>
          </a:xfrm>
          <a:prstGeom prst="roundRect">
            <a:avLst>
              <a:gd name="adj" fmla="val 50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D97706"/>
                </a:solidFill>
                <a:latin typeface="Segoe UI"/>
              </a:rPr>
              <a:t>01 · THE PROBLEM — THE TIMING DISCOVERY</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3050" b="1" i="0">
                <a:solidFill>
                  <a:srgbClr val="0F172A"/>
                </a:solidFill>
                <a:latin typeface="Segoe UI"/>
              </a:rPr>
              <a:t>For a late parcel, </a:t>
            </a:r>
            <a:r>
              <a:rPr sz="3050" b="1" i="0">
                <a:solidFill>
                  <a:srgbClr val="D97706"/>
                </a:solidFill>
                <a:latin typeface="Segoe UI"/>
              </a:rPr>
              <a:t>the review comes first</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64748B"/>
                </a:solidFill>
                <a:latin typeface="Segoe UI"/>
              </a:rPr>
              <a:t>Comparing review timestamps against delivery scans reveals two completely different intervention windows.</a:t>
            </a:r>
          </a:p>
        </p:txBody>
      </p:sp>
      <p:sp>
        <p:nvSpPr>
          <p:cNvPr id="6" name="OnTimeLane"/>
          <p:cNvSpPr/>
          <p:nvPr/>
        </p:nvSpPr>
        <p:spPr>
          <a:xfrm>
            <a:off x="566928" y="1645920"/>
            <a:ext cx="11045952" cy="1755648"/>
          </a:xfrm>
          <a:prstGeom prst="roundRect">
            <a:avLst>
              <a:gd name="adj" fmla="val 3800"/>
            </a:avLst>
          </a:prstGeom>
          <a:solidFill>
            <a:srgbClr val="FFFFFF"/>
          </a:solidFill>
          <a:ln w="15240">
            <a:solidFill>
              <a:srgbClr val="A7F3D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nTimeLane_accent"/>
          <p:cNvSpPr/>
          <p:nvPr/>
        </p:nvSpPr>
        <p:spPr>
          <a:xfrm>
            <a:off x="566928" y="1810512"/>
            <a:ext cx="59436" cy="1426464"/>
          </a:xfrm>
          <a:prstGeom prst="roundRect">
            <a:avLst>
              <a:gd name="adj" fmla="val 25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ill"/>
          <p:cNvSpPr/>
          <p:nvPr/>
        </p:nvSpPr>
        <p:spPr>
          <a:xfrm>
            <a:off x="804672" y="1810512"/>
            <a:ext cx="2121408" cy="256032"/>
          </a:xfrm>
          <a:prstGeom prst="roundRect">
            <a:avLst>
              <a:gd name="adj" fmla="val 50000"/>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80" b="1" spc="100">
                <a:solidFill>
                  <a:srgbClr val="059669"/>
                </a:solidFill>
                <a:latin typeface="Segoe UI"/>
              </a:rPr>
              <a:t>ON-TIME PARCELS  (11 IN 12)</a:t>
            </a:r>
          </a:p>
        </p:txBody>
      </p:sp>
      <p:sp>
        <p:nvSpPr>
          <p:cNvPr id="9" name="Text"/>
          <p:cNvSpPr txBox="1"/>
          <p:nvPr/>
        </p:nvSpPr>
        <p:spPr>
          <a:xfrm>
            <a:off x="804672" y="2139696"/>
            <a:ext cx="3063240" cy="1133856"/>
          </a:xfrm>
          <a:prstGeom prst="rect">
            <a:avLst/>
          </a:prstGeom>
          <a:noFill/>
        </p:spPr>
        <p:txBody>
          <a:bodyPr wrap="square" lIns="0" tIns="0" rIns="0" bIns="0" anchor="t">
            <a:spAutoFit/>
          </a:bodyPr>
          <a:lstStyle/>
          <a:p>
            <a:pPr algn="l">
              <a:lnSpc>
                <a:spcPct val="124000"/>
              </a:lnSpc>
              <a:spcAft>
                <a:spcPts val="400"/>
              </a:spcAft>
            </a:pPr>
            <a:r>
              <a:rPr sz="1450" b="1" i="0">
                <a:solidFill>
                  <a:srgbClr val="0F172A"/>
                </a:solidFill>
                <a:latin typeface="Segoe UI"/>
              </a:rPr>
              <a:t>66% of all 1–2★ reviews</a:t>
            </a:r>
          </a:p>
          <a:p>
            <a:pPr algn="l">
              <a:lnSpc>
                <a:spcPct val="124000"/>
              </a:lnSpc>
            </a:pPr>
            <a:r>
              <a:rPr sz="1060" b="0" i="0">
                <a:solidFill>
                  <a:srgbClr val="334155"/>
                </a:solidFill>
                <a:latin typeface="Segoe UI"/>
              </a:rPr>
              <a:t>Wrong, damaged, or disappointing items — </a:t>
            </a:r>
            <a:r>
              <a:rPr sz="1060" b="1" i="0">
                <a:solidFill>
                  <a:srgbClr val="059669"/>
                </a:solidFill>
                <a:latin typeface="Segoe UI"/>
              </a:rPr>
              <a:t>99.5% review AFTER delivery.</a:t>
            </a:r>
          </a:p>
        </p:txBody>
      </p:sp>
      <p:sp>
        <p:nvSpPr>
          <p:cNvPr id="10" name="Rectangle 9"/>
          <p:cNvSpPr/>
          <p:nvPr/>
        </p:nvSpPr>
        <p:spPr>
          <a:xfrm>
            <a:off x="4251960" y="2688336"/>
            <a:ext cx="4389120" cy="32004"/>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7920" y="2670048"/>
            <a:ext cx="2377440"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419088" y="1810512"/>
            <a:ext cx="1975104" cy="530352"/>
          </a:xfrm>
          <a:prstGeom prst="roundRect">
            <a:avLst>
              <a:gd name="adj" fmla="val 12000"/>
            </a:avLst>
          </a:prstGeom>
          <a:solidFill>
            <a:srgbClr val="ECFDF5"/>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
          <p:cNvSpPr txBox="1"/>
          <p:nvPr/>
        </p:nvSpPr>
        <p:spPr>
          <a:xfrm>
            <a:off x="6473952" y="1865376"/>
            <a:ext cx="1865376" cy="420624"/>
          </a:xfrm>
          <a:prstGeom prst="rect">
            <a:avLst/>
          </a:prstGeom>
          <a:noFill/>
        </p:spPr>
        <p:txBody>
          <a:bodyPr wrap="square" lIns="0" tIns="0" rIns="0" bIns="0" anchor="t">
            <a:spAutoFit/>
          </a:bodyPr>
          <a:lstStyle/>
          <a:p>
            <a:pPr algn="ctr">
              <a:lnSpc>
                <a:spcPct val="122000"/>
              </a:lnSpc>
              <a:spcAft>
                <a:spcPts val="100"/>
              </a:spcAft>
            </a:pPr>
            <a:r>
              <a:rPr sz="940" b="1" i="0">
                <a:solidFill>
                  <a:srgbClr val="059669"/>
                </a:solidFill>
                <a:latin typeface="Segoe UI"/>
              </a:rPr>
              <a:t>≈ 2.1 DAYS TO CALL</a:t>
            </a:r>
          </a:p>
          <a:p>
            <a:pPr algn="ctr">
              <a:lnSpc>
                <a:spcPct val="122000"/>
              </a:lnSpc>
            </a:pPr>
            <a:r>
              <a:rPr sz="860" b="0" i="0">
                <a:solidFill>
                  <a:srgbClr val="0F172A"/>
                </a:solidFill>
                <a:latin typeface="Segoe UI"/>
              </a:rPr>
              <a:t>Recovery window open!</a:t>
            </a:r>
          </a:p>
        </p:txBody>
      </p:sp>
      <p:pic>
        <p:nvPicPr>
          <p:cNvPr id="14" name="Picture 13" descr="g_checkout_blue.png"/>
          <p:cNvPicPr>
            <a:picLocks noChangeAspect="1"/>
          </p:cNvPicPr>
          <p:nvPr/>
        </p:nvPicPr>
        <p:blipFill>
          <a:blip r:embed="rId4"/>
          <a:stretch>
            <a:fillRect/>
          </a:stretch>
        </p:blipFill>
        <p:spPr>
          <a:xfrm>
            <a:off x="4069080" y="2505456"/>
            <a:ext cx="365760" cy="365760"/>
          </a:xfrm>
          <a:prstGeom prst="rect">
            <a:avLst/>
          </a:prstGeom>
        </p:spPr>
      </p:pic>
      <p:sp>
        <p:nvSpPr>
          <p:cNvPr id="15" name="Text"/>
          <p:cNvSpPr txBox="1"/>
          <p:nvPr/>
        </p:nvSpPr>
        <p:spPr>
          <a:xfrm>
            <a:off x="3685032" y="2926080"/>
            <a:ext cx="1133856" cy="256032"/>
          </a:xfrm>
          <a:prstGeom prst="rect">
            <a:avLst/>
          </a:prstGeom>
          <a:noFill/>
        </p:spPr>
        <p:txBody>
          <a:bodyPr wrap="square" lIns="0" tIns="0" rIns="0" bIns="0" anchor="t">
            <a:spAutoFit/>
          </a:bodyPr>
          <a:lstStyle/>
          <a:p>
            <a:pPr algn="ctr">
              <a:lnSpc>
                <a:spcPct val="122000"/>
              </a:lnSpc>
            </a:pPr>
            <a:r>
              <a:rPr sz="919" b="1" i="0">
                <a:solidFill>
                  <a:srgbClr val="2563EB"/>
                </a:solidFill>
                <a:latin typeface="Segoe UI"/>
              </a:rPr>
              <a:t>Checkout</a:t>
            </a:r>
          </a:p>
        </p:txBody>
      </p:sp>
      <p:pic>
        <p:nvPicPr>
          <p:cNvPr id="16" name="Picture 15" descr="g_delivery_green.png"/>
          <p:cNvPicPr>
            <a:picLocks noChangeAspect="1"/>
          </p:cNvPicPr>
          <p:nvPr/>
        </p:nvPicPr>
        <p:blipFill>
          <a:blip r:embed="rId5"/>
          <a:stretch>
            <a:fillRect/>
          </a:stretch>
        </p:blipFill>
        <p:spPr>
          <a:xfrm>
            <a:off x="6035040" y="2505456"/>
            <a:ext cx="365760" cy="365760"/>
          </a:xfrm>
          <a:prstGeom prst="rect">
            <a:avLst/>
          </a:prstGeom>
        </p:spPr>
      </p:pic>
      <p:sp>
        <p:nvSpPr>
          <p:cNvPr id="17" name="Text"/>
          <p:cNvSpPr txBox="1"/>
          <p:nvPr/>
        </p:nvSpPr>
        <p:spPr>
          <a:xfrm>
            <a:off x="5650992" y="2926080"/>
            <a:ext cx="1133856" cy="256032"/>
          </a:xfrm>
          <a:prstGeom prst="rect">
            <a:avLst/>
          </a:prstGeom>
          <a:noFill/>
        </p:spPr>
        <p:txBody>
          <a:bodyPr wrap="square" lIns="0" tIns="0" rIns="0" bIns="0" anchor="t">
            <a:spAutoFit/>
          </a:bodyPr>
          <a:lstStyle/>
          <a:p>
            <a:pPr algn="ctr">
              <a:lnSpc>
                <a:spcPct val="122000"/>
              </a:lnSpc>
            </a:pPr>
            <a:r>
              <a:rPr sz="919" b="1" i="0">
                <a:solidFill>
                  <a:srgbClr val="059669"/>
                </a:solidFill>
                <a:latin typeface="Segoe UI"/>
              </a:rPr>
              <a:t>Parcel arrives</a:t>
            </a:r>
          </a:p>
        </p:txBody>
      </p:sp>
      <p:pic>
        <p:nvPicPr>
          <p:cNvPr id="18" name="Picture 17" descr="g_review_rose.png"/>
          <p:cNvPicPr>
            <a:picLocks noChangeAspect="1"/>
          </p:cNvPicPr>
          <p:nvPr/>
        </p:nvPicPr>
        <p:blipFill>
          <a:blip r:embed="rId6"/>
          <a:stretch>
            <a:fillRect/>
          </a:stretch>
        </p:blipFill>
        <p:spPr>
          <a:xfrm>
            <a:off x="8412480" y="2505456"/>
            <a:ext cx="365760" cy="365760"/>
          </a:xfrm>
          <a:prstGeom prst="rect">
            <a:avLst/>
          </a:prstGeom>
        </p:spPr>
      </p:pic>
      <p:sp>
        <p:nvSpPr>
          <p:cNvPr id="19" name="Text"/>
          <p:cNvSpPr txBox="1"/>
          <p:nvPr/>
        </p:nvSpPr>
        <p:spPr>
          <a:xfrm>
            <a:off x="8028432" y="2926080"/>
            <a:ext cx="1133856" cy="256032"/>
          </a:xfrm>
          <a:prstGeom prst="rect">
            <a:avLst/>
          </a:prstGeom>
          <a:noFill/>
        </p:spPr>
        <p:txBody>
          <a:bodyPr wrap="square" lIns="0" tIns="0" rIns="0" bIns="0" anchor="t">
            <a:spAutoFit/>
          </a:bodyPr>
          <a:lstStyle/>
          <a:p>
            <a:pPr algn="ctr">
              <a:lnSpc>
                <a:spcPct val="122000"/>
              </a:lnSpc>
            </a:pPr>
            <a:r>
              <a:rPr sz="919" b="1" i="0">
                <a:solidFill>
                  <a:srgbClr val="E11D48"/>
                </a:solidFill>
                <a:latin typeface="Segoe UI"/>
              </a:rPr>
              <a:t>Review posted</a:t>
            </a:r>
          </a:p>
        </p:txBody>
      </p:sp>
      <p:sp>
        <p:nvSpPr>
          <p:cNvPr id="20" name="Card"/>
          <p:cNvSpPr/>
          <p:nvPr/>
        </p:nvSpPr>
        <p:spPr>
          <a:xfrm>
            <a:off x="9308592" y="1810512"/>
            <a:ext cx="2103120" cy="1408176"/>
          </a:xfrm>
          <a:prstGeom prst="roundRect">
            <a:avLst>
              <a:gd name="adj" fmla="val 3800"/>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
          <p:cNvSpPr txBox="1"/>
          <p:nvPr/>
        </p:nvSpPr>
        <p:spPr>
          <a:xfrm>
            <a:off x="9418320" y="1901952"/>
            <a:ext cx="1883664" cy="1243584"/>
          </a:xfrm>
          <a:prstGeom prst="rect">
            <a:avLst/>
          </a:prstGeom>
          <a:noFill/>
        </p:spPr>
        <p:txBody>
          <a:bodyPr wrap="square" lIns="0" tIns="0" rIns="0" bIns="0" anchor="t">
            <a:spAutoFit/>
          </a:bodyPr>
          <a:lstStyle/>
          <a:p>
            <a:pPr algn="ctr">
              <a:lnSpc>
                <a:spcPct val="122000"/>
              </a:lnSpc>
              <a:spcAft>
                <a:spcPts val="200"/>
              </a:spcAft>
            </a:pPr>
            <a:r>
              <a:rPr sz="850" b="1" i="0" spc="130">
                <a:solidFill>
                  <a:srgbClr val="059669"/>
                </a:solidFill>
                <a:latin typeface="Segoe UI"/>
              </a:rPr>
              <a:t>MEDIAN WAIT</a:t>
            </a:r>
          </a:p>
          <a:p>
            <a:pPr algn="ctr">
              <a:lnSpc>
                <a:spcPct val="105000"/>
              </a:lnSpc>
              <a:spcAft>
                <a:spcPts val="200"/>
              </a:spcAft>
            </a:pPr>
            <a:r>
              <a:rPr sz="2600" b="1" i="0">
                <a:solidFill>
                  <a:srgbClr val="059669"/>
                </a:solidFill>
                <a:latin typeface="Segoe UI"/>
              </a:rPr>
              <a:t>+2.1 days</a:t>
            </a:r>
          </a:p>
          <a:p>
            <a:pPr algn="ctr">
              <a:lnSpc>
                <a:spcPct val="118000"/>
              </a:lnSpc>
            </a:pPr>
            <a:r>
              <a:rPr sz="950" b="0" i="0">
                <a:solidFill>
                  <a:srgbClr val="334155"/>
                </a:solidFill>
                <a:latin typeface="Segoe UI"/>
              </a:rPr>
              <a:t>after delivery scan
before buyer writes</a:t>
            </a:r>
          </a:p>
        </p:txBody>
      </p:sp>
      <p:sp>
        <p:nvSpPr>
          <p:cNvPr id="22" name="LateLane"/>
          <p:cNvSpPr/>
          <p:nvPr/>
        </p:nvSpPr>
        <p:spPr>
          <a:xfrm>
            <a:off x="566928" y="3566160"/>
            <a:ext cx="11045952" cy="1792224"/>
          </a:xfrm>
          <a:prstGeom prst="roundRect">
            <a:avLst>
              <a:gd name="adj" fmla="val 3800"/>
            </a:avLst>
          </a:prstGeom>
          <a:solidFill>
            <a:srgbClr val="FFF8F9"/>
          </a:solidFill>
          <a:ln w="17780">
            <a:solidFill>
              <a:srgbClr val="FECDD3"/>
            </a:solidFill>
          </a:ln>
          <a:effectLst>
            <a:outerShdw blurRad="177800" dist="44450" dir="5400000" algn="tl" rotWithShape="0">
              <a:srgbClr val="E11D48">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LateLane_accent"/>
          <p:cNvSpPr/>
          <p:nvPr/>
        </p:nvSpPr>
        <p:spPr>
          <a:xfrm>
            <a:off x="566928" y="3730752"/>
            <a:ext cx="59436" cy="1463040"/>
          </a:xfrm>
          <a:prstGeom prst="roundRect">
            <a:avLst>
              <a:gd name="adj" fmla="val 25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ill"/>
          <p:cNvSpPr/>
          <p:nvPr/>
        </p:nvSpPr>
        <p:spPr>
          <a:xfrm>
            <a:off x="804672" y="3730752"/>
            <a:ext cx="2121408" cy="256032"/>
          </a:xfrm>
          <a:prstGeom prst="roundRect">
            <a:avLst>
              <a:gd name="adj" fmla="val 50000"/>
            </a:avLst>
          </a:prstGeom>
          <a:solidFill>
            <a:srgbClr val="FFF1F2"/>
          </a:solidFill>
          <a:ln w="12700">
            <a:solidFill>
              <a:srgbClr val="FECDD3"/>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80" b="1" spc="100">
                <a:solidFill>
                  <a:srgbClr val="E11D48"/>
                </a:solidFill>
                <a:latin typeface="Segoe UI"/>
              </a:rPr>
              <a:t>LATE PARCELS  (1 IN 12)</a:t>
            </a:r>
          </a:p>
        </p:txBody>
      </p:sp>
      <p:sp>
        <p:nvSpPr>
          <p:cNvPr id="25" name="Text"/>
          <p:cNvSpPr txBox="1"/>
          <p:nvPr/>
        </p:nvSpPr>
        <p:spPr>
          <a:xfrm>
            <a:off x="804672" y="4059936"/>
            <a:ext cx="3063240" cy="1133856"/>
          </a:xfrm>
          <a:prstGeom prst="rect">
            <a:avLst/>
          </a:prstGeom>
          <a:noFill/>
        </p:spPr>
        <p:txBody>
          <a:bodyPr wrap="square" lIns="0" tIns="0" rIns="0" bIns="0" anchor="t">
            <a:spAutoFit/>
          </a:bodyPr>
          <a:lstStyle/>
          <a:p>
            <a:pPr algn="l">
              <a:lnSpc>
                <a:spcPct val="124000"/>
              </a:lnSpc>
              <a:spcAft>
                <a:spcPts val="400"/>
              </a:spcAft>
            </a:pPr>
            <a:r>
              <a:rPr sz="1450" b="1" i="0">
                <a:solidFill>
                  <a:srgbClr val="0F172A"/>
                </a:solidFill>
                <a:latin typeface="Segoe UI"/>
              </a:rPr>
              <a:t>34% of all 1–2★ reviews</a:t>
            </a:r>
          </a:p>
          <a:p>
            <a:pPr algn="l">
              <a:lnSpc>
                <a:spcPct val="124000"/>
              </a:lnSpc>
            </a:pPr>
            <a:r>
              <a:rPr sz="1060" b="0" i="0">
                <a:solidFill>
                  <a:srgbClr val="334155"/>
                </a:solidFill>
                <a:latin typeface="Segoe UI"/>
              </a:rPr>
              <a:t>Survey fires at the promised date — </a:t>
            </a:r>
            <a:r>
              <a:rPr sz="1060" b="1" i="0">
                <a:solidFill>
                  <a:srgbClr val="E11D48"/>
                </a:solidFill>
                <a:latin typeface="Segoe UI"/>
              </a:rPr>
              <a:t>buyer rates while still waiting!</a:t>
            </a:r>
          </a:p>
        </p:txBody>
      </p:sp>
      <p:sp>
        <p:nvSpPr>
          <p:cNvPr id="26" name="Rectangle 25"/>
          <p:cNvSpPr/>
          <p:nvPr/>
        </p:nvSpPr>
        <p:spPr>
          <a:xfrm>
            <a:off x="4251960" y="4626864"/>
            <a:ext cx="4389120" cy="32004"/>
          </a:xfrm>
          <a:prstGeom prst="rect">
            <a:avLst/>
          </a:prstGeom>
          <a:solidFill>
            <a:srgbClr val="FE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440680" y="4608576"/>
            <a:ext cx="2057400" cy="6400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4688" y="3730752"/>
            <a:ext cx="1938528" cy="530352"/>
          </a:xfrm>
          <a:prstGeom prst="roundRect">
            <a:avLst>
              <a:gd name="adj" fmla="val 12000"/>
            </a:avLst>
          </a:prstGeom>
          <a:solidFill>
            <a:srgbClr val="FFE4E6"/>
          </a:solidFill>
          <a:ln w="1524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p:cNvSpPr txBox="1"/>
          <p:nvPr/>
        </p:nvSpPr>
        <p:spPr>
          <a:xfrm>
            <a:off x="5559552" y="3785615"/>
            <a:ext cx="1828800" cy="420624"/>
          </a:xfrm>
          <a:prstGeom prst="rect">
            <a:avLst/>
          </a:prstGeom>
          <a:noFill/>
        </p:spPr>
        <p:txBody>
          <a:bodyPr wrap="square" lIns="0" tIns="0" rIns="0" bIns="0" anchor="t">
            <a:spAutoFit/>
          </a:bodyPr>
          <a:lstStyle/>
          <a:p>
            <a:pPr algn="ctr">
              <a:lnSpc>
                <a:spcPct val="122000"/>
              </a:lnSpc>
              <a:spcAft>
                <a:spcPts val="100"/>
              </a:spcAft>
            </a:pPr>
            <a:r>
              <a:rPr sz="900" b="1" i="0">
                <a:solidFill>
                  <a:srgbClr val="E11D48"/>
                </a:solidFill>
                <a:latin typeface="Segoe UI"/>
              </a:rPr>
              <a:t>SURVEY FIRES EARLY</a:t>
            </a:r>
          </a:p>
          <a:p>
            <a:pPr algn="ctr">
              <a:lnSpc>
                <a:spcPct val="122000"/>
              </a:lnSpc>
            </a:pPr>
            <a:r>
              <a:rPr sz="860" b="1" i="0">
                <a:solidFill>
                  <a:srgbClr val="0F172A"/>
                </a:solidFill>
                <a:latin typeface="Segoe UI"/>
              </a:rPr>
              <a:t>1★ written 4.5d early!</a:t>
            </a:r>
          </a:p>
        </p:txBody>
      </p:sp>
      <p:pic>
        <p:nvPicPr>
          <p:cNvPr id="30" name="Picture 29" descr="g_checkout_blue.png"/>
          <p:cNvPicPr>
            <a:picLocks noChangeAspect="1"/>
          </p:cNvPicPr>
          <p:nvPr/>
        </p:nvPicPr>
        <p:blipFill>
          <a:blip r:embed="rId4"/>
          <a:stretch>
            <a:fillRect/>
          </a:stretch>
        </p:blipFill>
        <p:spPr>
          <a:xfrm>
            <a:off x="4069080" y="4443984"/>
            <a:ext cx="365760" cy="365760"/>
          </a:xfrm>
          <a:prstGeom prst="rect">
            <a:avLst/>
          </a:prstGeom>
        </p:spPr>
      </p:pic>
      <p:sp>
        <p:nvSpPr>
          <p:cNvPr id="31" name="Text"/>
          <p:cNvSpPr txBox="1"/>
          <p:nvPr/>
        </p:nvSpPr>
        <p:spPr>
          <a:xfrm>
            <a:off x="3685032" y="4864608"/>
            <a:ext cx="1133856" cy="256032"/>
          </a:xfrm>
          <a:prstGeom prst="rect">
            <a:avLst/>
          </a:prstGeom>
          <a:noFill/>
        </p:spPr>
        <p:txBody>
          <a:bodyPr wrap="square" lIns="0" tIns="0" rIns="0" bIns="0" anchor="t">
            <a:spAutoFit/>
          </a:bodyPr>
          <a:lstStyle/>
          <a:p>
            <a:pPr algn="ctr">
              <a:lnSpc>
                <a:spcPct val="122000"/>
              </a:lnSpc>
            </a:pPr>
            <a:r>
              <a:rPr sz="900" b="1" i="0">
                <a:solidFill>
                  <a:srgbClr val="2563EB"/>
                </a:solidFill>
                <a:latin typeface="Segoe UI"/>
              </a:rPr>
              <a:t>Checkout</a:t>
            </a:r>
          </a:p>
        </p:txBody>
      </p:sp>
      <p:pic>
        <p:nvPicPr>
          <p:cNvPr id="32" name="Picture 31" descr="g_promise_amber.png"/>
          <p:cNvPicPr>
            <a:picLocks noChangeAspect="1"/>
          </p:cNvPicPr>
          <p:nvPr/>
        </p:nvPicPr>
        <p:blipFill>
          <a:blip r:embed="rId7"/>
          <a:stretch>
            <a:fillRect/>
          </a:stretch>
        </p:blipFill>
        <p:spPr>
          <a:xfrm>
            <a:off x="5257800" y="4443984"/>
            <a:ext cx="365760" cy="365760"/>
          </a:xfrm>
          <a:prstGeom prst="rect">
            <a:avLst/>
          </a:prstGeom>
        </p:spPr>
      </p:pic>
      <p:sp>
        <p:nvSpPr>
          <p:cNvPr id="33" name="Text"/>
          <p:cNvSpPr txBox="1"/>
          <p:nvPr/>
        </p:nvSpPr>
        <p:spPr>
          <a:xfrm>
            <a:off x="4873752" y="4864608"/>
            <a:ext cx="1133856" cy="256032"/>
          </a:xfrm>
          <a:prstGeom prst="rect">
            <a:avLst/>
          </a:prstGeom>
          <a:noFill/>
        </p:spPr>
        <p:txBody>
          <a:bodyPr wrap="square" lIns="0" tIns="0" rIns="0" bIns="0" anchor="t">
            <a:spAutoFit/>
          </a:bodyPr>
          <a:lstStyle/>
          <a:p>
            <a:pPr algn="ctr">
              <a:lnSpc>
                <a:spcPct val="122000"/>
              </a:lnSpc>
            </a:pPr>
            <a:r>
              <a:rPr sz="900" b="1" i="0">
                <a:solidFill>
                  <a:srgbClr val="D97706"/>
                </a:solidFill>
                <a:latin typeface="Segoe UI"/>
              </a:rPr>
              <a:t>Promised date</a:t>
            </a:r>
          </a:p>
        </p:txBody>
      </p:sp>
      <p:pic>
        <p:nvPicPr>
          <p:cNvPr id="34" name="Picture 33" descr="g_review_rose.png"/>
          <p:cNvPicPr>
            <a:picLocks noChangeAspect="1"/>
          </p:cNvPicPr>
          <p:nvPr/>
        </p:nvPicPr>
        <p:blipFill>
          <a:blip r:embed="rId6"/>
          <a:stretch>
            <a:fillRect/>
          </a:stretch>
        </p:blipFill>
        <p:spPr>
          <a:xfrm>
            <a:off x="7315199" y="4443984"/>
            <a:ext cx="365760" cy="365760"/>
          </a:xfrm>
          <a:prstGeom prst="rect">
            <a:avLst/>
          </a:prstGeom>
        </p:spPr>
      </p:pic>
      <p:sp>
        <p:nvSpPr>
          <p:cNvPr id="35" name="Text"/>
          <p:cNvSpPr txBox="1"/>
          <p:nvPr/>
        </p:nvSpPr>
        <p:spPr>
          <a:xfrm>
            <a:off x="6931151" y="4864608"/>
            <a:ext cx="1133856" cy="256032"/>
          </a:xfrm>
          <a:prstGeom prst="rect">
            <a:avLst/>
          </a:prstGeom>
          <a:noFill/>
        </p:spPr>
        <p:txBody>
          <a:bodyPr wrap="square" lIns="0" tIns="0" rIns="0" bIns="0" anchor="t">
            <a:spAutoFit/>
          </a:bodyPr>
          <a:lstStyle/>
          <a:p>
            <a:pPr algn="ctr">
              <a:lnSpc>
                <a:spcPct val="122000"/>
              </a:lnSpc>
            </a:pPr>
            <a:r>
              <a:rPr sz="900" b="1" i="0">
                <a:solidFill>
                  <a:srgbClr val="E11D48"/>
                </a:solidFill>
                <a:latin typeface="Segoe UI"/>
              </a:rPr>
              <a:t>1★ written!</a:t>
            </a:r>
          </a:p>
        </p:txBody>
      </p:sp>
      <p:pic>
        <p:nvPicPr>
          <p:cNvPr id="36" name="Picture 35" descr="g_delivery_muted.png"/>
          <p:cNvPicPr>
            <a:picLocks noChangeAspect="1"/>
          </p:cNvPicPr>
          <p:nvPr/>
        </p:nvPicPr>
        <p:blipFill>
          <a:blip r:embed="rId8"/>
          <a:stretch>
            <a:fillRect/>
          </a:stretch>
        </p:blipFill>
        <p:spPr>
          <a:xfrm>
            <a:off x="8458200" y="4443984"/>
            <a:ext cx="365760" cy="365760"/>
          </a:xfrm>
          <a:prstGeom prst="rect">
            <a:avLst/>
          </a:prstGeom>
        </p:spPr>
      </p:pic>
      <p:sp>
        <p:nvSpPr>
          <p:cNvPr id="37" name="Text"/>
          <p:cNvSpPr txBox="1"/>
          <p:nvPr/>
        </p:nvSpPr>
        <p:spPr>
          <a:xfrm>
            <a:off x="8074152" y="4864608"/>
            <a:ext cx="1133856" cy="256032"/>
          </a:xfrm>
          <a:prstGeom prst="rect">
            <a:avLst/>
          </a:prstGeom>
          <a:noFill/>
        </p:spPr>
        <p:txBody>
          <a:bodyPr wrap="square" lIns="0" tIns="0" rIns="0" bIns="0" anchor="t">
            <a:spAutoFit/>
          </a:bodyPr>
          <a:lstStyle/>
          <a:p>
            <a:pPr algn="ctr">
              <a:lnSpc>
                <a:spcPct val="122000"/>
              </a:lnSpc>
            </a:pPr>
            <a:r>
              <a:rPr sz="900" b="1" i="0">
                <a:solidFill>
                  <a:srgbClr val="64748B"/>
                </a:solidFill>
                <a:latin typeface="Segoe UI"/>
              </a:rPr>
              <a:t>Arrives too late</a:t>
            </a:r>
          </a:p>
        </p:txBody>
      </p:sp>
      <p:sp>
        <p:nvSpPr>
          <p:cNvPr id="38" name="Card"/>
          <p:cNvSpPr/>
          <p:nvPr/>
        </p:nvSpPr>
        <p:spPr>
          <a:xfrm>
            <a:off x="9308592" y="3730752"/>
            <a:ext cx="2103120" cy="1444752"/>
          </a:xfrm>
          <a:prstGeom prst="roundRect">
            <a:avLst>
              <a:gd name="adj" fmla="val 3800"/>
            </a:avLst>
          </a:prstGeom>
          <a:solidFill>
            <a:srgbClr val="FFE4E6"/>
          </a:solidFill>
          <a:ln w="12700">
            <a:solidFill>
              <a:srgbClr val="FE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
          <p:cNvSpPr txBox="1"/>
          <p:nvPr/>
        </p:nvSpPr>
        <p:spPr>
          <a:xfrm>
            <a:off x="9400032" y="3803904"/>
            <a:ext cx="1920240" cy="1298448"/>
          </a:xfrm>
          <a:prstGeom prst="rect">
            <a:avLst/>
          </a:prstGeom>
          <a:noFill/>
        </p:spPr>
        <p:txBody>
          <a:bodyPr wrap="square" lIns="0" tIns="0" rIns="0" bIns="0" anchor="t">
            <a:spAutoFit/>
          </a:bodyPr>
          <a:lstStyle/>
          <a:p>
            <a:pPr algn="ctr">
              <a:lnSpc>
                <a:spcPct val="122000"/>
              </a:lnSpc>
              <a:spcAft>
                <a:spcPts val="200"/>
              </a:spcAft>
            </a:pPr>
            <a:r>
              <a:rPr sz="850" b="1" i="0" spc="130">
                <a:solidFill>
                  <a:srgbClr val="E11D48"/>
                </a:solidFill>
                <a:latin typeface="Segoe UI"/>
              </a:rPr>
              <a:t>ALREADY WRITTEN</a:t>
            </a:r>
          </a:p>
          <a:p>
            <a:pPr algn="ctr">
              <a:lnSpc>
                <a:spcPct val="102000"/>
              </a:lnSpc>
              <a:spcAft>
                <a:spcPts val="200"/>
              </a:spcAft>
            </a:pPr>
            <a:r>
              <a:rPr sz="2800" b="1" i="0">
                <a:solidFill>
                  <a:srgbClr val="E11D48"/>
                </a:solidFill>
                <a:latin typeface="Segoe UI"/>
              </a:rPr>
              <a:t>87.3%</a:t>
            </a:r>
          </a:p>
          <a:p>
            <a:pPr algn="ctr">
              <a:lnSpc>
                <a:spcPct val="118000"/>
              </a:lnSpc>
            </a:pPr>
            <a:r>
              <a:rPr sz="930" b="0" i="0">
                <a:solidFill>
                  <a:srgbClr val="0F172A"/>
                </a:solidFill>
                <a:latin typeface="Segoe UI"/>
              </a:rPr>
              <a:t>of late 1–2★ reviews
submitted before arrival</a:t>
            </a:r>
          </a:p>
        </p:txBody>
      </p:sp>
      <p:sp>
        <p:nvSpPr>
          <p:cNvPr id="40" name="ReframeBanner"/>
          <p:cNvSpPr/>
          <p:nvPr/>
        </p:nvSpPr>
        <p:spPr>
          <a:xfrm>
            <a:off x="566928" y="5504688"/>
            <a:ext cx="11045952" cy="621792"/>
          </a:xfrm>
          <a:prstGeom prst="roundRect">
            <a:avLst>
              <a:gd name="adj" fmla="val 3800"/>
            </a:avLst>
          </a:prstGeom>
          <a:solidFill>
            <a:srgbClr val="0F172A"/>
          </a:solidFill>
          <a:ln>
            <a:noFill/>
          </a:ln>
          <a:effectLst>
            <a:outerShdw blurRad="177800" dist="44450" dir="5400000" algn="tl" rotWithShape="0">
              <a:srgbClr val="0F172A">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
          <p:cNvSpPr txBox="1"/>
          <p:nvPr/>
        </p:nvSpPr>
        <p:spPr>
          <a:xfrm>
            <a:off x="841248" y="5632704"/>
            <a:ext cx="10515600" cy="384048"/>
          </a:xfrm>
          <a:prstGeom prst="rect">
            <a:avLst/>
          </a:prstGeom>
          <a:noFill/>
        </p:spPr>
        <p:txBody>
          <a:bodyPr wrap="square" lIns="0" tIns="0" rIns="0" bIns="0" anchor="t">
            <a:spAutoFit/>
          </a:bodyPr>
          <a:lstStyle/>
          <a:p>
            <a:pPr algn="l">
              <a:lnSpc>
                <a:spcPct val="122000"/>
              </a:lnSpc>
            </a:pPr>
            <a:r>
              <a:rPr sz="1150" b="1" i="0" spc="130">
                <a:solidFill>
                  <a:srgbClr val="FBBF24"/>
                </a:solidFill>
                <a:latin typeface="Segoe UI"/>
              </a:rPr>
              <a:t>THE REFRAME:  </a:t>
            </a:r>
            <a:r>
              <a:rPr sz="1220" b="0" i="0">
                <a:solidFill>
                  <a:srgbClr val="E2E8F0"/>
                </a:solidFill>
                <a:latin typeface="Segoe UI"/>
              </a:rPr>
              <a:t>Waiting until delivery misses </a:t>
            </a:r>
            <a:r>
              <a:rPr sz="1220" b="1" i="0">
                <a:solidFill>
                  <a:srgbClr val="FB7185"/>
                </a:solidFill>
                <a:latin typeface="Segoe UI"/>
              </a:rPr>
              <a:t>87.3% of late-order bad reviews</a:t>
            </a:r>
            <a:r>
              <a:rPr sz="1220" b="0" i="0">
                <a:solidFill>
                  <a:srgbClr val="E2E8F0"/>
                </a:solidFill>
                <a:latin typeface="Segoe UI"/>
              </a:rPr>
              <a:t>. Olist needs </a:t>
            </a:r>
            <a:r>
              <a:rPr sz="1220" b="1" i="0">
                <a:solidFill>
                  <a:srgbClr val="FFFFFF"/>
                </a:solidFill>
                <a:latin typeface="Segoe UI"/>
              </a:rPr>
              <a:t>earlier interventions for late parcels</a:t>
            </a:r>
            <a:r>
              <a:rPr sz="1220" b="0" i="0">
                <a:solidFill>
                  <a:srgbClr val="E2E8F0"/>
                </a:solidFill>
                <a:latin typeface="Segoe UI"/>
              </a:rPr>
              <a:t> AND </a:t>
            </a:r>
            <a:r>
              <a:rPr sz="1220" b="1" i="0">
                <a:solidFill>
                  <a:srgbClr val="34D399"/>
                </a:solidFill>
                <a:latin typeface="Segoe UI"/>
              </a:rPr>
              <a:t>fast triage at delivery for on-time ones.</a:t>
            </a:r>
          </a:p>
        </p:txBody>
      </p:sp>
      <p:sp>
        <p:nvSpPr>
          <p:cNvPr id="42" name="!!NavDock"/>
          <p:cNvSpPr/>
          <p:nvPr/>
        </p:nvSpPr>
        <p:spPr>
          <a:xfrm>
            <a:off x="566928" y="6327648"/>
            <a:ext cx="11055096" cy="384048"/>
          </a:xfrm>
          <a:prstGeom prst="roundRect">
            <a:avLst>
              <a:gd name="adj" fmla="val 50000"/>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Nav_1">
            <a:hlinkClick r:id="rId9" action="ppaction://hlinksldjump"/>
          </p:cNvPr>
          <p:cNvSpPr/>
          <p:nvPr/>
        </p:nvSpPr>
        <p:spPr>
          <a:xfrm>
            <a:off x="658368" y="6373368"/>
            <a:ext cx="1261872" cy="292608"/>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FFFFFF"/>
                </a:solidFill>
                <a:latin typeface="Segoe UI"/>
              </a:rPr>
              <a:t>01  The Problem</a:t>
            </a:r>
          </a:p>
        </p:txBody>
      </p:sp>
      <p:sp>
        <p:nvSpPr>
          <p:cNvPr id="44" name="Nav_2">
            <a:hlinkClick r:id="rId10" action="ppaction://hlinksldjump"/>
          </p:cNvPr>
          <p:cNvSpPr/>
          <p:nvPr/>
        </p:nvSpPr>
        <p:spPr>
          <a:xfrm>
            <a:off x="1993391"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02  Why &amp; Tools</a:t>
            </a:r>
          </a:p>
        </p:txBody>
      </p:sp>
      <p:sp>
        <p:nvSpPr>
          <p:cNvPr id="45" name="Nav_3">
            <a:hlinkClick r:id="rId11" action="ppaction://hlinksldjump"/>
          </p:cNvPr>
          <p:cNvSpPr/>
          <p:nvPr/>
        </p:nvSpPr>
        <p:spPr>
          <a:xfrm>
            <a:off x="3328415"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03  Proof &amp; App</a:t>
            </a:r>
          </a:p>
        </p:txBody>
      </p:sp>
      <p:sp>
        <p:nvSpPr>
          <p:cNvPr id="46" name="Nav_4">
            <a:hlinkClick r:id="rId12" action="ppaction://hlinksldjump"/>
          </p:cNvPr>
          <p:cNvSpPr/>
          <p:nvPr/>
        </p:nvSpPr>
        <p:spPr>
          <a:xfrm>
            <a:off x="4663440"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04  Monday Plan</a:t>
            </a:r>
          </a:p>
        </p:txBody>
      </p:sp>
      <p:sp>
        <p:nvSpPr>
          <p:cNvPr id="47" name="Nav_5">
            <a:hlinkClick r:id="rId13" action="ppaction://hlinksldjump"/>
          </p:cNvPr>
          <p:cNvSpPr/>
          <p:nvPr/>
        </p:nvSpPr>
        <p:spPr>
          <a:xfrm>
            <a:off x="5998464" y="6373368"/>
            <a:ext cx="1130198"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05  Takeaways</a:t>
            </a:r>
          </a:p>
        </p:txBody>
      </p:sp>
      <p:sp>
        <p:nvSpPr>
          <p:cNvPr id="48" name="DockJourneyLine"/>
          <p:cNvSpPr/>
          <p:nvPr/>
        </p:nvSpPr>
        <p:spPr>
          <a:xfrm>
            <a:off x="8915400" y="6510528"/>
            <a:ext cx="1115568"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9" name="!!g1" descr="g_checkout_muted.png"/>
          <p:cNvPicPr>
            <a:picLocks noChangeAspect="1"/>
          </p:cNvPicPr>
          <p:nvPr/>
        </p:nvPicPr>
        <p:blipFill>
          <a:blip r:embed="rId14"/>
          <a:stretch>
            <a:fillRect/>
          </a:stretch>
        </p:blipFill>
        <p:spPr>
          <a:xfrm>
            <a:off x="8778240" y="6409944"/>
            <a:ext cx="219456" cy="219456"/>
          </a:xfrm>
          <a:prstGeom prst="rect">
            <a:avLst/>
          </a:prstGeom>
        </p:spPr>
      </p:pic>
      <p:pic>
        <p:nvPicPr>
          <p:cNvPr id="50" name="!!g2" descr="g_promise_amber.png"/>
          <p:cNvPicPr>
            <a:picLocks noChangeAspect="1"/>
          </p:cNvPicPr>
          <p:nvPr/>
        </p:nvPicPr>
        <p:blipFill>
          <a:blip r:embed="rId7"/>
          <a:stretch>
            <a:fillRect/>
          </a:stretch>
        </p:blipFill>
        <p:spPr>
          <a:xfrm>
            <a:off x="9144000" y="6377940"/>
            <a:ext cx="283464" cy="283464"/>
          </a:xfrm>
          <a:prstGeom prst="rect">
            <a:avLst/>
          </a:prstGeom>
        </p:spPr>
      </p:pic>
      <p:pic>
        <p:nvPicPr>
          <p:cNvPr id="51" name="!!g3" descr="g_delivery_green.png"/>
          <p:cNvPicPr>
            <a:picLocks noChangeAspect="1"/>
          </p:cNvPicPr>
          <p:nvPr/>
        </p:nvPicPr>
        <p:blipFill>
          <a:blip r:embed="rId5"/>
          <a:stretch>
            <a:fillRect/>
          </a:stretch>
        </p:blipFill>
        <p:spPr>
          <a:xfrm>
            <a:off x="9509760" y="6377940"/>
            <a:ext cx="283464" cy="283464"/>
          </a:xfrm>
          <a:prstGeom prst="rect">
            <a:avLst/>
          </a:prstGeom>
        </p:spPr>
      </p:pic>
      <p:pic>
        <p:nvPicPr>
          <p:cNvPr id="52" name="!!g4" descr="g_review_rose.png"/>
          <p:cNvPicPr>
            <a:picLocks noChangeAspect="1"/>
          </p:cNvPicPr>
          <p:nvPr/>
        </p:nvPicPr>
        <p:blipFill>
          <a:blip r:embed="rId6"/>
          <a:stretch>
            <a:fillRect/>
          </a:stretch>
        </p:blipFill>
        <p:spPr>
          <a:xfrm>
            <a:off x="9875520" y="6377940"/>
            <a:ext cx="283464" cy="283464"/>
          </a:xfrm>
          <a:prstGeom prst="rect">
            <a:avLst/>
          </a:prstGeom>
        </p:spPr>
      </p:pic>
      <p:sp>
        <p:nvSpPr>
          <p:cNvPr id="53" name="Nav_QA">
            <a:hlinkClick r:id="rId15" action="ppaction://hlinksldjump"/>
          </p:cNvPr>
          <p:cNvSpPr/>
          <p:nvPr/>
        </p:nvSpPr>
        <p:spPr>
          <a:xfrm>
            <a:off x="10387584" y="6373368"/>
            <a:ext cx="1152144" cy="292608"/>
          </a:xfrm>
          <a:prstGeom prst="roundRect">
            <a:avLst>
              <a:gd name="adj" fmla="val 50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0F172A"/>
                </a:solidFill>
                <a:latin typeface="Segoe UI"/>
              </a:rPr>
              <a:t>Q&amp;A · 04/13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anim calcmode="lin" valueType="num">
                                      <p:cBhvr>
                                        <p:cTn id="8" dur="400" fill="hold"/>
                                        <p:tgtEl>
                                          <p:spTgt spid="3"/>
                                        </p:tgtEl>
                                        <p:attrNameLst>
                                          <p:attrName>ppt_x</p:attrName>
                                        </p:attrNameLst>
                                      </p:cBhvr>
                                      <p:tavLst>
                                        <p:tav tm="0">
                                          <p:val>
                                            <p:strVal val="#ppt_x"/>
                                          </p:val>
                                        </p:tav>
                                        <p:tav tm="100000">
                                          <p:val>
                                            <p:strVal val="#ppt_x"/>
                                          </p:val>
                                        </p:tav>
                                      </p:tavLst>
                                    </p:anim>
                                    <p:anim calcmode="lin" valueType="num">
                                      <p:cBhvr>
                                        <p:cTn id="9" dur="40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anim calcmode="lin" valueType="num">
                                      <p:cBhvr>
                                        <p:cTn id="13" dur="400" fill="hold"/>
                                        <p:tgtEl>
                                          <p:spTgt spid="4"/>
                                        </p:tgtEl>
                                        <p:attrNameLst>
                                          <p:attrName>ppt_x</p:attrName>
                                        </p:attrNameLst>
                                      </p:cBhvr>
                                      <p:tavLst>
                                        <p:tav tm="0">
                                          <p:val>
                                            <p:strVal val="#ppt_x"/>
                                          </p:val>
                                        </p:tav>
                                        <p:tav tm="100000">
                                          <p:val>
                                            <p:strVal val="#ppt_x"/>
                                          </p:val>
                                        </p:tav>
                                      </p:tavLst>
                                    </p:anim>
                                    <p:anim calcmode="lin" valueType="num">
                                      <p:cBhvr>
                                        <p:cTn id="14" dur="40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anim calcmode="lin" valueType="num">
                                      <p:cBhvr>
                                        <p:cTn id="18" dur="400" fill="hold"/>
                                        <p:tgtEl>
                                          <p:spTgt spid="5"/>
                                        </p:tgtEl>
                                        <p:attrNameLst>
                                          <p:attrName>ppt_x</p:attrName>
                                        </p:attrNameLst>
                                      </p:cBhvr>
                                      <p:tavLst>
                                        <p:tav tm="0">
                                          <p:val>
                                            <p:strVal val="#ppt_x"/>
                                          </p:val>
                                        </p:tav>
                                        <p:tav tm="100000">
                                          <p:val>
                                            <p:strVal val="#ppt_x"/>
                                          </p:val>
                                        </p:tav>
                                      </p:tavLst>
                                    </p:anim>
                                    <p:anim calcmode="lin" valueType="num">
                                      <p:cBhvr>
                                        <p:cTn id="19" dur="40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18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60"/>
                                        <p:tgtEl>
                                          <p:spTgt spid="6"/>
                                        </p:tgtEl>
                                      </p:cBhvr>
                                    </p:animEffect>
                                    <p:anim calcmode="lin" valueType="num">
                                      <p:cBhvr>
                                        <p:cTn id="23" dur="460" fill="hold"/>
                                        <p:tgtEl>
                                          <p:spTgt spid="6"/>
                                        </p:tgtEl>
                                        <p:attrNameLst>
                                          <p:attrName>ppt_x</p:attrName>
                                        </p:attrNameLst>
                                      </p:cBhvr>
                                      <p:tavLst>
                                        <p:tav tm="0">
                                          <p:val>
                                            <p:strVal val="#ppt_x"/>
                                          </p:val>
                                        </p:tav>
                                        <p:tav tm="100000">
                                          <p:val>
                                            <p:strVal val="#ppt_x"/>
                                          </p:val>
                                        </p:tav>
                                      </p:tavLst>
                                    </p:anim>
                                    <p:anim calcmode="lin" valueType="num">
                                      <p:cBhvr>
                                        <p:cTn id="24" dur="46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8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60"/>
                                        <p:tgtEl>
                                          <p:spTgt spid="7"/>
                                        </p:tgtEl>
                                      </p:cBhvr>
                                    </p:animEffect>
                                    <p:anim calcmode="lin" valueType="num">
                                      <p:cBhvr>
                                        <p:cTn id="28" dur="460" fill="hold"/>
                                        <p:tgtEl>
                                          <p:spTgt spid="7"/>
                                        </p:tgtEl>
                                        <p:attrNameLst>
                                          <p:attrName>ppt_x</p:attrName>
                                        </p:attrNameLst>
                                      </p:cBhvr>
                                      <p:tavLst>
                                        <p:tav tm="0">
                                          <p:val>
                                            <p:strVal val="#ppt_x"/>
                                          </p:val>
                                        </p:tav>
                                        <p:tav tm="100000">
                                          <p:val>
                                            <p:strVal val="#ppt_x"/>
                                          </p:val>
                                        </p:tav>
                                      </p:tavLst>
                                    </p:anim>
                                    <p:anim calcmode="lin" valueType="num">
                                      <p:cBhvr>
                                        <p:cTn id="29" dur="460" decel="100000" fill="hold"/>
                                        <p:tgtEl>
                                          <p:spTgt spid="7"/>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8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60"/>
                                        <p:tgtEl>
                                          <p:spTgt spid="12"/>
                                        </p:tgtEl>
                                      </p:cBhvr>
                                    </p:animEffect>
                                    <p:anim calcmode="lin" valueType="num">
                                      <p:cBhvr>
                                        <p:cTn id="33" dur="460" fill="hold"/>
                                        <p:tgtEl>
                                          <p:spTgt spid="12"/>
                                        </p:tgtEl>
                                        <p:attrNameLst>
                                          <p:attrName>ppt_x</p:attrName>
                                        </p:attrNameLst>
                                      </p:cBhvr>
                                      <p:tavLst>
                                        <p:tav tm="0">
                                          <p:val>
                                            <p:strVal val="#ppt_x"/>
                                          </p:val>
                                        </p:tav>
                                        <p:tav tm="100000">
                                          <p:val>
                                            <p:strVal val="#ppt_x"/>
                                          </p:val>
                                        </p:tav>
                                      </p:tavLst>
                                    </p:anim>
                                    <p:anim calcmode="lin" valueType="num">
                                      <p:cBhvr>
                                        <p:cTn id="34" dur="460" decel="100000" fill="hold"/>
                                        <p:tgtEl>
                                          <p:spTgt spid="12"/>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36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60"/>
                                        <p:tgtEl>
                                          <p:spTgt spid="22"/>
                                        </p:tgtEl>
                                      </p:cBhvr>
                                    </p:animEffect>
                                    <p:anim calcmode="lin" valueType="num">
                                      <p:cBhvr>
                                        <p:cTn id="38" dur="460" fill="hold"/>
                                        <p:tgtEl>
                                          <p:spTgt spid="22"/>
                                        </p:tgtEl>
                                        <p:attrNameLst>
                                          <p:attrName>ppt_x</p:attrName>
                                        </p:attrNameLst>
                                      </p:cBhvr>
                                      <p:tavLst>
                                        <p:tav tm="0">
                                          <p:val>
                                            <p:strVal val="#ppt_x"/>
                                          </p:val>
                                        </p:tav>
                                        <p:tav tm="100000">
                                          <p:val>
                                            <p:strVal val="#ppt_x"/>
                                          </p:val>
                                        </p:tav>
                                      </p:tavLst>
                                    </p:anim>
                                    <p:anim calcmode="lin" valueType="num">
                                      <p:cBhvr>
                                        <p:cTn id="39" dur="460" decel="100000" fill="hold"/>
                                        <p:tgtEl>
                                          <p:spTgt spid="22"/>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36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60"/>
                                        <p:tgtEl>
                                          <p:spTgt spid="23"/>
                                        </p:tgtEl>
                                      </p:cBhvr>
                                    </p:animEffect>
                                    <p:anim calcmode="lin" valueType="num">
                                      <p:cBhvr>
                                        <p:cTn id="43" dur="460" fill="hold"/>
                                        <p:tgtEl>
                                          <p:spTgt spid="23"/>
                                        </p:tgtEl>
                                        <p:attrNameLst>
                                          <p:attrName>ppt_x</p:attrName>
                                        </p:attrNameLst>
                                      </p:cBhvr>
                                      <p:tavLst>
                                        <p:tav tm="0">
                                          <p:val>
                                            <p:strVal val="#ppt_x"/>
                                          </p:val>
                                        </p:tav>
                                        <p:tav tm="100000">
                                          <p:val>
                                            <p:strVal val="#ppt_x"/>
                                          </p:val>
                                        </p:tav>
                                      </p:tavLst>
                                    </p:anim>
                                    <p:anim calcmode="lin" valueType="num">
                                      <p:cBhvr>
                                        <p:cTn id="44" dur="460" decel="100000" fill="hold"/>
                                        <p:tgtEl>
                                          <p:spTgt spid="23"/>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36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60"/>
                                        <p:tgtEl>
                                          <p:spTgt spid="28"/>
                                        </p:tgtEl>
                                      </p:cBhvr>
                                    </p:animEffect>
                                    <p:anim calcmode="lin" valueType="num">
                                      <p:cBhvr>
                                        <p:cTn id="48" dur="460" fill="hold"/>
                                        <p:tgtEl>
                                          <p:spTgt spid="28"/>
                                        </p:tgtEl>
                                        <p:attrNameLst>
                                          <p:attrName>ppt_x</p:attrName>
                                        </p:attrNameLst>
                                      </p:cBhvr>
                                      <p:tavLst>
                                        <p:tav tm="0">
                                          <p:val>
                                            <p:strVal val="#ppt_x"/>
                                          </p:val>
                                        </p:tav>
                                        <p:tav tm="100000">
                                          <p:val>
                                            <p:strVal val="#ppt_x"/>
                                          </p:val>
                                        </p:tav>
                                      </p:tavLst>
                                    </p:anim>
                                    <p:anim calcmode="lin" valueType="num">
                                      <p:cBhvr>
                                        <p:cTn id="49" dur="460" decel="100000" fill="hold"/>
                                        <p:tgtEl>
                                          <p:spTgt spid="28"/>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54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40"/>
                                        <p:tgtEl>
                                          <p:spTgt spid="40"/>
                                        </p:tgtEl>
                                      </p:cBhvr>
                                    </p:animEffect>
                                    <p:anim calcmode="lin" valueType="num">
                                      <p:cBhvr>
                                        <p:cTn id="53" dur="440" fill="hold"/>
                                        <p:tgtEl>
                                          <p:spTgt spid="40"/>
                                        </p:tgtEl>
                                        <p:attrNameLst>
                                          <p:attrName>ppt_x</p:attrName>
                                        </p:attrNameLst>
                                      </p:cBhvr>
                                      <p:tavLst>
                                        <p:tav tm="0">
                                          <p:val>
                                            <p:strVal val="#ppt_x"/>
                                          </p:val>
                                        </p:tav>
                                        <p:tav tm="100000">
                                          <p:val>
                                            <p:strVal val="#ppt_x"/>
                                          </p:val>
                                        </p:tav>
                                      </p:tavLst>
                                    </p:anim>
                                    <p:anim calcmode="lin" valueType="num">
                                      <p:cBhvr>
                                        <p:cTn id="54" dur="440" decel="100000" fill="hold"/>
                                        <p:tgtEl>
                                          <p:spTgt spid="40"/>
                                        </p:tgtEl>
                                        <p:attrNameLst>
                                          <p:attrName>ppt_y</p:attrName>
                                        </p:attrNameLst>
                                      </p:cBhvr>
                                      <p:tavLst>
                                        <p:tav tm="0">
                                          <p:val>
                                            <p:strVal val="#ppt_y+0.018"/>
                                          </p:val>
                                        </p:tav>
                                        <p:tav tm="100000">
                                          <p:val>
                                            <p:strVal val="#ppt_y"/>
                                          </p:val>
                                        </p:tav>
                                      </p:tavLst>
                                    </p:anim>
                                  </p:childTnLst>
                                </p:cTn>
                              </p:par>
                              <p:par>
                                <p:cTn id="55" presetID="42" presetClass="entr" presetSubtype="4" fill="hold" grpId="0" nodeType="withEffect">
                                  <p:stCondLst>
                                    <p:cond delay="540"/>
                                  </p:stCondLst>
                                  <p:childTnLst>
                                    <p:set>
                                      <p:cBhvr>
                                        <p:cTn id="56" dur="1" fill="hold">
                                          <p:stCondLst>
                                            <p:cond delay="0"/>
                                          </p:stCondLst>
                                        </p:cTn>
                                        <p:tgtEl>
                                          <p:spTgt spid="41"/>
                                        </p:tgtEl>
                                        <p:attrNameLst>
                                          <p:attrName>style.visibility</p:attrName>
                                        </p:attrNameLst>
                                      </p:cBhvr>
                                      <p:to>
                                        <p:strVal val="visible"/>
                                      </p:to>
                                    </p:set>
                                    <p:animEffect transition="in" filter="fade">
                                      <p:cBhvr>
                                        <p:cTn id="57" dur="440"/>
                                        <p:tgtEl>
                                          <p:spTgt spid="41"/>
                                        </p:tgtEl>
                                      </p:cBhvr>
                                    </p:animEffect>
                                    <p:anim calcmode="lin" valueType="num">
                                      <p:cBhvr>
                                        <p:cTn id="58" dur="440" fill="hold"/>
                                        <p:tgtEl>
                                          <p:spTgt spid="41"/>
                                        </p:tgtEl>
                                        <p:attrNameLst>
                                          <p:attrName>ppt_x</p:attrName>
                                        </p:attrNameLst>
                                      </p:cBhvr>
                                      <p:tavLst>
                                        <p:tav tm="0">
                                          <p:val>
                                            <p:strVal val="#ppt_x"/>
                                          </p:val>
                                        </p:tav>
                                        <p:tav tm="100000">
                                          <p:val>
                                            <p:strVal val="#ppt_x"/>
                                          </p:val>
                                        </p:tav>
                                      </p:tavLst>
                                    </p:anim>
                                    <p:anim calcmode="lin" valueType="num">
                                      <p:cBhvr>
                                        <p:cTn id="59" dur="440" decel="100000" fill="hold"/>
                                        <p:tgtEl>
                                          <p:spTgt spid="41"/>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12" grpId="0" animBg="1"/>
      <p:bldP spid="22" grpId="0" animBg="1"/>
      <p:bldP spid="23" grpId="0" animBg="1"/>
      <p:bldP spid="28" grpId="0" animBg="1"/>
      <p:bldP spid="40" grpId="0" animBg="1"/>
      <p:bldP spid="4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light_studio_bg.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4822545" cy="256032"/>
          </a:xfrm>
          <a:prstGeom prst="roundRect">
            <a:avLst>
              <a:gd name="adj" fmla="val 50000"/>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2563EB"/>
                </a:solidFill>
                <a:latin typeface="Segoe UI"/>
              </a:rPr>
              <a:t>02 · WHY PROMISES BREAK — REAL-WORLD VOLATILITY</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3050" b="1" i="0">
                <a:solidFill>
                  <a:srgbClr val="0F172A"/>
                </a:solidFill>
                <a:latin typeface="Segoe UI"/>
              </a:rPr>
              <a:t>Why promises break: </a:t>
            </a:r>
            <a:r>
              <a:rPr sz="3050" b="1" i="0">
                <a:solidFill>
                  <a:srgbClr val="2563EB"/>
                </a:solidFill>
                <a:latin typeface="Segoe UI"/>
              </a:rPr>
              <a:t>a moving, shock-hit network</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64748B"/>
                </a:solidFill>
                <a:latin typeface="Segoe UI"/>
              </a:rPr>
              <a:t>Brazil's delivery network sped up 2× while suffering sudden carrier jams &amp; strikes — breaking static rules and leaky tests.</a:t>
            </a:r>
          </a:p>
        </p:txBody>
      </p:sp>
      <p:sp>
        <p:nvSpPr>
          <p:cNvPr id="6" name="MonthlyShockChart"/>
          <p:cNvSpPr/>
          <p:nvPr/>
        </p:nvSpPr>
        <p:spPr>
          <a:xfrm>
            <a:off x="566928" y="1645920"/>
            <a:ext cx="6748272" cy="4443984"/>
          </a:xfrm>
          <a:prstGeom prst="roundRect">
            <a:avLst>
              <a:gd name="adj" fmla="val 3800"/>
            </a:avLst>
          </a:prstGeom>
          <a:solidFill>
            <a:srgbClr val="FFFFFF"/>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
          <p:cNvSpPr txBox="1"/>
          <p:nvPr/>
        </p:nvSpPr>
        <p:spPr>
          <a:xfrm>
            <a:off x="822960" y="1810512"/>
            <a:ext cx="6309360" cy="475488"/>
          </a:xfrm>
          <a:prstGeom prst="rect">
            <a:avLst/>
          </a:prstGeom>
          <a:noFill/>
        </p:spPr>
        <p:txBody>
          <a:bodyPr wrap="square" lIns="0" tIns="0" rIns="0" bIns="0" anchor="t">
            <a:spAutoFit/>
          </a:bodyPr>
          <a:lstStyle/>
          <a:p>
            <a:pPr algn="l">
              <a:lnSpc>
                <a:spcPct val="122000"/>
              </a:lnSpc>
              <a:spcAft>
                <a:spcPts val="200"/>
              </a:spcAft>
            </a:pPr>
            <a:r>
              <a:rPr sz="1350" b="1" i="0">
                <a:solidFill>
                  <a:srgbClr val="0F172A"/>
                </a:solidFill>
                <a:latin typeface="Segoe UI"/>
              </a:rPr>
              <a:t>Monthly late-delivery rate across 20 months (Jan 2017 – Aug 2018)</a:t>
            </a:r>
          </a:p>
          <a:p>
            <a:pPr algn="l">
              <a:lnSpc>
                <a:spcPct val="122000"/>
              </a:lnSpc>
            </a:pPr>
            <a:r>
              <a:rPr sz="1019" b="0" i="0">
                <a:solidFill>
                  <a:srgbClr val="64748B"/>
                </a:solidFill>
                <a:latin typeface="Segoe UI"/>
              </a:rPr>
              <a:t>Sudden logistics shocks hit right when Olist tightened promised windows</a:t>
            </a:r>
          </a:p>
        </p:txBody>
      </p:sp>
      <p:sp>
        <p:nvSpPr>
          <p:cNvPr id="8" name="Rounded Rectangle 7"/>
          <p:cNvSpPr/>
          <p:nvPr/>
        </p:nvSpPr>
        <p:spPr>
          <a:xfrm>
            <a:off x="6419088" y="2450592"/>
            <a:ext cx="694944" cy="2980944"/>
          </a:xfrm>
          <a:prstGeom prst="roundRect">
            <a:avLst>
              <a:gd name="adj" fmla="val 8000"/>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
          <p:cNvSpPr txBox="1"/>
          <p:nvPr/>
        </p:nvSpPr>
        <p:spPr>
          <a:xfrm>
            <a:off x="6254496" y="2267712"/>
            <a:ext cx="1005840" cy="201168"/>
          </a:xfrm>
          <a:prstGeom prst="rect">
            <a:avLst/>
          </a:prstGeom>
          <a:noFill/>
        </p:spPr>
        <p:txBody>
          <a:bodyPr wrap="square" lIns="0" tIns="0" rIns="0" bIns="0" anchor="t">
            <a:spAutoFit/>
          </a:bodyPr>
          <a:lstStyle/>
          <a:p>
            <a:pPr algn="ctr">
              <a:lnSpc>
                <a:spcPct val="122000"/>
              </a:lnSpc>
            </a:pPr>
            <a:r>
              <a:rPr sz="819" b="1" i="0">
                <a:solidFill>
                  <a:srgbClr val="2563EB"/>
                </a:solidFill>
                <a:latin typeface="Segoe UI"/>
              </a:rPr>
              <a:t>Unseen Test</a:t>
            </a:r>
          </a:p>
        </p:txBody>
      </p:sp>
      <p:sp>
        <p:nvSpPr>
          <p:cNvPr id="10" name="Rectangle 9"/>
          <p:cNvSpPr/>
          <p:nvPr/>
        </p:nvSpPr>
        <p:spPr>
          <a:xfrm>
            <a:off x="804672" y="5157216"/>
            <a:ext cx="6327648"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859536" y="4860483"/>
            <a:ext cx="219456" cy="296732"/>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
          <p:cNvSpPr txBox="1"/>
          <p:nvPr/>
        </p:nvSpPr>
        <p:spPr>
          <a:xfrm>
            <a:off x="786384" y="5202936"/>
            <a:ext cx="365760" cy="201168"/>
          </a:xfrm>
          <a:prstGeom prst="rect">
            <a:avLst/>
          </a:prstGeom>
          <a:noFill/>
        </p:spPr>
        <p:txBody>
          <a:bodyPr wrap="square" lIns="0" tIns="0" rIns="0" bIns="0" anchor="t">
            <a:spAutoFit/>
          </a:bodyPr>
          <a:lstStyle/>
          <a:p>
            <a:pPr algn="ctr">
              <a:lnSpc>
                <a:spcPct val="122000"/>
              </a:lnSpc>
            </a:pPr>
            <a:r>
              <a:rPr sz="760" b="1" i="0">
                <a:solidFill>
                  <a:srgbClr val="0F172A"/>
                </a:solidFill>
                <a:latin typeface="Segoe UI"/>
              </a:rPr>
              <a:t>J17</a:t>
            </a:r>
          </a:p>
        </p:txBody>
      </p:sp>
      <p:sp>
        <p:nvSpPr>
          <p:cNvPr id="13" name="Rounded Rectangle 12"/>
          <p:cNvSpPr/>
          <p:nvPr/>
        </p:nvSpPr>
        <p:spPr>
          <a:xfrm>
            <a:off x="1172260" y="4850911"/>
            <a:ext cx="219456" cy="306304"/>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
          <p:cNvSpPr txBox="1"/>
          <p:nvPr/>
        </p:nvSpPr>
        <p:spPr>
          <a:xfrm>
            <a:off x="1099108"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F</a:t>
            </a:r>
          </a:p>
        </p:txBody>
      </p:sp>
      <p:sp>
        <p:nvSpPr>
          <p:cNvPr id="15" name="Rounded Rectangle 14"/>
          <p:cNvSpPr/>
          <p:nvPr/>
        </p:nvSpPr>
        <p:spPr>
          <a:xfrm>
            <a:off x="1484985" y="4621183"/>
            <a:ext cx="219456" cy="536032"/>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p:cNvSpPr txBox="1"/>
          <p:nvPr/>
        </p:nvSpPr>
        <p:spPr>
          <a:xfrm>
            <a:off x="1411833"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M</a:t>
            </a:r>
          </a:p>
        </p:txBody>
      </p:sp>
      <p:sp>
        <p:nvSpPr>
          <p:cNvPr id="17" name="Rounded Rectangle 16"/>
          <p:cNvSpPr/>
          <p:nvPr/>
        </p:nvSpPr>
        <p:spPr>
          <a:xfrm>
            <a:off x="1797710" y="4401026"/>
            <a:ext cx="219456" cy="756189"/>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
          <p:cNvSpPr txBox="1"/>
          <p:nvPr/>
        </p:nvSpPr>
        <p:spPr>
          <a:xfrm>
            <a:off x="1724558"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A</a:t>
            </a:r>
          </a:p>
        </p:txBody>
      </p:sp>
      <p:sp>
        <p:nvSpPr>
          <p:cNvPr id="19" name="Rounded Rectangle 18"/>
          <p:cNvSpPr/>
          <p:nvPr/>
        </p:nvSpPr>
        <p:spPr>
          <a:xfrm>
            <a:off x="2110435" y="4812623"/>
            <a:ext cx="219456" cy="344592"/>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
          <p:cNvSpPr txBox="1"/>
          <p:nvPr/>
        </p:nvSpPr>
        <p:spPr>
          <a:xfrm>
            <a:off x="2037283"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M</a:t>
            </a:r>
          </a:p>
        </p:txBody>
      </p:sp>
      <p:sp>
        <p:nvSpPr>
          <p:cNvPr id="21" name="Rounded Rectangle 20"/>
          <p:cNvSpPr/>
          <p:nvPr/>
        </p:nvSpPr>
        <p:spPr>
          <a:xfrm>
            <a:off x="2423160" y="4783907"/>
            <a:ext cx="219456" cy="373308"/>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
          <p:cNvSpPr txBox="1"/>
          <p:nvPr/>
        </p:nvSpPr>
        <p:spPr>
          <a:xfrm>
            <a:off x="2350008"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J</a:t>
            </a:r>
          </a:p>
        </p:txBody>
      </p:sp>
      <p:sp>
        <p:nvSpPr>
          <p:cNvPr id="23" name="Rounded Rectangle 22"/>
          <p:cNvSpPr/>
          <p:nvPr/>
        </p:nvSpPr>
        <p:spPr>
          <a:xfrm>
            <a:off x="2735884" y="4831767"/>
            <a:ext cx="219456" cy="325448"/>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
          <p:cNvSpPr txBox="1"/>
          <p:nvPr/>
        </p:nvSpPr>
        <p:spPr>
          <a:xfrm>
            <a:off x="2662732"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J</a:t>
            </a:r>
          </a:p>
        </p:txBody>
      </p:sp>
      <p:sp>
        <p:nvSpPr>
          <p:cNvPr id="25" name="Rounded Rectangle 24"/>
          <p:cNvSpPr/>
          <p:nvPr/>
        </p:nvSpPr>
        <p:spPr>
          <a:xfrm>
            <a:off x="3048609" y="4841339"/>
            <a:ext cx="219456" cy="315876"/>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p:cNvSpPr txBox="1"/>
          <p:nvPr/>
        </p:nvSpPr>
        <p:spPr>
          <a:xfrm>
            <a:off x="2975457"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A</a:t>
            </a:r>
          </a:p>
        </p:txBody>
      </p:sp>
      <p:sp>
        <p:nvSpPr>
          <p:cNvPr id="27" name="Rounded Rectangle 26"/>
          <p:cNvSpPr/>
          <p:nvPr/>
        </p:nvSpPr>
        <p:spPr>
          <a:xfrm>
            <a:off x="3361334" y="4659471"/>
            <a:ext cx="219456" cy="497744"/>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
          <p:cNvSpPr txBox="1"/>
          <p:nvPr/>
        </p:nvSpPr>
        <p:spPr>
          <a:xfrm>
            <a:off x="3288182"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S</a:t>
            </a:r>
          </a:p>
        </p:txBody>
      </p:sp>
      <p:sp>
        <p:nvSpPr>
          <p:cNvPr id="29" name="Rounded Rectangle 28"/>
          <p:cNvSpPr/>
          <p:nvPr/>
        </p:nvSpPr>
        <p:spPr>
          <a:xfrm>
            <a:off x="3674059" y="4649899"/>
            <a:ext cx="219456" cy="507316"/>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
          <p:cNvSpPr txBox="1"/>
          <p:nvPr/>
        </p:nvSpPr>
        <p:spPr>
          <a:xfrm>
            <a:off x="3600907"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O</a:t>
            </a:r>
          </a:p>
        </p:txBody>
      </p:sp>
      <p:sp>
        <p:nvSpPr>
          <p:cNvPr id="31" name="Rounded Rectangle 30"/>
          <p:cNvSpPr/>
          <p:nvPr/>
        </p:nvSpPr>
        <p:spPr>
          <a:xfrm>
            <a:off x="3986784" y="3788417"/>
            <a:ext cx="219456" cy="1368798"/>
          </a:xfrm>
          <a:prstGeom prst="roundRect">
            <a:avLst>
              <a:gd name="adj" fmla="val 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
          <p:cNvSpPr txBox="1"/>
          <p:nvPr/>
        </p:nvSpPr>
        <p:spPr>
          <a:xfrm>
            <a:off x="3858768" y="3578105"/>
            <a:ext cx="475488" cy="182880"/>
          </a:xfrm>
          <a:prstGeom prst="rect">
            <a:avLst/>
          </a:prstGeom>
          <a:noFill/>
        </p:spPr>
        <p:txBody>
          <a:bodyPr wrap="square" lIns="0" tIns="0" rIns="0" bIns="0" anchor="t">
            <a:spAutoFit/>
          </a:bodyPr>
          <a:lstStyle/>
          <a:p>
            <a:pPr algn="ctr">
              <a:lnSpc>
                <a:spcPct val="122000"/>
              </a:lnSpc>
            </a:pPr>
            <a:r>
              <a:rPr sz="850" b="1" i="0">
                <a:solidFill>
                  <a:srgbClr val="D97706"/>
                </a:solidFill>
                <a:latin typeface="Segoe UI"/>
              </a:rPr>
              <a:t>14.3%</a:t>
            </a:r>
          </a:p>
        </p:txBody>
      </p:sp>
      <p:sp>
        <p:nvSpPr>
          <p:cNvPr id="33" name="Text"/>
          <p:cNvSpPr txBox="1"/>
          <p:nvPr/>
        </p:nvSpPr>
        <p:spPr>
          <a:xfrm>
            <a:off x="3913632" y="5202936"/>
            <a:ext cx="365760" cy="201168"/>
          </a:xfrm>
          <a:prstGeom prst="rect">
            <a:avLst/>
          </a:prstGeom>
          <a:noFill/>
        </p:spPr>
        <p:txBody>
          <a:bodyPr wrap="square" lIns="0" tIns="0" rIns="0" bIns="0" anchor="t">
            <a:spAutoFit/>
          </a:bodyPr>
          <a:lstStyle/>
          <a:p>
            <a:pPr algn="ctr">
              <a:lnSpc>
                <a:spcPct val="122000"/>
              </a:lnSpc>
            </a:pPr>
            <a:r>
              <a:rPr sz="760" b="1" i="0">
                <a:solidFill>
                  <a:srgbClr val="0F172A"/>
                </a:solidFill>
                <a:latin typeface="Segoe UI"/>
              </a:rPr>
              <a:t>N17</a:t>
            </a:r>
          </a:p>
        </p:txBody>
      </p:sp>
      <p:sp>
        <p:nvSpPr>
          <p:cNvPr id="34" name="Rounded Rectangle 33"/>
          <p:cNvSpPr/>
          <p:nvPr/>
        </p:nvSpPr>
        <p:spPr>
          <a:xfrm>
            <a:off x="4299508" y="4353166"/>
            <a:ext cx="219456" cy="804049"/>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p:cNvSpPr txBox="1"/>
          <p:nvPr/>
        </p:nvSpPr>
        <p:spPr>
          <a:xfrm>
            <a:off x="4226356"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D</a:t>
            </a:r>
          </a:p>
        </p:txBody>
      </p:sp>
      <p:sp>
        <p:nvSpPr>
          <p:cNvPr id="36" name="Rounded Rectangle 35"/>
          <p:cNvSpPr/>
          <p:nvPr/>
        </p:nvSpPr>
        <p:spPr>
          <a:xfrm>
            <a:off x="4612233" y="4525462"/>
            <a:ext cx="219456" cy="631753"/>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
          <p:cNvSpPr txBox="1"/>
          <p:nvPr/>
        </p:nvSpPr>
        <p:spPr>
          <a:xfrm>
            <a:off x="4539081" y="5202936"/>
            <a:ext cx="365760" cy="201168"/>
          </a:xfrm>
          <a:prstGeom prst="rect">
            <a:avLst/>
          </a:prstGeom>
          <a:noFill/>
        </p:spPr>
        <p:txBody>
          <a:bodyPr wrap="square" lIns="0" tIns="0" rIns="0" bIns="0" anchor="t">
            <a:spAutoFit/>
          </a:bodyPr>
          <a:lstStyle/>
          <a:p>
            <a:pPr algn="ctr">
              <a:lnSpc>
                <a:spcPct val="122000"/>
              </a:lnSpc>
            </a:pPr>
            <a:r>
              <a:rPr sz="760" b="1" i="0">
                <a:solidFill>
                  <a:srgbClr val="0F172A"/>
                </a:solidFill>
                <a:latin typeface="Segoe UI"/>
              </a:rPr>
              <a:t>J18</a:t>
            </a:r>
          </a:p>
        </p:txBody>
      </p:sp>
      <p:sp>
        <p:nvSpPr>
          <p:cNvPr id="38" name="Rounded Rectangle 37"/>
          <p:cNvSpPr/>
          <p:nvPr/>
        </p:nvSpPr>
        <p:spPr>
          <a:xfrm>
            <a:off x="4924958" y="3625693"/>
            <a:ext cx="219456" cy="1531522"/>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
          <p:cNvSpPr txBox="1"/>
          <p:nvPr/>
        </p:nvSpPr>
        <p:spPr>
          <a:xfrm>
            <a:off x="4796942" y="3415381"/>
            <a:ext cx="475488" cy="182880"/>
          </a:xfrm>
          <a:prstGeom prst="rect">
            <a:avLst/>
          </a:prstGeom>
          <a:noFill/>
        </p:spPr>
        <p:txBody>
          <a:bodyPr wrap="square" lIns="0" tIns="0" rIns="0" bIns="0" anchor="t">
            <a:spAutoFit/>
          </a:bodyPr>
          <a:lstStyle/>
          <a:p>
            <a:pPr algn="ctr">
              <a:lnSpc>
                <a:spcPct val="122000"/>
              </a:lnSpc>
            </a:pPr>
            <a:r>
              <a:rPr sz="850" b="1" i="0">
                <a:solidFill>
                  <a:srgbClr val="E11D48"/>
                </a:solidFill>
                <a:latin typeface="Segoe UI"/>
              </a:rPr>
              <a:t>16.0%</a:t>
            </a:r>
          </a:p>
        </p:txBody>
      </p:sp>
      <p:sp>
        <p:nvSpPr>
          <p:cNvPr id="40" name="Text"/>
          <p:cNvSpPr txBox="1"/>
          <p:nvPr/>
        </p:nvSpPr>
        <p:spPr>
          <a:xfrm>
            <a:off x="4851806" y="5202936"/>
            <a:ext cx="365760" cy="201168"/>
          </a:xfrm>
          <a:prstGeom prst="rect">
            <a:avLst/>
          </a:prstGeom>
          <a:noFill/>
        </p:spPr>
        <p:txBody>
          <a:bodyPr wrap="square" lIns="0" tIns="0" rIns="0" bIns="0" anchor="t">
            <a:spAutoFit/>
          </a:bodyPr>
          <a:lstStyle/>
          <a:p>
            <a:pPr algn="ctr">
              <a:lnSpc>
                <a:spcPct val="122000"/>
              </a:lnSpc>
            </a:pPr>
            <a:r>
              <a:rPr sz="760" b="1" i="0">
                <a:solidFill>
                  <a:srgbClr val="0F172A"/>
                </a:solidFill>
                <a:latin typeface="Segoe UI"/>
              </a:rPr>
              <a:t>F18</a:t>
            </a:r>
          </a:p>
        </p:txBody>
      </p:sp>
      <p:sp>
        <p:nvSpPr>
          <p:cNvPr id="41" name="Rounded Rectangle 40"/>
          <p:cNvSpPr/>
          <p:nvPr/>
        </p:nvSpPr>
        <p:spPr>
          <a:xfrm>
            <a:off x="5237683" y="3108804"/>
            <a:ext cx="219456" cy="2048411"/>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
          <p:cNvSpPr txBox="1"/>
          <p:nvPr/>
        </p:nvSpPr>
        <p:spPr>
          <a:xfrm>
            <a:off x="5109667" y="2898492"/>
            <a:ext cx="475488" cy="182880"/>
          </a:xfrm>
          <a:prstGeom prst="rect">
            <a:avLst/>
          </a:prstGeom>
          <a:noFill/>
        </p:spPr>
        <p:txBody>
          <a:bodyPr wrap="square" lIns="0" tIns="0" rIns="0" bIns="0" anchor="t">
            <a:spAutoFit/>
          </a:bodyPr>
          <a:lstStyle/>
          <a:p>
            <a:pPr algn="ctr">
              <a:lnSpc>
                <a:spcPct val="122000"/>
              </a:lnSpc>
            </a:pPr>
            <a:r>
              <a:rPr sz="850" b="1" i="0">
                <a:solidFill>
                  <a:srgbClr val="E11D48"/>
                </a:solidFill>
                <a:latin typeface="Segoe UI"/>
              </a:rPr>
              <a:t>21.4%</a:t>
            </a:r>
          </a:p>
        </p:txBody>
      </p:sp>
      <p:sp>
        <p:nvSpPr>
          <p:cNvPr id="43" name="Text"/>
          <p:cNvSpPr txBox="1"/>
          <p:nvPr/>
        </p:nvSpPr>
        <p:spPr>
          <a:xfrm>
            <a:off x="5164531" y="5202936"/>
            <a:ext cx="365760" cy="201168"/>
          </a:xfrm>
          <a:prstGeom prst="rect">
            <a:avLst/>
          </a:prstGeom>
          <a:noFill/>
        </p:spPr>
        <p:txBody>
          <a:bodyPr wrap="square" lIns="0" tIns="0" rIns="0" bIns="0" anchor="t">
            <a:spAutoFit/>
          </a:bodyPr>
          <a:lstStyle/>
          <a:p>
            <a:pPr algn="ctr">
              <a:lnSpc>
                <a:spcPct val="122000"/>
              </a:lnSpc>
            </a:pPr>
            <a:r>
              <a:rPr sz="760" b="1" i="0">
                <a:solidFill>
                  <a:srgbClr val="0F172A"/>
                </a:solidFill>
                <a:latin typeface="Segoe UI"/>
              </a:rPr>
              <a:t>M18</a:t>
            </a:r>
          </a:p>
        </p:txBody>
      </p:sp>
      <p:sp>
        <p:nvSpPr>
          <p:cNvPr id="44" name="Rounded Rectangle 43"/>
          <p:cNvSpPr/>
          <p:nvPr/>
        </p:nvSpPr>
        <p:spPr>
          <a:xfrm>
            <a:off x="5550408" y="4649899"/>
            <a:ext cx="219456" cy="507316"/>
          </a:xfrm>
          <a:prstGeom prst="roundRect">
            <a:avLst>
              <a:gd name="adj" fmla="val 8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
          <p:cNvSpPr txBox="1"/>
          <p:nvPr/>
        </p:nvSpPr>
        <p:spPr>
          <a:xfrm>
            <a:off x="5477256" y="5202936"/>
            <a:ext cx="365760" cy="201168"/>
          </a:xfrm>
          <a:prstGeom prst="rect">
            <a:avLst/>
          </a:prstGeom>
          <a:noFill/>
        </p:spPr>
        <p:txBody>
          <a:bodyPr wrap="square" lIns="0" tIns="0" rIns="0" bIns="0" anchor="t">
            <a:spAutoFit/>
          </a:bodyPr>
          <a:lstStyle/>
          <a:p>
            <a:pPr algn="ctr">
              <a:lnSpc>
                <a:spcPct val="122000"/>
              </a:lnSpc>
            </a:pPr>
            <a:r>
              <a:rPr sz="760" b="0" i="0">
                <a:solidFill>
                  <a:srgbClr val="64748B"/>
                </a:solidFill>
                <a:latin typeface="Segoe UI"/>
              </a:rPr>
              <a:t>A</a:t>
            </a:r>
          </a:p>
        </p:txBody>
      </p:sp>
      <p:sp>
        <p:nvSpPr>
          <p:cNvPr id="46" name="Rounded Rectangle 45"/>
          <p:cNvSpPr/>
          <p:nvPr/>
        </p:nvSpPr>
        <p:spPr>
          <a:xfrm>
            <a:off x="5863132" y="4372310"/>
            <a:ext cx="219456" cy="784905"/>
          </a:xfrm>
          <a:prstGeom prst="roundRect">
            <a:avLst>
              <a:gd name="adj" fmla="val 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
          <p:cNvSpPr txBox="1"/>
          <p:nvPr/>
        </p:nvSpPr>
        <p:spPr>
          <a:xfrm>
            <a:off x="5789980" y="5202936"/>
            <a:ext cx="365760" cy="201168"/>
          </a:xfrm>
          <a:prstGeom prst="rect">
            <a:avLst/>
          </a:prstGeom>
          <a:noFill/>
        </p:spPr>
        <p:txBody>
          <a:bodyPr wrap="square" lIns="0" tIns="0" rIns="0" bIns="0" anchor="t">
            <a:spAutoFit/>
          </a:bodyPr>
          <a:lstStyle/>
          <a:p>
            <a:pPr algn="ctr">
              <a:lnSpc>
                <a:spcPct val="122000"/>
              </a:lnSpc>
            </a:pPr>
            <a:r>
              <a:rPr sz="760" b="1" i="0">
                <a:solidFill>
                  <a:srgbClr val="0F172A"/>
                </a:solidFill>
                <a:latin typeface="Segoe UI"/>
              </a:rPr>
              <a:t>M18</a:t>
            </a:r>
          </a:p>
        </p:txBody>
      </p:sp>
      <p:sp>
        <p:nvSpPr>
          <p:cNvPr id="48" name="Rounded Rectangle 47"/>
          <p:cNvSpPr/>
          <p:nvPr/>
        </p:nvSpPr>
        <p:spPr>
          <a:xfrm>
            <a:off x="6175857" y="5023207"/>
            <a:ext cx="219456" cy="134008"/>
          </a:xfrm>
          <a:prstGeom prst="roundRect">
            <a:avLst>
              <a:gd name="adj" fmla="val 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
          <p:cNvSpPr txBox="1"/>
          <p:nvPr/>
        </p:nvSpPr>
        <p:spPr>
          <a:xfrm>
            <a:off x="6102705" y="5202936"/>
            <a:ext cx="365760" cy="201168"/>
          </a:xfrm>
          <a:prstGeom prst="rect">
            <a:avLst/>
          </a:prstGeom>
          <a:noFill/>
        </p:spPr>
        <p:txBody>
          <a:bodyPr wrap="square" lIns="0" tIns="0" rIns="0" bIns="0" anchor="t">
            <a:spAutoFit/>
          </a:bodyPr>
          <a:lstStyle/>
          <a:p>
            <a:pPr algn="ctr">
              <a:lnSpc>
                <a:spcPct val="122000"/>
              </a:lnSpc>
            </a:pPr>
            <a:r>
              <a:rPr sz="760" b="1" i="0">
                <a:solidFill>
                  <a:srgbClr val="0F172A"/>
                </a:solidFill>
                <a:latin typeface="Segoe UI"/>
              </a:rPr>
              <a:t>J18</a:t>
            </a:r>
          </a:p>
        </p:txBody>
      </p:sp>
      <p:sp>
        <p:nvSpPr>
          <p:cNvPr id="50" name="Rounded Rectangle 49"/>
          <p:cNvSpPr/>
          <p:nvPr/>
        </p:nvSpPr>
        <p:spPr>
          <a:xfrm>
            <a:off x="6488582" y="4726475"/>
            <a:ext cx="219456" cy="43074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
          <p:cNvSpPr txBox="1"/>
          <p:nvPr/>
        </p:nvSpPr>
        <p:spPr>
          <a:xfrm>
            <a:off x="6415430" y="5202936"/>
            <a:ext cx="365760" cy="201168"/>
          </a:xfrm>
          <a:prstGeom prst="rect">
            <a:avLst/>
          </a:prstGeom>
          <a:noFill/>
        </p:spPr>
        <p:txBody>
          <a:bodyPr wrap="square" lIns="0" tIns="0" rIns="0" bIns="0" anchor="t">
            <a:spAutoFit/>
          </a:bodyPr>
          <a:lstStyle/>
          <a:p>
            <a:pPr algn="ctr">
              <a:lnSpc>
                <a:spcPct val="122000"/>
              </a:lnSpc>
            </a:pPr>
            <a:r>
              <a:rPr sz="760" b="1" i="0">
                <a:solidFill>
                  <a:srgbClr val="0F172A"/>
                </a:solidFill>
                <a:latin typeface="Segoe UI"/>
              </a:rPr>
              <a:t>J18</a:t>
            </a:r>
          </a:p>
        </p:txBody>
      </p:sp>
      <p:sp>
        <p:nvSpPr>
          <p:cNvPr id="52" name="Rounded Rectangle 51"/>
          <p:cNvSpPr/>
          <p:nvPr/>
        </p:nvSpPr>
        <p:spPr>
          <a:xfrm>
            <a:off x="6801307" y="4161726"/>
            <a:ext cx="219456" cy="995489"/>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
          <p:cNvSpPr txBox="1"/>
          <p:nvPr/>
        </p:nvSpPr>
        <p:spPr>
          <a:xfrm>
            <a:off x="6673291" y="3951414"/>
            <a:ext cx="475488" cy="182880"/>
          </a:xfrm>
          <a:prstGeom prst="rect">
            <a:avLst/>
          </a:prstGeom>
          <a:noFill/>
        </p:spPr>
        <p:txBody>
          <a:bodyPr wrap="square" lIns="0" tIns="0" rIns="0" bIns="0" anchor="t">
            <a:spAutoFit/>
          </a:bodyPr>
          <a:lstStyle/>
          <a:p>
            <a:pPr algn="ctr">
              <a:lnSpc>
                <a:spcPct val="122000"/>
              </a:lnSpc>
            </a:pPr>
            <a:r>
              <a:rPr sz="850" b="1" i="0">
                <a:solidFill>
                  <a:srgbClr val="2563EB"/>
                </a:solidFill>
                <a:latin typeface="Segoe UI"/>
              </a:rPr>
              <a:t>10.4%</a:t>
            </a:r>
          </a:p>
        </p:txBody>
      </p:sp>
      <p:sp>
        <p:nvSpPr>
          <p:cNvPr id="54" name="Text"/>
          <p:cNvSpPr txBox="1"/>
          <p:nvPr/>
        </p:nvSpPr>
        <p:spPr>
          <a:xfrm>
            <a:off x="6728155" y="5202936"/>
            <a:ext cx="365760" cy="201168"/>
          </a:xfrm>
          <a:prstGeom prst="rect">
            <a:avLst/>
          </a:prstGeom>
          <a:noFill/>
        </p:spPr>
        <p:txBody>
          <a:bodyPr wrap="square" lIns="0" tIns="0" rIns="0" bIns="0" anchor="t">
            <a:spAutoFit/>
          </a:bodyPr>
          <a:lstStyle/>
          <a:p>
            <a:pPr algn="ctr">
              <a:lnSpc>
                <a:spcPct val="122000"/>
              </a:lnSpc>
            </a:pPr>
            <a:r>
              <a:rPr sz="760" b="1" i="0">
                <a:solidFill>
                  <a:srgbClr val="0F172A"/>
                </a:solidFill>
                <a:latin typeface="Segoe UI"/>
              </a:rPr>
              <a:t>A18</a:t>
            </a:r>
          </a:p>
        </p:txBody>
      </p:sp>
      <p:sp>
        <p:nvSpPr>
          <p:cNvPr id="55" name="Pill"/>
          <p:cNvSpPr/>
          <p:nvPr/>
        </p:nvSpPr>
        <p:spPr>
          <a:xfrm>
            <a:off x="2889504" y="3218688"/>
            <a:ext cx="1444752" cy="237744"/>
          </a:xfrm>
          <a:prstGeom prst="roundRect">
            <a:avLst>
              <a:gd name="adj" fmla="val 50000"/>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19" b="1">
                <a:solidFill>
                  <a:srgbClr val="D97706"/>
                </a:solidFill>
                <a:latin typeface="Segoe UI"/>
              </a:rPr>
              <a:t>Black Friday 14.3%</a:t>
            </a:r>
          </a:p>
        </p:txBody>
      </p:sp>
      <p:sp>
        <p:nvSpPr>
          <p:cNvPr id="56" name="Pill"/>
          <p:cNvSpPr/>
          <p:nvPr/>
        </p:nvSpPr>
        <p:spPr>
          <a:xfrm>
            <a:off x="4443984" y="2468880"/>
            <a:ext cx="1865376" cy="237744"/>
          </a:xfrm>
          <a:prstGeom prst="roundRect">
            <a:avLst>
              <a:gd name="adj" fmla="val 50000"/>
            </a:avLst>
          </a:prstGeom>
          <a:solidFill>
            <a:srgbClr val="FFF1F2"/>
          </a:solidFill>
          <a:ln w="12700">
            <a:solidFill>
              <a:srgbClr val="FECDD3"/>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40" b="1">
                <a:solidFill>
                  <a:srgbClr val="E11D48"/>
                </a:solidFill>
                <a:latin typeface="Segoe UI"/>
              </a:rPr>
              <a:t>Carrier jam peak 21.4%</a:t>
            </a:r>
          </a:p>
        </p:txBody>
      </p:sp>
      <p:sp>
        <p:nvSpPr>
          <p:cNvPr id="57" name="Text"/>
          <p:cNvSpPr txBox="1"/>
          <p:nvPr/>
        </p:nvSpPr>
        <p:spPr>
          <a:xfrm>
            <a:off x="822960" y="5504688"/>
            <a:ext cx="6291072" cy="457200"/>
          </a:xfrm>
          <a:prstGeom prst="rect">
            <a:avLst/>
          </a:prstGeom>
          <a:noFill/>
        </p:spPr>
        <p:txBody>
          <a:bodyPr wrap="square" lIns="0" tIns="0" rIns="0" bIns="0" anchor="t">
            <a:spAutoFit/>
          </a:bodyPr>
          <a:lstStyle/>
          <a:p>
            <a:pPr algn="l">
              <a:lnSpc>
                <a:spcPct val="122000"/>
              </a:lnSpc>
            </a:pPr>
            <a:r>
              <a:rPr sz="1019" b="1" i="0">
                <a:solidFill>
                  <a:srgbClr val="D97706"/>
                </a:solidFill>
                <a:latin typeface="Segoe UI"/>
              </a:rPr>
              <a:t>May 2018 truckers' strike: </a:t>
            </a:r>
            <a:r>
              <a:rPr sz="1019" b="0" i="0">
                <a:solidFill>
                  <a:srgbClr val="334155"/>
                </a:solidFill>
                <a:latin typeface="Segoe UI"/>
              </a:rPr>
              <a:t>Olist temporarily doubled promised windows (</a:t>
            </a:r>
            <a:r>
              <a:rPr sz="1019" b="1" i="0">
                <a:solidFill>
                  <a:srgbClr val="0F172A"/>
                </a:solidFill>
                <a:latin typeface="Segoe UI"/>
              </a:rPr>
              <a:t>19.5 → 36.8 days</a:t>
            </a:r>
            <a:r>
              <a:rPr sz="1019" b="0" i="0">
                <a:solidFill>
                  <a:srgbClr val="334155"/>
                </a:solidFill>
                <a:latin typeface="Segoe UI"/>
              </a:rPr>
              <a:t>), hiding June lateness (1.4%) at the cost of massive checkout padding.</a:t>
            </a:r>
          </a:p>
        </p:txBody>
      </p:sp>
      <p:sp>
        <p:nvSpPr>
          <p:cNvPr id="58" name="Card"/>
          <p:cNvSpPr/>
          <p:nvPr/>
        </p:nvSpPr>
        <p:spPr>
          <a:xfrm>
            <a:off x="7534656" y="1645920"/>
            <a:ext cx="4078224" cy="1371600"/>
          </a:xfrm>
          <a:prstGeom prst="roundRect">
            <a:avLst>
              <a:gd name="adj" fmla="val 3800"/>
            </a:avLst>
          </a:prstGeom>
          <a:solidFill>
            <a:srgbClr val="FFFFFF"/>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Card_accent"/>
          <p:cNvSpPr/>
          <p:nvPr/>
        </p:nvSpPr>
        <p:spPr>
          <a:xfrm>
            <a:off x="7534656" y="1810512"/>
            <a:ext cx="59436" cy="1042416"/>
          </a:xfrm>
          <a:prstGeom prst="roundRect">
            <a:avLst>
              <a:gd name="adj" fmla="val 2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ill"/>
          <p:cNvSpPr/>
          <p:nvPr/>
        </p:nvSpPr>
        <p:spPr>
          <a:xfrm>
            <a:off x="7754112" y="1773936"/>
            <a:ext cx="2359152" cy="219456"/>
          </a:xfrm>
          <a:prstGeom prst="roundRect">
            <a:avLst>
              <a:gd name="adj" fmla="val 5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19" b="1" spc="110">
                <a:solidFill>
                  <a:srgbClr val="2563EB"/>
                </a:solidFill>
                <a:latin typeface="Segoe UI"/>
              </a:rPr>
              <a:t>1 · NETWORK SPEED DOUBLED</a:t>
            </a:r>
          </a:p>
        </p:txBody>
      </p:sp>
      <p:sp>
        <p:nvSpPr>
          <p:cNvPr id="61" name="Text"/>
          <p:cNvSpPr txBox="1"/>
          <p:nvPr/>
        </p:nvSpPr>
        <p:spPr>
          <a:xfrm>
            <a:off x="7754112" y="2048256"/>
            <a:ext cx="3694176" cy="877824"/>
          </a:xfrm>
          <a:prstGeom prst="rect">
            <a:avLst/>
          </a:prstGeom>
          <a:noFill/>
        </p:spPr>
        <p:txBody>
          <a:bodyPr wrap="square" lIns="0" tIns="0" rIns="0" bIns="0" anchor="t">
            <a:spAutoFit/>
          </a:bodyPr>
          <a:lstStyle/>
          <a:p>
            <a:pPr algn="l">
              <a:lnSpc>
                <a:spcPct val="122000"/>
              </a:lnSpc>
              <a:spcAft>
                <a:spcPts val="300"/>
              </a:spcAft>
            </a:pPr>
            <a:r>
              <a:rPr sz="1260" b="1" i="0">
                <a:solidFill>
                  <a:srgbClr val="0F172A"/>
                </a:solidFill>
                <a:latin typeface="Segoe UI"/>
              </a:rPr>
              <a:t>16.9 d → 7.7 d average delivery</a:t>
            </a:r>
          </a:p>
          <a:p>
            <a:pPr algn="l">
              <a:lnSpc>
                <a:spcPct val="122000"/>
              </a:lnSpc>
            </a:pPr>
            <a:r>
              <a:rPr sz="1000" b="0" i="0">
                <a:solidFill>
                  <a:srgbClr val="334155"/>
                </a:solidFill>
                <a:latin typeface="Segoe UI"/>
              </a:rPr>
              <a:t>Transit sped up 2× by Aug 2018, yet </a:t>
            </a:r>
            <a:r>
              <a:rPr sz="1000" b="1" i="0">
                <a:solidFill>
                  <a:srgbClr val="2563EB"/>
                </a:solidFill>
                <a:latin typeface="Segoe UI"/>
              </a:rPr>
              <a:t>75% of total time lives with the carrier</a:t>
            </a:r>
            <a:r>
              <a:rPr sz="1000" b="0" i="0">
                <a:solidFill>
                  <a:srgbClr val="334155"/>
                </a:solidFill>
                <a:latin typeface="Segoe UI"/>
              </a:rPr>
              <a:t> after seller handoff — old averages go stale within weeks.</a:t>
            </a:r>
          </a:p>
        </p:txBody>
      </p:sp>
      <p:sp>
        <p:nvSpPr>
          <p:cNvPr id="62" name="Card"/>
          <p:cNvSpPr/>
          <p:nvPr/>
        </p:nvSpPr>
        <p:spPr>
          <a:xfrm>
            <a:off x="7534656" y="3163824"/>
            <a:ext cx="4078224" cy="1371600"/>
          </a:xfrm>
          <a:prstGeom prst="roundRect">
            <a:avLst>
              <a:gd name="adj" fmla="val 3800"/>
            </a:avLst>
          </a:prstGeom>
          <a:solidFill>
            <a:srgbClr val="FFFFFF"/>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Card_accent"/>
          <p:cNvSpPr/>
          <p:nvPr/>
        </p:nvSpPr>
        <p:spPr>
          <a:xfrm>
            <a:off x="7534656" y="3328416"/>
            <a:ext cx="59436" cy="1042416"/>
          </a:xfrm>
          <a:prstGeom prst="roundRect">
            <a:avLst>
              <a:gd name="adj" fmla="val 25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Pill"/>
          <p:cNvSpPr/>
          <p:nvPr/>
        </p:nvSpPr>
        <p:spPr>
          <a:xfrm>
            <a:off x="7754112" y="3291840"/>
            <a:ext cx="2359152" cy="219456"/>
          </a:xfrm>
          <a:prstGeom prst="roundRect">
            <a:avLst>
              <a:gd name="adj" fmla="val 50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19" b="1" spc="110">
                <a:solidFill>
                  <a:srgbClr val="D97706"/>
                </a:solidFill>
                <a:latin typeface="Segoe UI"/>
              </a:rPr>
              <a:t>2 · PADDED PROMISES BACKFIRE</a:t>
            </a:r>
          </a:p>
        </p:txBody>
      </p:sp>
      <p:sp>
        <p:nvSpPr>
          <p:cNvPr id="65" name="Text"/>
          <p:cNvSpPr txBox="1"/>
          <p:nvPr/>
        </p:nvSpPr>
        <p:spPr>
          <a:xfrm>
            <a:off x="7754112" y="3566160"/>
            <a:ext cx="3694176" cy="877824"/>
          </a:xfrm>
          <a:prstGeom prst="rect">
            <a:avLst/>
          </a:prstGeom>
          <a:noFill/>
        </p:spPr>
        <p:txBody>
          <a:bodyPr wrap="square" lIns="0" tIns="0" rIns="0" bIns="0" anchor="t">
            <a:spAutoFit/>
          </a:bodyPr>
          <a:lstStyle/>
          <a:p>
            <a:pPr algn="l">
              <a:lnSpc>
                <a:spcPct val="122000"/>
              </a:lnSpc>
              <a:spcAft>
                <a:spcPts val="300"/>
              </a:spcAft>
            </a:pPr>
            <a:r>
              <a:rPr sz="1260" b="1" i="0">
                <a:solidFill>
                  <a:srgbClr val="0F172A"/>
                </a:solidFill>
                <a:latin typeface="Segoe UI"/>
              </a:rPr>
              <a:t>~11 extra buffer days on average</a:t>
            </a:r>
          </a:p>
          <a:p>
            <a:pPr algn="l">
              <a:lnSpc>
                <a:spcPct val="122000"/>
              </a:lnSpc>
            </a:pPr>
            <a:r>
              <a:rPr sz="1000" b="0" i="0">
                <a:solidFill>
                  <a:srgbClr val="334155"/>
                </a:solidFill>
                <a:latin typeface="Segoe UI"/>
              </a:rPr>
              <a:t>To stay safe, Olist quoted huge buffers (9.8d error) — yet still missed </a:t>
            </a:r>
            <a:r>
              <a:rPr sz="1000" b="1" i="0">
                <a:solidFill>
                  <a:srgbClr val="D97706"/>
                </a:solidFill>
                <a:latin typeface="Segoe UI"/>
              </a:rPr>
              <a:t>1 in 5 orders (21.4%)</a:t>
            </a:r>
            <a:r>
              <a:rPr sz="1000" b="0" i="0">
                <a:solidFill>
                  <a:srgbClr val="334155"/>
                </a:solidFill>
                <a:latin typeface="Segoe UI"/>
              </a:rPr>
              <a:t> when regional carrier slowdowns struck.</a:t>
            </a:r>
          </a:p>
        </p:txBody>
      </p:sp>
      <p:sp>
        <p:nvSpPr>
          <p:cNvPr id="66" name="Card"/>
          <p:cNvSpPr/>
          <p:nvPr/>
        </p:nvSpPr>
        <p:spPr>
          <a:xfrm>
            <a:off x="7534656" y="4681728"/>
            <a:ext cx="4078224" cy="1371600"/>
          </a:xfrm>
          <a:prstGeom prst="roundRect">
            <a:avLst>
              <a:gd name="adj" fmla="val 3800"/>
            </a:avLst>
          </a:prstGeom>
          <a:solidFill>
            <a:srgbClr val="FFFFFF"/>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Card_accent"/>
          <p:cNvSpPr/>
          <p:nvPr/>
        </p:nvSpPr>
        <p:spPr>
          <a:xfrm>
            <a:off x="7534656" y="4846320"/>
            <a:ext cx="59436" cy="1042416"/>
          </a:xfrm>
          <a:prstGeom prst="roundRect">
            <a:avLst>
              <a:gd name="adj" fmla="val 25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ill"/>
          <p:cNvSpPr/>
          <p:nvPr/>
        </p:nvSpPr>
        <p:spPr>
          <a:xfrm>
            <a:off x="7754112" y="4809744"/>
            <a:ext cx="2359152" cy="219456"/>
          </a:xfrm>
          <a:prstGeom prst="roundRect">
            <a:avLst>
              <a:gd name="adj" fmla="val 5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19" b="1" spc="110">
                <a:solidFill>
                  <a:srgbClr val="4F46E5"/>
                </a:solidFill>
                <a:latin typeface="Segoe UI"/>
              </a:rPr>
              <a:t>3 · NO PEEKING AT THE FUTURE</a:t>
            </a:r>
          </a:p>
        </p:txBody>
      </p:sp>
      <p:sp>
        <p:nvSpPr>
          <p:cNvPr id="69" name="Text"/>
          <p:cNvSpPr txBox="1"/>
          <p:nvPr/>
        </p:nvSpPr>
        <p:spPr>
          <a:xfrm>
            <a:off x="7754112" y="5084064"/>
            <a:ext cx="3694176" cy="877824"/>
          </a:xfrm>
          <a:prstGeom prst="rect">
            <a:avLst/>
          </a:prstGeom>
          <a:noFill/>
        </p:spPr>
        <p:txBody>
          <a:bodyPr wrap="square" lIns="0" tIns="0" rIns="0" bIns="0" anchor="t">
            <a:spAutoFit/>
          </a:bodyPr>
          <a:lstStyle/>
          <a:p>
            <a:pPr algn="l">
              <a:lnSpc>
                <a:spcPct val="122000"/>
              </a:lnSpc>
              <a:spcAft>
                <a:spcPts val="300"/>
              </a:spcAft>
            </a:pPr>
            <a:r>
              <a:rPr sz="1260" b="1" i="0">
                <a:solidFill>
                  <a:srgbClr val="0F172A"/>
                </a:solidFill>
                <a:latin typeface="Segoe UI"/>
              </a:rPr>
              <a:t>Fake 1.00 AUC vs. honest future test</a:t>
            </a:r>
          </a:p>
          <a:p>
            <a:pPr algn="l">
              <a:lnSpc>
                <a:spcPct val="122000"/>
              </a:lnSpc>
            </a:pPr>
            <a:r>
              <a:rPr sz="1000" b="0" i="0">
                <a:solidFill>
                  <a:srgbClr val="334155"/>
                </a:solidFill>
                <a:latin typeface="Segoe UI"/>
              </a:rPr>
              <a:t>Including post-event timestamps inflates validation AUC from </a:t>
            </a:r>
            <a:r>
              <a:rPr sz="1000" b="1" i="0">
                <a:solidFill>
                  <a:srgbClr val="4F46E5"/>
                </a:solidFill>
                <a:latin typeface="Segoe UI"/>
              </a:rPr>
              <a:t>0.59 to a fake 1.00</a:t>
            </a:r>
            <a:r>
              <a:rPr sz="1000" b="0" i="0">
                <a:solidFill>
                  <a:srgbClr val="334155"/>
                </a:solidFill>
                <a:latin typeface="Segoe UI"/>
              </a:rPr>
              <a:t>. Every result we show is tested strictly on unseen Jul–Aug 2018 orders.</a:t>
            </a:r>
          </a:p>
        </p:txBody>
      </p:sp>
      <p:sp>
        <p:nvSpPr>
          <p:cNvPr id="70" name="!!NavDock"/>
          <p:cNvSpPr/>
          <p:nvPr/>
        </p:nvSpPr>
        <p:spPr>
          <a:xfrm>
            <a:off x="566928" y="6327648"/>
            <a:ext cx="11055096" cy="384048"/>
          </a:xfrm>
          <a:prstGeom prst="roundRect">
            <a:avLst>
              <a:gd name="adj" fmla="val 50000"/>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Nav_1">
            <a:hlinkClick r:id="rId4" action="ppaction://hlinksldjump"/>
          </p:cNvPr>
          <p:cNvSpPr/>
          <p:nvPr/>
        </p:nvSpPr>
        <p:spPr>
          <a:xfrm>
            <a:off x="658368"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01  The Problem</a:t>
            </a:r>
          </a:p>
        </p:txBody>
      </p:sp>
      <p:sp>
        <p:nvSpPr>
          <p:cNvPr id="72" name="Nav_2">
            <a:hlinkClick r:id="rId5" action="ppaction://hlinksldjump"/>
          </p:cNvPr>
          <p:cNvSpPr/>
          <p:nvPr/>
        </p:nvSpPr>
        <p:spPr>
          <a:xfrm>
            <a:off x="1993391" y="6373368"/>
            <a:ext cx="1261872" cy="29260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FFFFFF"/>
                </a:solidFill>
                <a:latin typeface="Segoe UI"/>
              </a:rPr>
              <a:t>02  Why &amp; Tools</a:t>
            </a:r>
          </a:p>
        </p:txBody>
      </p:sp>
      <p:sp>
        <p:nvSpPr>
          <p:cNvPr id="73" name="Nav_3">
            <a:hlinkClick r:id="rId6" action="ppaction://hlinksldjump"/>
          </p:cNvPr>
          <p:cNvSpPr/>
          <p:nvPr/>
        </p:nvSpPr>
        <p:spPr>
          <a:xfrm>
            <a:off x="3328415"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03  Proof &amp; App</a:t>
            </a:r>
          </a:p>
        </p:txBody>
      </p:sp>
      <p:sp>
        <p:nvSpPr>
          <p:cNvPr id="74" name="Nav_4">
            <a:hlinkClick r:id="rId7" action="ppaction://hlinksldjump"/>
          </p:cNvPr>
          <p:cNvSpPr/>
          <p:nvPr/>
        </p:nvSpPr>
        <p:spPr>
          <a:xfrm>
            <a:off x="4663440"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04  Monday Plan</a:t>
            </a:r>
          </a:p>
        </p:txBody>
      </p:sp>
      <p:sp>
        <p:nvSpPr>
          <p:cNvPr id="75" name="Nav_5">
            <a:hlinkClick r:id="rId8" action="ppaction://hlinksldjump"/>
          </p:cNvPr>
          <p:cNvSpPr/>
          <p:nvPr/>
        </p:nvSpPr>
        <p:spPr>
          <a:xfrm>
            <a:off x="5998464" y="6373368"/>
            <a:ext cx="1130198"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05  Takeaways</a:t>
            </a:r>
          </a:p>
        </p:txBody>
      </p:sp>
      <p:sp>
        <p:nvSpPr>
          <p:cNvPr id="76" name="DockJourneyLine"/>
          <p:cNvSpPr/>
          <p:nvPr/>
        </p:nvSpPr>
        <p:spPr>
          <a:xfrm>
            <a:off x="8915400" y="6510528"/>
            <a:ext cx="1115568"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7" name="!!g1" descr="g_checkout_blue.png"/>
          <p:cNvPicPr>
            <a:picLocks noChangeAspect="1"/>
          </p:cNvPicPr>
          <p:nvPr/>
        </p:nvPicPr>
        <p:blipFill>
          <a:blip r:embed="rId9"/>
          <a:stretch>
            <a:fillRect/>
          </a:stretch>
        </p:blipFill>
        <p:spPr>
          <a:xfrm>
            <a:off x="8778240" y="6377940"/>
            <a:ext cx="283464" cy="283464"/>
          </a:xfrm>
          <a:prstGeom prst="rect">
            <a:avLst/>
          </a:prstGeom>
        </p:spPr>
      </p:pic>
      <p:pic>
        <p:nvPicPr>
          <p:cNvPr id="78" name="!!g2" descr="g_promise_amber.png"/>
          <p:cNvPicPr>
            <a:picLocks noChangeAspect="1"/>
          </p:cNvPicPr>
          <p:nvPr/>
        </p:nvPicPr>
        <p:blipFill>
          <a:blip r:embed="rId10"/>
          <a:stretch>
            <a:fillRect/>
          </a:stretch>
        </p:blipFill>
        <p:spPr>
          <a:xfrm>
            <a:off x="9144000" y="6377940"/>
            <a:ext cx="283464" cy="283464"/>
          </a:xfrm>
          <a:prstGeom prst="rect">
            <a:avLst/>
          </a:prstGeom>
        </p:spPr>
      </p:pic>
      <p:pic>
        <p:nvPicPr>
          <p:cNvPr id="79" name="!!g3" descr="g_delivery_muted.png"/>
          <p:cNvPicPr>
            <a:picLocks noChangeAspect="1"/>
          </p:cNvPicPr>
          <p:nvPr/>
        </p:nvPicPr>
        <p:blipFill>
          <a:blip r:embed="rId11"/>
          <a:stretch>
            <a:fillRect/>
          </a:stretch>
        </p:blipFill>
        <p:spPr>
          <a:xfrm>
            <a:off x="9509760" y="6409944"/>
            <a:ext cx="219456" cy="219456"/>
          </a:xfrm>
          <a:prstGeom prst="rect">
            <a:avLst/>
          </a:prstGeom>
        </p:spPr>
      </p:pic>
      <p:pic>
        <p:nvPicPr>
          <p:cNvPr id="80" name="!!g4" descr="g_review_muted.png"/>
          <p:cNvPicPr>
            <a:picLocks noChangeAspect="1"/>
          </p:cNvPicPr>
          <p:nvPr/>
        </p:nvPicPr>
        <p:blipFill>
          <a:blip r:embed="rId12"/>
          <a:stretch>
            <a:fillRect/>
          </a:stretch>
        </p:blipFill>
        <p:spPr>
          <a:xfrm>
            <a:off x="9875520" y="6409944"/>
            <a:ext cx="219456" cy="219456"/>
          </a:xfrm>
          <a:prstGeom prst="rect">
            <a:avLst/>
          </a:prstGeom>
        </p:spPr>
      </p:pic>
      <p:sp>
        <p:nvSpPr>
          <p:cNvPr id="81" name="Nav_QA">
            <a:hlinkClick r:id="rId13" action="ppaction://hlinksldjump"/>
          </p:cNvPr>
          <p:cNvSpPr/>
          <p:nvPr/>
        </p:nvSpPr>
        <p:spPr>
          <a:xfrm>
            <a:off x="10387584" y="6373368"/>
            <a:ext cx="1152144" cy="292608"/>
          </a:xfrm>
          <a:prstGeom prst="roundRect">
            <a:avLst>
              <a:gd name="adj" fmla="val 50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0F172A"/>
                </a:solidFill>
                <a:latin typeface="Segoe UI"/>
              </a:rPr>
              <a:t>Q&amp;A · 05/13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anim calcmode="lin" valueType="num">
                                      <p:cBhvr>
                                        <p:cTn id="8" dur="400" fill="hold"/>
                                        <p:tgtEl>
                                          <p:spTgt spid="3"/>
                                        </p:tgtEl>
                                        <p:attrNameLst>
                                          <p:attrName>ppt_x</p:attrName>
                                        </p:attrNameLst>
                                      </p:cBhvr>
                                      <p:tavLst>
                                        <p:tav tm="0">
                                          <p:val>
                                            <p:strVal val="#ppt_x"/>
                                          </p:val>
                                        </p:tav>
                                        <p:tav tm="100000">
                                          <p:val>
                                            <p:strVal val="#ppt_x"/>
                                          </p:val>
                                        </p:tav>
                                      </p:tavLst>
                                    </p:anim>
                                    <p:anim calcmode="lin" valueType="num">
                                      <p:cBhvr>
                                        <p:cTn id="9" dur="40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anim calcmode="lin" valueType="num">
                                      <p:cBhvr>
                                        <p:cTn id="13" dur="400" fill="hold"/>
                                        <p:tgtEl>
                                          <p:spTgt spid="4"/>
                                        </p:tgtEl>
                                        <p:attrNameLst>
                                          <p:attrName>ppt_x</p:attrName>
                                        </p:attrNameLst>
                                      </p:cBhvr>
                                      <p:tavLst>
                                        <p:tav tm="0">
                                          <p:val>
                                            <p:strVal val="#ppt_x"/>
                                          </p:val>
                                        </p:tav>
                                        <p:tav tm="100000">
                                          <p:val>
                                            <p:strVal val="#ppt_x"/>
                                          </p:val>
                                        </p:tav>
                                      </p:tavLst>
                                    </p:anim>
                                    <p:anim calcmode="lin" valueType="num">
                                      <p:cBhvr>
                                        <p:cTn id="14" dur="40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anim calcmode="lin" valueType="num">
                                      <p:cBhvr>
                                        <p:cTn id="18" dur="400" fill="hold"/>
                                        <p:tgtEl>
                                          <p:spTgt spid="5"/>
                                        </p:tgtEl>
                                        <p:attrNameLst>
                                          <p:attrName>ppt_x</p:attrName>
                                        </p:attrNameLst>
                                      </p:cBhvr>
                                      <p:tavLst>
                                        <p:tav tm="0">
                                          <p:val>
                                            <p:strVal val="#ppt_x"/>
                                          </p:val>
                                        </p:tav>
                                        <p:tav tm="100000">
                                          <p:val>
                                            <p:strVal val="#ppt_x"/>
                                          </p:val>
                                        </p:tav>
                                      </p:tavLst>
                                    </p:anim>
                                    <p:anim calcmode="lin" valueType="num">
                                      <p:cBhvr>
                                        <p:cTn id="19" dur="400" decel="100000" fill="hold"/>
                                        <p:tgtEl>
                                          <p:spTgt spid="5"/>
                                        </p:tgtEl>
                                        <p:attrNameLst>
                                          <p:attrName>ppt_y</p:attrName>
                                        </p:attrNameLst>
                                      </p:cBhvr>
                                      <p:tavLst>
                                        <p:tav tm="0">
                                          <p:val>
                                            <p:strVal val="#ppt_y+0.018"/>
                                          </p:val>
                                        </p:tav>
                                        <p:tav tm="100000">
                                          <p:val>
                                            <p:strVal val="#ppt_y"/>
                                          </p:val>
                                        </p:tav>
                                      </p:tavLst>
                                    </p:anim>
                                  </p:childTnLst>
                                </p:cTn>
                              </p:par>
                              <p:par>
                                <p:cTn id="20" presetID="22" presetClass="entr" presetSubtype="4" fill="hold" grpId="0" nodeType="withEffect">
                                  <p:stCondLst>
                                    <p:cond delay="160"/>
                                  </p:stCondLst>
                                  <p:childTnLst>
                                    <p:set>
                                      <p:cBhvr>
                                        <p:cTn id="21" dur="1" fill="hold">
                                          <p:stCondLst>
                                            <p:cond delay="0"/>
                                          </p:stCondLst>
                                        </p:cTn>
                                        <p:tgtEl>
                                          <p:spTgt spid="11"/>
                                        </p:tgtEl>
                                        <p:attrNameLst>
                                          <p:attrName>style.visibility</p:attrName>
                                        </p:attrNameLst>
                                      </p:cBhvr>
                                      <p:to>
                                        <p:strVal val="visible"/>
                                      </p:to>
                                    </p:set>
                                    <p:animEffect transition="in" filter="wipe(up)">
                                      <p:cBhvr>
                                        <p:cTn id="22" dur="480"/>
                                        <p:tgtEl>
                                          <p:spTgt spid="11"/>
                                        </p:tgtEl>
                                      </p:cBhvr>
                                    </p:animEffect>
                                  </p:childTnLst>
                                </p:cTn>
                              </p:par>
                              <p:par>
                                <p:cTn id="23" presetID="22" presetClass="entr" presetSubtype="4" fill="hold" grpId="0" nodeType="withEffect">
                                  <p:stCondLst>
                                    <p:cond delay="160"/>
                                  </p:stCondLst>
                                  <p:childTnLst>
                                    <p:set>
                                      <p:cBhvr>
                                        <p:cTn id="24" dur="1" fill="hold">
                                          <p:stCondLst>
                                            <p:cond delay="0"/>
                                          </p:stCondLst>
                                        </p:cTn>
                                        <p:tgtEl>
                                          <p:spTgt spid="13"/>
                                        </p:tgtEl>
                                        <p:attrNameLst>
                                          <p:attrName>style.visibility</p:attrName>
                                        </p:attrNameLst>
                                      </p:cBhvr>
                                      <p:to>
                                        <p:strVal val="visible"/>
                                      </p:to>
                                    </p:set>
                                    <p:animEffect transition="in" filter="wipe(up)">
                                      <p:cBhvr>
                                        <p:cTn id="25" dur="480"/>
                                        <p:tgtEl>
                                          <p:spTgt spid="13"/>
                                        </p:tgtEl>
                                      </p:cBhvr>
                                    </p:animEffect>
                                  </p:childTnLst>
                                </p:cTn>
                              </p:par>
                              <p:par>
                                <p:cTn id="26" presetID="22" presetClass="entr" presetSubtype="4" fill="hold" grpId="0" nodeType="withEffect">
                                  <p:stCondLst>
                                    <p:cond delay="160"/>
                                  </p:stCondLst>
                                  <p:childTnLst>
                                    <p:set>
                                      <p:cBhvr>
                                        <p:cTn id="27" dur="1" fill="hold">
                                          <p:stCondLst>
                                            <p:cond delay="0"/>
                                          </p:stCondLst>
                                        </p:cTn>
                                        <p:tgtEl>
                                          <p:spTgt spid="15"/>
                                        </p:tgtEl>
                                        <p:attrNameLst>
                                          <p:attrName>style.visibility</p:attrName>
                                        </p:attrNameLst>
                                      </p:cBhvr>
                                      <p:to>
                                        <p:strVal val="visible"/>
                                      </p:to>
                                    </p:set>
                                    <p:animEffect transition="in" filter="wipe(up)">
                                      <p:cBhvr>
                                        <p:cTn id="28" dur="480"/>
                                        <p:tgtEl>
                                          <p:spTgt spid="15"/>
                                        </p:tgtEl>
                                      </p:cBhvr>
                                    </p:animEffect>
                                  </p:childTnLst>
                                </p:cTn>
                              </p:par>
                              <p:par>
                                <p:cTn id="29" presetID="22" presetClass="entr" presetSubtype="4" fill="hold" grpId="0" nodeType="withEffect">
                                  <p:stCondLst>
                                    <p:cond delay="160"/>
                                  </p:stCondLst>
                                  <p:childTnLst>
                                    <p:set>
                                      <p:cBhvr>
                                        <p:cTn id="30" dur="1" fill="hold">
                                          <p:stCondLst>
                                            <p:cond delay="0"/>
                                          </p:stCondLst>
                                        </p:cTn>
                                        <p:tgtEl>
                                          <p:spTgt spid="17"/>
                                        </p:tgtEl>
                                        <p:attrNameLst>
                                          <p:attrName>style.visibility</p:attrName>
                                        </p:attrNameLst>
                                      </p:cBhvr>
                                      <p:to>
                                        <p:strVal val="visible"/>
                                      </p:to>
                                    </p:set>
                                    <p:animEffect transition="in" filter="wipe(up)">
                                      <p:cBhvr>
                                        <p:cTn id="31" dur="480"/>
                                        <p:tgtEl>
                                          <p:spTgt spid="17"/>
                                        </p:tgtEl>
                                      </p:cBhvr>
                                    </p:animEffect>
                                  </p:childTnLst>
                                </p:cTn>
                              </p:par>
                              <p:par>
                                <p:cTn id="32" presetID="22" presetClass="entr" presetSubtype="4" fill="hold" grpId="0" nodeType="withEffect">
                                  <p:stCondLst>
                                    <p:cond delay="160"/>
                                  </p:stCondLst>
                                  <p:childTnLst>
                                    <p:set>
                                      <p:cBhvr>
                                        <p:cTn id="33" dur="1" fill="hold">
                                          <p:stCondLst>
                                            <p:cond delay="0"/>
                                          </p:stCondLst>
                                        </p:cTn>
                                        <p:tgtEl>
                                          <p:spTgt spid="19"/>
                                        </p:tgtEl>
                                        <p:attrNameLst>
                                          <p:attrName>style.visibility</p:attrName>
                                        </p:attrNameLst>
                                      </p:cBhvr>
                                      <p:to>
                                        <p:strVal val="visible"/>
                                      </p:to>
                                    </p:set>
                                    <p:animEffect transition="in" filter="wipe(up)">
                                      <p:cBhvr>
                                        <p:cTn id="34" dur="480"/>
                                        <p:tgtEl>
                                          <p:spTgt spid="19"/>
                                        </p:tgtEl>
                                      </p:cBhvr>
                                    </p:animEffect>
                                  </p:childTnLst>
                                </p:cTn>
                              </p:par>
                              <p:par>
                                <p:cTn id="35" presetID="22" presetClass="entr" presetSubtype="4" fill="hold" grpId="0" nodeType="withEffect">
                                  <p:stCondLst>
                                    <p:cond delay="160"/>
                                  </p:stCondLst>
                                  <p:childTnLst>
                                    <p:set>
                                      <p:cBhvr>
                                        <p:cTn id="36" dur="1" fill="hold">
                                          <p:stCondLst>
                                            <p:cond delay="0"/>
                                          </p:stCondLst>
                                        </p:cTn>
                                        <p:tgtEl>
                                          <p:spTgt spid="21"/>
                                        </p:tgtEl>
                                        <p:attrNameLst>
                                          <p:attrName>style.visibility</p:attrName>
                                        </p:attrNameLst>
                                      </p:cBhvr>
                                      <p:to>
                                        <p:strVal val="visible"/>
                                      </p:to>
                                    </p:set>
                                    <p:animEffect transition="in" filter="wipe(up)">
                                      <p:cBhvr>
                                        <p:cTn id="37" dur="480"/>
                                        <p:tgtEl>
                                          <p:spTgt spid="21"/>
                                        </p:tgtEl>
                                      </p:cBhvr>
                                    </p:animEffect>
                                  </p:childTnLst>
                                </p:cTn>
                              </p:par>
                              <p:par>
                                <p:cTn id="38" presetID="22" presetClass="entr" presetSubtype="4" fill="hold" grpId="0" nodeType="withEffect">
                                  <p:stCondLst>
                                    <p:cond delay="160"/>
                                  </p:stCondLst>
                                  <p:childTnLst>
                                    <p:set>
                                      <p:cBhvr>
                                        <p:cTn id="39" dur="1" fill="hold">
                                          <p:stCondLst>
                                            <p:cond delay="0"/>
                                          </p:stCondLst>
                                        </p:cTn>
                                        <p:tgtEl>
                                          <p:spTgt spid="23"/>
                                        </p:tgtEl>
                                        <p:attrNameLst>
                                          <p:attrName>style.visibility</p:attrName>
                                        </p:attrNameLst>
                                      </p:cBhvr>
                                      <p:to>
                                        <p:strVal val="visible"/>
                                      </p:to>
                                    </p:set>
                                    <p:animEffect transition="in" filter="wipe(up)">
                                      <p:cBhvr>
                                        <p:cTn id="40" dur="480"/>
                                        <p:tgtEl>
                                          <p:spTgt spid="23"/>
                                        </p:tgtEl>
                                      </p:cBhvr>
                                    </p:animEffect>
                                  </p:childTnLst>
                                </p:cTn>
                              </p:par>
                              <p:par>
                                <p:cTn id="41" presetID="22" presetClass="entr" presetSubtype="4" fill="hold" grpId="0" nodeType="withEffect">
                                  <p:stCondLst>
                                    <p:cond delay="160"/>
                                  </p:stCondLst>
                                  <p:childTnLst>
                                    <p:set>
                                      <p:cBhvr>
                                        <p:cTn id="42" dur="1" fill="hold">
                                          <p:stCondLst>
                                            <p:cond delay="0"/>
                                          </p:stCondLst>
                                        </p:cTn>
                                        <p:tgtEl>
                                          <p:spTgt spid="25"/>
                                        </p:tgtEl>
                                        <p:attrNameLst>
                                          <p:attrName>style.visibility</p:attrName>
                                        </p:attrNameLst>
                                      </p:cBhvr>
                                      <p:to>
                                        <p:strVal val="visible"/>
                                      </p:to>
                                    </p:set>
                                    <p:animEffect transition="in" filter="wipe(up)">
                                      <p:cBhvr>
                                        <p:cTn id="43" dur="480"/>
                                        <p:tgtEl>
                                          <p:spTgt spid="25"/>
                                        </p:tgtEl>
                                      </p:cBhvr>
                                    </p:animEffect>
                                  </p:childTnLst>
                                </p:cTn>
                              </p:par>
                              <p:par>
                                <p:cTn id="44" presetID="22" presetClass="entr" presetSubtype="4" fill="hold" grpId="0" nodeType="withEffect">
                                  <p:stCondLst>
                                    <p:cond delay="160"/>
                                  </p:stCondLst>
                                  <p:childTnLst>
                                    <p:set>
                                      <p:cBhvr>
                                        <p:cTn id="45" dur="1" fill="hold">
                                          <p:stCondLst>
                                            <p:cond delay="0"/>
                                          </p:stCondLst>
                                        </p:cTn>
                                        <p:tgtEl>
                                          <p:spTgt spid="27"/>
                                        </p:tgtEl>
                                        <p:attrNameLst>
                                          <p:attrName>style.visibility</p:attrName>
                                        </p:attrNameLst>
                                      </p:cBhvr>
                                      <p:to>
                                        <p:strVal val="visible"/>
                                      </p:to>
                                    </p:set>
                                    <p:animEffect transition="in" filter="wipe(up)">
                                      <p:cBhvr>
                                        <p:cTn id="46" dur="480"/>
                                        <p:tgtEl>
                                          <p:spTgt spid="27"/>
                                        </p:tgtEl>
                                      </p:cBhvr>
                                    </p:animEffect>
                                  </p:childTnLst>
                                </p:cTn>
                              </p:par>
                              <p:par>
                                <p:cTn id="47" presetID="22" presetClass="entr" presetSubtype="4" fill="hold" grpId="0" nodeType="withEffect">
                                  <p:stCondLst>
                                    <p:cond delay="160"/>
                                  </p:stCondLst>
                                  <p:childTnLst>
                                    <p:set>
                                      <p:cBhvr>
                                        <p:cTn id="48" dur="1" fill="hold">
                                          <p:stCondLst>
                                            <p:cond delay="0"/>
                                          </p:stCondLst>
                                        </p:cTn>
                                        <p:tgtEl>
                                          <p:spTgt spid="29"/>
                                        </p:tgtEl>
                                        <p:attrNameLst>
                                          <p:attrName>style.visibility</p:attrName>
                                        </p:attrNameLst>
                                      </p:cBhvr>
                                      <p:to>
                                        <p:strVal val="visible"/>
                                      </p:to>
                                    </p:set>
                                    <p:animEffect transition="in" filter="wipe(up)">
                                      <p:cBhvr>
                                        <p:cTn id="49" dur="480"/>
                                        <p:tgtEl>
                                          <p:spTgt spid="29"/>
                                        </p:tgtEl>
                                      </p:cBhvr>
                                    </p:animEffect>
                                  </p:childTnLst>
                                </p:cTn>
                              </p:par>
                              <p:par>
                                <p:cTn id="50" presetID="22" presetClass="entr" presetSubtype="4" fill="hold" grpId="0" nodeType="withEffect">
                                  <p:stCondLst>
                                    <p:cond delay="160"/>
                                  </p:stCondLst>
                                  <p:childTnLst>
                                    <p:set>
                                      <p:cBhvr>
                                        <p:cTn id="51" dur="1" fill="hold">
                                          <p:stCondLst>
                                            <p:cond delay="0"/>
                                          </p:stCondLst>
                                        </p:cTn>
                                        <p:tgtEl>
                                          <p:spTgt spid="31"/>
                                        </p:tgtEl>
                                        <p:attrNameLst>
                                          <p:attrName>style.visibility</p:attrName>
                                        </p:attrNameLst>
                                      </p:cBhvr>
                                      <p:to>
                                        <p:strVal val="visible"/>
                                      </p:to>
                                    </p:set>
                                    <p:animEffect transition="in" filter="wipe(up)">
                                      <p:cBhvr>
                                        <p:cTn id="52" dur="480"/>
                                        <p:tgtEl>
                                          <p:spTgt spid="31"/>
                                        </p:tgtEl>
                                      </p:cBhvr>
                                    </p:animEffect>
                                  </p:childTnLst>
                                </p:cTn>
                              </p:par>
                              <p:par>
                                <p:cTn id="53" presetID="22" presetClass="entr" presetSubtype="4" fill="hold" grpId="0" nodeType="withEffect">
                                  <p:stCondLst>
                                    <p:cond delay="160"/>
                                  </p:stCondLst>
                                  <p:childTnLst>
                                    <p:set>
                                      <p:cBhvr>
                                        <p:cTn id="54" dur="1" fill="hold">
                                          <p:stCondLst>
                                            <p:cond delay="0"/>
                                          </p:stCondLst>
                                        </p:cTn>
                                        <p:tgtEl>
                                          <p:spTgt spid="34"/>
                                        </p:tgtEl>
                                        <p:attrNameLst>
                                          <p:attrName>style.visibility</p:attrName>
                                        </p:attrNameLst>
                                      </p:cBhvr>
                                      <p:to>
                                        <p:strVal val="visible"/>
                                      </p:to>
                                    </p:set>
                                    <p:animEffect transition="in" filter="wipe(up)">
                                      <p:cBhvr>
                                        <p:cTn id="55" dur="480"/>
                                        <p:tgtEl>
                                          <p:spTgt spid="34"/>
                                        </p:tgtEl>
                                      </p:cBhvr>
                                    </p:animEffect>
                                  </p:childTnLst>
                                </p:cTn>
                              </p:par>
                              <p:par>
                                <p:cTn id="56" presetID="22" presetClass="entr" presetSubtype="4" fill="hold" grpId="0" nodeType="withEffect">
                                  <p:stCondLst>
                                    <p:cond delay="160"/>
                                  </p:stCondLst>
                                  <p:childTnLst>
                                    <p:set>
                                      <p:cBhvr>
                                        <p:cTn id="57" dur="1" fill="hold">
                                          <p:stCondLst>
                                            <p:cond delay="0"/>
                                          </p:stCondLst>
                                        </p:cTn>
                                        <p:tgtEl>
                                          <p:spTgt spid="36"/>
                                        </p:tgtEl>
                                        <p:attrNameLst>
                                          <p:attrName>style.visibility</p:attrName>
                                        </p:attrNameLst>
                                      </p:cBhvr>
                                      <p:to>
                                        <p:strVal val="visible"/>
                                      </p:to>
                                    </p:set>
                                    <p:animEffect transition="in" filter="wipe(up)">
                                      <p:cBhvr>
                                        <p:cTn id="58" dur="480"/>
                                        <p:tgtEl>
                                          <p:spTgt spid="36"/>
                                        </p:tgtEl>
                                      </p:cBhvr>
                                    </p:animEffect>
                                  </p:childTnLst>
                                </p:cTn>
                              </p:par>
                              <p:par>
                                <p:cTn id="59" presetID="22" presetClass="entr" presetSubtype="4" fill="hold" grpId="0" nodeType="withEffect">
                                  <p:stCondLst>
                                    <p:cond delay="160"/>
                                  </p:stCondLst>
                                  <p:childTnLst>
                                    <p:set>
                                      <p:cBhvr>
                                        <p:cTn id="60" dur="1" fill="hold">
                                          <p:stCondLst>
                                            <p:cond delay="0"/>
                                          </p:stCondLst>
                                        </p:cTn>
                                        <p:tgtEl>
                                          <p:spTgt spid="38"/>
                                        </p:tgtEl>
                                        <p:attrNameLst>
                                          <p:attrName>style.visibility</p:attrName>
                                        </p:attrNameLst>
                                      </p:cBhvr>
                                      <p:to>
                                        <p:strVal val="visible"/>
                                      </p:to>
                                    </p:set>
                                    <p:animEffect transition="in" filter="wipe(up)">
                                      <p:cBhvr>
                                        <p:cTn id="61" dur="480"/>
                                        <p:tgtEl>
                                          <p:spTgt spid="38"/>
                                        </p:tgtEl>
                                      </p:cBhvr>
                                    </p:animEffect>
                                  </p:childTnLst>
                                </p:cTn>
                              </p:par>
                              <p:par>
                                <p:cTn id="62" presetID="22" presetClass="entr" presetSubtype="4" fill="hold" grpId="0" nodeType="withEffect">
                                  <p:stCondLst>
                                    <p:cond delay="160"/>
                                  </p:stCondLst>
                                  <p:childTnLst>
                                    <p:set>
                                      <p:cBhvr>
                                        <p:cTn id="63" dur="1" fill="hold">
                                          <p:stCondLst>
                                            <p:cond delay="0"/>
                                          </p:stCondLst>
                                        </p:cTn>
                                        <p:tgtEl>
                                          <p:spTgt spid="41"/>
                                        </p:tgtEl>
                                        <p:attrNameLst>
                                          <p:attrName>style.visibility</p:attrName>
                                        </p:attrNameLst>
                                      </p:cBhvr>
                                      <p:to>
                                        <p:strVal val="visible"/>
                                      </p:to>
                                    </p:set>
                                    <p:animEffect transition="in" filter="wipe(up)">
                                      <p:cBhvr>
                                        <p:cTn id="64" dur="480"/>
                                        <p:tgtEl>
                                          <p:spTgt spid="41"/>
                                        </p:tgtEl>
                                      </p:cBhvr>
                                    </p:animEffect>
                                  </p:childTnLst>
                                </p:cTn>
                              </p:par>
                              <p:par>
                                <p:cTn id="65" presetID="22" presetClass="entr" presetSubtype="4" fill="hold" grpId="0" nodeType="withEffect">
                                  <p:stCondLst>
                                    <p:cond delay="160"/>
                                  </p:stCondLst>
                                  <p:childTnLst>
                                    <p:set>
                                      <p:cBhvr>
                                        <p:cTn id="66" dur="1" fill="hold">
                                          <p:stCondLst>
                                            <p:cond delay="0"/>
                                          </p:stCondLst>
                                        </p:cTn>
                                        <p:tgtEl>
                                          <p:spTgt spid="44"/>
                                        </p:tgtEl>
                                        <p:attrNameLst>
                                          <p:attrName>style.visibility</p:attrName>
                                        </p:attrNameLst>
                                      </p:cBhvr>
                                      <p:to>
                                        <p:strVal val="visible"/>
                                      </p:to>
                                    </p:set>
                                    <p:animEffect transition="in" filter="wipe(up)">
                                      <p:cBhvr>
                                        <p:cTn id="67" dur="480"/>
                                        <p:tgtEl>
                                          <p:spTgt spid="44"/>
                                        </p:tgtEl>
                                      </p:cBhvr>
                                    </p:animEffect>
                                  </p:childTnLst>
                                </p:cTn>
                              </p:par>
                              <p:par>
                                <p:cTn id="68" presetID="22" presetClass="entr" presetSubtype="4" fill="hold" grpId="0" nodeType="withEffect">
                                  <p:stCondLst>
                                    <p:cond delay="160"/>
                                  </p:stCondLst>
                                  <p:childTnLst>
                                    <p:set>
                                      <p:cBhvr>
                                        <p:cTn id="69" dur="1" fill="hold">
                                          <p:stCondLst>
                                            <p:cond delay="0"/>
                                          </p:stCondLst>
                                        </p:cTn>
                                        <p:tgtEl>
                                          <p:spTgt spid="46"/>
                                        </p:tgtEl>
                                        <p:attrNameLst>
                                          <p:attrName>style.visibility</p:attrName>
                                        </p:attrNameLst>
                                      </p:cBhvr>
                                      <p:to>
                                        <p:strVal val="visible"/>
                                      </p:to>
                                    </p:set>
                                    <p:animEffect transition="in" filter="wipe(up)">
                                      <p:cBhvr>
                                        <p:cTn id="70" dur="480"/>
                                        <p:tgtEl>
                                          <p:spTgt spid="46"/>
                                        </p:tgtEl>
                                      </p:cBhvr>
                                    </p:animEffect>
                                  </p:childTnLst>
                                </p:cTn>
                              </p:par>
                              <p:par>
                                <p:cTn id="71" presetID="22" presetClass="entr" presetSubtype="4" fill="hold" grpId="0" nodeType="withEffect">
                                  <p:stCondLst>
                                    <p:cond delay="160"/>
                                  </p:stCondLst>
                                  <p:childTnLst>
                                    <p:set>
                                      <p:cBhvr>
                                        <p:cTn id="72" dur="1" fill="hold">
                                          <p:stCondLst>
                                            <p:cond delay="0"/>
                                          </p:stCondLst>
                                        </p:cTn>
                                        <p:tgtEl>
                                          <p:spTgt spid="48"/>
                                        </p:tgtEl>
                                        <p:attrNameLst>
                                          <p:attrName>style.visibility</p:attrName>
                                        </p:attrNameLst>
                                      </p:cBhvr>
                                      <p:to>
                                        <p:strVal val="visible"/>
                                      </p:to>
                                    </p:set>
                                    <p:animEffect transition="in" filter="wipe(up)">
                                      <p:cBhvr>
                                        <p:cTn id="73" dur="480"/>
                                        <p:tgtEl>
                                          <p:spTgt spid="48"/>
                                        </p:tgtEl>
                                      </p:cBhvr>
                                    </p:animEffect>
                                  </p:childTnLst>
                                </p:cTn>
                              </p:par>
                              <p:par>
                                <p:cTn id="74" presetID="22" presetClass="entr" presetSubtype="4" fill="hold" grpId="0" nodeType="withEffect">
                                  <p:stCondLst>
                                    <p:cond delay="160"/>
                                  </p:stCondLst>
                                  <p:childTnLst>
                                    <p:set>
                                      <p:cBhvr>
                                        <p:cTn id="75" dur="1" fill="hold">
                                          <p:stCondLst>
                                            <p:cond delay="0"/>
                                          </p:stCondLst>
                                        </p:cTn>
                                        <p:tgtEl>
                                          <p:spTgt spid="50"/>
                                        </p:tgtEl>
                                        <p:attrNameLst>
                                          <p:attrName>style.visibility</p:attrName>
                                        </p:attrNameLst>
                                      </p:cBhvr>
                                      <p:to>
                                        <p:strVal val="visible"/>
                                      </p:to>
                                    </p:set>
                                    <p:animEffect transition="in" filter="wipe(up)">
                                      <p:cBhvr>
                                        <p:cTn id="76" dur="480"/>
                                        <p:tgtEl>
                                          <p:spTgt spid="50"/>
                                        </p:tgtEl>
                                      </p:cBhvr>
                                    </p:animEffect>
                                  </p:childTnLst>
                                </p:cTn>
                              </p:par>
                              <p:par>
                                <p:cTn id="77" presetID="22" presetClass="entr" presetSubtype="4" fill="hold" grpId="0" nodeType="withEffect">
                                  <p:stCondLst>
                                    <p:cond delay="160"/>
                                  </p:stCondLst>
                                  <p:childTnLst>
                                    <p:set>
                                      <p:cBhvr>
                                        <p:cTn id="78" dur="1" fill="hold">
                                          <p:stCondLst>
                                            <p:cond delay="0"/>
                                          </p:stCondLst>
                                        </p:cTn>
                                        <p:tgtEl>
                                          <p:spTgt spid="52"/>
                                        </p:tgtEl>
                                        <p:attrNameLst>
                                          <p:attrName>style.visibility</p:attrName>
                                        </p:attrNameLst>
                                      </p:cBhvr>
                                      <p:to>
                                        <p:strVal val="visible"/>
                                      </p:to>
                                    </p:set>
                                    <p:animEffect transition="in" filter="wipe(up)">
                                      <p:cBhvr>
                                        <p:cTn id="79" dur="480"/>
                                        <p:tgtEl>
                                          <p:spTgt spid="52"/>
                                        </p:tgtEl>
                                      </p:cBhvr>
                                    </p:animEffect>
                                  </p:childTnLst>
                                </p:cTn>
                              </p:par>
                              <p:par>
                                <p:cTn id="80" presetID="42" presetClass="entr" presetSubtype="4" fill="hold" grpId="0" nodeType="withEffect">
                                  <p:stCondLst>
                                    <p:cond delay="300"/>
                                  </p:stCondLst>
                                  <p:childTnLst>
                                    <p:set>
                                      <p:cBhvr>
                                        <p:cTn id="81" dur="1" fill="hold">
                                          <p:stCondLst>
                                            <p:cond delay="0"/>
                                          </p:stCondLst>
                                        </p:cTn>
                                        <p:tgtEl>
                                          <p:spTgt spid="58"/>
                                        </p:tgtEl>
                                        <p:attrNameLst>
                                          <p:attrName>style.visibility</p:attrName>
                                        </p:attrNameLst>
                                      </p:cBhvr>
                                      <p:to>
                                        <p:strVal val="visible"/>
                                      </p:to>
                                    </p:set>
                                    <p:animEffect transition="in" filter="fade">
                                      <p:cBhvr>
                                        <p:cTn id="82" dur="420"/>
                                        <p:tgtEl>
                                          <p:spTgt spid="58"/>
                                        </p:tgtEl>
                                      </p:cBhvr>
                                    </p:animEffect>
                                    <p:anim calcmode="lin" valueType="num">
                                      <p:cBhvr>
                                        <p:cTn id="83" dur="420" fill="hold"/>
                                        <p:tgtEl>
                                          <p:spTgt spid="58"/>
                                        </p:tgtEl>
                                        <p:attrNameLst>
                                          <p:attrName>ppt_x</p:attrName>
                                        </p:attrNameLst>
                                      </p:cBhvr>
                                      <p:tavLst>
                                        <p:tav tm="0">
                                          <p:val>
                                            <p:strVal val="#ppt_x"/>
                                          </p:val>
                                        </p:tav>
                                        <p:tav tm="100000">
                                          <p:val>
                                            <p:strVal val="#ppt_x"/>
                                          </p:val>
                                        </p:tav>
                                      </p:tavLst>
                                    </p:anim>
                                    <p:anim calcmode="lin" valueType="num">
                                      <p:cBhvr>
                                        <p:cTn id="84" dur="420" decel="100000" fill="hold"/>
                                        <p:tgtEl>
                                          <p:spTgt spid="58"/>
                                        </p:tgtEl>
                                        <p:attrNameLst>
                                          <p:attrName>ppt_y</p:attrName>
                                        </p:attrNameLst>
                                      </p:cBhvr>
                                      <p:tavLst>
                                        <p:tav tm="0">
                                          <p:val>
                                            <p:strVal val="#ppt_y+0.018"/>
                                          </p:val>
                                        </p:tav>
                                        <p:tav tm="100000">
                                          <p:val>
                                            <p:strVal val="#ppt_y"/>
                                          </p:val>
                                        </p:tav>
                                      </p:tavLst>
                                    </p:anim>
                                  </p:childTnLst>
                                </p:cTn>
                              </p:par>
                              <p:par>
                                <p:cTn id="85" presetID="42" presetClass="entr" presetSubtype="4" fill="hold" grpId="0" nodeType="withEffect">
                                  <p:stCondLst>
                                    <p:cond delay="300"/>
                                  </p:stCondLst>
                                  <p:childTnLst>
                                    <p:set>
                                      <p:cBhvr>
                                        <p:cTn id="86" dur="1" fill="hold">
                                          <p:stCondLst>
                                            <p:cond delay="0"/>
                                          </p:stCondLst>
                                        </p:cTn>
                                        <p:tgtEl>
                                          <p:spTgt spid="59"/>
                                        </p:tgtEl>
                                        <p:attrNameLst>
                                          <p:attrName>style.visibility</p:attrName>
                                        </p:attrNameLst>
                                      </p:cBhvr>
                                      <p:to>
                                        <p:strVal val="visible"/>
                                      </p:to>
                                    </p:set>
                                    <p:animEffect transition="in" filter="fade">
                                      <p:cBhvr>
                                        <p:cTn id="87" dur="420"/>
                                        <p:tgtEl>
                                          <p:spTgt spid="59"/>
                                        </p:tgtEl>
                                      </p:cBhvr>
                                    </p:animEffect>
                                    <p:anim calcmode="lin" valueType="num">
                                      <p:cBhvr>
                                        <p:cTn id="88" dur="420" fill="hold"/>
                                        <p:tgtEl>
                                          <p:spTgt spid="59"/>
                                        </p:tgtEl>
                                        <p:attrNameLst>
                                          <p:attrName>ppt_x</p:attrName>
                                        </p:attrNameLst>
                                      </p:cBhvr>
                                      <p:tavLst>
                                        <p:tav tm="0">
                                          <p:val>
                                            <p:strVal val="#ppt_x"/>
                                          </p:val>
                                        </p:tav>
                                        <p:tav tm="100000">
                                          <p:val>
                                            <p:strVal val="#ppt_x"/>
                                          </p:val>
                                        </p:tav>
                                      </p:tavLst>
                                    </p:anim>
                                    <p:anim calcmode="lin" valueType="num">
                                      <p:cBhvr>
                                        <p:cTn id="89" dur="420" decel="100000" fill="hold"/>
                                        <p:tgtEl>
                                          <p:spTgt spid="59"/>
                                        </p:tgtEl>
                                        <p:attrNameLst>
                                          <p:attrName>ppt_y</p:attrName>
                                        </p:attrNameLst>
                                      </p:cBhvr>
                                      <p:tavLst>
                                        <p:tav tm="0">
                                          <p:val>
                                            <p:strVal val="#ppt_y+0.018"/>
                                          </p:val>
                                        </p:tav>
                                        <p:tav tm="100000">
                                          <p:val>
                                            <p:strVal val="#ppt_y"/>
                                          </p:val>
                                        </p:tav>
                                      </p:tavLst>
                                    </p:anim>
                                  </p:childTnLst>
                                </p:cTn>
                              </p:par>
                              <p:par>
                                <p:cTn id="90" presetID="42" presetClass="entr" presetSubtype="4" fill="hold" grpId="0" nodeType="withEffect">
                                  <p:stCondLst>
                                    <p:cond delay="300"/>
                                  </p:stCondLst>
                                  <p:childTnLst>
                                    <p:set>
                                      <p:cBhvr>
                                        <p:cTn id="91" dur="1" fill="hold">
                                          <p:stCondLst>
                                            <p:cond delay="0"/>
                                          </p:stCondLst>
                                        </p:cTn>
                                        <p:tgtEl>
                                          <p:spTgt spid="60"/>
                                        </p:tgtEl>
                                        <p:attrNameLst>
                                          <p:attrName>style.visibility</p:attrName>
                                        </p:attrNameLst>
                                      </p:cBhvr>
                                      <p:to>
                                        <p:strVal val="visible"/>
                                      </p:to>
                                    </p:set>
                                    <p:animEffect transition="in" filter="fade">
                                      <p:cBhvr>
                                        <p:cTn id="92" dur="420"/>
                                        <p:tgtEl>
                                          <p:spTgt spid="60"/>
                                        </p:tgtEl>
                                      </p:cBhvr>
                                    </p:animEffect>
                                    <p:anim calcmode="lin" valueType="num">
                                      <p:cBhvr>
                                        <p:cTn id="93" dur="420" fill="hold"/>
                                        <p:tgtEl>
                                          <p:spTgt spid="60"/>
                                        </p:tgtEl>
                                        <p:attrNameLst>
                                          <p:attrName>ppt_x</p:attrName>
                                        </p:attrNameLst>
                                      </p:cBhvr>
                                      <p:tavLst>
                                        <p:tav tm="0">
                                          <p:val>
                                            <p:strVal val="#ppt_x"/>
                                          </p:val>
                                        </p:tav>
                                        <p:tav tm="100000">
                                          <p:val>
                                            <p:strVal val="#ppt_x"/>
                                          </p:val>
                                        </p:tav>
                                      </p:tavLst>
                                    </p:anim>
                                    <p:anim calcmode="lin" valueType="num">
                                      <p:cBhvr>
                                        <p:cTn id="94" dur="420" decel="100000" fill="hold"/>
                                        <p:tgtEl>
                                          <p:spTgt spid="60"/>
                                        </p:tgtEl>
                                        <p:attrNameLst>
                                          <p:attrName>ppt_y</p:attrName>
                                        </p:attrNameLst>
                                      </p:cBhvr>
                                      <p:tavLst>
                                        <p:tav tm="0">
                                          <p:val>
                                            <p:strVal val="#ppt_y+0.018"/>
                                          </p:val>
                                        </p:tav>
                                        <p:tav tm="100000">
                                          <p:val>
                                            <p:strVal val="#ppt_y"/>
                                          </p:val>
                                        </p:tav>
                                      </p:tavLst>
                                    </p:anim>
                                  </p:childTnLst>
                                </p:cTn>
                              </p:par>
                              <p:par>
                                <p:cTn id="95" presetID="42" presetClass="entr" presetSubtype="4" fill="hold" grpId="0" nodeType="withEffect">
                                  <p:stCondLst>
                                    <p:cond delay="30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20"/>
                                        <p:tgtEl>
                                          <p:spTgt spid="61"/>
                                        </p:tgtEl>
                                      </p:cBhvr>
                                    </p:animEffect>
                                    <p:anim calcmode="lin" valueType="num">
                                      <p:cBhvr>
                                        <p:cTn id="98" dur="420" fill="hold"/>
                                        <p:tgtEl>
                                          <p:spTgt spid="61"/>
                                        </p:tgtEl>
                                        <p:attrNameLst>
                                          <p:attrName>ppt_x</p:attrName>
                                        </p:attrNameLst>
                                      </p:cBhvr>
                                      <p:tavLst>
                                        <p:tav tm="0">
                                          <p:val>
                                            <p:strVal val="#ppt_x"/>
                                          </p:val>
                                        </p:tav>
                                        <p:tav tm="100000">
                                          <p:val>
                                            <p:strVal val="#ppt_x"/>
                                          </p:val>
                                        </p:tav>
                                      </p:tavLst>
                                    </p:anim>
                                    <p:anim calcmode="lin" valueType="num">
                                      <p:cBhvr>
                                        <p:cTn id="99" dur="420" decel="100000" fill="hold"/>
                                        <p:tgtEl>
                                          <p:spTgt spid="61"/>
                                        </p:tgtEl>
                                        <p:attrNameLst>
                                          <p:attrName>ppt_y</p:attrName>
                                        </p:attrNameLst>
                                      </p:cBhvr>
                                      <p:tavLst>
                                        <p:tav tm="0">
                                          <p:val>
                                            <p:strVal val="#ppt_y+0.018"/>
                                          </p:val>
                                        </p:tav>
                                        <p:tav tm="100000">
                                          <p:val>
                                            <p:strVal val="#ppt_y"/>
                                          </p:val>
                                        </p:tav>
                                      </p:tavLst>
                                    </p:anim>
                                  </p:childTnLst>
                                </p:cTn>
                              </p:par>
                              <p:par>
                                <p:cTn id="100" presetID="42" presetClass="entr" presetSubtype="4" fill="hold" grpId="0" nodeType="withEffect">
                                  <p:stCondLst>
                                    <p:cond delay="450"/>
                                  </p:stCondLst>
                                  <p:childTnLst>
                                    <p:set>
                                      <p:cBhvr>
                                        <p:cTn id="101" dur="1" fill="hold">
                                          <p:stCondLst>
                                            <p:cond delay="0"/>
                                          </p:stCondLst>
                                        </p:cTn>
                                        <p:tgtEl>
                                          <p:spTgt spid="62"/>
                                        </p:tgtEl>
                                        <p:attrNameLst>
                                          <p:attrName>style.visibility</p:attrName>
                                        </p:attrNameLst>
                                      </p:cBhvr>
                                      <p:to>
                                        <p:strVal val="visible"/>
                                      </p:to>
                                    </p:set>
                                    <p:animEffect transition="in" filter="fade">
                                      <p:cBhvr>
                                        <p:cTn id="102" dur="440"/>
                                        <p:tgtEl>
                                          <p:spTgt spid="62"/>
                                        </p:tgtEl>
                                      </p:cBhvr>
                                    </p:animEffect>
                                    <p:anim calcmode="lin" valueType="num">
                                      <p:cBhvr>
                                        <p:cTn id="103" dur="440" fill="hold"/>
                                        <p:tgtEl>
                                          <p:spTgt spid="62"/>
                                        </p:tgtEl>
                                        <p:attrNameLst>
                                          <p:attrName>ppt_x</p:attrName>
                                        </p:attrNameLst>
                                      </p:cBhvr>
                                      <p:tavLst>
                                        <p:tav tm="0">
                                          <p:val>
                                            <p:strVal val="#ppt_x"/>
                                          </p:val>
                                        </p:tav>
                                        <p:tav tm="100000">
                                          <p:val>
                                            <p:strVal val="#ppt_x"/>
                                          </p:val>
                                        </p:tav>
                                      </p:tavLst>
                                    </p:anim>
                                    <p:anim calcmode="lin" valueType="num">
                                      <p:cBhvr>
                                        <p:cTn id="104" dur="440" decel="100000" fill="hold"/>
                                        <p:tgtEl>
                                          <p:spTgt spid="62"/>
                                        </p:tgtEl>
                                        <p:attrNameLst>
                                          <p:attrName>ppt_y</p:attrName>
                                        </p:attrNameLst>
                                      </p:cBhvr>
                                      <p:tavLst>
                                        <p:tav tm="0">
                                          <p:val>
                                            <p:strVal val="#ppt_y+0.018"/>
                                          </p:val>
                                        </p:tav>
                                        <p:tav tm="100000">
                                          <p:val>
                                            <p:strVal val="#ppt_y"/>
                                          </p:val>
                                        </p:tav>
                                      </p:tavLst>
                                    </p:anim>
                                  </p:childTnLst>
                                </p:cTn>
                              </p:par>
                              <p:par>
                                <p:cTn id="105" presetID="42" presetClass="entr" presetSubtype="4" fill="hold" grpId="0" nodeType="withEffect">
                                  <p:stCondLst>
                                    <p:cond delay="450"/>
                                  </p:stCondLst>
                                  <p:childTnLst>
                                    <p:set>
                                      <p:cBhvr>
                                        <p:cTn id="106" dur="1" fill="hold">
                                          <p:stCondLst>
                                            <p:cond delay="0"/>
                                          </p:stCondLst>
                                        </p:cTn>
                                        <p:tgtEl>
                                          <p:spTgt spid="63"/>
                                        </p:tgtEl>
                                        <p:attrNameLst>
                                          <p:attrName>style.visibility</p:attrName>
                                        </p:attrNameLst>
                                      </p:cBhvr>
                                      <p:to>
                                        <p:strVal val="visible"/>
                                      </p:to>
                                    </p:set>
                                    <p:animEffect transition="in" filter="fade">
                                      <p:cBhvr>
                                        <p:cTn id="107" dur="440"/>
                                        <p:tgtEl>
                                          <p:spTgt spid="63"/>
                                        </p:tgtEl>
                                      </p:cBhvr>
                                    </p:animEffect>
                                    <p:anim calcmode="lin" valueType="num">
                                      <p:cBhvr>
                                        <p:cTn id="108" dur="440" fill="hold"/>
                                        <p:tgtEl>
                                          <p:spTgt spid="63"/>
                                        </p:tgtEl>
                                        <p:attrNameLst>
                                          <p:attrName>ppt_x</p:attrName>
                                        </p:attrNameLst>
                                      </p:cBhvr>
                                      <p:tavLst>
                                        <p:tav tm="0">
                                          <p:val>
                                            <p:strVal val="#ppt_x"/>
                                          </p:val>
                                        </p:tav>
                                        <p:tav tm="100000">
                                          <p:val>
                                            <p:strVal val="#ppt_x"/>
                                          </p:val>
                                        </p:tav>
                                      </p:tavLst>
                                    </p:anim>
                                    <p:anim calcmode="lin" valueType="num">
                                      <p:cBhvr>
                                        <p:cTn id="109" dur="440" decel="100000" fill="hold"/>
                                        <p:tgtEl>
                                          <p:spTgt spid="63"/>
                                        </p:tgtEl>
                                        <p:attrNameLst>
                                          <p:attrName>ppt_y</p:attrName>
                                        </p:attrNameLst>
                                      </p:cBhvr>
                                      <p:tavLst>
                                        <p:tav tm="0">
                                          <p:val>
                                            <p:strVal val="#ppt_y+0.018"/>
                                          </p:val>
                                        </p:tav>
                                        <p:tav tm="100000">
                                          <p:val>
                                            <p:strVal val="#ppt_y"/>
                                          </p:val>
                                        </p:tav>
                                      </p:tavLst>
                                    </p:anim>
                                  </p:childTnLst>
                                </p:cTn>
                              </p:par>
                              <p:par>
                                <p:cTn id="110" presetID="42" presetClass="entr" presetSubtype="4" fill="hold" grpId="0" nodeType="withEffect">
                                  <p:stCondLst>
                                    <p:cond delay="450"/>
                                  </p:stCondLst>
                                  <p:childTnLst>
                                    <p:set>
                                      <p:cBhvr>
                                        <p:cTn id="111" dur="1" fill="hold">
                                          <p:stCondLst>
                                            <p:cond delay="0"/>
                                          </p:stCondLst>
                                        </p:cTn>
                                        <p:tgtEl>
                                          <p:spTgt spid="64"/>
                                        </p:tgtEl>
                                        <p:attrNameLst>
                                          <p:attrName>style.visibility</p:attrName>
                                        </p:attrNameLst>
                                      </p:cBhvr>
                                      <p:to>
                                        <p:strVal val="visible"/>
                                      </p:to>
                                    </p:set>
                                    <p:animEffect transition="in" filter="fade">
                                      <p:cBhvr>
                                        <p:cTn id="112" dur="440"/>
                                        <p:tgtEl>
                                          <p:spTgt spid="64"/>
                                        </p:tgtEl>
                                      </p:cBhvr>
                                    </p:animEffect>
                                    <p:anim calcmode="lin" valueType="num">
                                      <p:cBhvr>
                                        <p:cTn id="113" dur="440" fill="hold"/>
                                        <p:tgtEl>
                                          <p:spTgt spid="64"/>
                                        </p:tgtEl>
                                        <p:attrNameLst>
                                          <p:attrName>ppt_x</p:attrName>
                                        </p:attrNameLst>
                                      </p:cBhvr>
                                      <p:tavLst>
                                        <p:tav tm="0">
                                          <p:val>
                                            <p:strVal val="#ppt_x"/>
                                          </p:val>
                                        </p:tav>
                                        <p:tav tm="100000">
                                          <p:val>
                                            <p:strVal val="#ppt_x"/>
                                          </p:val>
                                        </p:tav>
                                      </p:tavLst>
                                    </p:anim>
                                    <p:anim calcmode="lin" valueType="num">
                                      <p:cBhvr>
                                        <p:cTn id="114" dur="440" decel="100000" fill="hold"/>
                                        <p:tgtEl>
                                          <p:spTgt spid="64"/>
                                        </p:tgtEl>
                                        <p:attrNameLst>
                                          <p:attrName>ppt_y</p:attrName>
                                        </p:attrNameLst>
                                      </p:cBhvr>
                                      <p:tavLst>
                                        <p:tav tm="0">
                                          <p:val>
                                            <p:strVal val="#ppt_y+0.018"/>
                                          </p:val>
                                        </p:tav>
                                        <p:tav tm="100000">
                                          <p:val>
                                            <p:strVal val="#ppt_y"/>
                                          </p:val>
                                        </p:tav>
                                      </p:tavLst>
                                    </p:anim>
                                  </p:childTnLst>
                                </p:cTn>
                              </p:par>
                              <p:par>
                                <p:cTn id="115" presetID="42" presetClass="entr" presetSubtype="4" fill="hold" grpId="0" nodeType="withEffect">
                                  <p:stCondLst>
                                    <p:cond delay="450"/>
                                  </p:stCondLst>
                                  <p:childTnLst>
                                    <p:set>
                                      <p:cBhvr>
                                        <p:cTn id="116" dur="1" fill="hold">
                                          <p:stCondLst>
                                            <p:cond delay="0"/>
                                          </p:stCondLst>
                                        </p:cTn>
                                        <p:tgtEl>
                                          <p:spTgt spid="65"/>
                                        </p:tgtEl>
                                        <p:attrNameLst>
                                          <p:attrName>style.visibility</p:attrName>
                                        </p:attrNameLst>
                                      </p:cBhvr>
                                      <p:to>
                                        <p:strVal val="visible"/>
                                      </p:to>
                                    </p:set>
                                    <p:animEffect transition="in" filter="fade">
                                      <p:cBhvr>
                                        <p:cTn id="117" dur="440"/>
                                        <p:tgtEl>
                                          <p:spTgt spid="65"/>
                                        </p:tgtEl>
                                      </p:cBhvr>
                                    </p:animEffect>
                                    <p:anim calcmode="lin" valueType="num">
                                      <p:cBhvr>
                                        <p:cTn id="118" dur="440" fill="hold"/>
                                        <p:tgtEl>
                                          <p:spTgt spid="65"/>
                                        </p:tgtEl>
                                        <p:attrNameLst>
                                          <p:attrName>ppt_x</p:attrName>
                                        </p:attrNameLst>
                                      </p:cBhvr>
                                      <p:tavLst>
                                        <p:tav tm="0">
                                          <p:val>
                                            <p:strVal val="#ppt_x"/>
                                          </p:val>
                                        </p:tav>
                                        <p:tav tm="100000">
                                          <p:val>
                                            <p:strVal val="#ppt_x"/>
                                          </p:val>
                                        </p:tav>
                                      </p:tavLst>
                                    </p:anim>
                                    <p:anim calcmode="lin" valueType="num">
                                      <p:cBhvr>
                                        <p:cTn id="119" dur="440" decel="100000" fill="hold"/>
                                        <p:tgtEl>
                                          <p:spTgt spid="65"/>
                                        </p:tgtEl>
                                        <p:attrNameLst>
                                          <p:attrName>ppt_y</p:attrName>
                                        </p:attrNameLst>
                                      </p:cBhvr>
                                      <p:tavLst>
                                        <p:tav tm="0">
                                          <p:val>
                                            <p:strVal val="#ppt_y+0.018"/>
                                          </p:val>
                                        </p:tav>
                                        <p:tav tm="100000">
                                          <p:val>
                                            <p:strVal val="#ppt_y"/>
                                          </p:val>
                                        </p:tav>
                                      </p:tavLst>
                                    </p:anim>
                                  </p:childTnLst>
                                </p:cTn>
                              </p:par>
                              <p:par>
                                <p:cTn id="120" presetID="42" presetClass="entr" presetSubtype="4" fill="hold" grpId="0" nodeType="withEffect">
                                  <p:stCondLst>
                                    <p:cond delay="450"/>
                                  </p:stCondLst>
                                  <p:childTnLst>
                                    <p:set>
                                      <p:cBhvr>
                                        <p:cTn id="121" dur="1" fill="hold">
                                          <p:stCondLst>
                                            <p:cond delay="0"/>
                                          </p:stCondLst>
                                        </p:cTn>
                                        <p:tgtEl>
                                          <p:spTgt spid="66"/>
                                        </p:tgtEl>
                                        <p:attrNameLst>
                                          <p:attrName>style.visibility</p:attrName>
                                        </p:attrNameLst>
                                      </p:cBhvr>
                                      <p:to>
                                        <p:strVal val="visible"/>
                                      </p:to>
                                    </p:set>
                                    <p:animEffect transition="in" filter="fade">
                                      <p:cBhvr>
                                        <p:cTn id="122" dur="440"/>
                                        <p:tgtEl>
                                          <p:spTgt spid="66"/>
                                        </p:tgtEl>
                                      </p:cBhvr>
                                    </p:animEffect>
                                    <p:anim calcmode="lin" valueType="num">
                                      <p:cBhvr>
                                        <p:cTn id="123" dur="440" fill="hold"/>
                                        <p:tgtEl>
                                          <p:spTgt spid="66"/>
                                        </p:tgtEl>
                                        <p:attrNameLst>
                                          <p:attrName>ppt_x</p:attrName>
                                        </p:attrNameLst>
                                      </p:cBhvr>
                                      <p:tavLst>
                                        <p:tav tm="0">
                                          <p:val>
                                            <p:strVal val="#ppt_x"/>
                                          </p:val>
                                        </p:tav>
                                        <p:tav tm="100000">
                                          <p:val>
                                            <p:strVal val="#ppt_x"/>
                                          </p:val>
                                        </p:tav>
                                      </p:tavLst>
                                    </p:anim>
                                    <p:anim calcmode="lin" valueType="num">
                                      <p:cBhvr>
                                        <p:cTn id="124" dur="440" decel="100000" fill="hold"/>
                                        <p:tgtEl>
                                          <p:spTgt spid="66"/>
                                        </p:tgtEl>
                                        <p:attrNameLst>
                                          <p:attrName>ppt_y</p:attrName>
                                        </p:attrNameLst>
                                      </p:cBhvr>
                                      <p:tavLst>
                                        <p:tav tm="0">
                                          <p:val>
                                            <p:strVal val="#ppt_y+0.018"/>
                                          </p:val>
                                        </p:tav>
                                        <p:tav tm="100000">
                                          <p:val>
                                            <p:strVal val="#ppt_y"/>
                                          </p:val>
                                        </p:tav>
                                      </p:tavLst>
                                    </p:anim>
                                  </p:childTnLst>
                                </p:cTn>
                              </p:par>
                              <p:par>
                                <p:cTn id="125" presetID="42" presetClass="entr" presetSubtype="4" fill="hold" grpId="0" nodeType="withEffect">
                                  <p:stCondLst>
                                    <p:cond delay="450"/>
                                  </p:stCondLst>
                                  <p:childTnLst>
                                    <p:set>
                                      <p:cBhvr>
                                        <p:cTn id="126" dur="1" fill="hold">
                                          <p:stCondLst>
                                            <p:cond delay="0"/>
                                          </p:stCondLst>
                                        </p:cTn>
                                        <p:tgtEl>
                                          <p:spTgt spid="67"/>
                                        </p:tgtEl>
                                        <p:attrNameLst>
                                          <p:attrName>style.visibility</p:attrName>
                                        </p:attrNameLst>
                                      </p:cBhvr>
                                      <p:to>
                                        <p:strVal val="visible"/>
                                      </p:to>
                                    </p:set>
                                    <p:animEffect transition="in" filter="fade">
                                      <p:cBhvr>
                                        <p:cTn id="127" dur="440"/>
                                        <p:tgtEl>
                                          <p:spTgt spid="67"/>
                                        </p:tgtEl>
                                      </p:cBhvr>
                                    </p:animEffect>
                                    <p:anim calcmode="lin" valueType="num">
                                      <p:cBhvr>
                                        <p:cTn id="128" dur="440" fill="hold"/>
                                        <p:tgtEl>
                                          <p:spTgt spid="67"/>
                                        </p:tgtEl>
                                        <p:attrNameLst>
                                          <p:attrName>ppt_x</p:attrName>
                                        </p:attrNameLst>
                                      </p:cBhvr>
                                      <p:tavLst>
                                        <p:tav tm="0">
                                          <p:val>
                                            <p:strVal val="#ppt_x"/>
                                          </p:val>
                                        </p:tav>
                                        <p:tav tm="100000">
                                          <p:val>
                                            <p:strVal val="#ppt_x"/>
                                          </p:val>
                                        </p:tav>
                                      </p:tavLst>
                                    </p:anim>
                                    <p:anim calcmode="lin" valueType="num">
                                      <p:cBhvr>
                                        <p:cTn id="129" dur="440" decel="100000" fill="hold"/>
                                        <p:tgtEl>
                                          <p:spTgt spid="67"/>
                                        </p:tgtEl>
                                        <p:attrNameLst>
                                          <p:attrName>ppt_y</p:attrName>
                                        </p:attrNameLst>
                                      </p:cBhvr>
                                      <p:tavLst>
                                        <p:tav tm="0">
                                          <p:val>
                                            <p:strVal val="#ppt_y+0.018"/>
                                          </p:val>
                                        </p:tav>
                                        <p:tav tm="100000">
                                          <p:val>
                                            <p:strVal val="#ppt_y"/>
                                          </p:val>
                                        </p:tav>
                                      </p:tavLst>
                                    </p:anim>
                                  </p:childTnLst>
                                </p:cTn>
                              </p:par>
                              <p:par>
                                <p:cTn id="130" presetID="42" presetClass="entr" presetSubtype="4" fill="hold" grpId="0" nodeType="withEffect">
                                  <p:stCondLst>
                                    <p:cond delay="450"/>
                                  </p:stCondLst>
                                  <p:childTnLst>
                                    <p:set>
                                      <p:cBhvr>
                                        <p:cTn id="131" dur="1" fill="hold">
                                          <p:stCondLst>
                                            <p:cond delay="0"/>
                                          </p:stCondLst>
                                        </p:cTn>
                                        <p:tgtEl>
                                          <p:spTgt spid="68"/>
                                        </p:tgtEl>
                                        <p:attrNameLst>
                                          <p:attrName>style.visibility</p:attrName>
                                        </p:attrNameLst>
                                      </p:cBhvr>
                                      <p:to>
                                        <p:strVal val="visible"/>
                                      </p:to>
                                    </p:set>
                                    <p:animEffect transition="in" filter="fade">
                                      <p:cBhvr>
                                        <p:cTn id="132" dur="440"/>
                                        <p:tgtEl>
                                          <p:spTgt spid="68"/>
                                        </p:tgtEl>
                                      </p:cBhvr>
                                    </p:animEffect>
                                    <p:anim calcmode="lin" valueType="num">
                                      <p:cBhvr>
                                        <p:cTn id="133" dur="440" fill="hold"/>
                                        <p:tgtEl>
                                          <p:spTgt spid="68"/>
                                        </p:tgtEl>
                                        <p:attrNameLst>
                                          <p:attrName>ppt_x</p:attrName>
                                        </p:attrNameLst>
                                      </p:cBhvr>
                                      <p:tavLst>
                                        <p:tav tm="0">
                                          <p:val>
                                            <p:strVal val="#ppt_x"/>
                                          </p:val>
                                        </p:tav>
                                        <p:tav tm="100000">
                                          <p:val>
                                            <p:strVal val="#ppt_x"/>
                                          </p:val>
                                        </p:tav>
                                      </p:tavLst>
                                    </p:anim>
                                    <p:anim calcmode="lin" valueType="num">
                                      <p:cBhvr>
                                        <p:cTn id="134" dur="440" decel="100000" fill="hold"/>
                                        <p:tgtEl>
                                          <p:spTgt spid="68"/>
                                        </p:tgtEl>
                                        <p:attrNameLst>
                                          <p:attrName>ppt_y</p:attrName>
                                        </p:attrNameLst>
                                      </p:cBhvr>
                                      <p:tavLst>
                                        <p:tav tm="0">
                                          <p:val>
                                            <p:strVal val="#ppt_y+0.018"/>
                                          </p:val>
                                        </p:tav>
                                        <p:tav tm="100000">
                                          <p:val>
                                            <p:strVal val="#ppt_y"/>
                                          </p:val>
                                        </p:tav>
                                      </p:tavLst>
                                    </p:anim>
                                  </p:childTnLst>
                                </p:cTn>
                              </p:par>
                              <p:par>
                                <p:cTn id="135" presetID="42" presetClass="entr" presetSubtype="4" fill="hold" grpId="0" nodeType="withEffect">
                                  <p:stCondLst>
                                    <p:cond delay="450"/>
                                  </p:stCondLst>
                                  <p:childTnLst>
                                    <p:set>
                                      <p:cBhvr>
                                        <p:cTn id="136" dur="1" fill="hold">
                                          <p:stCondLst>
                                            <p:cond delay="0"/>
                                          </p:stCondLst>
                                        </p:cTn>
                                        <p:tgtEl>
                                          <p:spTgt spid="69"/>
                                        </p:tgtEl>
                                        <p:attrNameLst>
                                          <p:attrName>style.visibility</p:attrName>
                                        </p:attrNameLst>
                                      </p:cBhvr>
                                      <p:to>
                                        <p:strVal val="visible"/>
                                      </p:to>
                                    </p:set>
                                    <p:animEffect transition="in" filter="fade">
                                      <p:cBhvr>
                                        <p:cTn id="137" dur="440"/>
                                        <p:tgtEl>
                                          <p:spTgt spid="69"/>
                                        </p:tgtEl>
                                      </p:cBhvr>
                                    </p:animEffect>
                                    <p:anim calcmode="lin" valueType="num">
                                      <p:cBhvr>
                                        <p:cTn id="138" dur="440" fill="hold"/>
                                        <p:tgtEl>
                                          <p:spTgt spid="69"/>
                                        </p:tgtEl>
                                        <p:attrNameLst>
                                          <p:attrName>ppt_x</p:attrName>
                                        </p:attrNameLst>
                                      </p:cBhvr>
                                      <p:tavLst>
                                        <p:tav tm="0">
                                          <p:val>
                                            <p:strVal val="#ppt_x"/>
                                          </p:val>
                                        </p:tav>
                                        <p:tav tm="100000">
                                          <p:val>
                                            <p:strVal val="#ppt_x"/>
                                          </p:val>
                                        </p:tav>
                                      </p:tavLst>
                                    </p:anim>
                                    <p:anim calcmode="lin" valueType="num">
                                      <p:cBhvr>
                                        <p:cTn id="139" dur="440" decel="100000" fill="hold"/>
                                        <p:tgtEl>
                                          <p:spTgt spid="69"/>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1" grpId="0" animBg="1"/>
      <p:bldP spid="13" grpId="0" animBg="1"/>
      <p:bldP spid="15" grpId="0" animBg="1"/>
      <p:bldP spid="17" grpId="0" animBg="1"/>
      <p:bldP spid="19" grpId="0" animBg="1"/>
      <p:bldP spid="21" grpId="0" animBg="1"/>
      <p:bldP spid="23" grpId="0" animBg="1"/>
      <p:bldP spid="25" grpId="0" animBg="1"/>
      <p:bldP spid="27" grpId="0" animBg="1"/>
      <p:bldP spid="29" grpId="0" animBg="1"/>
      <p:bldP spid="31" grpId="0" animBg="1"/>
      <p:bldP spid="34" grpId="0" animBg="1"/>
      <p:bldP spid="36" grpId="0" animBg="1"/>
      <p:bldP spid="38" grpId="0" animBg="1"/>
      <p:bldP spid="41" grpId="0" animBg="1"/>
      <p:bldP spid="44" grpId="0" animBg="1"/>
      <p:bldP spid="46" grpId="0" animBg="1"/>
      <p:bldP spid="48" grpId="0" animBg="1"/>
      <p:bldP spid="50" grpId="0" animBg="1"/>
      <p:bldP spid="52"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image2.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5102352" cy="256032"/>
          </a:xfrm>
          <a:prstGeom prst="roundRect">
            <a:avLst>
              <a:gd name="adj" fmla="val 50000"/>
            </a:avLst>
          </a:prstGeom>
          <a:solidFill>
            <a:srgbClr val="172554"/>
          </a:solidFill>
          <a:ln w="12700">
            <a:solidFill>
              <a:srgbClr val="60A5FA"/>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60A5FA"/>
                </a:solidFill>
                <a:latin typeface="Segoe UI"/>
              </a:rPr>
              <a:t>02 · OUR APPROACH — RIGHT TOOL AT THE RIGHT MOMENT</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2950" b="1" i="0">
                <a:solidFill>
                  <a:srgbClr val="F8FAFC"/>
                </a:solidFill>
                <a:effectLst>
                  <a:outerShdw blurRad="57150" dist="22860" dir="5400000" algn="tl">
                    <a:srgbClr val="0F172A">
                      <a:alpha val="25000"/>
                    </a:srgbClr>
                  </a:outerShdw>
                </a:effectLst>
                <a:latin typeface="Segoe UI"/>
              </a:rPr>
              <a:t>Three moments before the review — </a:t>
            </a:r>
            <a:r>
              <a:rPr sz="2950" b="1" i="0">
                <a:solidFill>
                  <a:srgbClr val="60A5FA"/>
                </a:solidFill>
                <a:effectLst>
                  <a:glow rad="88900">
                    <a:srgbClr val="60A5FA">
                      <a:alpha val="18000"/>
                    </a:srgbClr>
                  </a:glow>
                </a:effectLst>
                <a:latin typeface="Segoe UI"/>
              </a:rPr>
              <a:t>three simple tools</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94A3B8"/>
                </a:solidFill>
                <a:latin typeface="Segoe UI"/>
              </a:rPr>
              <a:t>We didn't win by stacking fancier algorithms. We matched a simple, honest tool to each moment Olist can still act.</a:t>
            </a:r>
          </a:p>
        </p:txBody>
      </p:sp>
      <p:sp>
        <p:nvSpPr>
          <p:cNvPr id="6" name="Card"/>
          <p:cNvSpPr/>
          <p:nvPr/>
        </p:nvSpPr>
        <p:spPr>
          <a:xfrm>
            <a:off x="566928" y="1664208"/>
            <a:ext cx="2761488" cy="3675887"/>
          </a:xfrm>
          <a:prstGeom prst="roundRect">
            <a:avLst>
              <a:gd name="adj" fmla="val 3800"/>
            </a:avLst>
          </a:prstGeom>
          <a:solidFill>
            <a:srgbClr val="12243F"/>
          </a:solidFill>
          <a:ln w="16510">
            <a:solidFill>
              <a:srgbClr val="60A5FA"/>
            </a:solidFill>
          </a:ln>
          <a:effectLst>
            <a:outerShdw blurRad="177800" dist="44450" dir="5400000" algn="tl" rotWithShape="0">
              <a:srgbClr val="0F172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ard_accent"/>
          <p:cNvSpPr/>
          <p:nvPr/>
        </p:nvSpPr>
        <p:spPr>
          <a:xfrm>
            <a:off x="713232" y="1664208"/>
            <a:ext cx="2468880" cy="50292"/>
          </a:xfrm>
          <a:prstGeom prst="roundRect">
            <a:avLst>
              <a:gd name="adj" fmla="val 25000"/>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g1" descr="image4.png"/>
          <p:cNvPicPr>
            <a:picLocks noChangeAspect="1"/>
          </p:cNvPicPr>
          <p:nvPr/>
        </p:nvPicPr>
        <p:blipFill>
          <a:blip r:embed="rId4"/>
          <a:stretch>
            <a:fillRect/>
          </a:stretch>
        </p:blipFill>
        <p:spPr>
          <a:xfrm>
            <a:off x="768096" y="1847088"/>
            <a:ext cx="457200" cy="457200"/>
          </a:xfrm>
          <a:prstGeom prst="rect">
            <a:avLst/>
          </a:prstGeom>
        </p:spPr>
      </p:pic>
      <p:sp>
        <p:nvSpPr>
          <p:cNvPr id="9" name="Text"/>
          <p:cNvSpPr txBox="1"/>
          <p:nvPr/>
        </p:nvSpPr>
        <p:spPr>
          <a:xfrm>
            <a:off x="1316736" y="1847088"/>
            <a:ext cx="1865376" cy="475488"/>
          </a:xfrm>
          <a:prstGeom prst="rect">
            <a:avLst/>
          </a:prstGeom>
          <a:noFill/>
        </p:spPr>
        <p:txBody>
          <a:bodyPr wrap="square" lIns="0" tIns="0" rIns="0" bIns="0" anchor="t">
            <a:spAutoFit/>
          </a:bodyPr>
          <a:lstStyle/>
          <a:p>
            <a:pPr algn="l">
              <a:lnSpc>
                <a:spcPct val="122000"/>
              </a:lnSpc>
              <a:spcAft>
                <a:spcPts val="150"/>
              </a:spcAft>
            </a:pPr>
            <a:r>
              <a:rPr sz="850" b="1" i="0" spc="120">
                <a:solidFill>
                  <a:srgbClr val="60A5FA"/>
                </a:solidFill>
                <a:latin typeface="Segoe UI"/>
              </a:rPr>
              <a:t>1 · AT CHECKOUT</a:t>
            </a:r>
          </a:p>
          <a:p>
            <a:pPr algn="l">
              <a:lnSpc>
                <a:spcPct val="122000"/>
              </a:lnSpc>
            </a:pPr>
            <a:r>
              <a:rPr sz="1120" b="1" i="0">
                <a:solidFill>
                  <a:srgbClr val="F8FAFC"/>
                </a:solidFill>
                <a:latin typeface="Segoe UI"/>
              </a:rPr>
              <a:t>Operations Team</a:t>
            </a:r>
          </a:p>
        </p:txBody>
      </p:sp>
      <p:sp>
        <p:nvSpPr>
          <p:cNvPr id="10" name="Text"/>
          <p:cNvSpPr txBox="1"/>
          <p:nvPr/>
        </p:nvSpPr>
        <p:spPr>
          <a:xfrm>
            <a:off x="768096" y="2450592"/>
            <a:ext cx="2359152" cy="1444752"/>
          </a:xfrm>
          <a:prstGeom prst="rect">
            <a:avLst/>
          </a:prstGeom>
          <a:noFill/>
        </p:spPr>
        <p:txBody>
          <a:bodyPr wrap="square" lIns="0" tIns="0" rIns="0" bIns="0" anchor="t">
            <a:spAutoFit/>
          </a:bodyPr>
          <a:lstStyle/>
          <a:p>
            <a:pPr algn="l">
              <a:lnSpc>
                <a:spcPct val="115000"/>
              </a:lnSpc>
              <a:spcAft>
                <a:spcPts val="800"/>
              </a:spcAft>
            </a:pPr>
            <a:r>
              <a:rPr sz="1550" b="1" i="0">
                <a:solidFill>
                  <a:srgbClr val="F8FAFC"/>
                </a:solidFill>
                <a:latin typeface="Segoe UI"/>
              </a:rPr>
              <a:t>Delivery-time forecast
&amp; derived delay risk</a:t>
            </a:r>
          </a:p>
          <a:p>
            <a:pPr algn="l">
              <a:lnSpc>
                <a:spcPct val="126000"/>
              </a:lnSpc>
            </a:pPr>
            <a:r>
              <a:rPr sz="1040" b="0" i="0">
                <a:solidFill>
                  <a:srgbClr val="CBD5E1"/>
                </a:solidFill>
                <a:latin typeface="Segoe UI"/>
              </a:rPr>
              <a:t>Predicts how many days this route &amp; parcel will really take using only checkout info.</a:t>
            </a:r>
          </a:p>
        </p:txBody>
      </p:sp>
      <p:sp>
        <p:nvSpPr>
          <p:cNvPr id="11" name="Card"/>
          <p:cNvSpPr/>
          <p:nvPr/>
        </p:nvSpPr>
        <p:spPr>
          <a:xfrm>
            <a:off x="731520" y="4005072"/>
            <a:ext cx="2432304" cy="1170432"/>
          </a:xfrm>
          <a:prstGeom prst="roundRect">
            <a:avLst>
              <a:gd name="adj" fmla="val 3800"/>
            </a:avLst>
          </a:prstGeom>
          <a:solidFill>
            <a:srgbClr val="0D1627"/>
          </a:solidFill>
          <a:ln w="12700">
            <a:solidFill>
              <a:srgbClr val="26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
          <p:cNvSpPr txBox="1"/>
          <p:nvPr/>
        </p:nvSpPr>
        <p:spPr>
          <a:xfrm>
            <a:off x="859536" y="4096512"/>
            <a:ext cx="2176272" cy="1005840"/>
          </a:xfrm>
          <a:prstGeom prst="rect">
            <a:avLst/>
          </a:prstGeom>
          <a:noFill/>
        </p:spPr>
        <p:txBody>
          <a:bodyPr wrap="square" lIns="0" tIns="0" rIns="0" bIns="0" anchor="t">
            <a:spAutoFit/>
          </a:bodyPr>
          <a:lstStyle/>
          <a:p>
            <a:pPr algn="l">
              <a:lnSpc>
                <a:spcPct val="122000"/>
              </a:lnSpc>
              <a:spcAft>
                <a:spcPts val="300"/>
              </a:spcAft>
            </a:pPr>
            <a:r>
              <a:rPr sz="840" b="1" i="0" spc="140">
                <a:solidFill>
                  <a:srgbClr val="60A5FA"/>
                </a:solidFill>
                <a:latin typeface="Segoe UI"/>
              </a:rPr>
              <a:t>SOLVES:</a:t>
            </a:r>
          </a:p>
          <a:p>
            <a:pPr algn="l">
              <a:lnSpc>
                <a:spcPct val="124000"/>
              </a:lnSpc>
            </a:pPr>
            <a:r>
              <a:rPr sz="1000" b="0" i="0">
                <a:solidFill>
                  <a:srgbClr val="F8FAFC"/>
                </a:solidFill>
                <a:latin typeface="Segoe UI"/>
              </a:rPr>
              <a:t>Replaces padded 24-day guesses with honest dates &amp; flags risky routes early.</a:t>
            </a:r>
          </a:p>
        </p:txBody>
      </p:sp>
      <p:sp>
        <p:nvSpPr>
          <p:cNvPr id="13" name="Card"/>
          <p:cNvSpPr/>
          <p:nvPr/>
        </p:nvSpPr>
        <p:spPr>
          <a:xfrm>
            <a:off x="3511296" y="1664208"/>
            <a:ext cx="2761488" cy="3675887"/>
          </a:xfrm>
          <a:prstGeom prst="roundRect">
            <a:avLst>
              <a:gd name="adj" fmla="val 3800"/>
            </a:avLst>
          </a:prstGeom>
          <a:solidFill>
            <a:srgbClr val="231E17"/>
          </a:solidFill>
          <a:ln w="16510">
            <a:solidFill>
              <a:srgbClr val="FBBF24"/>
            </a:solidFill>
          </a:ln>
          <a:effectLst>
            <a:outerShdw blurRad="177800" dist="44450" dir="5400000" algn="tl" rotWithShape="0">
              <a:srgbClr val="0F172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ard_accent"/>
          <p:cNvSpPr/>
          <p:nvPr/>
        </p:nvSpPr>
        <p:spPr>
          <a:xfrm>
            <a:off x="3657600" y="1664208"/>
            <a:ext cx="2468880" cy="50292"/>
          </a:xfrm>
          <a:prstGeom prst="roundRect">
            <a:avLst>
              <a:gd name="adj" fmla="val 25000"/>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g2" descr="image5.png"/>
          <p:cNvPicPr>
            <a:picLocks noChangeAspect="1"/>
          </p:cNvPicPr>
          <p:nvPr/>
        </p:nvPicPr>
        <p:blipFill>
          <a:blip r:embed="rId5"/>
          <a:stretch>
            <a:fillRect/>
          </a:stretch>
        </p:blipFill>
        <p:spPr>
          <a:xfrm>
            <a:off x="3712463" y="1847088"/>
            <a:ext cx="457200" cy="457200"/>
          </a:xfrm>
          <a:prstGeom prst="rect">
            <a:avLst/>
          </a:prstGeom>
        </p:spPr>
      </p:pic>
      <p:sp>
        <p:nvSpPr>
          <p:cNvPr id="16" name="Text"/>
          <p:cNvSpPr txBox="1"/>
          <p:nvPr/>
        </p:nvSpPr>
        <p:spPr>
          <a:xfrm>
            <a:off x="4261104" y="1847088"/>
            <a:ext cx="1865376" cy="475488"/>
          </a:xfrm>
          <a:prstGeom prst="rect">
            <a:avLst/>
          </a:prstGeom>
          <a:noFill/>
        </p:spPr>
        <p:txBody>
          <a:bodyPr wrap="square" lIns="0" tIns="0" rIns="0" bIns="0" anchor="t">
            <a:spAutoFit/>
          </a:bodyPr>
          <a:lstStyle/>
          <a:p>
            <a:pPr algn="l">
              <a:lnSpc>
                <a:spcPct val="122000"/>
              </a:lnSpc>
              <a:spcAft>
                <a:spcPts val="150"/>
              </a:spcAft>
            </a:pPr>
            <a:r>
              <a:rPr sz="850" b="1" i="0" spc="120">
                <a:solidFill>
                  <a:srgbClr val="FBBF24"/>
                </a:solidFill>
                <a:latin typeface="Segoe UI"/>
              </a:rPr>
              <a:t>2 · ON PROMISED DATE</a:t>
            </a:r>
          </a:p>
          <a:p>
            <a:pPr algn="l">
              <a:lnSpc>
                <a:spcPct val="122000"/>
              </a:lnSpc>
            </a:pPr>
            <a:r>
              <a:rPr sz="1120" b="1" i="0">
                <a:solidFill>
                  <a:srgbClr val="F8FAFC"/>
                </a:solidFill>
                <a:latin typeface="Segoe UI"/>
              </a:rPr>
              <a:t>Customer Care Team</a:t>
            </a:r>
          </a:p>
        </p:txBody>
      </p:sp>
      <p:sp>
        <p:nvSpPr>
          <p:cNvPr id="17" name="Text"/>
          <p:cNvSpPr txBox="1"/>
          <p:nvPr/>
        </p:nvSpPr>
        <p:spPr>
          <a:xfrm>
            <a:off x="3712463" y="2450592"/>
            <a:ext cx="2359152" cy="1444752"/>
          </a:xfrm>
          <a:prstGeom prst="rect">
            <a:avLst/>
          </a:prstGeom>
          <a:noFill/>
        </p:spPr>
        <p:txBody>
          <a:bodyPr wrap="square" lIns="0" tIns="0" rIns="0" bIns="0" anchor="t">
            <a:spAutoFit/>
          </a:bodyPr>
          <a:lstStyle/>
          <a:p>
            <a:pPr algn="l">
              <a:lnSpc>
                <a:spcPct val="115000"/>
              </a:lnSpc>
              <a:spcAft>
                <a:spcPts val="800"/>
              </a:spcAft>
            </a:pPr>
            <a:r>
              <a:rPr sz="1550" b="1" i="0">
                <a:solidFill>
                  <a:srgbClr val="F8FAFC"/>
                </a:solidFill>
                <a:latin typeface="Segoe UI"/>
              </a:rPr>
              <a:t>Just the calendar —
no ML model needed</a:t>
            </a:r>
          </a:p>
          <a:p>
            <a:pPr algn="l">
              <a:lnSpc>
                <a:spcPct val="126000"/>
              </a:lnSpc>
            </a:pPr>
            <a:r>
              <a:rPr sz="1040" b="0" i="0">
                <a:solidFill>
                  <a:srgbClr val="CBD5E1"/>
                </a:solidFill>
                <a:latin typeface="Segoe UI"/>
              </a:rPr>
              <a:t>Triggers automatically the instant a promised date passes with no delivery scan.</a:t>
            </a:r>
          </a:p>
        </p:txBody>
      </p:sp>
      <p:sp>
        <p:nvSpPr>
          <p:cNvPr id="18" name="Card"/>
          <p:cNvSpPr/>
          <p:nvPr/>
        </p:nvSpPr>
        <p:spPr>
          <a:xfrm>
            <a:off x="3675887" y="4005072"/>
            <a:ext cx="2432304" cy="1170432"/>
          </a:xfrm>
          <a:prstGeom prst="roundRect">
            <a:avLst>
              <a:gd name="adj" fmla="val 3800"/>
            </a:avLst>
          </a:prstGeom>
          <a:solidFill>
            <a:srgbClr val="0D1627"/>
          </a:solidFill>
          <a:ln w="12700">
            <a:solidFill>
              <a:srgbClr val="26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
          <p:cNvSpPr txBox="1"/>
          <p:nvPr/>
        </p:nvSpPr>
        <p:spPr>
          <a:xfrm>
            <a:off x="3803904" y="4096512"/>
            <a:ext cx="2176272" cy="1005840"/>
          </a:xfrm>
          <a:prstGeom prst="rect">
            <a:avLst/>
          </a:prstGeom>
          <a:noFill/>
        </p:spPr>
        <p:txBody>
          <a:bodyPr wrap="square" lIns="0" tIns="0" rIns="0" bIns="0" anchor="t">
            <a:spAutoFit/>
          </a:bodyPr>
          <a:lstStyle/>
          <a:p>
            <a:pPr algn="l">
              <a:lnSpc>
                <a:spcPct val="122000"/>
              </a:lnSpc>
              <a:spcAft>
                <a:spcPts val="300"/>
              </a:spcAft>
            </a:pPr>
            <a:r>
              <a:rPr sz="840" b="1" i="0" spc="140">
                <a:solidFill>
                  <a:srgbClr val="FBBF24"/>
                </a:solidFill>
                <a:latin typeface="Segoe UI"/>
              </a:rPr>
              <a:t>SOLVES:</a:t>
            </a:r>
          </a:p>
          <a:p>
            <a:pPr algn="l">
              <a:lnSpc>
                <a:spcPct val="124000"/>
              </a:lnSpc>
            </a:pPr>
            <a:r>
              <a:rPr sz="1000" b="0" i="0">
                <a:solidFill>
                  <a:srgbClr val="F8FAFC"/>
                </a:solidFill>
                <a:latin typeface="Segoe UI"/>
              </a:rPr>
              <a:t>Apologises first &amp; pauses the review email before 87.3% of late 1–2★ are written.</a:t>
            </a:r>
          </a:p>
        </p:txBody>
      </p:sp>
      <p:sp>
        <p:nvSpPr>
          <p:cNvPr id="20" name="Card"/>
          <p:cNvSpPr/>
          <p:nvPr/>
        </p:nvSpPr>
        <p:spPr>
          <a:xfrm>
            <a:off x="6455664" y="1664208"/>
            <a:ext cx="2761488" cy="3675887"/>
          </a:xfrm>
          <a:prstGeom prst="roundRect">
            <a:avLst>
              <a:gd name="adj" fmla="val 3800"/>
            </a:avLst>
          </a:prstGeom>
          <a:solidFill>
            <a:srgbClr val="102725"/>
          </a:solidFill>
          <a:ln w="16510">
            <a:solidFill>
              <a:srgbClr val="34D399"/>
            </a:solidFill>
          </a:ln>
          <a:effectLst>
            <a:outerShdw blurRad="177800" dist="44450" dir="5400000" algn="tl" rotWithShape="0">
              <a:srgbClr val="0F172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ard_accent"/>
          <p:cNvSpPr/>
          <p:nvPr/>
        </p:nvSpPr>
        <p:spPr>
          <a:xfrm>
            <a:off x="6601968" y="1664208"/>
            <a:ext cx="2468880" cy="50292"/>
          </a:xfrm>
          <a:prstGeom prst="roundRect">
            <a:avLst>
              <a:gd name="adj" fmla="val 25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g3" descr="image6.png"/>
          <p:cNvPicPr>
            <a:picLocks noChangeAspect="1"/>
          </p:cNvPicPr>
          <p:nvPr/>
        </p:nvPicPr>
        <p:blipFill>
          <a:blip r:embed="rId6"/>
          <a:stretch>
            <a:fillRect/>
          </a:stretch>
        </p:blipFill>
        <p:spPr>
          <a:xfrm>
            <a:off x="6656831" y="1847088"/>
            <a:ext cx="457200" cy="457200"/>
          </a:xfrm>
          <a:prstGeom prst="rect">
            <a:avLst/>
          </a:prstGeom>
        </p:spPr>
      </p:pic>
      <p:sp>
        <p:nvSpPr>
          <p:cNvPr id="23" name="Text"/>
          <p:cNvSpPr txBox="1"/>
          <p:nvPr/>
        </p:nvSpPr>
        <p:spPr>
          <a:xfrm>
            <a:off x="7205472" y="1847088"/>
            <a:ext cx="1865376" cy="475488"/>
          </a:xfrm>
          <a:prstGeom prst="rect">
            <a:avLst/>
          </a:prstGeom>
          <a:noFill/>
        </p:spPr>
        <p:txBody>
          <a:bodyPr wrap="square" lIns="0" tIns="0" rIns="0" bIns="0" anchor="t">
            <a:spAutoFit/>
          </a:bodyPr>
          <a:lstStyle/>
          <a:p>
            <a:pPr algn="l">
              <a:lnSpc>
                <a:spcPct val="122000"/>
              </a:lnSpc>
              <a:spcAft>
                <a:spcPts val="150"/>
              </a:spcAft>
            </a:pPr>
            <a:r>
              <a:rPr sz="850" b="1" i="0" spc="120">
                <a:solidFill>
                  <a:srgbClr val="34D399"/>
                </a:solidFill>
                <a:latin typeface="Segoe UI"/>
              </a:rPr>
              <a:t>3 · AT DELIVERY</a:t>
            </a:r>
          </a:p>
          <a:p>
            <a:pPr algn="l">
              <a:lnSpc>
                <a:spcPct val="122000"/>
              </a:lnSpc>
            </a:pPr>
            <a:r>
              <a:rPr sz="1120" b="1" i="0">
                <a:solidFill>
                  <a:srgbClr val="F8FAFC"/>
                </a:solidFill>
                <a:latin typeface="Segoe UI"/>
              </a:rPr>
              <a:t>Customer Experience Team</a:t>
            </a:r>
          </a:p>
        </p:txBody>
      </p:sp>
      <p:sp>
        <p:nvSpPr>
          <p:cNvPr id="24" name="Text"/>
          <p:cNvSpPr txBox="1"/>
          <p:nvPr/>
        </p:nvSpPr>
        <p:spPr>
          <a:xfrm>
            <a:off x="6656831" y="2450592"/>
            <a:ext cx="2359152" cy="1444752"/>
          </a:xfrm>
          <a:prstGeom prst="rect">
            <a:avLst/>
          </a:prstGeom>
          <a:noFill/>
        </p:spPr>
        <p:txBody>
          <a:bodyPr wrap="square" lIns="0" tIns="0" rIns="0" bIns="0" anchor="t">
            <a:spAutoFit/>
          </a:bodyPr>
          <a:lstStyle/>
          <a:p>
            <a:pPr algn="l">
              <a:lnSpc>
                <a:spcPct val="115000"/>
              </a:lnSpc>
              <a:spcAft>
                <a:spcPts val="800"/>
              </a:spcAft>
            </a:pPr>
            <a:r>
              <a:rPr sz="1550" b="1" i="0">
                <a:solidFill>
                  <a:srgbClr val="F8FAFC"/>
                </a:solidFill>
                <a:latin typeface="Segoe UI"/>
              </a:rPr>
              <a:t>Daily review-risk
call-list ranker</a:t>
            </a:r>
          </a:p>
          <a:p>
            <a:pPr algn="l">
              <a:lnSpc>
                <a:spcPct val="126000"/>
              </a:lnSpc>
            </a:pPr>
            <a:r>
              <a:rPr sz="1040" b="0" i="0">
                <a:solidFill>
                  <a:srgbClr val="CBD5E1"/>
                </a:solidFill>
                <a:latin typeface="Segoe UI"/>
              </a:rPr>
              <a:t>Scores the day's orders so agents call the ~10 buyers most likely to rate 1–2★.</a:t>
            </a:r>
          </a:p>
        </p:txBody>
      </p:sp>
      <p:sp>
        <p:nvSpPr>
          <p:cNvPr id="25" name="Card"/>
          <p:cNvSpPr/>
          <p:nvPr/>
        </p:nvSpPr>
        <p:spPr>
          <a:xfrm>
            <a:off x="6620255" y="4005072"/>
            <a:ext cx="2432304" cy="1170432"/>
          </a:xfrm>
          <a:prstGeom prst="roundRect">
            <a:avLst>
              <a:gd name="adj" fmla="val 3800"/>
            </a:avLst>
          </a:prstGeom>
          <a:solidFill>
            <a:srgbClr val="0D1627"/>
          </a:solidFill>
          <a:ln w="12700">
            <a:solidFill>
              <a:srgbClr val="26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p:cNvSpPr txBox="1"/>
          <p:nvPr/>
        </p:nvSpPr>
        <p:spPr>
          <a:xfrm>
            <a:off x="6748272" y="4096512"/>
            <a:ext cx="2176272" cy="1005840"/>
          </a:xfrm>
          <a:prstGeom prst="rect">
            <a:avLst/>
          </a:prstGeom>
          <a:noFill/>
        </p:spPr>
        <p:txBody>
          <a:bodyPr wrap="square" lIns="0" tIns="0" rIns="0" bIns="0" anchor="t">
            <a:spAutoFit/>
          </a:bodyPr>
          <a:lstStyle/>
          <a:p>
            <a:pPr algn="l">
              <a:lnSpc>
                <a:spcPct val="122000"/>
              </a:lnSpc>
              <a:spcAft>
                <a:spcPts val="300"/>
              </a:spcAft>
            </a:pPr>
            <a:r>
              <a:rPr sz="840" b="1" i="0" spc="140">
                <a:solidFill>
                  <a:srgbClr val="34D399"/>
                </a:solidFill>
                <a:latin typeface="Segoe UI"/>
              </a:rPr>
              <a:t>SOLVES:</a:t>
            </a:r>
          </a:p>
          <a:p>
            <a:pPr algn="l">
              <a:lnSpc>
                <a:spcPct val="124000"/>
              </a:lnSpc>
            </a:pPr>
            <a:r>
              <a:rPr sz="1000" b="0" i="0">
                <a:solidFill>
                  <a:srgbClr val="F8FAFC"/>
                </a:solidFill>
                <a:latin typeface="Segoe UI"/>
              </a:rPr>
              <a:t>Catches damaged, wrong, or delayed orders inside the ~2.1-day post-delivery window.</a:t>
            </a:r>
          </a:p>
        </p:txBody>
      </p:sp>
      <p:sp>
        <p:nvSpPr>
          <p:cNvPr id="27" name="Card"/>
          <p:cNvSpPr/>
          <p:nvPr/>
        </p:nvSpPr>
        <p:spPr>
          <a:xfrm>
            <a:off x="9400032" y="1664208"/>
            <a:ext cx="2212848" cy="3675887"/>
          </a:xfrm>
          <a:prstGeom prst="roundRect">
            <a:avLst>
              <a:gd name="adj" fmla="val 3800"/>
            </a:avLst>
          </a:prstGeom>
          <a:solidFill>
            <a:srgbClr val="281722"/>
          </a:solidFill>
          <a:ln w="13970">
            <a:solidFill>
              <a:srgbClr val="881337"/>
            </a:solidFill>
          </a:ln>
          <a:effectLst>
            <a:outerShdw blurRad="177800" dist="44450" dir="5400000" algn="tl"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Card_accent"/>
          <p:cNvSpPr/>
          <p:nvPr/>
        </p:nvSpPr>
        <p:spPr>
          <a:xfrm>
            <a:off x="9546336" y="1664208"/>
            <a:ext cx="1920240" cy="50292"/>
          </a:xfrm>
          <a:prstGeom prst="roundRect">
            <a:avLst>
              <a:gd name="adj" fmla="val 25000"/>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g4" descr="image7.png"/>
          <p:cNvPicPr>
            <a:picLocks noChangeAspect="1"/>
          </p:cNvPicPr>
          <p:nvPr/>
        </p:nvPicPr>
        <p:blipFill>
          <a:blip r:embed="rId7"/>
          <a:stretch>
            <a:fillRect/>
          </a:stretch>
        </p:blipFill>
        <p:spPr>
          <a:xfrm>
            <a:off x="9601200" y="1847088"/>
            <a:ext cx="457200" cy="457200"/>
          </a:xfrm>
          <a:prstGeom prst="rect">
            <a:avLst/>
          </a:prstGeom>
        </p:spPr>
      </p:pic>
      <p:sp>
        <p:nvSpPr>
          <p:cNvPr id="30" name="Text"/>
          <p:cNvSpPr txBox="1"/>
          <p:nvPr/>
        </p:nvSpPr>
        <p:spPr>
          <a:xfrm>
            <a:off x="10131552" y="1847088"/>
            <a:ext cx="1371600" cy="475488"/>
          </a:xfrm>
          <a:prstGeom prst="rect">
            <a:avLst/>
          </a:prstGeom>
          <a:noFill/>
        </p:spPr>
        <p:txBody>
          <a:bodyPr wrap="square" lIns="0" tIns="0" rIns="0" bIns="0" anchor="t">
            <a:spAutoFit/>
          </a:bodyPr>
          <a:lstStyle/>
          <a:p>
            <a:pPr algn="l">
              <a:lnSpc>
                <a:spcPct val="122000"/>
              </a:lnSpc>
              <a:spcAft>
                <a:spcPts val="150"/>
              </a:spcAft>
            </a:pPr>
            <a:r>
              <a:rPr sz="850" b="1" i="0" spc="120">
                <a:solidFill>
                  <a:srgbClr val="FB7185"/>
                </a:solidFill>
                <a:latin typeface="Segoe UI"/>
              </a:rPr>
              <a:t>AT REVIEW</a:t>
            </a:r>
          </a:p>
          <a:p>
            <a:pPr algn="l">
              <a:lnSpc>
                <a:spcPct val="122000"/>
              </a:lnSpc>
            </a:pPr>
            <a:r>
              <a:rPr sz="1120" b="1" i="0">
                <a:solidFill>
                  <a:srgbClr val="94A3B8"/>
                </a:solidFill>
                <a:latin typeface="Segoe UI"/>
              </a:rPr>
              <a:t>Too Late</a:t>
            </a:r>
          </a:p>
        </p:txBody>
      </p:sp>
      <p:sp>
        <p:nvSpPr>
          <p:cNvPr id="31" name="Text"/>
          <p:cNvSpPr txBox="1"/>
          <p:nvPr/>
        </p:nvSpPr>
        <p:spPr>
          <a:xfrm>
            <a:off x="9582912" y="2505456"/>
            <a:ext cx="1847088" cy="2615184"/>
          </a:xfrm>
          <a:prstGeom prst="rect">
            <a:avLst/>
          </a:prstGeom>
          <a:noFill/>
        </p:spPr>
        <p:txBody>
          <a:bodyPr wrap="square" lIns="0" tIns="0" rIns="0" bIns="0" anchor="t">
            <a:spAutoFit/>
          </a:bodyPr>
          <a:lstStyle/>
          <a:p>
            <a:pPr algn="l">
              <a:lnSpc>
                <a:spcPct val="105000"/>
              </a:lnSpc>
              <a:spcAft>
                <a:spcPts val="600"/>
              </a:spcAft>
            </a:pPr>
            <a:r>
              <a:rPr sz="3400" b="1" i="0">
                <a:solidFill>
                  <a:srgbClr val="FB7185"/>
                </a:solidFill>
                <a:latin typeface="Segoe UI"/>
              </a:rPr>
              <a:t>12.8%</a:t>
            </a:r>
          </a:p>
          <a:p>
            <a:pPr algn="l">
              <a:lnSpc>
                <a:spcPct val="122000"/>
              </a:lnSpc>
              <a:spcAft>
                <a:spcPts val="1000"/>
              </a:spcAft>
            </a:pPr>
            <a:r>
              <a:rPr sz="1050" b="1" i="0">
                <a:solidFill>
                  <a:srgbClr val="F8FAFC"/>
                </a:solidFill>
                <a:latin typeface="Segoe UI"/>
              </a:rPr>
              <a:t>(~1 in 8 delivered orders)</a:t>
            </a:r>
          </a:p>
          <a:p>
            <a:pPr algn="l">
              <a:lnSpc>
                <a:spcPct val="128000"/>
              </a:lnSpc>
              <a:spcAft>
                <a:spcPts val="1200"/>
              </a:spcAft>
            </a:pPr>
            <a:r>
              <a:rPr sz="1000" b="0" i="0">
                <a:solidFill>
                  <a:srgbClr val="CBD5E1"/>
                </a:solidFill>
                <a:latin typeface="Segoe UI"/>
              </a:rPr>
              <a:t>end in a permanent 1–2★ rating once the customer clicks submit.</a:t>
            </a:r>
          </a:p>
          <a:p>
            <a:pPr algn="l">
              <a:lnSpc>
                <a:spcPct val="122000"/>
              </a:lnSpc>
            </a:pPr>
            <a:r>
              <a:rPr sz="900" b="0" i="0">
                <a:solidFill>
                  <a:srgbClr val="94A3B8"/>
                </a:solidFill>
                <a:latin typeface="Segoe UI"/>
              </a:rPr>
              <a:t>14.6% across all reviewed orders including undelivered.</a:t>
            </a:r>
          </a:p>
        </p:txBody>
      </p:sp>
      <p:sp>
        <p:nvSpPr>
          <p:cNvPr id="32" name="Card"/>
          <p:cNvSpPr/>
          <p:nvPr/>
        </p:nvSpPr>
        <p:spPr>
          <a:xfrm>
            <a:off x="566928" y="5504688"/>
            <a:ext cx="11045952" cy="621792"/>
          </a:xfrm>
          <a:prstGeom prst="roundRect">
            <a:avLst>
              <a:gd name="adj" fmla="val 3800"/>
            </a:avLst>
          </a:prstGeom>
          <a:solidFill>
            <a:srgbClr val="132038"/>
          </a:solidFill>
          <a:ln w="12700">
            <a:solidFill>
              <a:srgbClr val="2D436B"/>
            </a:solidFill>
          </a:ln>
          <a:effectLst>
            <a:outerShdw blurRad="177800" dist="44450" dir="5400000" algn="tl" rotWithShape="0">
              <a:srgbClr val="0F172A">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p:cNvSpPr txBox="1"/>
          <p:nvPr/>
        </p:nvSpPr>
        <p:spPr>
          <a:xfrm>
            <a:off x="822960" y="5632704"/>
            <a:ext cx="10561320" cy="384048"/>
          </a:xfrm>
          <a:prstGeom prst="rect">
            <a:avLst/>
          </a:prstGeom>
          <a:noFill/>
        </p:spPr>
        <p:txBody>
          <a:bodyPr wrap="square" lIns="0" tIns="0" rIns="0" bIns="0" anchor="t">
            <a:spAutoFit/>
          </a:bodyPr>
          <a:lstStyle/>
          <a:p>
            <a:pPr algn="l">
              <a:lnSpc>
                <a:spcPct val="122000"/>
              </a:lnSpc>
            </a:pPr>
            <a:r>
              <a:rPr sz="1080" b="1" i="0" spc="120">
                <a:solidFill>
                  <a:srgbClr val="34D399"/>
                </a:solidFill>
                <a:latin typeface="Segoe UI"/>
              </a:rPr>
              <a:t>WHY FANCY MODELS WEREN'T THE POINT:  </a:t>
            </a:r>
            <a:r>
              <a:rPr sz="1150" b="0" i="0">
                <a:solidFill>
                  <a:srgbClr val="CBD5E1"/>
                </a:solidFill>
                <a:latin typeface="Segoe UI"/>
              </a:rPr>
              <a:t>Even a single decision tree captures </a:t>
            </a:r>
            <a:r>
              <a:rPr sz="1150" b="1" i="0">
                <a:solidFill>
                  <a:srgbClr val="F8FAFC"/>
                </a:solidFill>
                <a:latin typeface="Segoe UI"/>
              </a:rPr>
              <a:t>96% of the delivery-triage signal</a:t>
            </a:r>
            <a:r>
              <a:rPr sz="1150" b="0" i="0">
                <a:solidFill>
                  <a:srgbClr val="CBD5E1"/>
                </a:solidFill>
                <a:latin typeface="Segoe UI"/>
              </a:rPr>
              <a:t>, and our middle intervention uses </a:t>
            </a:r>
            <a:r>
              <a:rPr sz="1150" b="1" i="0">
                <a:solidFill>
                  <a:srgbClr val="FBBF24"/>
                </a:solidFill>
                <a:latin typeface="Segoe UI"/>
              </a:rPr>
              <a:t>zero ML</a:t>
            </a:r>
            <a:r>
              <a:rPr sz="1150" b="0" i="0">
                <a:solidFill>
                  <a:srgbClr val="CBD5E1"/>
                </a:solidFill>
                <a:latin typeface="Segoe UI"/>
              </a:rPr>
              <a:t>. Everything ships in one live </a:t>
            </a:r>
            <a:r>
              <a:rPr sz="1150" b="1" i="0">
                <a:solidFill>
                  <a:srgbClr val="60A5FA"/>
                </a:solidFill>
                <a:latin typeface="Segoe UI"/>
              </a:rPr>
              <a:t>scikit-learn + Streamlit</a:t>
            </a:r>
            <a:r>
              <a:rPr sz="1150" b="0" i="0">
                <a:solidFill>
                  <a:srgbClr val="CBD5E1"/>
                </a:solidFill>
                <a:latin typeface="Segoe UI"/>
              </a:rPr>
              <a:t> app.</a:t>
            </a:r>
          </a:p>
        </p:txBody>
      </p:sp>
      <p:sp>
        <p:nvSpPr>
          <p:cNvPr id="34" name="!!NavDock"/>
          <p:cNvSpPr/>
          <p:nvPr/>
        </p:nvSpPr>
        <p:spPr>
          <a:xfrm>
            <a:off x="566928" y="6327648"/>
            <a:ext cx="11055096" cy="384048"/>
          </a:xfrm>
          <a:prstGeom prst="roundRect">
            <a:avLst>
              <a:gd name="adj" fmla="val 50000"/>
            </a:avLst>
          </a:prstGeom>
          <a:solidFill>
            <a:srgbClr val="111B2E"/>
          </a:solidFill>
          <a:ln w="9525">
            <a:solidFill>
              <a:srgbClr val="233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Nav_1">
            <a:hlinkClick r:id="rId8" action="ppaction://hlinksldjump"/>
          </p:cNvPr>
          <p:cNvSpPr/>
          <p:nvPr/>
        </p:nvSpPr>
        <p:spPr>
          <a:xfrm>
            <a:off x="658368" y="6373368"/>
            <a:ext cx="1261872"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01  The Problem</a:t>
            </a:r>
          </a:p>
        </p:txBody>
      </p:sp>
      <p:sp>
        <p:nvSpPr>
          <p:cNvPr id="36" name="Nav_2">
            <a:hlinkClick r:id="rId9" action="ppaction://hlinksldjump"/>
          </p:cNvPr>
          <p:cNvSpPr/>
          <p:nvPr/>
        </p:nvSpPr>
        <p:spPr>
          <a:xfrm>
            <a:off x="1993391" y="6373368"/>
            <a:ext cx="1261872" cy="292608"/>
          </a:xfrm>
          <a:prstGeom prst="roundRect">
            <a:avLst>
              <a:gd name="adj" fmla="val 50000"/>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0B1220"/>
                </a:solidFill>
                <a:latin typeface="Segoe UI"/>
              </a:rPr>
              <a:t>02  Why &amp; Tools</a:t>
            </a:r>
          </a:p>
        </p:txBody>
      </p:sp>
      <p:sp>
        <p:nvSpPr>
          <p:cNvPr id="37" name="Nav_3">
            <a:hlinkClick r:id="rId10" action="ppaction://hlinksldjump"/>
          </p:cNvPr>
          <p:cNvSpPr/>
          <p:nvPr/>
        </p:nvSpPr>
        <p:spPr>
          <a:xfrm>
            <a:off x="3328415" y="6373368"/>
            <a:ext cx="1261872"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03  Proof &amp; App</a:t>
            </a:r>
          </a:p>
        </p:txBody>
      </p:sp>
      <p:sp>
        <p:nvSpPr>
          <p:cNvPr id="38" name="Nav_4">
            <a:hlinkClick r:id="rId11" action="ppaction://hlinksldjump"/>
          </p:cNvPr>
          <p:cNvSpPr/>
          <p:nvPr/>
        </p:nvSpPr>
        <p:spPr>
          <a:xfrm>
            <a:off x="4663440" y="6373368"/>
            <a:ext cx="1261872"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04  Monday Plan</a:t>
            </a:r>
          </a:p>
        </p:txBody>
      </p:sp>
      <p:sp>
        <p:nvSpPr>
          <p:cNvPr id="39" name="Nav_5">
            <a:hlinkClick r:id="rId12" action="ppaction://hlinksldjump"/>
          </p:cNvPr>
          <p:cNvSpPr/>
          <p:nvPr/>
        </p:nvSpPr>
        <p:spPr>
          <a:xfrm>
            <a:off x="5998464" y="6373368"/>
            <a:ext cx="1130198"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05  Takeaways</a:t>
            </a:r>
          </a:p>
        </p:txBody>
      </p:sp>
      <p:sp>
        <p:nvSpPr>
          <p:cNvPr id="40" name="Nav_QA">
            <a:hlinkClick r:id="rId13" action="ppaction://hlinksldjump"/>
          </p:cNvPr>
          <p:cNvSpPr/>
          <p:nvPr/>
        </p:nvSpPr>
        <p:spPr>
          <a:xfrm>
            <a:off x="10387584" y="6373368"/>
            <a:ext cx="1152144" cy="292608"/>
          </a:xfrm>
          <a:prstGeom prst="roundRect">
            <a:avLst>
              <a:gd name="adj" fmla="val 50000"/>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F8FAFC"/>
                </a:solidFill>
                <a:latin typeface="Segoe UI"/>
              </a:rPr>
              <a:t>Q&amp;A · 06/13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anim calcmode="lin" valueType="num">
                                      <p:cBhvr>
                                        <p:cTn id="8" dur="400" fill="hold"/>
                                        <p:tgtEl>
                                          <p:spTgt spid="3"/>
                                        </p:tgtEl>
                                        <p:attrNameLst>
                                          <p:attrName>ppt_x</p:attrName>
                                        </p:attrNameLst>
                                      </p:cBhvr>
                                      <p:tavLst>
                                        <p:tav tm="0">
                                          <p:val>
                                            <p:strVal val="#ppt_x"/>
                                          </p:val>
                                        </p:tav>
                                        <p:tav tm="100000">
                                          <p:val>
                                            <p:strVal val="#ppt_x"/>
                                          </p:val>
                                        </p:tav>
                                      </p:tavLst>
                                    </p:anim>
                                    <p:anim calcmode="lin" valueType="num">
                                      <p:cBhvr>
                                        <p:cTn id="9" dur="40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anim calcmode="lin" valueType="num">
                                      <p:cBhvr>
                                        <p:cTn id="13" dur="400" fill="hold"/>
                                        <p:tgtEl>
                                          <p:spTgt spid="4"/>
                                        </p:tgtEl>
                                        <p:attrNameLst>
                                          <p:attrName>ppt_x</p:attrName>
                                        </p:attrNameLst>
                                      </p:cBhvr>
                                      <p:tavLst>
                                        <p:tav tm="0">
                                          <p:val>
                                            <p:strVal val="#ppt_x"/>
                                          </p:val>
                                        </p:tav>
                                        <p:tav tm="100000">
                                          <p:val>
                                            <p:strVal val="#ppt_x"/>
                                          </p:val>
                                        </p:tav>
                                      </p:tavLst>
                                    </p:anim>
                                    <p:anim calcmode="lin" valueType="num">
                                      <p:cBhvr>
                                        <p:cTn id="14" dur="40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anim calcmode="lin" valueType="num">
                                      <p:cBhvr>
                                        <p:cTn id="18" dur="400" fill="hold"/>
                                        <p:tgtEl>
                                          <p:spTgt spid="5"/>
                                        </p:tgtEl>
                                        <p:attrNameLst>
                                          <p:attrName>ppt_x</p:attrName>
                                        </p:attrNameLst>
                                      </p:cBhvr>
                                      <p:tavLst>
                                        <p:tav tm="0">
                                          <p:val>
                                            <p:strVal val="#ppt_x"/>
                                          </p:val>
                                        </p:tav>
                                        <p:tav tm="100000">
                                          <p:val>
                                            <p:strVal val="#ppt_x"/>
                                          </p:val>
                                        </p:tav>
                                      </p:tavLst>
                                    </p:anim>
                                    <p:anim calcmode="lin" valueType="num">
                                      <p:cBhvr>
                                        <p:cTn id="19" dur="40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17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40"/>
                                        <p:tgtEl>
                                          <p:spTgt spid="6"/>
                                        </p:tgtEl>
                                      </p:cBhvr>
                                    </p:animEffect>
                                    <p:anim calcmode="lin" valueType="num">
                                      <p:cBhvr>
                                        <p:cTn id="23" dur="440" fill="hold"/>
                                        <p:tgtEl>
                                          <p:spTgt spid="6"/>
                                        </p:tgtEl>
                                        <p:attrNameLst>
                                          <p:attrName>ppt_x</p:attrName>
                                        </p:attrNameLst>
                                      </p:cBhvr>
                                      <p:tavLst>
                                        <p:tav tm="0">
                                          <p:val>
                                            <p:strVal val="#ppt_x"/>
                                          </p:val>
                                        </p:tav>
                                        <p:tav tm="100000">
                                          <p:val>
                                            <p:strVal val="#ppt_x"/>
                                          </p:val>
                                        </p:tav>
                                      </p:tavLst>
                                    </p:anim>
                                    <p:anim calcmode="lin" valueType="num">
                                      <p:cBhvr>
                                        <p:cTn id="24" dur="44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7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40"/>
                                        <p:tgtEl>
                                          <p:spTgt spid="7"/>
                                        </p:tgtEl>
                                      </p:cBhvr>
                                    </p:animEffect>
                                    <p:anim calcmode="lin" valueType="num">
                                      <p:cBhvr>
                                        <p:cTn id="28" dur="440" fill="hold"/>
                                        <p:tgtEl>
                                          <p:spTgt spid="7"/>
                                        </p:tgtEl>
                                        <p:attrNameLst>
                                          <p:attrName>ppt_x</p:attrName>
                                        </p:attrNameLst>
                                      </p:cBhvr>
                                      <p:tavLst>
                                        <p:tav tm="0">
                                          <p:val>
                                            <p:strVal val="#ppt_x"/>
                                          </p:val>
                                        </p:tav>
                                        <p:tav tm="100000">
                                          <p:val>
                                            <p:strVal val="#ppt_x"/>
                                          </p:val>
                                        </p:tav>
                                      </p:tavLst>
                                    </p:anim>
                                    <p:anim calcmode="lin" valueType="num">
                                      <p:cBhvr>
                                        <p:cTn id="29" dur="440" decel="100000" fill="hold"/>
                                        <p:tgtEl>
                                          <p:spTgt spid="7"/>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7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40"/>
                                        <p:tgtEl>
                                          <p:spTgt spid="8"/>
                                        </p:tgtEl>
                                      </p:cBhvr>
                                    </p:animEffect>
                                    <p:anim calcmode="lin" valueType="num">
                                      <p:cBhvr>
                                        <p:cTn id="33" dur="440" fill="hold"/>
                                        <p:tgtEl>
                                          <p:spTgt spid="8"/>
                                        </p:tgtEl>
                                        <p:attrNameLst>
                                          <p:attrName>ppt_x</p:attrName>
                                        </p:attrNameLst>
                                      </p:cBhvr>
                                      <p:tavLst>
                                        <p:tav tm="0">
                                          <p:val>
                                            <p:strVal val="#ppt_x"/>
                                          </p:val>
                                        </p:tav>
                                        <p:tav tm="100000">
                                          <p:val>
                                            <p:strVal val="#ppt_x"/>
                                          </p:val>
                                        </p:tav>
                                      </p:tavLst>
                                    </p:anim>
                                    <p:anim calcmode="lin" valueType="num">
                                      <p:cBhvr>
                                        <p:cTn id="34" dur="440" decel="100000" fill="hold"/>
                                        <p:tgtEl>
                                          <p:spTgt spid="8"/>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17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40"/>
                                        <p:tgtEl>
                                          <p:spTgt spid="9"/>
                                        </p:tgtEl>
                                      </p:cBhvr>
                                    </p:animEffect>
                                    <p:anim calcmode="lin" valueType="num">
                                      <p:cBhvr>
                                        <p:cTn id="38" dur="440" fill="hold"/>
                                        <p:tgtEl>
                                          <p:spTgt spid="9"/>
                                        </p:tgtEl>
                                        <p:attrNameLst>
                                          <p:attrName>ppt_x</p:attrName>
                                        </p:attrNameLst>
                                      </p:cBhvr>
                                      <p:tavLst>
                                        <p:tav tm="0">
                                          <p:val>
                                            <p:strVal val="#ppt_x"/>
                                          </p:val>
                                        </p:tav>
                                        <p:tav tm="100000">
                                          <p:val>
                                            <p:strVal val="#ppt_x"/>
                                          </p:val>
                                        </p:tav>
                                      </p:tavLst>
                                    </p:anim>
                                    <p:anim calcmode="lin" valueType="num">
                                      <p:cBhvr>
                                        <p:cTn id="39" dur="440" decel="100000" fill="hold"/>
                                        <p:tgtEl>
                                          <p:spTgt spid="9"/>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17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440"/>
                                        <p:tgtEl>
                                          <p:spTgt spid="10"/>
                                        </p:tgtEl>
                                      </p:cBhvr>
                                    </p:animEffect>
                                    <p:anim calcmode="lin" valueType="num">
                                      <p:cBhvr>
                                        <p:cTn id="43" dur="440" fill="hold"/>
                                        <p:tgtEl>
                                          <p:spTgt spid="10"/>
                                        </p:tgtEl>
                                        <p:attrNameLst>
                                          <p:attrName>ppt_x</p:attrName>
                                        </p:attrNameLst>
                                      </p:cBhvr>
                                      <p:tavLst>
                                        <p:tav tm="0">
                                          <p:val>
                                            <p:strVal val="#ppt_x"/>
                                          </p:val>
                                        </p:tav>
                                        <p:tav tm="100000">
                                          <p:val>
                                            <p:strVal val="#ppt_x"/>
                                          </p:val>
                                        </p:tav>
                                      </p:tavLst>
                                    </p:anim>
                                    <p:anim calcmode="lin" valueType="num">
                                      <p:cBhvr>
                                        <p:cTn id="44" dur="440" decel="100000" fill="hold"/>
                                        <p:tgtEl>
                                          <p:spTgt spid="10"/>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17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440"/>
                                        <p:tgtEl>
                                          <p:spTgt spid="11"/>
                                        </p:tgtEl>
                                      </p:cBhvr>
                                    </p:animEffect>
                                    <p:anim calcmode="lin" valueType="num">
                                      <p:cBhvr>
                                        <p:cTn id="48" dur="440" fill="hold"/>
                                        <p:tgtEl>
                                          <p:spTgt spid="11"/>
                                        </p:tgtEl>
                                        <p:attrNameLst>
                                          <p:attrName>ppt_x</p:attrName>
                                        </p:attrNameLst>
                                      </p:cBhvr>
                                      <p:tavLst>
                                        <p:tav tm="0">
                                          <p:val>
                                            <p:strVal val="#ppt_x"/>
                                          </p:val>
                                        </p:tav>
                                        <p:tav tm="100000">
                                          <p:val>
                                            <p:strVal val="#ppt_x"/>
                                          </p:val>
                                        </p:tav>
                                      </p:tavLst>
                                    </p:anim>
                                    <p:anim calcmode="lin" valueType="num">
                                      <p:cBhvr>
                                        <p:cTn id="49" dur="440" decel="100000" fill="hold"/>
                                        <p:tgtEl>
                                          <p:spTgt spid="11"/>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17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40"/>
                                        <p:tgtEl>
                                          <p:spTgt spid="12"/>
                                        </p:tgtEl>
                                      </p:cBhvr>
                                    </p:animEffect>
                                    <p:anim calcmode="lin" valueType="num">
                                      <p:cBhvr>
                                        <p:cTn id="53" dur="440" fill="hold"/>
                                        <p:tgtEl>
                                          <p:spTgt spid="12"/>
                                        </p:tgtEl>
                                        <p:attrNameLst>
                                          <p:attrName>ppt_x</p:attrName>
                                        </p:attrNameLst>
                                      </p:cBhvr>
                                      <p:tavLst>
                                        <p:tav tm="0">
                                          <p:val>
                                            <p:strVal val="#ppt_x"/>
                                          </p:val>
                                        </p:tav>
                                        <p:tav tm="100000">
                                          <p:val>
                                            <p:strVal val="#ppt_x"/>
                                          </p:val>
                                        </p:tav>
                                      </p:tavLst>
                                    </p:anim>
                                    <p:anim calcmode="lin" valueType="num">
                                      <p:cBhvr>
                                        <p:cTn id="54" dur="440" decel="100000" fill="hold"/>
                                        <p:tgtEl>
                                          <p:spTgt spid="12"/>
                                        </p:tgtEl>
                                        <p:attrNameLst>
                                          <p:attrName>ppt_y</p:attrName>
                                        </p:attrNameLst>
                                      </p:cBhvr>
                                      <p:tavLst>
                                        <p:tav tm="0">
                                          <p:val>
                                            <p:strVal val="#ppt_y+0.018"/>
                                          </p:val>
                                        </p:tav>
                                        <p:tav tm="100000">
                                          <p:val>
                                            <p:strVal val="#ppt_y"/>
                                          </p:val>
                                        </p:tav>
                                      </p:tavLst>
                                    </p:anim>
                                  </p:childTnLst>
                                </p:cTn>
                              </p:par>
                              <p:par>
                                <p:cTn id="55" presetID="42" presetClass="entr" presetSubtype="4" fill="hold" grpId="0" nodeType="withEffect">
                                  <p:stCondLst>
                                    <p:cond delay="30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440"/>
                                        <p:tgtEl>
                                          <p:spTgt spid="13"/>
                                        </p:tgtEl>
                                      </p:cBhvr>
                                    </p:animEffect>
                                    <p:anim calcmode="lin" valueType="num">
                                      <p:cBhvr>
                                        <p:cTn id="58" dur="440" fill="hold"/>
                                        <p:tgtEl>
                                          <p:spTgt spid="13"/>
                                        </p:tgtEl>
                                        <p:attrNameLst>
                                          <p:attrName>ppt_x</p:attrName>
                                        </p:attrNameLst>
                                      </p:cBhvr>
                                      <p:tavLst>
                                        <p:tav tm="0">
                                          <p:val>
                                            <p:strVal val="#ppt_x"/>
                                          </p:val>
                                        </p:tav>
                                        <p:tav tm="100000">
                                          <p:val>
                                            <p:strVal val="#ppt_x"/>
                                          </p:val>
                                        </p:tav>
                                      </p:tavLst>
                                    </p:anim>
                                    <p:anim calcmode="lin" valueType="num">
                                      <p:cBhvr>
                                        <p:cTn id="59" dur="440" decel="100000" fill="hold"/>
                                        <p:tgtEl>
                                          <p:spTgt spid="13"/>
                                        </p:tgtEl>
                                        <p:attrNameLst>
                                          <p:attrName>ppt_y</p:attrName>
                                        </p:attrNameLst>
                                      </p:cBhvr>
                                      <p:tavLst>
                                        <p:tav tm="0">
                                          <p:val>
                                            <p:strVal val="#ppt_y+0.018"/>
                                          </p:val>
                                        </p:tav>
                                        <p:tav tm="100000">
                                          <p:val>
                                            <p:strVal val="#ppt_y"/>
                                          </p:val>
                                        </p:tav>
                                      </p:tavLst>
                                    </p:anim>
                                  </p:childTnLst>
                                </p:cTn>
                              </p:par>
                              <p:par>
                                <p:cTn id="60" presetID="42" presetClass="entr" presetSubtype="4" fill="hold" grpId="0" nodeType="withEffect">
                                  <p:stCondLst>
                                    <p:cond delay="30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440"/>
                                        <p:tgtEl>
                                          <p:spTgt spid="14"/>
                                        </p:tgtEl>
                                      </p:cBhvr>
                                    </p:animEffect>
                                    <p:anim calcmode="lin" valueType="num">
                                      <p:cBhvr>
                                        <p:cTn id="63" dur="440" fill="hold"/>
                                        <p:tgtEl>
                                          <p:spTgt spid="14"/>
                                        </p:tgtEl>
                                        <p:attrNameLst>
                                          <p:attrName>ppt_x</p:attrName>
                                        </p:attrNameLst>
                                      </p:cBhvr>
                                      <p:tavLst>
                                        <p:tav tm="0">
                                          <p:val>
                                            <p:strVal val="#ppt_x"/>
                                          </p:val>
                                        </p:tav>
                                        <p:tav tm="100000">
                                          <p:val>
                                            <p:strVal val="#ppt_x"/>
                                          </p:val>
                                        </p:tav>
                                      </p:tavLst>
                                    </p:anim>
                                    <p:anim calcmode="lin" valueType="num">
                                      <p:cBhvr>
                                        <p:cTn id="64" dur="440" decel="100000" fill="hold"/>
                                        <p:tgtEl>
                                          <p:spTgt spid="14"/>
                                        </p:tgtEl>
                                        <p:attrNameLst>
                                          <p:attrName>ppt_y</p:attrName>
                                        </p:attrNameLst>
                                      </p:cBhvr>
                                      <p:tavLst>
                                        <p:tav tm="0">
                                          <p:val>
                                            <p:strVal val="#ppt_y+0.018"/>
                                          </p:val>
                                        </p:tav>
                                        <p:tav tm="100000">
                                          <p:val>
                                            <p:strVal val="#ppt_y"/>
                                          </p:val>
                                        </p:tav>
                                      </p:tavLst>
                                    </p:anim>
                                  </p:childTnLst>
                                </p:cTn>
                              </p:par>
                              <p:par>
                                <p:cTn id="65" presetID="42" presetClass="entr" presetSubtype="4" fill="hold" grpId="0" nodeType="withEffect">
                                  <p:stCondLst>
                                    <p:cond delay="3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440"/>
                                        <p:tgtEl>
                                          <p:spTgt spid="15"/>
                                        </p:tgtEl>
                                      </p:cBhvr>
                                    </p:animEffect>
                                    <p:anim calcmode="lin" valueType="num">
                                      <p:cBhvr>
                                        <p:cTn id="68" dur="440" fill="hold"/>
                                        <p:tgtEl>
                                          <p:spTgt spid="15"/>
                                        </p:tgtEl>
                                        <p:attrNameLst>
                                          <p:attrName>ppt_x</p:attrName>
                                        </p:attrNameLst>
                                      </p:cBhvr>
                                      <p:tavLst>
                                        <p:tav tm="0">
                                          <p:val>
                                            <p:strVal val="#ppt_x"/>
                                          </p:val>
                                        </p:tav>
                                        <p:tav tm="100000">
                                          <p:val>
                                            <p:strVal val="#ppt_x"/>
                                          </p:val>
                                        </p:tav>
                                      </p:tavLst>
                                    </p:anim>
                                    <p:anim calcmode="lin" valueType="num">
                                      <p:cBhvr>
                                        <p:cTn id="69" dur="440" decel="100000" fill="hold"/>
                                        <p:tgtEl>
                                          <p:spTgt spid="15"/>
                                        </p:tgtEl>
                                        <p:attrNameLst>
                                          <p:attrName>ppt_y</p:attrName>
                                        </p:attrNameLst>
                                      </p:cBhvr>
                                      <p:tavLst>
                                        <p:tav tm="0">
                                          <p:val>
                                            <p:strVal val="#ppt_y+0.018"/>
                                          </p:val>
                                        </p:tav>
                                        <p:tav tm="100000">
                                          <p:val>
                                            <p:strVal val="#ppt_y"/>
                                          </p:val>
                                        </p:tav>
                                      </p:tavLst>
                                    </p:anim>
                                  </p:childTnLst>
                                </p:cTn>
                              </p:par>
                              <p:par>
                                <p:cTn id="70" presetID="42" presetClass="entr" presetSubtype="4" fill="hold" grpId="0" nodeType="withEffect">
                                  <p:stCondLst>
                                    <p:cond delay="30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440"/>
                                        <p:tgtEl>
                                          <p:spTgt spid="16"/>
                                        </p:tgtEl>
                                      </p:cBhvr>
                                    </p:animEffect>
                                    <p:anim calcmode="lin" valueType="num">
                                      <p:cBhvr>
                                        <p:cTn id="73" dur="440" fill="hold"/>
                                        <p:tgtEl>
                                          <p:spTgt spid="16"/>
                                        </p:tgtEl>
                                        <p:attrNameLst>
                                          <p:attrName>ppt_x</p:attrName>
                                        </p:attrNameLst>
                                      </p:cBhvr>
                                      <p:tavLst>
                                        <p:tav tm="0">
                                          <p:val>
                                            <p:strVal val="#ppt_x"/>
                                          </p:val>
                                        </p:tav>
                                        <p:tav tm="100000">
                                          <p:val>
                                            <p:strVal val="#ppt_x"/>
                                          </p:val>
                                        </p:tav>
                                      </p:tavLst>
                                    </p:anim>
                                    <p:anim calcmode="lin" valueType="num">
                                      <p:cBhvr>
                                        <p:cTn id="74" dur="440" decel="100000" fill="hold"/>
                                        <p:tgtEl>
                                          <p:spTgt spid="16"/>
                                        </p:tgtEl>
                                        <p:attrNameLst>
                                          <p:attrName>ppt_y</p:attrName>
                                        </p:attrNameLst>
                                      </p:cBhvr>
                                      <p:tavLst>
                                        <p:tav tm="0">
                                          <p:val>
                                            <p:strVal val="#ppt_y+0.018"/>
                                          </p:val>
                                        </p:tav>
                                        <p:tav tm="100000">
                                          <p:val>
                                            <p:strVal val="#ppt_y"/>
                                          </p:val>
                                        </p:tav>
                                      </p:tavLst>
                                    </p:anim>
                                  </p:childTnLst>
                                </p:cTn>
                              </p:par>
                              <p:par>
                                <p:cTn id="75" presetID="42" presetClass="entr" presetSubtype="4" fill="hold" grpId="0" nodeType="withEffect">
                                  <p:stCondLst>
                                    <p:cond delay="30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440"/>
                                        <p:tgtEl>
                                          <p:spTgt spid="17"/>
                                        </p:tgtEl>
                                      </p:cBhvr>
                                    </p:animEffect>
                                    <p:anim calcmode="lin" valueType="num">
                                      <p:cBhvr>
                                        <p:cTn id="78" dur="440" fill="hold"/>
                                        <p:tgtEl>
                                          <p:spTgt spid="17"/>
                                        </p:tgtEl>
                                        <p:attrNameLst>
                                          <p:attrName>ppt_x</p:attrName>
                                        </p:attrNameLst>
                                      </p:cBhvr>
                                      <p:tavLst>
                                        <p:tav tm="0">
                                          <p:val>
                                            <p:strVal val="#ppt_x"/>
                                          </p:val>
                                        </p:tav>
                                        <p:tav tm="100000">
                                          <p:val>
                                            <p:strVal val="#ppt_x"/>
                                          </p:val>
                                        </p:tav>
                                      </p:tavLst>
                                    </p:anim>
                                    <p:anim calcmode="lin" valueType="num">
                                      <p:cBhvr>
                                        <p:cTn id="79" dur="440" decel="100000" fill="hold"/>
                                        <p:tgtEl>
                                          <p:spTgt spid="17"/>
                                        </p:tgtEl>
                                        <p:attrNameLst>
                                          <p:attrName>ppt_y</p:attrName>
                                        </p:attrNameLst>
                                      </p:cBhvr>
                                      <p:tavLst>
                                        <p:tav tm="0">
                                          <p:val>
                                            <p:strVal val="#ppt_y+0.018"/>
                                          </p:val>
                                        </p:tav>
                                        <p:tav tm="100000">
                                          <p:val>
                                            <p:strVal val="#ppt_y"/>
                                          </p:val>
                                        </p:tav>
                                      </p:tavLst>
                                    </p:anim>
                                  </p:childTnLst>
                                </p:cTn>
                              </p:par>
                              <p:par>
                                <p:cTn id="80" presetID="42" presetClass="entr" presetSubtype="4" fill="hold" grpId="0" nodeType="withEffect">
                                  <p:stCondLst>
                                    <p:cond delay="30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440"/>
                                        <p:tgtEl>
                                          <p:spTgt spid="18"/>
                                        </p:tgtEl>
                                      </p:cBhvr>
                                    </p:animEffect>
                                    <p:anim calcmode="lin" valueType="num">
                                      <p:cBhvr>
                                        <p:cTn id="83" dur="440" fill="hold"/>
                                        <p:tgtEl>
                                          <p:spTgt spid="18"/>
                                        </p:tgtEl>
                                        <p:attrNameLst>
                                          <p:attrName>ppt_x</p:attrName>
                                        </p:attrNameLst>
                                      </p:cBhvr>
                                      <p:tavLst>
                                        <p:tav tm="0">
                                          <p:val>
                                            <p:strVal val="#ppt_x"/>
                                          </p:val>
                                        </p:tav>
                                        <p:tav tm="100000">
                                          <p:val>
                                            <p:strVal val="#ppt_x"/>
                                          </p:val>
                                        </p:tav>
                                      </p:tavLst>
                                    </p:anim>
                                    <p:anim calcmode="lin" valueType="num">
                                      <p:cBhvr>
                                        <p:cTn id="84" dur="440" decel="100000" fill="hold"/>
                                        <p:tgtEl>
                                          <p:spTgt spid="18"/>
                                        </p:tgtEl>
                                        <p:attrNameLst>
                                          <p:attrName>ppt_y</p:attrName>
                                        </p:attrNameLst>
                                      </p:cBhvr>
                                      <p:tavLst>
                                        <p:tav tm="0">
                                          <p:val>
                                            <p:strVal val="#ppt_y+0.018"/>
                                          </p:val>
                                        </p:tav>
                                        <p:tav tm="100000">
                                          <p:val>
                                            <p:strVal val="#ppt_y"/>
                                          </p:val>
                                        </p:tav>
                                      </p:tavLst>
                                    </p:anim>
                                  </p:childTnLst>
                                </p:cTn>
                              </p:par>
                              <p:par>
                                <p:cTn id="85" presetID="42" presetClass="entr" presetSubtype="4" fill="hold" grpId="0" nodeType="withEffect">
                                  <p:stCondLst>
                                    <p:cond delay="30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440"/>
                                        <p:tgtEl>
                                          <p:spTgt spid="19"/>
                                        </p:tgtEl>
                                      </p:cBhvr>
                                    </p:animEffect>
                                    <p:anim calcmode="lin" valueType="num">
                                      <p:cBhvr>
                                        <p:cTn id="88" dur="440" fill="hold"/>
                                        <p:tgtEl>
                                          <p:spTgt spid="19"/>
                                        </p:tgtEl>
                                        <p:attrNameLst>
                                          <p:attrName>ppt_x</p:attrName>
                                        </p:attrNameLst>
                                      </p:cBhvr>
                                      <p:tavLst>
                                        <p:tav tm="0">
                                          <p:val>
                                            <p:strVal val="#ppt_x"/>
                                          </p:val>
                                        </p:tav>
                                        <p:tav tm="100000">
                                          <p:val>
                                            <p:strVal val="#ppt_x"/>
                                          </p:val>
                                        </p:tav>
                                      </p:tavLst>
                                    </p:anim>
                                    <p:anim calcmode="lin" valueType="num">
                                      <p:cBhvr>
                                        <p:cTn id="89" dur="440" decel="100000" fill="hold"/>
                                        <p:tgtEl>
                                          <p:spTgt spid="19"/>
                                        </p:tgtEl>
                                        <p:attrNameLst>
                                          <p:attrName>ppt_y</p:attrName>
                                        </p:attrNameLst>
                                      </p:cBhvr>
                                      <p:tavLst>
                                        <p:tav tm="0">
                                          <p:val>
                                            <p:strVal val="#ppt_y+0.018"/>
                                          </p:val>
                                        </p:tav>
                                        <p:tav tm="100000">
                                          <p:val>
                                            <p:strVal val="#ppt_y"/>
                                          </p:val>
                                        </p:tav>
                                      </p:tavLst>
                                    </p:anim>
                                  </p:childTnLst>
                                </p:cTn>
                              </p:par>
                              <p:par>
                                <p:cTn id="90" presetID="42" presetClass="entr" presetSubtype="4" fill="hold" grpId="0" nodeType="withEffect">
                                  <p:stCondLst>
                                    <p:cond delay="43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440"/>
                                        <p:tgtEl>
                                          <p:spTgt spid="20"/>
                                        </p:tgtEl>
                                      </p:cBhvr>
                                    </p:animEffect>
                                    <p:anim calcmode="lin" valueType="num">
                                      <p:cBhvr>
                                        <p:cTn id="93" dur="440" fill="hold"/>
                                        <p:tgtEl>
                                          <p:spTgt spid="20"/>
                                        </p:tgtEl>
                                        <p:attrNameLst>
                                          <p:attrName>ppt_x</p:attrName>
                                        </p:attrNameLst>
                                      </p:cBhvr>
                                      <p:tavLst>
                                        <p:tav tm="0">
                                          <p:val>
                                            <p:strVal val="#ppt_x"/>
                                          </p:val>
                                        </p:tav>
                                        <p:tav tm="100000">
                                          <p:val>
                                            <p:strVal val="#ppt_x"/>
                                          </p:val>
                                        </p:tav>
                                      </p:tavLst>
                                    </p:anim>
                                    <p:anim calcmode="lin" valueType="num">
                                      <p:cBhvr>
                                        <p:cTn id="94" dur="440" decel="100000" fill="hold"/>
                                        <p:tgtEl>
                                          <p:spTgt spid="20"/>
                                        </p:tgtEl>
                                        <p:attrNameLst>
                                          <p:attrName>ppt_y</p:attrName>
                                        </p:attrNameLst>
                                      </p:cBhvr>
                                      <p:tavLst>
                                        <p:tav tm="0">
                                          <p:val>
                                            <p:strVal val="#ppt_y+0.018"/>
                                          </p:val>
                                        </p:tav>
                                        <p:tav tm="100000">
                                          <p:val>
                                            <p:strVal val="#ppt_y"/>
                                          </p:val>
                                        </p:tav>
                                      </p:tavLst>
                                    </p:anim>
                                  </p:childTnLst>
                                </p:cTn>
                              </p:par>
                              <p:par>
                                <p:cTn id="95" presetID="42" presetClass="entr" presetSubtype="4" fill="hold" grpId="0" nodeType="withEffect">
                                  <p:stCondLst>
                                    <p:cond delay="43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440"/>
                                        <p:tgtEl>
                                          <p:spTgt spid="21"/>
                                        </p:tgtEl>
                                      </p:cBhvr>
                                    </p:animEffect>
                                    <p:anim calcmode="lin" valueType="num">
                                      <p:cBhvr>
                                        <p:cTn id="98" dur="440" fill="hold"/>
                                        <p:tgtEl>
                                          <p:spTgt spid="21"/>
                                        </p:tgtEl>
                                        <p:attrNameLst>
                                          <p:attrName>ppt_x</p:attrName>
                                        </p:attrNameLst>
                                      </p:cBhvr>
                                      <p:tavLst>
                                        <p:tav tm="0">
                                          <p:val>
                                            <p:strVal val="#ppt_x"/>
                                          </p:val>
                                        </p:tav>
                                        <p:tav tm="100000">
                                          <p:val>
                                            <p:strVal val="#ppt_x"/>
                                          </p:val>
                                        </p:tav>
                                      </p:tavLst>
                                    </p:anim>
                                    <p:anim calcmode="lin" valueType="num">
                                      <p:cBhvr>
                                        <p:cTn id="99" dur="440" decel="100000" fill="hold"/>
                                        <p:tgtEl>
                                          <p:spTgt spid="21"/>
                                        </p:tgtEl>
                                        <p:attrNameLst>
                                          <p:attrName>ppt_y</p:attrName>
                                        </p:attrNameLst>
                                      </p:cBhvr>
                                      <p:tavLst>
                                        <p:tav tm="0">
                                          <p:val>
                                            <p:strVal val="#ppt_y+0.018"/>
                                          </p:val>
                                        </p:tav>
                                        <p:tav tm="100000">
                                          <p:val>
                                            <p:strVal val="#ppt_y"/>
                                          </p:val>
                                        </p:tav>
                                      </p:tavLst>
                                    </p:anim>
                                  </p:childTnLst>
                                </p:cTn>
                              </p:par>
                              <p:par>
                                <p:cTn id="100" presetID="42" presetClass="entr" presetSubtype="4" fill="hold" grpId="0" nodeType="withEffect">
                                  <p:stCondLst>
                                    <p:cond delay="43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440"/>
                                        <p:tgtEl>
                                          <p:spTgt spid="22"/>
                                        </p:tgtEl>
                                      </p:cBhvr>
                                    </p:animEffect>
                                    <p:anim calcmode="lin" valueType="num">
                                      <p:cBhvr>
                                        <p:cTn id="103" dur="440" fill="hold"/>
                                        <p:tgtEl>
                                          <p:spTgt spid="22"/>
                                        </p:tgtEl>
                                        <p:attrNameLst>
                                          <p:attrName>ppt_x</p:attrName>
                                        </p:attrNameLst>
                                      </p:cBhvr>
                                      <p:tavLst>
                                        <p:tav tm="0">
                                          <p:val>
                                            <p:strVal val="#ppt_x"/>
                                          </p:val>
                                        </p:tav>
                                        <p:tav tm="100000">
                                          <p:val>
                                            <p:strVal val="#ppt_x"/>
                                          </p:val>
                                        </p:tav>
                                      </p:tavLst>
                                    </p:anim>
                                    <p:anim calcmode="lin" valueType="num">
                                      <p:cBhvr>
                                        <p:cTn id="104" dur="440" decel="100000" fill="hold"/>
                                        <p:tgtEl>
                                          <p:spTgt spid="22"/>
                                        </p:tgtEl>
                                        <p:attrNameLst>
                                          <p:attrName>ppt_y</p:attrName>
                                        </p:attrNameLst>
                                      </p:cBhvr>
                                      <p:tavLst>
                                        <p:tav tm="0">
                                          <p:val>
                                            <p:strVal val="#ppt_y+0.018"/>
                                          </p:val>
                                        </p:tav>
                                        <p:tav tm="100000">
                                          <p:val>
                                            <p:strVal val="#ppt_y"/>
                                          </p:val>
                                        </p:tav>
                                      </p:tavLst>
                                    </p:anim>
                                  </p:childTnLst>
                                </p:cTn>
                              </p:par>
                              <p:par>
                                <p:cTn id="105" presetID="42" presetClass="entr" presetSubtype="4" fill="hold" grpId="0" nodeType="withEffect">
                                  <p:stCondLst>
                                    <p:cond delay="43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440"/>
                                        <p:tgtEl>
                                          <p:spTgt spid="23"/>
                                        </p:tgtEl>
                                      </p:cBhvr>
                                    </p:animEffect>
                                    <p:anim calcmode="lin" valueType="num">
                                      <p:cBhvr>
                                        <p:cTn id="108" dur="440" fill="hold"/>
                                        <p:tgtEl>
                                          <p:spTgt spid="23"/>
                                        </p:tgtEl>
                                        <p:attrNameLst>
                                          <p:attrName>ppt_x</p:attrName>
                                        </p:attrNameLst>
                                      </p:cBhvr>
                                      <p:tavLst>
                                        <p:tav tm="0">
                                          <p:val>
                                            <p:strVal val="#ppt_x"/>
                                          </p:val>
                                        </p:tav>
                                        <p:tav tm="100000">
                                          <p:val>
                                            <p:strVal val="#ppt_x"/>
                                          </p:val>
                                        </p:tav>
                                      </p:tavLst>
                                    </p:anim>
                                    <p:anim calcmode="lin" valueType="num">
                                      <p:cBhvr>
                                        <p:cTn id="109" dur="440" decel="100000" fill="hold"/>
                                        <p:tgtEl>
                                          <p:spTgt spid="23"/>
                                        </p:tgtEl>
                                        <p:attrNameLst>
                                          <p:attrName>ppt_y</p:attrName>
                                        </p:attrNameLst>
                                      </p:cBhvr>
                                      <p:tavLst>
                                        <p:tav tm="0">
                                          <p:val>
                                            <p:strVal val="#ppt_y+0.018"/>
                                          </p:val>
                                        </p:tav>
                                        <p:tav tm="100000">
                                          <p:val>
                                            <p:strVal val="#ppt_y"/>
                                          </p:val>
                                        </p:tav>
                                      </p:tavLst>
                                    </p:anim>
                                  </p:childTnLst>
                                </p:cTn>
                              </p:par>
                              <p:par>
                                <p:cTn id="110" presetID="42" presetClass="entr" presetSubtype="4" fill="hold" grpId="0" nodeType="withEffect">
                                  <p:stCondLst>
                                    <p:cond delay="43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440"/>
                                        <p:tgtEl>
                                          <p:spTgt spid="24"/>
                                        </p:tgtEl>
                                      </p:cBhvr>
                                    </p:animEffect>
                                    <p:anim calcmode="lin" valueType="num">
                                      <p:cBhvr>
                                        <p:cTn id="113" dur="440" fill="hold"/>
                                        <p:tgtEl>
                                          <p:spTgt spid="24"/>
                                        </p:tgtEl>
                                        <p:attrNameLst>
                                          <p:attrName>ppt_x</p:attrName>
                                        </p:attrNameLst>
                                      </p:cBhvr>
                                      <p:tavLst>
                                        <p:tav tm="0">
                                          <p:val>
                                            <p:strVal val="#ppt_x"/>
                                          </p:val>
                                        </p:tav>
                                        <p:tav tm="100000">
                                          <p:val>
                                            <p:strVal val="#ppt_x"/>
                                          </p:val>
                                        </p:tav>
                                      </p:tavLst>
                                    </p:anim>
                                    <p:anim calcmode="lin" valueType="num">
                                      <p:cBhvr>
                                        <p:cTn id="114" dur="440" decel="100000" fill="hold"/>
                                        <p:tgtEl>
                                          <p:spTgt spid="24"/>
                                        </p:tgtEl>
                                        <p:attrNameLst>
                                          <p:attrName>ppt_y</p:attrName>
                                        </p:attrNameLst>
                                      </p:cBhvr>
                                      <p:tavLst>
                                        <p:tav tm="0">
                                          <p:val>
                                            <p:strVal val="#ppt_y+0.018"/>
                                          </p:val>
                                        </p:tav>
                                        <p:tav tm="100000">
                                          <p:val>
                                            <p:strVal val="#ppt_y"/>
                                          </p:val>
                                        </p:tav>
                                      </p:tavLst>
                                    </p:anim>
                                  </p:childTnLst>
                                </p:cTn>
                              </p:par>
                              <p:par>
                                <p:cTn id="115" presetID="42" presetClass="entr" presetSubtype="4" fill="hold" grpId="0" nodeType="withEffect">
                                  <p:stCondLst>
                                    <p:cond delay="43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440"/>
                                        <p:tgtEl>
                                          <p:spTgt spid="25"/>
                                        </p:tgtEl>
                                      </p:cBhvr>
                                    </p:animEffect>
                                    <p:anim calcmode="lin" valueType="num">
                                      <p:cBhvr>
                                        <p:cTn id="118" dur="440" fill="hold"/>
                                        <p:tgtEl>
                                          <p:spTgt spid="25"/>
                                        </p:tgtEl>
                                        <p:attrNameLst>
                                          <p:attrName>ppt_x</p:attrName>
                                        </p:attrNameLst>
                                      </p:cBhvr>
                                      <p:tavLst>
                                        <p:tav tm="0">
                                          <p:val>
                                            <p:strVal val="#ppt_x"/>
                                          </p:val>
                                        </p:tav>
                                        <p:tav tm="100000">
                                          <p:val>
                                            <p:strVal val="#ppt_x"/>
                                          </p:val>
                                        </p:tav>
                                      </p:tavLst>
                                    </p:anim>
                                    <p:anim calcmode="lin" valueType="num">
                                      <p:cBhvr>
                                        <p:cTn id="119" dur="440" decel="100000" fill="hold"/>
                                        <p:tgtEl>
                                          <p:spTgt spid="25"/>
                                        </p:tgtEl>
                                        <p:attrNameLst>
                                          <p:attrName>ppt_y</p:attrName>
                                        </p:attrNameLst>
                                      </p:cBhvr>
                                      <p:tavLst>
                                        <p:tav tm="0">
                                          <p:val>
                                            <p:strVal val="#ppt_y+0.018"/>
                                          </p:val>
                                        </p:tav>
                                        <p:tav tm="100000">
                                          <p:val>
                                            <p:strVal val="#ppt_y"/>
                                          </p:val>
                                        </p:tav>
                                      </p:tavLst>
                                    </p:anim>
                                  </p:childTnLst>
                                </p:cTn>
                              </p:par>
                              <p:par>
                                <p:cTn id="120" presetID="42" presetClass="entr" presetSubtype="4" fill="hold" grpId="0" nodeType="withEffect">
                                  <p:stCondLst>
                                    <p:cond delay="43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440"/>
                                        <p:tgtEl>
                                          <p:spTgt spid="26"/>
                                        </p:tgtEl>
                                      </p:cBhvr>
                                    </p:animEffect>
                                    <p:anim calcmode="lin" valueType="num">
                                      <p:cBhvr>
                                        <p:cTn id="123" dur="440" fill="hold"/>
                                        <p:tgtEl>
                                          <p:spTgt spid="26"/>
                                        </p:tgtEl>
                                        <p:attrNameLst>
                                          <p:attrName>ppt_x</p:attrName>
                                        </p:attrNameLst>
                                      </p:cBhvr>
                                      <p:tavLst>
                                        <p:tav tm="0">
                                          <p:val>
                                            <p:strVal val="#ppt_x"/>
                                          </p:val>
                                        </p:tav>
                                        <p:tav tm="100000">
                                          <p:val>
                                            <p:strVal val="#ppt_x"/>
                                          </p:val>
                                        </p:tav>
                                      </p:tavLst>
                                    </p:anim>
                                    <p:anim calcmode="lin" valueType="num">
                                      <p:cBhvr>
                                        <p:cTn id="124" dur="440" decel="100000" fill="hold"/>
                                        <p:tgtEl>
                                          <p:spTgt spid="26"/>
                                        </p:tgtEl>
                                        <p:attrNameLst>
                                          <p:attrName>ppt_y</p:attrName>
                                        </p:attrNameLst>
                                      </p:cBhvr>
                                      <p:tavLst>
                                        <p:tav tm="0">
                                          <p:val>
                                            <p:strVal val="#ppt_y+0.018"/>
                                          </p:val>
                                        </p:tav>
                                        <p:tav tm="100000">
                                          <p:val>
                                            <p:strVal val="#ppt_y"/>
                                          </p:val>
                                        </p:tav>
                                      </p:tavLst>
                                    </p:anim>
                                  </p:childTnLst>
                                </p:cTn>
                              </p:par>
                              <p:par>
                                <p:cTn id="125" presetID="42" presetClass="entr" presetSubtype="4" fill="hold" grpId="0" nodeType="withEffect">
                                  <p:stCondLst>
                                    <p:cond delay="57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440"/>
                                        <p:tgtEl>
                                          <p:spTgt spid="27"/>
                                        </p:tgtEl>
                                      </p:cBhvr>
                                    </p:animEffect>
                                    <p:anim calcmode="lin" valueType="num">
                                      <p:cBhvr>
                                        <p:cTn id="128" dur="440" fill="hold"/>
                                        <p:tgtEl>
                                          <p:spTgt spid="27"/>
                                        </p:tgtEl>
                                        <p:attrNameLst>
                                          <p:attrName>ppt_x</p:attrName>
                                        </p:attrNameLst>
                                      </p:cBhvr>
                                      <p:tavLst>
                                        <p:tav tm="0">
                                          <p:val>
                                            <p:strVal val="#ppt_x"/>
                                          </p:val>
                                        </p:tav>
                                        <p:tav tm="100000">
                                          <p:val>
                                            <p:strVal val="#ppt_x"/>
                                          </p:val>
                                        </p:tav>
                                      </p:tavLst>
                                    </p:anim>
                                    <p:anim calcmode="lin" valueType="num">
                                      <p:cBhvr>
                                        <p:cTn id="129" dur="440" decel="100000" fill="hold"/>
                                        <p:tgtEl>
                                          <p:spTgt spid="27"/>
                                        </p:tgtEl>
                                        <p:attrNameLst>
                                          <p:attrName>ppt_y</p:attrName>
                                        </p:attrNameLst>
                                      </p:cBhvr>
                                      <p:tavLst>
                                        <p:tav tm="0">
                                          <p:val>
                                            <p:strVal val="#ppt_y+0.018"/>
                                          </p:val>
                                        </p:tav>
                                        <p:tav tm="100000">
                                          <p:val>
                                            <p:strVal val="#ppt_y"/>
                                          </p:val>
                                        </p:tav>
                                      </p:tavLst>
                                    </p:anim>
                                  </p:childTnLst>
                                </p:cTn>
                              </p:par>
                              <p:par>
                                <p:cTn id="130" presetID="42" presetClass="entr" presetSubtype="4" fill="hold" grpId="0" nodeType="withEffect">
                                  <p:stCondLst>
                                    <p:cond delay="57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440"/>
                                        <p:tgtEl>
                                          <p:spTgt spid="28"/>
                                        </p:tgtEl>
                                      </p:cBhvr>
                                    </p:animEffect>
                                    <p:anim calcmode="lin" valueType="num">
                                      <p:cBhvr>
                                        <p:cTn id="133" dur="440" fill="hold"/>
                                        <p:tgtEl>
                                          <p:spTgt spid="28"/>
                                        </p:tgtEl>
                                        <p:attrNameLst>
                                          <p:attrName>ppt_x</p:attrName>
                                        </p:attrNameLst>
                                      </p:cBhvr>
                                      <p:tavLst>
                                        <p:tav tm="0">
                                          <p:val>
                                            <p:strVal val="#ppt_x"/>
                                          </p:val>
                                        </p:tav>
                                        <p:tav tm="100000">
                                          <p:val>
                                            <p:strVal val="#ppt_x"/>
                                          </p:val>
                                        </p:tav>
                                      </p:tavLst>
                                    </p:anim>
                                    <p:anim calcmode="lin" valueType="num">
                                      <p:cBhvr>
                                        <p:cTn id="134" dur="440" decel="100000" fill="hold"/>
                                        <p:tgtEl>
                                          <p:spTgt spid="28"/>
                                        </p:tgtEl>
                                        <p:attrNameLst>
                                          <p:attrName>ppt_y</p:attrName>
                                        </p:attrNameLst>
                                      </p:cBhvr>
                                      <p:tavLst>
                                        <p:tav tm="0">
                                          <p:val>
                                            <p:strVal val="#ppt_y+0.018"/>
                                          </p:val>
                                        </p:tav>
                                        <p:tav tm="100000">
                                          <p:val>
                                            <p:strVal val="#ppt_y"/>
                                          </p:val>
                                        </p:tav>
                                      </p:tavLst>
                                    </p:anim>
                                  </p:childTnLst>
                                </p:cTn>
                              </p:par>
                              <p:par>
                                <p:cTn id="135" presetID="42" presetClass="entr" presetSubtype="4" fill="hold" grpId="0" nodeType="withEffect">
                                  <p:stCondLst>
                                    <p:cond delay="57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440"/>
                                        <p:tgtEl>
                                          <p:spTgt spid="29"/>
                                        </p:tgtEl>
                                      </p:cBhvr>
                                    </p:animEffect>
                                    <p:anim calcmode="lin" valueType="num">
                                      <p:cBhvr>
                                        <p:cTn id="138" dur="440" fill="hold"/>
                                        <p:tgtEl>
                                          <p:spTgt spid="29"/>
                                        </p:tgtEl>
                                        <p:attrNameLst>
                                          <p:attrName>ppt_x</p:attrName>
                                        </p:attrNameLst>
                                      </p:cBhvr>
                                      <p:tavLst>
                                        <p:tav tm="0">
                                          <p:val>
                                            <p:strVal val="#ppt_x"/>
                                          </p:val>
                                        </p:tav>
                                        <p:tav tm="100000">
                                          <p:val>
                                            <p:strVal val="#ppt_x"/>
                                          </p:val>
                                        </p:tav>
                                      </p:tavLst>
                                    </p:anim>
                                    <p:anim calcmode="lin" valueType="num">
                                      <p:cBhvr>
                                        <p:cTn id="139" dur="440" decel="100000" fill="hold"/>
                                        <p:tgtEl>
                                          <p:spTgt spid="29"/>
                                        </p:tgtEl>
                                        <p:attrNameLst>
                                          <p:attrName>ppt_y</p:attrName>
                                        </p:attrNameLst>
                                      </p:cBhvr>
                                      <p:tavLst>
                                        <p:tav tm="0">
                                          <p:val>
                                            <p:strVal val="#ppt_y+0.018"/>
                                          </p:val>
                                        </p:tav>
                                        <p:tav tm="100000">
                                          <p:val>
                                            <p:strVal val="#ppt_y"/>
                                          </p:val>
                                        </p:tav>
                                      </p:tavLst>
                                    </p:anim>
                                  </p:childTnLst>
                                </p:cTn>
                              </p:par>
                              <p:par>
                                <p:cTn id="140" presetID="42" presetClass="entr" presetSubtype="4" fill="hold" grpId="0" nodeType="withEffect">
                                  <p:stCondLst>
                                    <p:cond delay="57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440"/>
                                        <p:tgtEl>
                                          <p:spTgt spid="30"/>
                                        </p:tgtEl>
                                      </p:cBhvr>
                                    </p:animEffect>
                                    <p:anim calcmode="lin" valueType="num">
                                      <p:cBhvr>
                                        <p:cTn id="143" dur="440" fill="hold"/>
                                        <p:tgtEl>
                                          <p:spTgt spid="30"/>
                                        </p:tgtEl>
                                        <p:attrNameLst>
                                          <p:attrName>ppt_x</p:attrName>
                                        </p:attrNameLst>
                                      </p:cBhvr>
                                      <p:tavLst>
                                        <p:tav tm="0">
                                          <p:val>
                                            <p:strVal val="#ppt_x"/>
                                          </p:val>
                                        </p:tav>
                                        <p:tav tm="100000">
                                          <p:val>
                                            <p:strVal val="#ppt_x"/>
                                          </p:val>
                                        </p:tav>
                                      </p:tavLst>
                                    </p:anim>
                                    <p:anim calcmode="lin" valueType="num">
                                      <p:cBhvr>
                                        <p:cTn id="144" dur="440" decel="100000" fill="hold"/>
                                        <p:tgtEl>
                                          <p:spTgt spid="30"/>
                                        </p:tgtEl>
                                        <p:attrNameLst>
                                          <p:attrName>ppt_y</p:attrName>
                                        </p:attrNameLst>
                                      </p:cBhvr>
                                      <p:tavLst>
                                        <p:tav tm="0">
                                          <p:val>
                                            <p:strVal val="#ppt_y+0.018"/>
                                          </p:val>
                                        </p:tav>
                                        <p:tav tm="100000">
                                          <p:val>
                                            <p:strVal val="#ppt_y"/>
                                          </p:val>
                                        </p:tav>
                                      </p:tavLst>
                                    </p:anim>
                                  </p:childTnLst>
                                </p:cTn>
                              </p:par>
                              <p:par>
                                <p:cTn id="145" presetID="42" presetClass="entr" presetSubtype="4" fill="hold" grpId="0" nodeType="withEffect">
                                  <p:stCondLst>
                                    <p:cond delay="570"/>
                                  </p:stCondLst>
                                  <p:childTnLst>
                                    <p:set>
                                      <p:cBhvr>
                                        <p:cTn id="146" dur="1" fill="hold">
                                          <p:stCondLst>
                                            <p:cond delay="0"/>
                                          </p:stCondLst>
                                        </p:cTn>
                                        <p:tgtEl>
                                          <p:spTgt spid="31"/>
                                        </p:tgtEl>
                                        <p:attrNameLst>
                                          <p:attrName>style.visibility</p:attrName>
                                        </p:attrNameLst>
                                      </p:cBhvr>
                                      <p:to>
                                        <p:strVal val="visible"/>
                                      </p:to>
                                    </p:set>
                                    <p:animEffect transition="in" filter="fade">
                                      <p:cBhvr>
                                        <p:cTn id="147" dur="440"/>
                                        <p:tgtEl>
                                          <p:spTgt spid="31"/>
                                        </p:tgtEl>
                                      </p:cBhvr>
                                    </p:animEffect>
                                    <p:anim calcmode="lin" valueType="num">
                                      <p:cBhvr>
                                        <p:cTn id="148" dur="440" fill="hold"/>
                                        <p:tgtEl>
                                          <p:spTgt spid="31"/>
                                        </p:tgtEl>
                                        <p:attrNameLst>
                                          <p:attrName>ppt_x</p:attrName>
                                        </p:attrNameLst>
                                      </p:cBhvr>
                                      <p:tavLst>
                                        <p:tav tm="0">
                                          <p:val>
                                            <p:strVal val="#ppt_x"/>
                                          </p:val>
                                        </p:tav>
                                        <p:tav tm="100000">
                                          <p:val>
                                            <p:strVal val="#ppt_x"/>
                                          </p:val>
                                        </p:tav>
                                      </p:tavLst>
                                    </p:anim>
                                    <p:anim calcmode="lin" valueType="num">
                                      <p:cBhvr>
                                        <p:cTn id="149" dur="440" decel="100000" fill="hold"/>
                                        <p:tgtEl>
                                          <p:spTgt spid="31"/>
                                        </p:tgtEl>
                                        <p:attrNameLst>
                                          <p:attrName>ppt_y</p:attrName>
                                        </p:attrNameLst>
                                      </p:cBhvr>
                                      <p:tavLst>
                                        <p:tav tm="0">
                                          <p:val>
                                            <p:strVal val="#ppt_y+0.018"/>
                                          </p:val>
                                        </p:tav>
                                        <p:tav tm="100000">
                                          <p:val>
                                            <p:strVal val="#ppt_y"/>
                                          </p:val>
                                        </p:tav>
                                      </p:tavLst>
                                    </p:anim>
                                  </p:childTnLst>
                                </p:cTn>
                              </p:par>
                              <p:par>
                                <p:cTn id="150" presetID="42" presetClass="entr" presetSubtype="4" fill="hold" grpId="0" nodeType="withEffect">
                                  <p:stCondLst>
                                    <p:cond delay="570"/>
                                  </p:stCondLst>
                                  <p:childTnLst>
                                    <p:set>
                                      <p:cBhvr>
                                        <p:cTn id="151" dur="1" fill="hold">
                                          <p:stCondLst>
                                            <p:cond delay="0"/>
                                          </p:stCondLst>
                                        </p:cTn>
                                        <p:tgtEl>
                                          <p:spTgt spid="32"/>
                                        </p:tgtEl>
                                        <p:attrNameLst>
                                          <p:attrName>style.visibility</p:attrName>
                                        </p:attrNameLst>
                                      </p:cBhvr>
                                      <p:to>
                                        <p:strVal val="visible"/>
                                      </p:to>
                                    </p:set>
                                    <p:animEffect transition="in" filter="fade">
                                      <p:cBhvr>
                                        <p:cTn id="152" dur="440"/>
                                        <p:tgtEl>
                                          <p:spTgt spid="32"/>
                                        </p:tgtEl>
                                      </p:cBhvr>
                                    </p:animEffect>
                                    <p:anim calcmode="lin" valueType="num">
                                      <p:cBhvr>
                                        <p:cTn id="153" dur="440" fill="hold"/>
                                        <p:tgtEl>
                                          <p:spTgt spid="32"/>
                                        </p:tgtEl>
                                        <p:attrNameLst>
                                          <p:attrName>ppt_x</p:attrName>
                                        </p:attrNameLst>
                                      </p:cBhvr>
                                      <p:tavLst>
                                        <p:tav tm="0">
                                          <p:val>
                                            <p:strVal val="#ppt_x"/>
                                          </p:val>
                                        </p:tav>
                                        <p:tav tm="100000">
                                          <p:val>
                                            <p:strVal val="#ppt_x"/>
                                          </p:val>
                                        </p:tav>
                                      </p:tavLst>
                                    </p:anim>
                                    <p:anim calcmode="lin" valueType="num">
                                      <p:cBhvr>
                                        <p:cTn id="154" dur="440" decel="100000" fill="hold"/>
                                        <p:tgtEl>
                                          <p:spTgt spid="32"/>
                                        </p:tgtEl>
                                        <p:attrNameLst>
                                          <p:attrName>ppt_y</p:attrName>
                                        </p:attrNameLst>
                                      </p:cBhvr>
                                      <p:tavLst>
                                        <p:tav tm="0">
                                          <p:val>
                                            <p:strVal val="#ppt_y+0.018"/>
                                          </p:val>
                                        </p:tav>
                                        <p:tav tm="100000">
                                          <p:val>
                                            <p:strVal val="#ppt_y"/>
                                          </p:val>
                                        </p:tav>
                                      </p:tavLst>
                                    </p:anim>
                                  </p:childTnLst>
                                </p:cTn>
                              </p:par>
                              <p:par>
                                <p:cTn id="155" presetID="42" presetClass="entr" presetSubtype="4" fill="hold" grpId="0" nodeType="withEffect">
                                  <p:stCondLst>
                                    <p:cond delay="57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440"/>
                                        <p:tgtEl>
                                          <p:spTgt spid="33"/>
                                        </p:tgtEl>
                                      </p:cBhvr>
                                    </p:animEffect>
                                    <p:anim calcmode="lin" valueType="num">
                                      <p:cBhvr>
                                        <p:cTn id="158" dur="440" fill="hold"/>
                                        <p:tgtEl>
                                          <p:spTgt spid="33"/>
                                        </p:tgtEl>
                                        <p:attrNameLst>
                                          <p:attrName>ppt_x</p:attrName>
                                        </p:attrNameLst>
                                      </p:cBhvr>
                                      <p:tavLst>
                                        <p:tav tm="0">
                                          <p:val>
                                            <p:strVal val="#ppt_x"/>
                                          </p:val>
                                        </p:tav>
                                        <p:tav tm="100000">
                                          <p:val>
                                            <p:strVal val="#ppt_x"/>
                                          </p:val>
                                        </p:tav>
                                      </p:tavLst>
                                    </p:anim>
                                    <p:anim calcmode="lin" valueType="num">
                                      <p:cBhvr>
                                        <p:cTn id="159" dur="440" decel="100000" fill="hold"/>
                                        <p:tgtEl>
                                          <p:spTgt spid="33"/>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light_studio_bg.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5661964" cy="256032"/>
          </a:xfrm>
          <a:prstGeom prst="roundRect">
            <a:avLst>
              <a:gd name="adj" fmla="val 50000"/>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2563EB"/>
                </a:solidFill>
                <a:latin typeface="Segoe UI"/>
              </a:rPr>
              <a:t>03 · PROOF ON UNSEEN ORDERS (JUL–AUG 2018) — AT CHECKOUT</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3050" b="1" i="0">
                <a:solidFill>
                  <a:srgbClr val="0F172A"/>
                </a:solidFill>
                <a:latin typeface="Segoe UI"/>
              </a:rPr>
              <a:t>Honest dates at checkout — and </a:t>
            </a:r>
            <a:r>
              <a:rPr sz="3050" b="1" i="0">
                <a:solidFill>
                  <a:srgbClr val="2563EB"/>
                </a:solidFill>
                <a:latin typeface="Segoe UI"/>
              </a:rPr>
              <a:t>why rushing loses money</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64748B"/>
                </a:solidFill>
                <a:latin typeface="Segoe UI"/>
              </a:rPr>
              <a:t>Tested on 12,630 unseen future deliveries: our forecast cuts date error by 60% and tells Olist what NOT to spend money on.</a:t>
            </a:r>
          </a:p>
        </p:txBody>
      </p:sp>
      <p:sp>
        <p:nvSpPr>
          <p:cNvPr id="6" name="Card"/>
          <p:cNvSpPr/>
          <p:nvPr/>
        </p:nvSpPr>
        <p:spPr>
          <a:xfrm>
            <a:off x="566928" y="1645920"/>
            <a:ext cx="11045952" cy="2029968"/>
          </a:xfrm>
          <a:prstGeom prst="roundRect">
            <a:avLst>
              <a:gd name="adj" fmla="val 3800"/>
            </a:avLst>
          </a:prstGeom>
          <a:solidFill>
            <a:srgbClr val="FFFFFF"/>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ard_accent"/>
          <p:cNvSpPr/>
          <p:nvPr/>
        </p:nvSpPr>
        <p:spPr>
          <a:xfrm>
            <a:off x="566928" y="1810512"/>
            <a:ext cx="59436" cy="1700784"/>
          </a:xfrm>
          <a:prstGeom prst="roundRect">
            <a:avLst>
              <a:gd name="adj" fmla="val 2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
          <p:cNvSpPr txBox="1"/>
          <p:nvPr/>
        </p:nvSpPr>
        <p:spPr>
          <a:xfrm>
            <a:off x="841248" y="1792224"/>
            <a:ext cx="6949440" cy="310896"/>
          </a:xfrm>
          <a:prstGeom prst="rect">
            <a:avLst/>
          </a:prstGeom>
          <a:noFill/>
        </p:spPr>
        <p:txBody>
          <a:bodyPr wrap="square" lIns="0" tIns="0" rIns="0" bIns="0" anchor="t">
            <a:spAutoFit/>
          </a:bodyPr>
          <a:lstStyle/>
          <a:p>
            <a:pPr algn="l">
              <a:lnSpc>
                <a:spcPct val="122000"/>
              </a:lnSpc>
            </a:pPr>
            <a:r>
              <a:rPr sz="919" b="1" i="0" spc="140">
                <a:solidFill>
                  <a:srgbClr val="2563EB"/>
                </a:solidFill>
                <a:latin typeface="Segoe UI"/>
              </a:rPr>
              <a:t>AVERAGE DELIVERY-DATE ERROR AT CHECKOUT (MAE)</a:t>
            </a:r>
            <a:r>
              <a:rPr sz="980" b="0" i="0">
                <a:solidFill>
                  <a:srgbClr val="64748B"/>
                </a:solidFill>
                <a:latin typeface="Segoe UI"/>
              </a:rPr>
              <a:t>   ·   Lower is closer to actual arrival</a:t>
            </a:r>
          </a:p>
        </p:txBody>
      </p:sp>
      <p:sp>
        <p:nvSpPr>
          <p:cNvPr id="9" name="Text"/>
          <p:cNvSpPr txBox="1"/>
          <p:nvPr/>
        </p:nvSpPr>
        <p:spPr>
          <a:xfrm>
            <a:off x="841248" y="2249424"/>
            <a:ext cx="2240280" cy="384048"/>
          </a:xfrm>
          <a:prstGeom prst="rect">
            <a:avLst/>
          </a:prstGeom>
          <a:noFill/>
        </p:spPr>
        <p:txBody>
          <a:bodyPr wrap="square" lIns="0" tIns="0" rIns="0" bIns="0" anchor="t">
            <a:spAutoFit/>
          </a:bodyPr>
          <a:lstStyle/>
          <a:p>
            <a:pPr algn="l">
              <a:lnSpc>
                <a:spcPct val="110000"/>
              </a:lnSpc>
            </a:pPr>
            <a:r>
              <a:rPr sz="1120" b="1" i="0">
                <a:solidFill>
                  <a:srgbClr val="0F172A"/>
                </a:solidFill>
                <a:latin typeface="Segoe UI"/>
              </a:rPr>
              <a:t>Olist's padded promise</a:t>
            </a:r>
          </a:p>
          <a:p>
            <a:pPr algn="l">
              <a:lnSpc>
                <a:spcPct val="122000"/>
              </a:lnSpc>
            </a:pPr>
            <a:r>
              <a:rPr sz="919" b="0" i="0">
                <a:solidFill>
                  <a:srgbClr val="64748B"/>
                </a:solidFill>
                <a:latin typeface="Segoe UI"/>
              </a:rPr>
              <a:t>Pads ~11 extra buffer days</a:t>
            </a:r>
          </a:p>
        </p:txBody>
      </p:sp>
      <p:sp>
        <p:nvSpPr>
          <p:cNvPr id="10" name="Rounded Rectangle 9"/>
          <p:cNvSpPr/>
          <p:nvPr/>
        </p:nvSpPr>
        <p:spPr>
          <a:xfrm>
            <a:off x="3182112" y="2286000"/>
            <a:ext cx="4892040" cy="329184"/>
          </a:xfrm>
          <a:prstGeom prst="roundRect">
            <a:avLst>
              <a:gd name="adj" fmla="val 15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
          <p:cNvSpPr txBox="1"/>
          <p:nvPr/>
        </p:nvSpPr>
        <p:spPr>
          <a:xfrm>
            <a:off x="8183879" y="2286000"/>
            <a:ext cx="1234440" cy="329184"/>
          </a:xfrm>
          <a:prstGeom prst="rect">
            <a:avLst/>
          </a:prstGeom>
          <a:noFill/>
        </p:spPr>
        <p:txBody>
          <a:bodyPr wrap="square" lIns="0" tIns="0" rIns="0" bIns="0" anchor="t">
            <a:spAutoFit/>
          </a:bodyPr>
          <a:lstStyle/>
          <a:p>
            <a:pPr algn="l">
              <a:lnSpc>
                <a:spcPct val="122000"/>
              </a:lnSpc>
            </a:pPr>
            <a:r>
              <a:rPr sz="1350" b="1" i="0">
                <a:solidFill>
                  <a:srgbClr val="64748B"/>
                </a:solidFill>
                <a:latin typeface="Segoe UI"/>
              </a:rPr>
              <a:t>9.79 days</a:t>
            </a:r>
          </a:p>
        </p:txBody>
      </p:sp>
      <p:sp>
        <p:nvSpPr>
          <p:cNvPr id="12" name="Text"/>
          <p:cNvSpPr txBox="1"/>
          <p:nvPr/>
        </p:nvSpPr>
        <p:spPr>
          <a:xfrm>
            <a:off x="841248" y="2889504"/>
            <a:ext cx="2240280" cy="402336"/>
          </a:xfrm>
          <a:prstGeom prst="rect">
            <a:avLst/>
          </a:prstGeom>
          <a:noFill/>
        </p:spPr>
        <p:txBody>
          <a:bodyPr wrap="square" lIns="0" tIns="0" rIns="0" bIns="0" anchor="t">
            <a:spAutoFit/>
          </a:bodyPr>
          <a:lstStyle/>
          <a:p>
            <a:pPr algn="l">
              <a:lnSpc>
                <a:spcPct val="110000"/>
              </a:lnSpc>
            </a:pPr>
            <a:r>
              <a:rPr sz="1150" b="1" i="0">
                <a:solidFill>
                  <a:srgbClr val="2563EB"/>
                </a:solidFill>
                <a:latin typeface="Segoe UI"/>
              </a:rPr>
              <a:t>Our checkout forecast</a:t>
            </a:r>
          </a:p>
          <a:p>
            <a:pPr algn="l">
              <a:lnSpc>
                <a:spcPct val="122000"/>
              </a:lnSpc>
            </a:pPr>
            <a:r>
              <a:rPr sz="919" b="0" i="0">
                <a:solidFill>
                  <a:srgbClr val="334155"/>
                </a:solidFill>
                <a:latin typeface="Segoe UI"/>
              </a:rPr>
              <a:t>Route + carrier recent pace</a:t>
            </a:r>
          </a:p>
        </p:txBody>
      </p:sp>
      <p:sp>
        <p:nvSpPr>
          <p:cNvPr id="13" name="Rounded Rectangle 12"/>
          <p:cNvSpPr/>
          <p:nvPr/>
        </p:nvSpPr>
        <p:spPr>
          <a:xfrm>
            <a:off x="3182112" y="2926080"/>
            <a:ext cx="1947672" cy="347472"/>
          </a:xfrm>
          <a:prstGeom prst="roundRect">
            <a:avLst>
              <a:gd name="adj" fmla="val 1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
          <p:cNvSpPr txBox="1"/>
          <p:nvPr/>
        </p:nvSpPr>
        <p:spPr>
          <a:xfrm>
            <a:off x="5248656" y="2907792"/>
            <a:ext cx="3337560" cy="365760"/>
          </a:xfrm>
          <a:prstGeom prst="rect">
            <a:avLst/>
          </a:prstGeom>
          <a:noFill/>
        </p:spPr>
        <p:txBody>
          <a:bodyPr wrap="square" lIns="0" tIns="0" rIns="0" bIns="0" anchor="t">
            <a:spAutoFit/>
          </a:bodyPr>
          <a:lstStyle/>
          <a:p>
            <a:pPr algn="l">
              <a:lnSpc>
                <a:spcPct val="122000"/>
              </a:lnSpc>
            </a:pPr>
            <a:r>
              <a:rPr sz="1500" b="1" i="0">
                <a:solidFill>
                  <a:srgbClr val="2563EB"/>
                </a:solidFill>
                <a:latin typeface="Segoe UI"/>
              </a:rPr>
              <a:t>3.90 days</a:t>
            </a:r>
            <a:r>
              <a:rPr sz="960" b="0" i="0">
                <a:solidFill>
                  <a:srgbClr val="64748B"/>
                </a:solidFill>
                <a:latin typeface="Segoe UI"/>
              </a:rPr>
              <a:t>  (beats GBDT 4.14d &amp; Linear 4.18d)</a:t>
            </a:r>
          </a:p>
        </p:txBody>
      </p:sp>
      <p:sp>
        <p:nvSpPr>
          <p:cNvPr id="15" name="Card"/>
          <p:cNvSpPr/>
          <p:nvPr/>
        </p:nvSpPr>
        <p:spPr>
          <a:xfrm>
            <a:off x="9345168" y="1847088"/>
            <a:ext cx="2029968" cy="1627632"/>
          </a:xfrm>
          <a:prstGeom prst="roundRect">
            <a:avLst>
              <a:gd name="adj" fmla="val 3800"/>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p:cNvSpPr txBox="1"/>
          <p:nvPr/>
        </p:nvSpPr>
        <p:spPr>
          <a:xfrm>
            <a:off x="9418320" y="1938528"/>
            <a:ext cx="1883664" cy="1444752"/>
          </a:xfrm>
          <a:prstGeom prst="rect">
            <a:avLst/>
          </a:prstGeom>
          <a:noFill/>
        </p:spPr>
        <p:txBody>
          <a:bodyPr wrap="square" lIns="0" tIns="0" rIns="0" bIns="0" anchor="t">
            <a:spAutoFit/>
          </a:bodyPr>
          <a:lstStyle/>
          <a:p>
            <a:pPr algn="ctr">
              <a:lnSpc>
                <a:spcPct val="100000"/>
              </a:lnSpc>
              <a:spcAft>
                <a:spcPts val="400"/>
              </a:spcAft>
            </a:pPr>
            <a:r>
              <a:rPr sz="4200" b="1" i="0">
                <a:solidFill>
                  <a:srgbClr val="2563EB"/>
                </a:solidFill>
                <a:latin typeface="Segoe UI"/>
              </a:rPr>
              <a:t>60%</a:t>
            </a:r>
          </a:p>
          <a:p>
            <a:pPr algn="ctr">
              <a:lnSpc>
                <a:spcPct val="122000"/>
              </a:lnSpc>
              <a:spcAft>
                <a:spcPts val="300"/>
              </a:spcAft>
            </a:pPr>
            <a:r>
              <a:rPr sz="1200" b="1" i="0">
                <a:solidFill>
                  <a:srgbClr val="0F172A"/>
                </a:solidFill>
                <a:latin typeface="Segoe UI"/>
              </a:rPr>
              <a:t>closer dates</a:t>
            </a:r>
          </a:p>
          <a:p>
            <a:pPr algn="ctr">
              <a:lnSpc>
                <a:spcPct val="118000"/>
              </a:lnSpc>
            </a:pPr>
            <a:r>
              <a:rPr sz="919" b="0" i="0">
                <a:solidFill>
                  <a:srgbClr val="334155"/>
                </a:solidFill>
                <a:latin typeface="Segoe UI"/>
              </a:rPr>
              <a:t>Costs R$0 to quote
honestly at checkout</a:t>
            </a:r>
          </a:p>
        </p:txBody>
      </p:sp>
      <p:sp>
        <p:nvSpPr>
          <p:cNvPr id="17" name="Card"/>
          <p:cNvSpPr/>
          <p:nvPr/>
        </p:nvSpPr>
        <p:spPr>
          <a:xfrm>
            <a:off x="566928" y="3858768"/>
            <a:ext cx="5394960" cy="2249424"/>
          </a:xfrm>
          <a:prstGeom prst="roundRect">
            <a:avLst>
              <a:gd name="adj" fmla="val 3800"/>
            </a:avLst>
          </a:prstGeom>
          <a:solidFill>
            <a:srgbClr val="FFFFFF"/>
          </a:solidFill>
          <a:ln w="15240">
            <a:solidFill>
              <a:srgbClr val="A7F3D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ard_accent"/>
          <p:cNvSpPr/>
          <p:nvPr/>
        </p:nvSpPr>
        <p:spPr>
          <a:xfrm>
            <a:off x="713232" y="3858768"/>
            <a:ext cx="5102352" cy="50292"/>
          </a:xfrm>
          <a:prstGeom prst="roundRect">
            <a:avLst>
              <a:gd name="adj" fmla="val 25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
          <p:cNvSpPr txBox="1"/>
          <p:nvPr/>
        </p:nvSpPr>
        <p:spPr>
          <a:xfrm>
            <a:off x="804672" y="4023360"/>
            <a:ext cx="4956048" cy="1975104"/>
          </a:xfrm>
          <a:prstGeom prst="rect">
            <a:avLst/>
          </a:prstGeom>
          <a:noFill/>
        </p:spPr>
        <p:txBody>
          <a:bodyPr wrap="square" lIns="0" tIns="0" rIns="0" bIns="0" anchor="t">
            <a:spAutoFit/>
          </a:bodyPr>
          <a:lstStyle/>
          <a:p>
            <a:pPr algn="l">
              <a:lnSpc>
                <a:spcPct val="123000"/>
              </a:lnSpc>
              <a:spcAft>
                <a:spcPts val="600"/>
              </a:spcAft>
            </a:pPr>
            <a:r>
              <a:rPr sz="919" b="1" i="0" spc="130">
                <a:solidFill>
                  <a:srgbClr val="059669"/>
                </a:solidFill>
                <a:latin typeface="Segoe UI"/>
              </a:rPr>
              <a:t>✓  WHAT WORKS AT CHECKOUT: FREE EARLY WARNING</a:t>
            </a:r>
          </a:p>
          <a:p>
            <a:pPr algn="l">
              <a:lnSpc>
                <a:spcPct val="123000"/>
              </a:lnSpc>
            </a:pPr>
            <a:r>
              <a:rPr sz="1120" b="1" i="0">
                <a:solidFill>
                  <a:srgbClr val="059669"/>
                </a:solidFill>
                <a:latin typeface="Segoe UI"/>
              </a:rPr>
              <a:t>• </a:t>
            </a:r>
            <a:r>
              <a:rPr sz="1100" b="1" i="0">
                <a:solidFill>
                  <a:srgbClr val="0F172A"/>
                </a:solidFill>
                <a:latin typeface="Segoe UI"/>
              </a:rPr>
              <a:t>Forecasting days beats yes/no classifiers: </a:t>
            </a:r>
            <a:r>
              <a:rPr sz="1060" b="0" i="0">
                <a:solidFill>
                  <a:srgbClr val="334155"/>
                </a:solidFill>
                <a:latin typeface="Segoe UI"/>
              </a:rPr>
              <a:t>Deriving delay risk from our day forecast lifts PR-AUC </a:t>
            </a:r>
            <a:r>
              <a:rPr sz="1080" b="1" i="0">
                <a:solidFill>
                  <a:srgbClr val="059669"/>
                </a:solidFill>
                <a:latin typeface="Segoe UI"/>
              </a:rPr>
              <a:t>2.9× vs 1.2×</a:t>
            </a:r>
            <a:r>
              <a:rPr sz="1040" b="0" i="0">
                <a:solidFill>
                  <a:srgbClr val="334155"/>
                </a:solidFill>
                <a:latin typeface="Segoe UI"/>
              </a:rPr>
              <a:t> (ROC-AUC 0.782 vs 0.584).</a:t>
            </a:r>
          </a:p>
          <a:p>
            <a:pPr algn="l">
              <a:lnSpc>
                <a:spcPct val="123000"/>
              </a:lnSpc>
            </a:pPr>
            <a:r>
              <a:rPr sz="1120" b="1" i="0">
                <a:solidFill>
                  <a:srgbClr val="059669"/>
                </a:solidFill>
                <a:latin typeface="Segoe UI"/>
              </a:rPr>
              <a:t>• </a:t>
            </a:r>
            <a:r>
              <a:rPr sz="1100" b="1" i="0">
                <a:solidFill>
                  <a:srgbClr val="0F172A"/>
                </a:solidFill>
                <a:latin typeface="Segoe UI"/>
              </a:rPr>
              <a:t>Top 10% catches 35% of late orders (3.5×): </a:t>
            </a:r>
            <a:r>
              <a:rPr sz="1060" b="0" i="0">
                <a:solidFill>
                  <a:srgbClr val="334155"/>
                </a:solidFill>
                <a:latin typeface="Segoe UI"/>
              </a:rPr>
              <a:t>Our opening São Gonçalo order ranked </a:t>
            </a:r>
            <a:r>
              <a:rPr sz="1080" b="1" i="0">
                <a:solidFill>
                  <a:srgbClr val="2563EB"/>
                </a:solidFill>
                <a:latin typeface="Segoe UI"/>
              </a:rPr>
              <a:t>#23 of 238 delivered orders</a:t>
            </a:r>
            <a:r>
              <a:rPr sz="1060" b="0" i="0">
                <a:solidFill>
                  <a:srgbClr val="334155"/>
                </a:solidFill>
                <a:latin typeface="Segoe UI"/>
              </a:rPr>
              <a:t> on 16 July.</a:t>
            </a:r>
          </a:p>
          <a:p>
            <a:pPr algn="l">
              <a:lnSpc>
                <a:spcPct val="123000"/>
              </a:lnSpc>
            </a:pPr>
            <a:r>
              <a:rPr sz="1120" b="1" i="0">
                <a:solidFill>
                  <a:srgbClr val="059669"/>
                </a:solidFill>
                <a:latin typeface="Segoe UI"/>
              </a:rPr>
              <a:t>• </a:t>
            </a:r>
            <a:r>
              <a:rPr sz="1100" b="1" i="0">
                <a:solidFill>
                  <a:srgbClr val="0F172A"/>
                </a:solidFill>
                <a:latin typeface="Segoe UI"/>
              </a:rPr>
              <a:t>Heads-up banner above ≥ 11% risk: </a:t>
            </a:r>
            <a:r>
              <a:rPr sz="1060" b="0" i="0">
                <a:solidFill>
                  <a:srgbClr val="334155"/>
                </a:solidFill>
                <a:latin typeface="Segoe UI"/>
              </a:rPr>
              <a:t>Pre-warns </a:t>
            </a:r>
            <a:r>
              <a:rPr sz="1080" b="1" i="0">
                <a:solidFill>
                  <a:srgbClr val="059669"/>
                </a:solidFill>
                <a:latin typeface="Segoe UI"/>
              </a:rPr>
              <a:t>83% (5 in 6)</a:t>
            </a:r>
            <a:r>
              <a:rPr sz="1060" b="0" i="0">
                <a:solidFill>
                  <a:srgbClr val="334155"/>
                </a:solidFill>
                <a:latin typeface="Segoe UI"/>
              </a:rPr>
              <a:t> future late parcels at near-zero messaging cost.</a:t>
            </a:r>
          </a:p>
        </p:txBody>
      </p:sp>
      <p:sp>
        <p:nvSpPr>
          <p:cNvPr id="20" name="Card"/>
          <p:cNvSpPr/>
          <p:nvPr/>
        </p:nvSpPr>
        <p:spPr>
          <a:xfrm>
            <a:off x="6217920" y="3858768"/>
            <a:ext cx="5394960" cy="2249424"/>
          </a:xfrm>
          <a:prstGeom prst="roundRect">
            <a:avLst>
              <a:gd name="adj" fmla="val 3800"/>
            </a:avLst>
          </a:prstGeom>
          <a:solidFill>
            <a:srgbClr val="FFF8F9"/>
          </a:solidFill>
          <a:ln w="16510">
            <a:solidFill>
              <a:srgbClr val="FECDD3"/>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ard_accent"/>
          <p:cNvSpPr/>
          <p:nvPr/>
        </p:nvSpPr>
        <p:spPr>
          <a:xfrm>
            <a:off x="6364224" y="3858768"/>
            <a:ext cx="5102352" cy="50292"/>
          </a:xfrm>
          <a:prstGeom prst="roundRect">
            <a:avLst>
              <a:gd name="adj" fmla="val 25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
          <p:cNvSpPr txBox="1"/>
          <p:nvPr/>
        </p:nvSpPr>
        <p:spPr>
          <a:xfrm>
            <a:off x="6455664" y="4023360"/>
            <a:ext cx="4956048" cy="1975104"/>
          </a:xfrm>
          <a:prstGeom prst="rect">
            <a:avLst/>
          </a:prstGeom>
          <a:noFill/>
        </p:spPr>
        <p:txBody>
          <a:bodyPr wrap="square" lIns="0" tIns="0" rIns="0" bIns="0" anchor="t">
            <a:spAutoFit/>
          </a:bodyPr>
          <a:lstStyle/>
          <a:p>
            <a:pPr algn="l">
              <a:lnSpc>
                <a:spcPct val="124000"/>
              </a:lnSpc>
              <a:spcAft>
                <a:spcPts val="600"/>
              </a:spcAft>
            </a:pPr>
            <a:r>
              <a:rPr sz="919" b="1" i="0" spc="130">
                <a:solidFill>
                  <a:srgbClr val="E11D48"/>
                </a:solidFill>
                <a:latin typeface="Segoe UI"/>
              </a:rPr>
              <a:t>✕  HONEST FINDING: DO NOT PAY R$12 FOR EXPRESS SHIPPING</a:t>
            </a:r>
          </a:p>
          <a:p>
            <a:pPr algn="l">
              <a:lnSpc>
                <a:spcPct val="124000"/>
              </a:lnSpc>
              <a:spcAft>
                <a:spcPts val="600"/>
              </a:spcAft>
            </a:pPr>
            <a:r>
              <a:rPr sz="1650" b="1" i="0">
                <a:solidFill>
                  <a:srgbClr val="E11D48"/>
                </a:solidFill>
                <a:latin typeface="Segoe UI"/>
              </a:rPr>
              <a:t>27–28% precision  &lt;  30% break-even</a:t>
            </a:r>
          </a:p>
          <a:p>
            <a:pPr algn="l">
              <a:lnSpc>
                <a:spcPct val="124000"/>
              </a:lnSpc>
            </a:pPr>
            <a:r>
              <a:rPr sz="1080" b="0" i="0">
                <a:solidFill>
                  <a:srgbClr val="334155"/>
                </a:solidFill>
                <a:latin typeface="Segoe UI"/>
              </a:rPr>
              <a:t>At </a:t>
            </a:r>
            <a:r>
              <a:rPr sz="1080" b="1" i="0">
                <a:solidFill>
                  <a:srgbClr val="0F172A"/>
                </a:solidFill>
                <a:latin typeface="Segoe UI"/>
              </a:rPr>
              <a:t>R$12 express upgrade</a:t>
            </a:r>
            <a:r>
              <a:rPr sz="1080" b="0" i="0">
                <a:solidFill>
                  <a:srgbClr val="334155"/>
                </a:solidFill>
                <a:latin typeface="Segoe UI"/>
              </a:rPr>
              <a:t> vs. </a:t>
            </a:r>
            <a:r>
              <a:rPr sz="1080" b="1" i="0">
                <a:solidFill>
                  <a:srgbClr val="0F172A"/>
                </a:solidFill>
                <a:latin typeface="Segoe UI"/>
              </a:rPr>
              <a:t>R$40 bad-review cost</a:t>
            </a:r>
            <a:r>
              <a:rPr sz="1080" b="0" i="0">
                <a:solidFill>
                  <a:srgbClr val="334155"/>
                </a:solidFill>
                <a:latin typeface="Segoe UI"/>
              </a:rPr>
              <a:t>, at least </a:t>
            </a:r>
            <a:r>
              <a:rPr sz="1080" b="1" i="0">
                <a:solidFill>
                  <a:srgbClr val="E11D48"/>
                </a:solidFill>
                <a:latin typeface="Segoe UI"/>
              </a:rPr>
              <a:t>30% (12 / 40)</a:t>
            </a:r>
            <a:r>
              <a:rPr sz="1080" b="0" i="0">
                <a:solidFill>
                  <a:srgbClr val="334155"/>
                </a:solidFill>
                <a:latin typeface="Segoe UI"/>
              </a:rPr>
              <a:t> of rushed parcels must truly be late just to break even.</a:t>
            </a:r>
          </a:p>
          <a:p>
            <a:pPr algn="l">
              <a:lnSpc>
                <a:spcPct val="124000"/>
              </a:lnSpc>
            </a:pPr>
            <a:r>
              <a:rPr sz="1080" b="1" i="0">
                <a:solidFill>
                  <a:srgbClr val="0F172A"/>
                </a:solidFill>
                <a:latin typeface="Segoe UI"/>
              </a:rPr>
              <a:t>Why? </a:t>
            </a:r>
            <a:r>
              <a:rPr sz="1060" b="0" i="0">
                <a:solidFill>
                  <a:srgbClr val="334155"/>
                </a:solidFill>
                <a:latin typeface="Segoe UI"/>
              </a:rPr>
              <a:t>75% of transit happens after checkout inside the carrier network. </a:t>
            </a:r>
            <a:r>
              <a:rPr sz="1060" b="1" i="0">
                <a:solidFill>
                  <a:srgbClr val="0F172A"/>
                </a:solidFill>
                <a:latin typeface="Segoe UI"/>
              </a:rPr>
              <a:t>Save the R$12 until a live mid-transit scan stalls.</a:t>
            </a:r>
          </a:p>
        </p:txBody>
      </p:sp>
      <p:sp>
        <p:nvSpPr>
          <p:cNvPr id="23" name="!!NavDock"/>
          <p:cNvSpPr/>
          <p:nvPr/>
        </p:nvSpPr>
        <p:spPr>
          <a:xfrm>
            <a:off x="566928" y="6327648"/>
            <a:ext cx="11055096" cy="384048"/>
          </a:xfrm>
          <a:prstGeom prst="roundRect">
            <a:avLst>
              <a:gd name="adj" fmla="val 50000"/>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Nav_1">
            <a:hlinkClick r:id="rId4" action="ppaction://hlinksldjump"/>
          </p:cNvPr>
          <p:cNvSpPr/>
          <p:nvPr/>
        </p:nvSpPr>
        <p:spPr>
          <a:xfrm>
            <a:off x="658368"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01  The Problem</a:t>
            </a:r>
          </a:p>
        </p:txBody>
      </p:sp>
      <p:sp>
        <p:nvSpPr>
          <p:cNvPr id="25" name="Nav_2">
            <a:hlinkClick r:id="rId5" action="ppaction://hlinksldjump"/>
          </p:cNvPr>
          <p:cNvSpPr/>
          <p:nvPr/>
        </p:nvSpPr>
        <p:spPr>
          <a:xfrm>
            <a:off x="1993391"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02  Why &amp; Tools</a:t>
            </a:r>
          </a:p>
        </p:txBody>
      </p:sp>
      <p:sp>
        <p:nvSpPr>
          <p:cNvPr id="26" name="Nav_3">
            <a:hlinkClick r:id="rId6" action="ppaction://hlinksldjump"/>
          </p:cNvPr>
          <p:cNvSpPr/>
          <p:nvPr/>
        </p:nvSpPr>
        <p:spPr>
          <a:xfrm>
            <a:off x="3328415" y="6373368"/>
            <a:ext cx="1261872" cy="29260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FFFFFF"/>
                </a:solidFill>
                <a:latin typeface="Segoe UI"/>
              </a:rPr>
              <a:t>03  Proof &amp; App</a:t>
            </a:r>
          </a:p>
        </p:txBody>
      </p:sp>
      <p:sp>
        <p:nvSpPr>
          <p:cNvPr id="27" name="Nav_4">
            <a:hlinkClick r:id="rId7" action="ppaction://hlinksldjump"/>
          </p:cNvPr>
          <p:cNvSpPr/>
          <p:nvPr/>
        </p:nvSpPr>
        <p:spPr>
          <a:xfrm>
            <a:off x="4663440"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04  Monday Plan</a:t>
            </a:r>
          </a:p>
        </p:txBody>
      </p:sp>
      <p:sp>
        <p:nvSpPr>
          <p:cNvPr id="28" name="Nav_5">
            <a:hlinkClick r:id="rId8" action="ppaction://hlinksldjump"/>
          </p:cNvPr>
          <p:cNvSpPr/>
          <p:nvPr/>
        </p:nvSpPr>
        <p:spPr>
          <a:xfrm>
            <a:off x="5998464" y="6373368"/>
            <a:ext cx="1130198"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05  Takeaways</a:t>
            </a:r>
          </a:p>
        </p:txBody>
      </p:sp>
      <p:sp>
        <p:nvSpPr>
          <p:cNvPr id="29" name="DockJourneyLine"/>
          <p:cNvSpPr/>
          <p:nvPr/>
        </p:nvSpPr>
        <p:spPr>
          <a:xfrm>
            <a:off x="8915400" y="6510528"/>
            <a:ext cx="1115568"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g1" descr="g_checkout_blue.png"/>
          <p:cNvPicPr>
            <a:picLocks noChangeAspect="1"/>
          </p:cNvPicPr>
          <p:nvPr/>
        </p:nvPicPr>
        <p:blipFill>
          <a:blip r:embed="rId9"/>
          <a:stretch>
            <a:fillRect/>
          </a:stretch>
        </p:blipFill>
        <p:spPr>
          <a:xfrm>
            <a:off x="8778240" y="6377940"/>
            <a:ext cx="283464" cy="283464"/>
          </a:xfrm>
          <a:prstGeom prst="rect">
            <a:avLst/>
          </a:prstGeom>
        </p:spPr>
      </p:pic>
      <p:pic>
        <p:nvPicPr>
          <p:cNvPr id="31" name="!!g2" descr="g_promise_muted.png"/>
          <p:cNvPicPr>
            <a:picLocks noChangeAspect="1"/>
          </p:cNvPicPr>
          <p:nvPr/>
        </p:nvPicPr>
        <p:blipFill>
          <a:blip r:embed="rId10"/>
          <a:stretch>
            <a:fillRect/>
          </a:stretch>
        </p:blipFill>
        <p:spPr>
          <a:xfrm>
            <a:off x="9144000" y="6409944"/>
            <a:ext cx="219456" cy="219456"/>
          </a:xfrm>
          <a:prstGeom prst="rect">
            <a:avLst/>
          </a:prstGeom>
        </p:spPr>
      </p:pic>
      <p:pic>
        <p:nvPicPr>
          <p:cNvPr id="32" name="!!g3" descr="g_delivery_muted.png"/>
          <p:cNvPicPr>
            <a:picLocks noChangeAspect="1"/>
          </p:cNvPicPr>
          <p:nvPr/>
        </p:nvPicPr>
        <p:blipFill>
          <a:blip r:embed="rId11"/>
          <a:stretch>
            <a:fillRect/>
          </a:stretch>
        </p:blipFill>
        <p:spPr>
          <a:xfrm>
            <a:off x="9509760" y="6409944"/>
            <a:ext cx="219456" cy="219456"/>
          </a:xfrm>
          <a:prstGeom prst="rect">
            <a:avLst/>
          </a:prstGeom>
        </p:spPr>
      </p:pic>
      <p:pic>
        <p:nvPicPr>
          <p:cNvPr id="33" name="!!g4" descr="g_review_muted.png"/>
          <p:cNvPicPr>
            <a:picLocks noChangeAspect="1"/>
          </p:cNvPicPr>
          <p:nvPr/>
        </p:nvPicPr>
        <p:blipFill>
          <a:blip r:embed="rId12"/>
          <a:stretch>
            <a:fillRect/>
          </a:stretch>
        </p:blipFill>
        <p:spPr>
          <a:xfrm>
            <a:off x="9875520" y="6409944"/>
            <a:ext cx="219456" cy="219456"/>
          </a:xfrm>
          <a:prstGeom prst="rect">
            <a:avLst/>
          </a:prstGeom>
        </p:spPr>
      </p:pic>
      <p:sp>
        <p:nvSpPr>
          <p:cNvPr id="34" name="Nav_QA">
            <a:hlinkClick r:id="rId13" action="ppaction://hlinksldjump"/>
          </p:cNvPr>
          <p:cNvSpPr/>
          <p:nvPr/>
        </p:nvSpPr>
        <p:spPr>
          <a:xfrm>
            <a:off x="10387584" y="6373368"/>
            <a:ext cx="1152144" cy="292608"/>
          </a:xfrm>
          <a:prstGeom prst="roundRect">
            <a:avLst>
              <a:gd name="adj" fmla="val 50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0F172A"/>
                </a:solidFill>
                <a:latin typeface="Segoe UI"/>
              </a:rPr>
              <a:t>Q&amp;A · 07/13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anim calcmode="lin" valueType="num">
                                      <p:cBhvr>
                                        <p:cTn id="8" dur="400" fill="hold"/>
                                        <p:tgtEl>
                                          <p:spTgt spid="3"/>
                                        </p:tgtEl>
                                        <p:attrNameLst>
                                          <p:attrName>ppt_x</p:attrName>
                                        </p:attrNameLst>
                                      </p:cBhvr>
                                      <p:tavLst>
                                        <p:tav tm="0">
                                          <p:val>
                                            <p:strVal val="#ppt_x"/>
                                          </p:val>
                                        </p:tav>
                                        <p:tav tm="100000">
                                          <p:val>
                                            <p:strVal val="#ppt_x"/>
                                          </p:val>
                                        </p:tav>
                                      </p:tavLst>
                                    </p:anim>
                                    <p:anim calcmode="lin" valueType="num">
                                      <p:cBhvr>
                                        <p:cTn id="9" dur="40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anim calcmode="lin" valueType="num">
                                      <p:cBhvr>
                                        <p:cTn id="13" dur="400" fill="hold"/>
                                        <p:tgtEl>
                                          <p:spTgt spid="4"/>
                                        </p:tgtEl>
                                        <p:attrNameLst>
                                          <p:attrName>ppt_x</p:attrName>
                                        </p:attrNameLst>
                                      </p:cBhvr>
                                      <p:tavLst>
                                        <p:tav tm="0">
                                          <p:val>
                                            <p:strVal val="#ppt_x"/>
                                          </p:val>
                                        </p:tav>
                                        <p:tav tm="100000">
                                          <p:val>
                                            <p:strVal val="#ppt_x"/>
                                          </p:val>
                                        </p:tav>
                                      </p:tavLst>
                                    </p:anim>
                                    <p:anim calcmode="lin" valueType="num">
                                      <p:cBhvr>
                                        <p:cTn id="14" dur="40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anim calcmode="lin" valueType="num">
                                      <p:cBhvr>
                                        <p:cTn id="18" dur="400" fill="hold"/>
                                        <p:tgtEl>
                                          <p:spTgt spid="5"/>
                                        </p:tgtEl>
                                        <p:attrNameLst>
                                          <p:attrName>ppt_x</p:attrName>
                                        </p:attrNameLst>
                                      </p:cBhvr>
                                      <p:tavLst>
                                        <p:tav tm="0">
                                          <p:val>
                                            <p:strVal val="#ppt_x"/>
                                          </p:val>
                                        </p:tav>
                                        <p:tav tm="100000">
                                          <p:val>
                                            <p:strVal val="#ppt_x"/>
                                          </p:val>
                                        </p:tav>
                                      </p:tavLst>
                                    </p:anim>
                                    <p:anim calcmode="lin" valueType="num">
                                      <p:cBhvr>
                                        <p:cTn id="19" dur="40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1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20"/>
                                        <p:tgtEl>
                                          <p:spTgt spid="6"/>
                                        </p:tgtEl>
                                      </p:cBhvr>
                                    </p:animEffect>
                                    <p:anim calcmode="lin" valueType="num">
                                      <p:cBhvr>
                                        <p:cTn id="23" dur="420" fill="hold"/>
                                        <p:tgtEl>
                                          <p:spTgt spid="6"/>
                                        </p:tgtEl>
                                        <p:attrNameLst>
                                          <p:attrName>ppt_x</p:attrName>
                                        </p:attrNameLst>
                                      </p:cBhvr>
                                      <p:tavLst>
                                        <p:tav tm="0">
                                          <p:val>
                                            <p:strVal val="#ppt_x"/>
                                          </p:val>
                                        </p:tav>
                                        <p:tav tm="100000">
                                          <p:val>
                                            <p:strVal val="#ppt_x"/>
                                          </p:val>
                                        </p:tav>
                                      </p:tavLst>
                                    </p:anim>
                                    <p:anim calcmode="lin" valueType="num">
                                      <p:cBhvr>
                                        <p:cTn id="24" dur="42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6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20"/>
                                        <p:tgtEl>
                                          <p:spTgt spid="7"/>
                                        </p:tgtEl>
                                      </p:cBhvr>
                                    </p:animEffect>
                                    <p:anim calcmode="lin" valueType="num">
                                      <p:cBhvr>
                                        <p:cTn id="28" dur="420" fill="hold"/>
                                        <p:tgtEl>
                                          <p:spTgt spid="7"/>
                                        </p:tgtEl>
                                        <p:attrNameLst>
                                          <p:attrName>ppt_x</p:attrName>
                                        </p:attrNameLst>
                                      </p:cBhvr>
                                      <p:tavLst>
                                        <p:tav tm="0">
                                          <p:val>
                                            <p:strVal val="#ppt_x"/>
                                          </p:val>
                                        </p:tav>
                                        <p:tav tm="100000">
                                          <p:val>
                                            <p:strVal val="#ppt_x"/>
                                          </p:val>
                                        </p:tav>
                                      </p:tavLst>
                                    </p:anim>
                                    <p:anim calcmode="lin" valueType="num">
                                      <p:cBhvr>
                                        <p:cTn id="29" dur="420" decel="100000" fill="hold"/>
                                        <p:tgtEl>
                                          <p:spTgt spid="7"/>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6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20"/>
                                        <p:tgtEl>
                                          <p:spTgt spid="15"/>
                                        </p:tgtEl>
                                      </p:cBhvr>
                                    </p:animEffect>
                                    <p:anim calcmode="lin" valueType="num">
                                      <p:cBhvr>
                                        <p:cTn id="33" dur="420" fill="hold"/>
                                        <p:tgtEl>
                                          <p:spTgt spid="15"/>
                                        </p:tgtEl>
                                        <p:attrNameLst>
                                          <p:attrName>ppt_x</p:attrName>
                                        </p:attrNameLst>
                                      </p:cBhvr>
                                      <p:tavLst>
                                        <p:tav tm="0">
                                          <p:val>
                                            <p:strVal val="#ppt_x"/>
                                          </p:val>
                                        </p:tav>
                                        <p:tav tm="100000">
                                          <p:val>
                                            <p:strVal val="#ppt_x"/>
                                          </p:val>
                                        </p:tav>
                                      </p:tavLst>
                                    </p:anim>
                                    <p:anim calcmode="lin" valueType="num">
                                      <p:cBhvr>
                                        <p:cTn id="34" dur="420" decel="100000" fill="hold"/>
                                        <p:tgtEl>
                                          <p:spTgt spid="15"/>
                                        </p:tgtEl>
                                        <p:attrNameLst>
                                          <p:attrName>ppt_y</p:attrName>
                                        </p:attrNameLst>
                                      </p:cBhvr>
                                      <p:tavLst>
                                        <p:tav tm="0">
                                          <p:val>
                                            <p:strVal val="#ppt_y+0.018"/>
                                          </p:val>
                                        </p:tav>
                                        <p:tav tm="100000">
                                          <p:val>
                                            <p:strVal val="#ppt_y"/>
                                          </p:val>
                                        </p:tav>
                                      </p:tavLst>
                                    </p:anim>
                                  </p:childTnLst>
                                </p:cTn>
                              </p:par>
                              <p:par>
                                <p:cTn id="35" presetID="22" presetClass="entr" presetSubtype="8" fill="hold" grpId="0" nodeType="withEffect">
                                  <p:stCondLst>
                                    <p:cond delay="28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par>
                                <p:cTn id="38" presetID="22" presetClass="entr" presetSubtype="8" fill="hold" grpId="0" nodeType="withEffect">
                                  <p:stCondLst>
                                    <p:cond delay="280"/>
                                  </p:stCondLst>
                                  <p:childTnLst>
                                    <p:set>
                                      <p:cBhvr>
                                        <p:cTn id="39" dur="1" fill="hold">
                                          <p:stCondLst>
                                            <p:cond delay="0"/>
                                          </p:stCondLst>
                                        </p:cTn>
                                        <p:tgtEl>
                                          <p:spTgt spid="13"/>
                                        </p:tgtEl>
                                        <p:attrNameLst>
                                          <p:attrName>style.visibility</p:attrName>
                                        </p:attrNameLst>
                                      </p:cBhvr>
                                      <p:to>
                                        <p:strVal val="visible"/>
                                      </p:to>
                                    </p:set>
                                    <p:animEffect transition="in" filter="wipe(left)">
                                      <p:cBhvr>
                                        <p:cTn id="40" dur="500"/>
                                        <p:tgtEl>
                                          <p:spTgt spid="13"/>
                                        </p:tgtEl>
                                      </p:cBhvr>
                                    </p:animEffect>
                                  </p:childTnLst>
                                </p:cTn>
                              </p:par>
                              <p:par>
                                <p:cTn id="41" presetID="42" presetClass="entr" presetSubtype="4" fill="hold" grpId="0" nodeType="withEffect">
                                  <p:stCondLst>
                                    <p:cond delay="44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60"/>
                                        <p:tgtEl>
                                          <p:spTgt spid="17"/>
                                        </p:tgtEl>
                                      </p:cBhvr>
                                    </p:animEffect>
                                    <p:anim calcmode="lin" valueType="num">
                                      <p:cBhvr>
                                        <p:cTn id="44" dur="460" fill="hold"/>
                                        <p:tgtEl>
                                          <p:spTgt spid="17"/>
                                        </p:tgtEl>
                                        <p:attrNameLst>
                                          <p:attrName>ppt_x</p:attrName>
                                        </p:attrNameLst>
                                      </p:cBhvr>
                                      <p:tavLst>
                                        <p:tav tm="0">
                                          <p:val>
                                            <p:strVal val="#ppt_x"/>
                                          </p:val>
                                        </p:tav>
                                        <p:tav tm="100000">
                                          <p:val>
                                            <p:strVal val="#ppt_x"/>
                                          </p:val>
                                        </p:tav>
                                      </p:tavLst>
                                    </p:anim>
                                    <p:anim calcmode="lin" valueType="num">
                                      <p:cBhvr>
                                        <p:cTn id="45" dur="460" decel="100000" fill="hold"/>
                                        <p:tgtEl>
                                          <p:spTgt spid="17"/>
                                        </p:tgtEl>
                                        <p:attrNameLst>
                                          <p:attrName>ppt_y</p:attrName>
                                        </p:attrNameLst>
                                      </p:cBhvr>
                                      <p:tavLst>
                                        <p:tav tm="0">
                                          <p:val>
                                            <p:strVal val="#ppt_y+0.018"/>
                                          </p:val>
                                        </p:tav>
                                        <p:tav tm="100000">
                                          <p:val>
                                            <p:strVal val="#ppt_y"/>
                                          </p:val>
                                        </p:tav>
                                      </p:tavLst>
                                    </p:anim>
                                  </p:childTnLst>
                                </p:cTn>
                              </p:par>
                              <p:par>
                                <p:cTn id="46" presetID="42" presetClass="entr" presetSubtype="4" fill="hold" grpId="0" nodeType="withEffect">
                                  <p:stCondLst>
                                    <p:cond delay="44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60"/>
                                        <p:tgtEl>
                                          <p:spTgt spid="18"/>
                                        </p:tgtEl>
                                      </p:cBhvr>
                                    </p:animEffect>
                                    <p:anim calcmode="lin" valueType="num">
                                      <p:cBhvr>
                                        <p:cTn id="49" dur="460" fill="hold"/>
                                        <p:tgtEl>
                                          <p:spTgt spid="18"/>
                                        </p:tgtEl>
                                        <p:attrNameLst>
                                          <p:attrName>ppt_x</p:attrName>
                                        </p:attrNameLst>
                                      </p:cBhvr>
                                      <p:tavLst>
                                        <p:tav tm="0">
                                          <p:val>
                                            <p:strVal val="#ppt_x"/>
                                          </p:val>
                                        </p:tav>
                                        <p:tav tm="100000">
                                          <p:val>
                                            <p:strVal val="#ppt_x"/>
                                          </p:val>
                                        </p:tav>
                                      </p:tavLst>
                                    </p:anim>
                                    <p:anim calcmode="lin" valueType="num">
                                      <p:cBhvr>
                                        <p:cTn id="50" dur="460" decel="100000" fill="hold"/>
                                        <p:tgtEl>
                                          <p:spTgt spid="18"/>
                                        </p:tgtEl>
                                        <p:attrNameLst>
                                          <p:attrName>ppt_y</p:attrName>
                                        </p:attrNameLst>
                                      </p:cBhvr>
                                      <p:tavLst>
                                        <p:tav tm="0">
                                          <p:val>
                                            <p:strVal val="#ppt_y+0.018"/>
                                          </p:val>
                                        </p:tav>
                                        <p:tav tm="100000">
                                          <p:val>
                                            <p:strVal val="#ppt_y"/>
                                          </p:val>
                                        </p:tav>
                                      </p:tavLst>
                                    </p:anim>
                                  </p:childTnLst>
                                </p:cTn>
                              </p:par>
                              <p:par>
                                <p:cTn id="51" presetID="42" presetClass="entr" presetSubtype="4" fill="hold" grpId="0" nodeType="withEffect">
                                  <p:stCondLst>
                                    <p:cond delay="44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60"/>
                                        <p:tgtEl>
                                          <p:spTgt spid="19"/>
                                        </p:tgtEl>
                                      </p:cBhvr>
                                    </p:animEffect>
                                    <p:anim calcmode="lin" valueType="num">
                                      <p:cBhvr>
                                        <p:cTn id="54" dur="460" fill="hold"/>
                                        <p:tgtEl>
                                          <p:spTgt spid="19"/>
                                        </p:tgtEl>
                                        <p:attrNameLst>
                                          <p:attrName>ppt_x</p:attrName>
                                        </p:attrNameLst>
                                      </p:cBhvr>
                                      <p:tavLst>
                                        <p:tav tm="0">
                                          <p:val>
                                            <p:strVal val="#ppt_x"/>
                                          </p:val>
                                        </p:tav>
                                        <p:tav tm="100000">
                                          <p:val>
                                            <p:strVal val="#ppt_x"/>
                                          </p:val>
                                        </p:tav>
                                      </p:tavLst>
                                    </p:anim>
                                    <p:anim calcmode="lin" valueType="num">
                                      <p:cBhvr>
                                        <p:cTn id="55" dur="460" decel="100000" fill="hold"/>
                                        <p:tgtEl>
                                          <p:spTgt spid="19"/>
                                        </p:tgtEl>
                                        <p:attrNameLst>
                                          <p:attrName>ppt_y</p:attrName>
                                        </p:attrNameLst>
                                      </p:cBhvr>
                                      <p:tavLst>
                                        <p:tav tm="0">
                                          <p:val>
                                            <p:strVal val="#ppt_y+0.018"/>
                                          </p:val>
                                        </p:tav>
                                        <p:tav tm="100000">
                                          <p:val>
                                            <p:strVal val="#ppt_y"/>
                                          </p:val>
                                        </p:tav>
                                      </p:tavLst>
                                    </p:anim>
                                  </p:childTnLst>
                                </p:cTn>
                              </p:par>
                              <p:par>
                                <p:cTn id="56" presetID="42" presetClass="entr" presetSubtype="4" fill="hold" grpId="0" nodeType="withEffect">
                                  <p:stCondLst>
                                    <p:cond delay="44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60"/>
                                        <p:tgtEl>
                                          <p:spTgt spid="20"/>
                                        </p:tgtEl>
                                      </p:cBhvr>
                                    </p:animEffect>
                                    <p:anim calcmode="lin" valueType="num">
                                      <p:cBhvr>
                                        <p:cTn id="59" dur="460" fill="hold"/>
                                        <p:tgtEl>
                                          <p:spTgt spid="20"/>
                                        </p:tgtEl>
                                        <p:attrNameLst>
                                          <p:attrName>ppt_x</p:attrName>
                                        </p:attrNameLst>
                                      </p:cBhvr>
                                      <p:tavLst>
                                        <p:tav tm="0">
                                          <p:val>
                                            <p:strVal val="#ppt_x"/>
                                          </p:val>
                                        </p:tav>
                                        <p:tav tm="100000">
                                          <p:val>
                                            <p:strVal val="#ppt_x"/>
                                          </p:val>
                                        </p:tav>
                                      </p:tavLst>
                                    </p:anim>
                                    <p:anim calcmode="lin" valueType="num">
                                      <p:cBhvr>
                                        <p:cTn id="60" dur="460" decel="100000" fill="hold"/>
                                        <p:tgtEl>
                                          <p:spTgt spid="20"/>
                                        </p:tgtEl>
                                        <p:attrNameLst>
                                          <p:attrName>ppt_y</p:attrName>
                                        </p:attrNameLst>
                                      </p:cBhvr>
                                      <p:tavLst>
                                        <p:tav tm="0">
                                          <p:val>
                                            <p:strVal val="#ppt_y+0.018"/>
                                          </p:val>
                                        </p:tav>
                                        <p:tav tm="100000">
                                          <p:val>
                                            <p:strVal val="#ppt_y"/>
                                          </p:val>
                                        </p:tav>
                                      </p:tavLst>
                                    </p:anim>
                                  </p:childTnLst>
                                </p:cTn>
                              </p:par>
                              <p:par>
                                <p:cTn id="61" presetID="42" presetClass="entr" presetSubtype="4" fill="hold" grpId="0" nodeType="withEffect">
                                  <p:stCondLst>
                                    <p:cond delay="44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60"/>
                                        <p:tgtEl>
                                          <p:spTgt spid="21"/>
                                        </p:tgtEl>
                                      </p:cBhvr>
                                    </p:animEffect>
                                    <p:anim calcmode="lin" valueType="num">
                                      <p:cBhvr>
                                        <p:cTn id="64" dur="460" fill="hold"/>
                                        <p:tgtEl>
                                          <p:spTgt spid="21"/>
                                        </p:tgtEl>
                                        <p:attrNameLst>
                                          <p:attrName>ppt_x</p:attrName>
                                        </p:attrNameLst>
                                      </p:cBhvr>
                                      <p:tavLst>
                                        <p:tav tm="0">
                                          <p:val>
                                            <p:strVal val="#ppt_x"/>
                                          </p:val>
                                        </p:tav>
                                        <p:tav tm="100000">
                                          <p:val>
                                            <p:strVal val="#ppt_x"/>
                                          </p:val>
                                        </p:tav>
                                      </p:tavLst>
                                    </p:anim>
                                    <p:anim calcmode="lin" valueType="num">
                                      <p:cBhvr>
                                        <p:cTn id="65" dur="460" decel="100000" fill="hold"/>
                                        <p:tgtEl>
                                          <p:spTgt spid="21"/>
                                        </p:tgtEl>
                                        <p:attrNameLst>
                                          <p:attrName>ppt_y</p:attrName>
                                        </p:attrNameLst>
                                      </p:cBhvr>
                                      <p:tavLst>
                                        <p:tav tm="0">
                                          <p:val>
                                            <p:strVal val="#ppt_y+0.018"/>
                                          </p:val>
                                        </p:tav>
                                        <p:tav tm="100000">
                                          <p:val>
                                            <p:strVal val="#ppt_y"/>
                                          </p:val>
                                        </p:tav>
                                      </p:tavLst>
                                    </p:anim>
                                  </p:childTnLst>
                                </p:cTn>
                              </p:par>
                              <p:par>
                                <p:cTn id="66" presetID="42" presetClass="entr" presetSubtype="4" fill="hold" grpId="0" nodeType="withEffect">
                                  <p:stCondLst>
                                    <p:cond delay="44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60"/>
                                        <p:tgtEl>
                                          <p:spTgt spid="22"/>
                                        </p:tgtEl>
                                      </p:cBhvr>
                                    </p:animEffect>
                                    <p:anim calcmode="lin" valueType="num">
                                      <p:cBhvr>
                                        <p:cTn id="69" dur="460" fill="hold"/>
                                        <p:tgtEl>
                                          <p:spTgt spid="22"/>
                                        </p:tgtEl>
                                        <p:attrNameLst>
                                          <p:attrName>ppt_x</p:attrName>
                                        </p:attrNameLst>
                                      </p:cBhvr>
                                      <p:tavLst>
                                        <p:tav tm="0">
                                          <p:val>
                                            <p:strVal val="#ppt_x"/>
                                          </p:val>
                                        </p:tav>
                                        <p:tav tm="100000">
                                          <p:val>
                                            <p:strVal val="#ppt_x"/>
                                          </p:val>
                                        </p:tav>
                                      </p:tavLst>
                                    </p:anim>
                                    <p:anim calcmode="lin" valueType="num">
                                      <p:cBhvr>
                                        <p:cTn id="70" dur="460" decel="100000" fill="hold"/>
                                        <p:tgtEl>
                                          <p:spTgt spid="22"/>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10" grpId="0" animBg="1"/>
      <p:bldP spid="13" grpId="0" animBg="1"/>
      <p:bldP spid="15" grpId="0" animBg="1"/>
      <p:bldP spid="17" grpId="0" animBg="1"/>
      <p:bldP spid="18" grpId="0" animBg="1"/>
      <p:bldP spid="19" grpId="0" animBg="1"/>
      <p:bldP spid="20" grpId="0" animBg="1"/>
      <p:bldP spid="21" grpId="0" animBg="1"/>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light_studio_bg.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5661964" cy="256032"/>
          </a:xfrm>
          <a:prstGeom prst="roundRect">
            <a:avLst>
              <a:gd name="adj" fmla="val 5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059669"/>
                </a:solidFill>
                <a:latin typeface="Segoe UI"/>
              </a:rPr>
              <a:t>03 · PROOF ON UNSEEN ORDERS (JUL–AUG 2018) — AT DELIVERY</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3050" b="1" i="0">
                <a:solidFill>
                  <a:srgbClr val="0F172A"/>
                </a:solidFill>
                <a:latin typeface="Segoe UI"/>
              </a:rPr>
              <a:t>Ten calls a day find </a:t>
            </a:r>
            <a:r>
              <a:rPr sz="3050" b="1" i="0">
                <a:solidFill>
                  <a:srgbClr val="059669"/>
                </a:solidFill>
                <a:latin typeface="Segoe UI"/>
              </a:rPr>
              <a:t>5× more unhappy customers</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64748B"/>
                </a:solidFill>
                <a:latin typeface="Segoe UI"/>
              </a:rPr>
              <a:t>Across 62 unseen test days (12,855 reviewed orders), calling just 10 ranked buyers/day turns 11% random hits into 57%.</a:t>
            </a:r>
          </a:p>
        </p:txBody>
      </p:sp>
      <p:sp>
        <p:nvSpPr>
          <p:cNvPr id="6" name="Card"/>
          <p:cNvSpPr/>
          <p:nvPr/>
        </p:nvSpPr>
        <p:spPr>
          <a:xfrm>
            <a:off x="566928" y="1645920"/>
            <a:ext cx="3547872" cy="4443984"/>
          </a:xfrm>
          <a:prstGeom prst="roundRect">
            <a:avLst>
              <a:gd name="adj" fmla="val 3800"/>
            </a:avLst>
          </a:prstGeom>
          <a:solidFill>
            <a:srgbClr val="FFFFFF"/>
          </a:solidFill>
          <a:ln w="17780">
            <a:solidFill>
              <a:srgbClr val="A7F3D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ard_accent"/>
          <p:cNvSpPr/>
          <p:nvPr/>
        </p:nvSpPr>
        <p:spPr>
          <a:xfrm>
            <a:off x="713232" y="1645920"/>
            <a:ext cx="3255264" cy="50292"/>
          </a:xfrm>
          <a:prstGeom prst="roundRect">
            <a:avLst>
              <a:gd name="adj" fmla="val 25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
          <p:cNvSpPr txBox="1"/>
          <p:nvPr/>
        </p:nvSpPr>
        <p:spPr>
          <a:xfrm>
            <a:off x="786384" y="1810512"/>
            <a:ext cx="3108960" cy="868680"/>
          </a:xfrm>
          <a:prstGeom prst="rect">
            <a:avLst/>
          </a:prstGeom>
          <a:noFill/>
        </p:spPr>
        <p:txBody>
          <a:bodyPr wrap="square" lIns="0" tIns="0" rIns="0" bIns="0" anchor="t">
            <a:spAutoFit/>
          </a:bodyPr>
          <a:lstStyle/>
          <a:p>
            <a:pPr algn="l">
              <a:lnSpc>
                <a:spcPct val="122000"/>
              </a:lnSpc>
              <a:spcAft>
                <a:spcPts val="300"/>
              </a:spcAft>
            </a:pPr>
            <a:r>
              <a:rPr sz="900" b="1" i="0" spc="130">
                <a:solidFill>
                  <a:srgbClr val="059669"/>
                </a:solidFill>
                <a:latin typeface="Segoe UI"/>
              </a:rPr>
              <a:t>OUR DAILY TOP-10 CALL LIST</a:t>
            </a:r>
          </a:p>
          <a:p>
            <a:pPr algn="l">
              <a:lnSpc>
                <a:spcPct val="100000"/>
              </a:lnSpc>
            </a:pPr>
            <a:r>
              <a:rPr sz="3800" b="1" i="0">
                <a:solidFill>
                  <a:srgbClr val="059669"/>
                </a:solidFill>
                <a:latin typeface="Segoe UI"/>
              </a:rPr>
              <a:t>57</a:t>
            </a:r>
            <a:r>
              <a:rPr sz="1500" b="1" i="0">
                <a:solidFill>
                  <a:srgbClr val="0F172A"/>
                </a:solidFill>
                <a:latin typeface="Segoe UI"/>
              </a:rPr>
              <a:t> / 100 calls</a:t>
            </a:r>
          </a:p>
          <a:p>
            <a:pPr algn="l">
              <a:lnSpc>
                <a:spcPct val="122000"/>
              </a:lnSpc>
            </a:pPr>
            <a:r>
              <a:rPr sz="1040" b="0" i="0">
                <a:solidFill>
                  <a:srgbClr val="334155"/>
                </a:solidFill>
                <a:latin typeface="Segoe UI"/>
              </a:rPr>
              <a:t>reach a real 1–2★ customer (57.2%)</a:t>
            </a:r>
          </a:p>
        </p:txBody>
      </p:sp>
      <p:sp>
        <p:nvSpPr>
          <p:cNvPr id="9" name="Oval 8"/>
          <p:cNvSpPr/>
          <p:nvPr/>
        </p:nvSpPr>
        <p:spPr>
          <a:xfrm>
            <a:off x="84124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3842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43560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3278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2996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32714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62432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292150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21868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3515868" y="2834640"/>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4124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13842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43560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73278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02996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232714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62432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292150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21868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515868" y="309021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84124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113842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43560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73278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2996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32714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62432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2150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321868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3515868" y="3345789"/>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841248" y="360136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38428" y="360136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435608" y="360136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1732788" y="360136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2029968" y="3601364"/>
            <a:ext cx="205740" cy="20574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327148" y="360136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624328" y="360136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921508" y="360136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3218688" y="360136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3515868" y="360136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84124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13842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43560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173278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02996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232714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262432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92150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321868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3515868" y="3856939"/>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841248" y="411251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138428" y="411251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1435608" y="411251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1732788" y="411251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2029968" y="411251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327148" y="411251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2624328" y="4112514"/>
            <a:ext cx="205740" cy="2057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2921508" y="4112514"/>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3218688" y="4112514"/>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3515868" y="4112514"/>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84124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113842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143560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173278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202996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232714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262432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292150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321868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3515868" y="436808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84124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113842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143560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173278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02996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232714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262432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92150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321868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3515868" y="462366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84124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113842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143560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173278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202996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232714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262432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292150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321868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3515868" y="4879238"/>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84124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113842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143560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173278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202996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232714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262432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292150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321868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3515868" y="5134813"/>
            <a:ext cx="205740" cy="205740"/>
          </a:xfrm>
          <a:prstGeom prst="ellipse">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
          <p:cNvSpPr txBox="1"/>
          <p:nvPr/>
        </p:nvSpPr>
        <p:spPr>
          <a:xfrm>
            <a:off x="786384" y="5440680"/>
            <a:ext cx="3145536" cy="566928"/>
          </a:xfrm>
          <a:prstGeom prst="rect">
            <a:avLst/>
          </a:prstGeom>
          <a:noFill/>
        </p:spPr>
        <p:txBody>
          <a:bodyPr wrap="square" lIns="0" tIns="0" rIns="0" bIns="0" anchor="t">
            <a:spAutoFit/>
          </a:bodyPr>
          <a:lstStyle/>
          <a:p>
            <a:pPr algn="l">
              <a:lnSpc>
                <a:spcPct val="125000"/>
              </a:lnSpc>
            </a:pPr>
            <a:r>
              <a:rPr sz="980" b="1" i="0">
                <a:solidFill>
                  <a:srgbClr val="059669"/>
                </a:solidFill>
                <a:latin typeface="Segoe UI"/>
              </a:rPr>
              <a:t>● 35 </a:t>
            </a:r>
            <a:r>
              <a:rPr sz="940" b="0" i="0">
                <a:solidFill>
                  <a:srgbClr val="334155"/>
                </a:solidFill>
                <a:latin typeface="Segoe UI"/>
              </a:rPr>
              <a:t>not written before arrival   </a:t>
            </a:r>
            <a:r>
              <a:rPr sz="980" b="1" i="0">
                <a:solidFill>
                  <a:srgbClr val="D97706"/>
                </a:solidFill>
                <a:latin typeface="Segoe UI"/>
              </a:rPr>
              <a:t>● 22 </a:t>
            </a:r>
            <a:r>
              <a:rPr sz="940" b="0" i="0">
                <a:solidFill>
                  <a:srgbClr val="334155"/>
                </a:solidFill>
                <a:latin typeface="Segoe UI"/>
              </a:rPr>
              <a:t>wrote waiting</a:t>
            </a:r>
          </a:p>
          <a:p>
            <a:pPr algn="l">
              <a:lnSpc>
                <a:spcPct val="125000"/>
              </a:lnSpc>
            </a:pPr>
            <a:r>
              <a:rPr sz="980" b="1" i="0">
                <a:solidFill>
                  <a:srgbClr val="94A3B8"/>
                </a:solidFill>
                <a:latin typeface="Segoe UI"/>
              </a:rPr>
              <a:t>● 43 </a:t>
            </a:r>
            <a:r>
              <a:rPr sz="919" b="0" i="0">
                <a:solidFill>
                  <a:srgbClr val="64748B"/>
                </a:solidFill>
                <a:latin typeface="Segoe UI"/>
              </a:rPr>
              <a:t>satisfied (3–5★)   ·   614 total calls over 62 days</a:t>
            </a:r>
          </a:p>
        </p:txBody>
      </p:sp>
      <p:sp>
        <p:nvSpPr>
          <p:cNvPr id="110" name="Card"/>
          <p:cNvSpPr/>
          <p:nvPr/>
        </p:nvSpPr>
        <p:spPr>
          <a:xfrm>
            <a:off x="4315968" y="1645920"/>
            <a:ext cx="3310128" cy="4443984"/>
          </a:xfrm>
          <a:prstGeom prst="roundRect">
            <a:avLst>
              <a:gd name="adj" fmla="val 3800"/>
            </a:avLst>
          </a:prstGeom>
          <a:solidFill>
            <a:srgbClr val="F8FAFC"/>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_accent"/>
          <p:cNvSpPr/>
          <p:nvPr/>
        </p:nvSpPr>
        <p:spPr>
          <a:xfrm>
            <a:off x="4462272" y="1645920"/>
            <a:ext cx="3017520" cy="50292"/>
          </a:xfrm>
          <a:prstGeom prst="roundRect">
            <a:avLst>
              <a:gd name="adj" fmla="val 25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
          <p:cNvSpPr txBox="1"/>
          <p:nvPr/>
        </p:nvSpPr>
        <p:spPr>
          <a:xfrm>
            <a:off x="4535424" y="1810512"/>
            <a:ext cx="2889504" cy="868680"/>
          </a:xfrm>
          <a:prstGeom prst="rect">
            <a:avLst/>
          </a:prstGeom>
          <a:noFill/>
        </p:spPr>
        <p:txBody>
          <a:bodyPr wrap="square" lIns="0" tIns="0" rIns="0" bIns="0" anchor="t">
            <a:spAutoFit/>
          </a:bodyPr>
          <a:lstStyle/>
          <a:p>
            <a:pPr algn="l">
              <a:lnSpc>
                <a:spcPct val="122000"/>
              </a:lnSpc>
              <a:spcAft>
                <a:spcPts val="300"/>
              </a:spcAft>
            </a:pPr>
            <a:r>
              <a:rPr sz="900" b="1" i="0" spc="130">
                <a:solidFill>
                  <a:srgbClr val="64748B"/>
                </a:solidFill>
                <a:latin typeface="Segoe UI"/>
              </a:rPr>
              <a:t>CALLING AT RANDOM</a:t>
            </a:r>
          </a:p>
          <a:p>
            <a:pPr algn="l">
              <a:lnSpc>
                <a:spcPct val="100000"/>
              </a:lnSpc>
            </a:pPr>
            <a:r>
              <a:rPr sz="3800" b="1" i="0">
                <a:solidFill>
                  <a:srgbClr val="64748B"/>
                </a:solidFill>
                <a:latin typeface="Segoe UI"/>
              </a:rPr>
              <a:t>11</a:t>
            </a:r>
            <a:r>
              <a:rPr sz="1500" b="1" i="0">
                <a:solidFill>
                  <a:srgbClr val="334155"/>
                </a:solidFill>
                <a:latin typeface="Segoe UI"/>
              </a:rPr>
              <a:t> / 100 calls</a:t>
            </a:r>
          </a:p>
          <a:p>
            <a:pPr algn="l">
              <a:lnSpc>
                <a:spcPct val="122000"/>
              </a:lnSpc>
            </a:pPr>
            <a:r>
              <a:rPr sz="1040" b="0" i="0">
                <a:solidFill>
                  <a:srgbClr val="64748B"/>
                </a:solidFill>
                <a:latin typeface="Segoe UI"/>
              </a:rPr>
              <a:t>reach a 1–2★ customer (11.0% base)</a:t>
            </a:r>
          </a:p>
        </p:txBody>
      </p:sp>
      <p:sp>
        <p:nvSpPr>
          <p:cNvPr id="113" name="Oval 112"/>
          <p:cNvSpPr/>
          <p:nvPr/>
        </p:nvSpPr>
        <p:spPr>
          <a:xfrm>
            <a:off x="4517136"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4805172"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5093208"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5381244"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5669280"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5957316"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6245352"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6533388"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6821424"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7109460" y="2834640"/>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4517136" y="3090214"/>
            <a:ext cx="205740" cy="20574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4805172" y="30902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5093208" y="30902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5381244" y="30902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5669280" y="30902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5957316" y="30902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6245352" y="30902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6533388" y="30902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6821424" y="30902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7109460" y="30902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4517136"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4805172"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5093208"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5381244"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5669280"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5957316"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6245352"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6533388"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6821424"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7109460" y="334578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4517136"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4805172"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5093208"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5381244"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5669280"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5957316"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Oval 148"/>
          <p:cNvSpPr/>
          <p:nvPr/>
        </p:nvSpPr>
        <p:spPr>
          <a:xfrm>
            <a:off x="6245352"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Oval 149"/>
          <p:cNvSpPr/>
          <p:nvPr/>
        </p:nvSpPr>
        <p:spPr>
          <a:xfrm>
            <a:off x="6533388"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Oval 150"/>
          <p:cNvSpPr/>
          <p:nvPr/>
        </p:nvSpPr>
        <p:spPr>
          <a:xfrm>
            <a:off x="6821424"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Oval 151"/>
          <p:cNvSpPr/>
          <p:nvPr/>
        </p:nvSpPr>
        <p:spPr>
          <a:xfrm>
            <a:off x="7109460" y="360136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Oval 152"/>
          <p:cNvSpPr/>
          <p:nvPr/>
        </p:nvSpPr>
        <p:spPr>
          <a:xfrm>
            <a:off x="4517136"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Oval 153"/>
          <p:cNvSpPr/>
          <p:nvPr/>
        </p:nvSpPr>
        <p:spPr>
          <a:xfrm>
            <a:off x="4805172"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Oval 154"/>
          <p:cNvSpPr/>
          <p:nvPr/>
        </p:nvSpPr>
        <p:spPr>
          <a:xfrm>
            <a:off x="5093208"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Oval 155"/>
          <p:cNvSpPr/>
          <p:nvPr/>
        </p:nvSpPr>
        <p:spPr>
          <a:xfrm>
            <a:off x="5381244"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Oval 156"/>
          <p:cNvSpPr/>
          <p:nvPr/>
        </p:nvSpPr>
        <p:spPr>
          <a:xfrm>
            <a:off x="5669280"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Oval 157"/>
          <p:cNvSpPr/>
          <p:nvPr/>
        </p:nvSpPr>
        <p:spPr>
          <a:xfrm>
            <a:off x="5957316"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Oval 158"/>
          <p:cNvSpPr/>
          <p:nvPr/>
        </p:nvSpPr>
        <p:spPr>
          <a:xfrm>
            <a:off x="6245352"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Oval 159"/>
          <p:cNvSpPr/>
          <p:nvPr/>
        </p:nvSpPr>
        <p:spPr>
          <a:xfrm>
            <a:off x="6533388"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Oval 160"/>
          <p:cNvSpPr/>
          <p:nvPr/>
        </p:nvSpPr>
        <p:spPr>
          <a:xfrm>
            <a:off x="6821424"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Oval 161"/>
          <p:cNvSpPr/>
          <p:nvPr/>
        </p:nvSpPr>
        <p:spPr>
          <a:xfrm>
            <a:off x="7109460" y="3856939"/>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Oval 162"/>
          <p:cNvSpPr/>
          <p:nvPr/>
        </p:nvSpPr>
        <p:spPr>
          <a:xfrm>
            <a:off x="4517136"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Oval 163"/>
          <p:cNvSpPr/>
          <p:nvPr/>
        </p:nvSpPr>
        <p:spPr>
          <a:xfrm>
            <a:off x="4805172"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Oval 164"/>
          <p:cNvSpPr/>
          <p:nvPr/>
        </p:nvSpPr>
        <p:spPr>
          <a:xfrm>
            <a:off x="5093208"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Oval 165"/>
          <p:cNvSpPr/>
          <p:nvPr/>
        </p:nvSpPr>
        <p:spPr>
          <a:xfrm>
            <a:off x="5381244"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Oval 166"/>
          <p:cNvSpPr/>
          <p:nvPr/>
        </p:nvSpPr>
        <p:spPr>
          <a:xfrm>
            <a:off x="5669280"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Oval 167"/>
          <p:cNvSpPr/>
          <p:nvPr/>
        </p:nvSpPr>
        <p:spPr>
          <a:xfrm>
            <a:off x="5957316"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Oval 168"/>
          <p:cNvSpPr/>
          <p:nvPr/>
        </p:nvSpPr>
        <p:spPr>
          <a:xfrm>
            <a:off x="6245352"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Oval 169"/>
          <p:cNvSpPr/>
          <p:nvPr/>
        </p:nvSpPr>
        <p:spPr>
          <a:xfrm>
            <a:off x="6533388"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Oval 170"/>
          <p:cNvSpPr/>
          <p:nvPr/>
        </p:nvSpPr>
        <p:spPr>
          <a:xfrm>
            <a:off x="6821424"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Oval 171"/>
          <p:cNvSpPr/>
          <p:nvPr/>
        </p:nvSpPr>
        <p:spPr>
          <a:xfrm>
            <a:off x="7109460" y="4112514"/>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Oval 172"/>
          <p:cNvSpPr/>
          <p:nvPr/>
        </p:nvSpPr>
        <p:spPr>
          <a:xfrm>
            <a:off x="4517136"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Oval 173"/>
          <p:cNvSpPr/>
          <p:nvPr/>
        </p:nvSpPr>
        <p:spPr>
          <a:xfrm>
            <a:off x="4805172"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Oval 174"/>
          <p:cNvSpPr/>
          <p:nvPr/>
        </p:nvSpPr>
        <p:spPr>
          <a:xfrm>
            <a:off x="5093208"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Oval 175"/>
          <p:cNvSpPr/>
          <p:nvPr/>
        </p:nvSpPr>
        <p:spPr>
          <a:xfrm>
            <a:off x="5381244"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Oval 176"/>
          <p:cNvSpPr/>
          <p:nvPr/>
        </p:nvSpPr>
        <p:spPr>
          <a:xfrm>
            <a:off x="5669280"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Oval 177"/>
          <p:cNvSpPr/>
          <p:nvPr/>
        </p:nvSpPr>
        <p:spPr>
          <a:xfrm>
            <a:off x="5957316"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6245352"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Oval 179"/>
          <p:cNvSpPr/>
          <p:nvPr/>
        </p:nvSpPr>
        <p:spPr>
          <a:xfrm>
            <a:off x="6533388"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Oval 180"/>
          <p:cNvSpPr/>
          <p:nvPr/>
        </p:nvSpPr>
        <p:spPr>
          <a:xfrm>
            <a:off x="6821424"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Oval 181"/>
          <p:cNvSpPr/>
          <p:nvPr/>
        </p:nvSpPr>
        <p:spPr>
          <a:xfrm>
            <a:off x="7109460" y="436808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Oval 182"/>
          <p:cNvSpPr/>
          <p:nvPr/>
        </p:nvSpPr>
        <p:spPr>
          <a:xfrm>
            <a:off x="4517136"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Oval 183"/>
          <p:cNvSpPr/>
          <p:nvPr/>
        </p:nvSpPr>
        <p:spPr>
          <a:xfrm>
            <a:off x="4805172"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Oval 184"/>
          <p:cNvSpPr/>
          <p:nvPr/>
        </p:nvSpPr>
        <p:spPr>
          <a:xfrm>
            <a:off x="5093208"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Oval 185"/>
          <p:cNvSpPr/>
          <p:nvPr/>
        </p:nvSpPr>
        <p:spPr>
          <a:xfrm>
            <a:off x="5381244"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Oval 186"/>
          <p:cNvSpPr/>
          <p:nvPr/>
        </p:nvSpPr>
        <p:spPr>
          <a:xfrm>
            <a:off x="5669280"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Oval 187"/>
          <p:cNvSpPr/>
          <p:nvPr/>
        </p:nvSpPr>
        <p:spPr>
          <a:xfrm>
            <a:off x="5957316"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Oval 188"/>
          <p:cNvSpPr/>
          <p:nvPr/>
        </p:nvSpPr>
        <p:spPr>
          <a:xfrm>
            <a:off x="6245352"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Oval 189"/>
          <p:cNvSpPr/>
          <p:nvPr/>
        </p:nvSpPr>
        <p:spPr>
          <a:xfrm>
            <a:off x="6533388"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Oval 190"/>
          <p:cNvSpPr/>
          <p:nvPr/>
        </p:nvSpPr>
        <p:spPr>
          <a:xfrm>
            <a:off x="6821424"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Oval 191"/>
          <p:cNvSpPr/>
          <p:nvPr/>
        </p:nvSpPr>
        <p:spPr>
          <a:xfrm>
            <a:off x="7109460" y="462366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Oval 192"/>
          <p:cNvSpPr/>
          <p:nvPr/>
        </p:nvSpPr>
        <p:spPr>
          <a:xfrm>
            <a:off x="4517136"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Oval 193"/>
          <p:cNvSpPr/>
          <p:nvPr/>
        </p:nvSpPr>
        <p:spPr>
          <a:xfrm>
            <a:off x="4805172"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Oval 194"/>
          <p:cNvSpPr/>
          <p:nvPr/>
        </p:nvSpPr>
        <p:spPr>
          <a:xfrm>
            <a:off x="5093208"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Oval 195"/>
          <p:cNvSpPr/>
          <p:nvPr/>
        </p:nvSpPr>
        <p:spPr>
          <a:xfrm>
            <a:off x="5381244"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Oval 196"/>
          <p:cNvSpPr/>
          <p:nvPr/>
        </p:nvSpPr>
        <p:spPr>
          <a:xfrm>
            <a:off x="5669280"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Oval 197"/>
          <p:cNvSpPr/>
          <p:nvPr/>
        </p:nvSpPr>
        <p:spPr>
          <a:xfrm>
            <a:off x="5957316"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Oval 198"/>
          <p:cNvSpPr/>
          <p:nvPr/>
        </p:nvSpPr>
        <p:spPr>
          <a:xfrm>
            <a:off x="6245352"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Oval 199"/>
          <p:cNvSpPr/>
          <p:nvPr/>
        </p:nvSpPr>
        <p:spPr>
          <a:xfrm>
            <a:off x="6533388"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Oval 200"/>
          <p:cNvSpPr/>
          <p:nvPr/>
        </p:nvSpPr>
        <p:spPr>
          <a:xfrm>
            <a:off x="6821424"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Oval 201"/>
          <p:cNvSpPr/>
          <p:nvPr/>
        </p:nvSpPr>
        <p:spPr>
          <a:xfrm>
            <a:off x="7109460" y="4879238"/>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Oval 202"/>
          <p:cNvSpPr/>
          <p:nvPr/>
        </p:nvSpPr>
        <p:spPr>
          <a:xfrm>
            <a:off x="4517136"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Oval 203"/>
          <p:cNvSpPr/>
          <p:nvPr/>
        </p:nvSpPr>
        <p:spPr>
          <a:xfrm>
            <a:off x="4805172"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Oval 204"/>
          <p:cNvSpPr/>
          <p:nvPr/>
        </p:nvSpPr>
        <p:spPr>
          <a:xfrm>
            <a:off x="5093208"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Oval 205"/>
          <p:cNvSpPr/>
          <p:nvPr/>
        </p:nvSpPr>
        <p:spPr>
          <a:xfrm>
            <a:off x="5381244"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Oval 206"/>
          <p:cNvSpPr/>
          <p:nvPr/>
        </p:nvSpPr>
        <p:spPr>
          <a:xfrm>
            <a:off x="5669280"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Oval 207"/>
          <p:cNvSpPr/>
          <p:nvPr/>
        </p:nvSpPr>
        <p:spPr>
          <a:xfrm>
            <a:off x="5957316"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Oval 208"/>
          <p:cNvSpPr/>
          <p:nvPr/>
        </p:nvSpPr>
        <p:spPr>
          <a:xfrm>
            <a:off x="6245352"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Oval 209"/>
          <p:cNvSpPr/>
          <p:nvPr/>
        </p:nvSpPr>
        <p:spPr>
          <a:xfrm>
            <a:off x="6533388"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Oval 210"/>
          <p:cNvSpPr/>
          <p:nvPr/>
        </p:nvSpPr>
        <p:spPr>
          <a:xfrm>
            <a:off x="6821424"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Oval 211"/>
          <p:cNvSpPr/>
          <p:nvPr/>
        </p:nvSpPr>
        <p:spPr>
          <a:xfrm>
            <a:off x="7109460" y="5134813"/>
            <a:ext cx="205740" cy="20574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Text"/>
          <p:cNvSpPr txBox="1"/>
          <p:nvPr/>
        </p:nvSpPr>
        <p:spPr>
          <a:xfrm>
            <a:off x="4535424" y="5440680"/>
            <a:ext cx="2889504" cy="566928"/>
          </a:xfrm>
          <a:prstGeom prst="rect">
            <a:avLst/>
          </a:prstGeom>
          <a:noFill/>
        </p:spPr>
        <p:txBody>
          <a:bodyPr wrap="square" lIns="0" tIns="0" rIns="0" bIns="0" anchor="t">
            <a:spAutoFit/>
          </a:bodyPr>
          <a:lstStyle/>
          <a:p>
            <a:pPr algn="l">
              <a:lnSpc>
                <a:spcPct val="125000"/>
              </a:lnSpc>
            </a:pPr>
            <a:r>
              <a:rPr sz="1019" b="1" i="0">
                <a:solidFill>
                  <a:srgbClr val="0F172A"/>
                </a:solidFill>
                <a:latin typeface="Segoe UI"/>
              </a:rPr>
              <a:t>89 of 100 calls wasted</a:t>
            </a:r>
            <a:r>
              <a:rPr sz="1000" b="0" i="0">
                <a:solidFill>
                  <a:srgbClr val="64748B"/>
                </a:solidFill>
                <a:latin typeface="Segoe UI"/>
              </a:rPr>
              <a:t> on happy buyers.</a:t>
            </a:r>
          </a:p>
          <a:p>
            <a:pPr algn="l">
              <a:lnSpc>
                <a:spcPct val="125000"/>
              </a:lnSpc>
            </a:pPr>
            <a:r>
              <a:rPr sz="940" b="1" i="0">
                <a:solidFill>
                  <a:srgbClr val="E11D48"/>
                </a:solidFill>
                <a:latin typeface="Segoe UI"/>
              </a:rPr>
              <a:t>Below break-even (loses money).</a:t>
            </a:r>
          </a:p>
        </p:txBody>
      </p:sp>
      <p:sp>
        <p:nvSpPr>
          <p:cNvPr id="214" name="Card"/>
          <p:cNvSpPr/>
          <p:nvPr/>
        </p:nvSpPr>
        <p:spPr>
          <a:xfrm>
            <a:off x="7827264" y="1645920"/>
            <a:ext cx="3785615" cy="1335024"/>
          </a:xfrm>
          <a:prstGeom prst="roundRect">
            <a:avLst>
              <a:gd name="adj" fmla="val 3800"/>
            </a:avLst>
          </a:prstGeom>
          <a:solidFill>
            <a:srgbClr val="FFFFFF"/>
          </a:solidFill>
          <a:ln w="12700">
            <a:solidFill>
              <a:srgbClr val="A7F3D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Card_accent"/>
          <p:cNvSpPr/>
          <p:nvPr/>
        </p:nvSpPr>
        <p:spPr>
          <a:xfrm>
            <a:off x="7827264" y="1810512"/>
            <a:ext cx="59436" cy="1005840"/>
          </a:xfrm>
          <a:prstGeom prst="roundRect">
            <a:avLst>
              <a:gd name="adj" fmla="val 25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Text"/>
          <p:cNvSpPr txBox="1"/>
          <p:nvPr/>
        </p:nvSpPr>
        <p:spPr>
          <a:xfrm>
            <a:off x="8046720" y="1773936"/>
            <a:ext cx="3419856" cy="1115568"/>
          </a:xfrm>
          <a:prstGeom prst="rect">
            <a:avLst/>
          </a:prstGeom>
          <a:noFill/>
        </p:spPr>
        <p:txBody>
          <a:bodyPr wrap="square" lIns="0" tIns="0" rIns="0" bIns="0" anchor="t">
            <a:spAutoFit/>
          </a:bodyPr>
          <a:lstStyle/>
          <a:p>
            <a:pPr algn="l">
              <a:lnSpc>
                <a:spcPct val="122000"/>
              </a:lnSpc>
              <a:spcAft>
                <a:spcPts val="200"/>
              </a:spcAft>
            </a:pPr>
            <a:r>
              <a:rPr sz="860" b="1" i="0" spc="130">
                <a:solidFill>
                  <a:srgbClr val="059669"/>
                </a:solidFill>
                <a:latin typeface="Segoe UI"/>
              </a:rPr>
              <a:t>PRECISION LIFT AT SMALL BUDGETS</a:t>
            </a:r>
          </a:p>
          <a:p>
            <a:pPr algn="l">
              <a:lnSpc>
                <a:spcPct val="105000"/>
              </a:lnSpc>
            </a:pPr>
            <a:r>
              <a:rPr sz="2600" b="1" i="0">
                <a:solidFill>
                  <a:srgbClr val="059669"/>
                </a:solidFill>
                <a:latin typeface="Segoe UI"/>
              </a:rPr>
              <a:t>5.2× </a:t>
            </a:r>
            <a:r>
              <a:rPr sz="1150" b="1" i="0">
                <a:solidFill>
                  <a:srgbClr val="0F172A"/>
                </a:solidFill>
                <a:latin typeface="Segoe UI"/>
              </a:rPr>
              <a:t>at 10 calls/day   </a:t>
            </a:r>
            <a:r>
              <a:rPr sz="1050" b="1" i="0">
                <a:solidFill>
                  <a:srgbClr val="2563EB"/>
                </a:solidFill>
                <a:latin typeface="Segoe UI"/>
              </a:rPr>
              <a:t>(68% at top 5%)</a:t>
            </a:r>
          </a:p>
          <a:p>
            <a:pPr algn="l">
              <a:lnSpc>
                <a:spcPct val="120000"/>
              </a:lnSpc>
            </a:pPr>
            <a:r>
              <a:rPr sz="960" b="0" i="0">
                <a:solidFill>
                  <a:srgbClr val="334155"/>
                </a:solidFill>
                <a:latin typeface="Segoe UI"/>
              </a:rPr>
              <a:t>Powered by delay vs. promise, multi-unit baskets, high freight share &amp; category history.</a:t>
            </a:r>
          </a:p>
        </p:txBody>
      </p:sp>
      <p:sp>
        <p:nvSpPr>
          <p:cNvPr id="217" name="Card"/>
          <p:cNvSpPr/>
          <p:nvPr/>
        </p:nvSpPr>
        <p:spPr>
          <a:xfrm>
            <a:off x="7827264" y="3145536"/>
            <a:ext cx="3785615" cy="1572768"/>
          </a:xfrm>
          <a:prstGeom prst="roundRect">
            <a:avLst>
              <a:gd name="adj" fmla="val 3800"/>
            </a:avLst>
          </a:prstGeom>
          <a:solidFill>
            <a:srgbClr val="EFF6FF"/>
          </a:solidFill>
          <a:ln w="12700">
            <a:solidFill>
              <a:srgbClr val="BFDBFE"/>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Card_accent"/>
          <p:cNvSpPr/>
          <p:nvPr/>
        </p:nvSpPr>
        <p:spPr>
          <a:xfrm>
            <a:off x="7827264" y="3310128"/>
            <a:ext cx="59436" cy="1243584"/>
          </a:xfrm>
          <a:prstGeom prst="roundRect">
            <a:avLst>
              <a:gd name="adj" fmla="val 2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Text"/>
          <p:cNvSpPr txBox="1"/>
          <p:nvPr/>
        </p:nvSpPr>
        <p:spPr>
          <a:xfrm>
            <a:off x="8046720" y="3255264"/>
            <a:ext cx="3419856" cy="1371600"/>
          </a:xfrm>
          <a:prstGeom prst="rect">
            <a:avLst/>
          </a:prstGeom>
          <a:noFill/>
        </p:spPr>
        <p:txBody>
          <a:bodyPr wrap="square" lIns="0" tIns="0" rIns="0" bIns="0" anchor="t">
            <a:spAutoFit/>
          </a:bodyPr>
          <a:lstStyle/>
          <a:p>
            <a:pPr algn="l">
              <a:lnSpc>
                <a:spcPct val="120000"/>
              </a:lnSpc>
              <a:spcAft>
                <a:spcPts val="300"/>
              </a:spcAft>
            </a:pPr>
            <a:r>
              <a:rPr sz="860" b="1" i="0" spc="120">
                <a:solidFill>
                  <a:srgbClr val="2563EB"/>
                </a:solidFill>
                <a:latin typeface="Segoe UI"/>
              </a:rPr>
              <a:t>WHAT ABOUT DELIVERED PARCELS ONLY?</a:t>
            </a:r>
          </a:p>
          <a:p>
            <a:pPr algn="l">
              <a:lnSpc>
                <a:spcPct val="120000"/>
              </a:lnSpc>
              <a:spcAft>
                <a:spcPts val="400"/>
              </a:spcAft>
            </a:pPr>
            <a:r>
              <a:rPr sz="1750" b="1" i="0">
                <a:solidFill>
                  <a:srgbClr val="2563EB"/>
                </a:solidFill>
                <a:latin typeface="Segoe UI"/>
              </a:rPr>
              <a:t>45% precision  (delivered only)</a:t>
            </a:r>
          </a:p>
          <a:p>
            <a:pPr algn="l">
              <a:lnSpc>
                <a:spcPct val="120000"/>
              </a:lnSpc>
            </a:pPr>
            <a:r>
              <a:rPr sz="980" b="0" i="0">
                <a:solidFill>
                  <a:srgbClr val="334155"/>
                </a:solidFill>
                <a:latin typeface="Segoe UI"/>
              </a:rPr>
              <a:t>Without the never-delivered orders the daily top-10 still hits </a:t>
            </a:r>
            <a:r>
              <a:rPr sz="980" b="1" i="0">
                <a:solidFill>
                  <a:srgbClr val="0F172A"/>
                </a:solidFill>
                <a:latin typeface="Segoe UI"/>
              </a:rPr>
              <a:t>45.1% unhappy buyers</a:t>
            </a:r>
            <a:r>
              <a:rPr sz="980" b="0" i="0">
                <a:solidFill>
                  <a:srgbClr val="334155"/>
                </a:solidFill>
                <a:latin typeface="Segoe UI"/>
              </a:rPr>
              <a:t> (vs 9.6% at random); strictly on-time parcels: top 5% = 28% (3.5×), where </a:t>
            </a:r>
            <a:r>
              <a:rPr sz="980" b="1" i="0">
                <a:solidFill>
                  <a:srgbClr val="059669"/>
                </a:solidFill>
                <a:latin typeface="Segoe UI"/>
              </a:rPr>
              <a:t>99.5% wait ~2.1 days after delivery!</a:t>
            </a:r>
          </a:p>
        </p:txBody>
      </p:sp>
      <p:sp>
        <p:nvSpPr>
          <p:cNvPr id="220" name="Card"/>
          <p:cNvSpPr/>
          <p:nvPr/>
        </p:nvSpPr>
        <p:spPr>
          <a:xfrm>
            <a:off x="7827264" y="4864608"/>
            <a:ext cx="3785615" cy="1225296"/>
          </a:xfrm>
          <a:prstGeom prst="roundRect">
            <a:avLst>
              <a:gd name="adj" fmla="val 3800"/>
            </a:avLst>
          </a:prstGeom>
          <a:solidFill>
            <a:srgbClr val="FFFFFF"/>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Card_accent"/>
          <p:cNvSpPr/>
          <p:nvPr/>
        </p:nvSpPr>
        <p:spPr>
          <a:xfrm>
            <a:off x="7827264" y="5029200"/>
            <a:ext cx="59436" cy="896112"/>
          </a:xfrm>
          <a:prstGeom prst="roundRect">
            <a:avLst>
              <a:gd name="adj" fmla="val 25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Text"/>
          <p:cNvSpPr txBox="1"/>
          <p:nvPr/>
        </p:nvSpPr>
        <p:spPr>
          <a:xfrm>
            <a:off x="8046720" y="4974336"/>
            <a:ext cx="3419856" cy="1024128"/>
          </a:xfrm>
          <a:prstGeom prst="rect">
            <a:avLst/>
          </a:prstGeom>
          <a:noFill/>
        </p:spPr>
        <p:txBody>
          <a:bodyPr wrap="square" lIns="0" tIns="0" rIns="0" bIns="0" anchor="t">
            <a:spAutoFit/>
          </a:bodyPr>
          <a:lstStyle/>
          <a:p>
            <a:pPr algn="l">
              <a:lnSpc>
                <a:spcPct val="122000"/>
              </a:lnSpc>
              <a:spcAft>
                <a:spcPts val="300"/>
              </a:spcAft>
            </a:pPr>
            <a:r>
              <a:rPr sz="860" b="1" i="0" spc="120">
                <a:solidFill>
                  <a:srgbClr val="D97706"/>
                </a:solidFill>
                <a:latin typeface="Segoe UI"/>
              </a:rPr>
              <a:t>LOW CALL BREAK-EVEN  (R$5 CALL : R$40 REVIEW)</a:t>
            </a:r>
          </a:p>
          <a:p>
            <a:pPr algn="l">
              <a:lnSpc>
                <a:spcPct val="122000"/>
              </a:lnSpc>
              <a:spcAft>
                <a:spcPts val="200"/>
              </a:spcAft>
            </a:pPr>
            <a:r>
              <a:rPr sz="1550" b="1" i="0">
                <a:solidFill>
                  <a:srgbClr val="0F172A"/>
                </a:solidFill>
                <a:latin typeface="Segoe UI"/>
              </a:rPr>
              <a:t>Only 13 hits / 100 needed</a:t>
            </a:r>
          </a:p>
          <a:p>
            <a:pPr algn="l">
              <a:lnSpc>
                <a:spcPct val="118000"/>
              </a:lnSpc>
            </a:pPr>
            <a:r>
              <a:rPr sz="960" b="0" i="0">
                <a:solidFill>
                  <a:srgbClr val="334155"/>
                </a:solidFill>
                <a:latin typeface="Segoe UI"/>
              </a:rPr>
              <a:t>57 total hits (and 35 non-pre-empted) clear the 12.5% bar with wide safety margin.</a:t>
            </a:r>
          </a:p>
        </p:txBody>
      </p:sp>
      <p:sp>
        <p:nvSpPr>
          <p:cNvPr id="223" name="!!NavDock"/>
          <p:cNvSpPr/>
          <p:nvPr/>
        </p:nvSpPr>
        <p:spPr>
          <a:xfrm>
            <a:off x="566928" y="6327648"/>
            <a:ext cx="11055096" cy="384048"/>
          </a:xfrm>
          <a:prstGeom prst="roundRect">
            <a:avLst>
              <a:gd name="adj" fmla="val 50000"/>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Nav_1">
            <a:hlinkClick r:id="rId4" action="ppaction://hlinksldjump"/>
          </p:cNvPr>
          <p:cNvSpPr/>
          <p:nvPr/>
        </p:nvSpPr>
        <p:spPr>
          <a:xfrm>
            <a:off x="658368"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01  The Problem</a:t>
            </a:r>
          </a:p>
        </p:txBody>
      </p:sp>
      <p:sp>
        <p:nvSpPr>
          <p:cNvPr id="225" name="Nav_2">
            <a:hlinkClick r:id="rId5" action="ppaction://hlinksldjump"/>
          </p:cNvPr>
          <p:cNvSpPr/>
          <p:nvPr/>
        </p:nvSpPr>
        <p:spPr>
          <a:xfrm>
            <a:off x="1993391"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02  Why &amp; Tools</a:t>
            </a:r>
          </a:p>
        </p:txBody>
      </p:sp>
      <p:sp>
        <p:nvSpPr>
          <p:cNvPr id="226" name="Nav_3">
            <a:hlinkClick r:id="rId6" action="ppaction://hlinksldjump"/>
          </p:cNvPr>
          <p:cNvSpPr/>
          <p:nvPr/>
        </p:nvSpPr>
        <p:spPr>
          <a:xfrm>
            <a:off x="3328415" y="6373368"/>
            <a:ext cx="1261872" cy="29260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FFFFFF"/>
                </a:solidFill>
                <a:latin typeface="Segoe UI"/>
              </a:rPr>
              <a:t>03  Proof &amp; App</a:t>
            </a:r>
          </a:p>
        </p:txBody>
      </p:sp>
      <p:sp>
        <p:nvSpPr>
          <p:cNvPr id="227" name="Nav_4">
            <a:hlinkClick r:id="rId7" action="ppaction://hlinksldjump"/>
          </p:cNvPr>
          <p:cNvSpPr/>
          <p:nvPr/>
        </p:nvSpPr>
        <p:spPr>
          <a:xfrm>
            <a:off x="4663440"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04  Monday Plan</a:t>
            </a:r>
          </a:p>
        </p:txBody>
      </p:sp>
      <p:sp>
        <p:nvSpPr>
          <p:cNvPr id="228" name="Nav_5">
            <a:hlinkClick r:id="rId8" action="ppaction://hlinksldjump"/>
          </p:cNvPr>
          <p:cNvSpPr/>
          <p:nvPr/>
        </p:nvSpPr>
        <p:spPr>
          <a:xfrm>
            <a:off x="5998464" y="6373368"/>
            <a:ext cx="1130198"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05  Takeaways</a:t>
            </a:r>
          </a:p>
        </p:txBody>
      </p:sp>
      <p:sp>
        <p:nvSpPr>
          <p:cNvPr id="229" name="DockJourneyLine"/>
          <p:cNvSpPr/>
          <p:nvPr/>
        </p:nvSpPr>
        <p:spPr>
          <a:xfrm>
            <a:off x="8915400" y="6510528"/>
            <a:ext cx="1115568"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0" name="!!g1" descr="g_checkout_muted.png"/>
          <p:cNvPicPr>
            <a:picLocks noChangeAspect="1"/>
          </p:cNvPicPr>
          <p:nvPr/>
        </p:nvPicPr>
        <p:blipFill>
          <a:blip r:embed="rId9"/>
          <a:stretch>
            <a:fillRect/>
          </a:stretch>
        </p:blipFill>
        <p:spPr>
          <a:xfrm>
            <a:off x="8778240" y="6409944"/>
            <a:ext cx="219456" cy="219456"/>
          </a:xfrm>
          <a:prstGeom prst="rect">
            <a:avLst/>
          </a:prstGeom>
        </p:spPr>
      </p:pic>
      <p:pic>
        <p:nvPicPr>
          <p:cNvPr id="231" name="!!g2" descr="g_promise_muted.png"/>
          <p:cNvPicPr>
            <a:picLocks noChangeAspect="1"/>
          </p:cNvPicPr>
          <p:nvPr/>
        </p:nvPicPr>
        <p:blipFill>
          <a:blip r:embed="rId10"/>
          <a:stretch>
            <a:fillRect/>
          </a:stretch>
        </p:blipFill>
        <p:spPr>
          <a:xfrm>
            <a:off x="9144000" y="6409944"/>
            <a:ext cx="219456" cy="219456"/>
          </a:xfrm>
          <a:prstGeom prst="rect">
            <a:avLst/>
          </a:prstGeom>
        </p:spPr>
      </p:pic>
      <p:pic>
        <p:nvPicPr>
          <p:cNvPr id="232" name="!!g3" descr="g_delivery_green.png"/>
          <p:cNvPicPr>
            <a:picLocks noChangeAspect="1"/>
          </p:cNvPicPr>
          <p:nvPr/>
        </p:nvPicPr>
        <p:blipFill>
          <a:blip r:embed="rId11"/>
          <a:stretch>
            <a:fillRect/>
          </a:stretch>
        </p:blipFill>
        <p:spPr>
          <a:xfrm>
            <a:off x="9509760" y="6377940"/>
            <a:ext cx="283464" cy="283464"/>
          </a:xfrm>
          <a:prstGeom prst="rect">
            <a:avLst/>
          </a:prstGeom>
        </p:spPr>
      </p:pic>
      <p:pic>
        <p:nvPicPr>
          <p:cNvPr id="233" name="!!g4" descr="g_review_muted.png"/>
          <p:cNvPicPr>
            <a:picLocks noChangeAspect="1"/>
          </p:cNvPicPr>
          <p:nvPr/>
        </p:nvPicPr>
        <p:blipFill>
          <a:blip r:embed="rId12"/>
          <a:stretch>
            <a:fillRect/>
          </a:stretch>
        </p:blipFill>
        <p:spPr>
          <a:xfrm>
            <a:off x="9875520" y="6409944"/>
            <a:ext cx="219456" cy="219456"/>
          </a:xfrm>
          <a:prstGeom prst="rect">
            <a:avLst/>
          </a:prstGeom>
        </p:spPr>
      </p:pic>
      <p:sp>
        <p:nvSpPr>
          <p:cNvPr id="234" name="Nav_QA">
            <a:hlinkClick r:id="rId13" action="ppaction://hlinksldjump"/>
          </p:cNvPr>
          <p:cNvSpPr/>
          <p:nvPr/>
        </p:nvSpPr>
        <p:spPr>
          <a:xfrm>
            <a:off x="10387584" y="6373368"/>
            <a:ext cx="1152144" cy="292608"/>
          </a:xfrm>
          <a:prstGeom prst="roundRect">
            <a:avLst>
              <a:gd name="adj" fmla="val 50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0F172A"/>
                </a:solidFill>
                <a:latin typeface="Segoe UI"/>
              </a:rPr>
              <a:t>Q&amp;A · 08/13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anim calcmode="lin" valueType="num">
                                      <p:cBhvr>
                                        <p:cTn id="8" dur="400" fill="hold"/>
                                        <p:tgtEl>
                                          <p:spTgt spid="3"/>
                                        </p:tgtEl>
                                        <p:attrNameLst>
                                          <p:attrName>ppt_x</p:attrName>
                                        </p:attrNameLst>
                                      </p:cBhvr>
                                      <p:tavLst>
                                        <p:tav tm="0">
                                          <p:val>
                                            <p:strVal val="#ppt_x"/>
                                          </p:val>
                                        </p:tav>
                                        <p:tav tm="100000">
                                          <p:val>
                                            <p:strVal val="#ppt_x"/>
                                          </p:val>
                                        </p:tav>
                                      </p:tavLst>
                                    </p:anim>
                                    <p:anim calcmode="lin" valueType="num">
                                      <p:cBhvr>
                                        <p:cTn id="9" dur="40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anim calcmode="lin" valueType="num">
                                      <p:cBhvr>
                                        <p:cTn id="13" dur="400" fill="hold"/>
                                        <p:tgtEl>
                                          <p:spTgt spid="4"/>
                                        </p:tgtEl>
                                        <p:attrNameLst>
                                          <p:attrName>ppt_x</p:attrName>
                                        </p:attrNameLst>
                                      </p:cBhvr>
                                      <p:tavLst>
                                        <p:tav tm="0">
                                          <p:val>
                                            <p:strVal val="#ppt_x"/>
                                          </p:val>
                                        </p:tav>
                                        <p:tav tm="100000">
                                          <p:val>
                                            <p:strVal val="#ppt_x"/>
                                          </p:val>
                                        </p:tav>
                                      </p:tavLst>
                                    </p:anim>
                                    <p:anim calcmode="lin" valueType="num">
                                      <p:cBhvr>
                                        <p:cTn id="14" dur="40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anim calcmode="lin" valueType="num">
                                      <p:cBhvr>
                                        <p:cTn id="18" dur="400" fill="hold"/>
                                        <p:tgtEl>
                                          <p:spTgt spid="5"/>
                                        </p:tgtEl>
                                        <p:attrNameLst>
                                          <p:attrName>ppt_x</p:attrName>
                                        </p:attrNameLst>
                                      </p:cBhvr>
                                      <p:tavLst>
                                        <p:tav tm="0">
                                          <p:val>
                                            <p:strVal val="#ppt_x"/>
                                          </p:val>
                                        </p:tav>
                                        <p:tav tm="100000">
                                          <p:val>
                                            <p:strVal val="#ppt_x"/>
                                          </p:val>
                                        </p:tav>
                                      </p:tavLst>
                                    </p:anim>
                                    <p:anim calcmode="lin" valueType="num">
                                      <p:cBhvr>
                                        <p:cTn id="19" dur="40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17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60"/>
                                        <p:tgtEl>
                                          <p:spTgt spid="6"/>
                                        </p:tgtEl>
                                      </p:cBhvr>
                                    </p:animEffect>
                                    <p:anim calcmode="lin" valueType="num">
                                      <p:cBhvr>
                                        <p:cTn id="23" dur="460" fill="hold"/>
                                        <p:tgtEl>
                                          <p:spTgt spid="6"/>
                                        </p:tgtEl>
                                        <p:attrNameLst>
                                          <p:attrName>ppt_x</p:attrName>
                                        </p:attrNameLst>
                                      </p:cBhvr>
                                      <p:tavLst>
                                        <p:tav tm="0">
                                          <p:val>
                                            <p:strVal val="#ppt_x"/>
                                          </p:val>
                                        </p:tav>
                                        <p:tav tm="100000">
                                          <p:val>
                                            <p:strVal val="#ppt_x"/>
                                          </p:val>
                                        </p:tav>
                                      </p:tavLst>
                                    </p:anim>
                                    <p:anim calcmode="lin" valueType="num">
                                      <p:cBhvr>
                                        <p:cTn id="24" dur="46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7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60"/>
                                        <p:tgtEl>
                                          <p:spTgt spid="7"/>
                                        </p:tgtEl>
                                      </p:cBhvr>
                                    </p:animEffect>
                                    <p:anim calcmode="lin" valueType="num">
                                      <p:cBhvr>
                                        <p:cTn id="28" dur="460" fill="hold"/>
                                        <p:tgtEl>
                                          <p:spTgt spid="7"/>
                                        </p:tgtEl>
                                        <p:attrNameLst>
                                          <p:attrName>ppt_x</p:attrName>
                                        </p:attrNameLst>
                                      </p:cBhvr>
                                      <p:tavLst>
                                        <p:tav tm="0">
                                          <p:val>
                                            <p:strVal val="#ppt_x"/>
                                          </p:val>
                                        </p:tav>
                                        <p:tav tm="100000">
                                          <p:val>
                                            <p:strVal val="#ppt_x"/>
                                          </p:val>
                                        </p:tav>
                                      </p:tavLst>
                                    </p:anim>
                                    <p:anim calcmode="lin" valueType="num">
                                      <p:cBhvr>
                                        <p:cTn id="29" dur="460" decel="100000" fill="hold"/>
                                        <p:tgtEl>
                                          <p:spTgt spid="7"/>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7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60"/>
                                        <p:tgtEl>
                                          <p:spTgt spid="110"/>
                                        </p:tgtEl>
                                      </p:cBhvr>
                                    </p:animEffect>
                                    <p:anim calcmode="lin" valueType="num">
                                      <p:cBhvr>
                                        <p:cTn id="33" dur="460" fill="hold"/>
                                        <p:tgtEl>
                                          <p:spTgt spid="110"/>
                                        </p:tgtEl>
                                        <p:attrNameLst>
                                          <p:attrName>ppt_x</p:attrName>
                                        </p:attrNameLst>
                                      </p:cBhvr>
                                      <p:tavLst>
                                        <p:tav tm="0">
                                          <p:val>
                                            <p:strVal val="#ppt_x"/>
                                          </p:val>
                                        </p:tav>
                                        <p:tav tm="100000">
                                          <p:val>
                                            <p:strVal val="#ppt_x"/>
                                          </p:val>
                                        </p:tav>
                                      </p:tavLst>
                                    </p:anim>
                                    <p:anim calcmode="lin" valueType="num">
                                      <p:cBhvr>
                                        <p:cTn id="34" dur="460" decel="100000" fill="hold"/>
                                        <p:tgtEl>
                                          <p:spTgt spid="110"/>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17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60"/>
                                        <p:tgtEl>
                                          <p:spTgt spid="111"/>
                                        </p:tgtEl>
                                      </p:cBhvr>
                                    </p:animEffect>
                                    <p:anim calcmode="lin" valueType="num">
                                      <p:cBhvr>
                                        <p:cTn id="38" dur="460" fill="hold"/>
                                        <p:tgtEl>
                                          <p:spTgt spid="111"/>
                                        </p:tgtEl>
                                        <p:attrNameLst>
                                          <p:attrName>ppt_x</p:attrName>
                                        </p:attrNameLst>
                                      </p:cBhvr>
                                      <p:tavLst>
                                        <p:tav tm="0">
                                          <p:val>
                                            <p:strVal val="#ppt_x"/>
                                          </p:val>
                                        </p:tav>
                                        <p:tav tm="100000">
                                          <p:val>
                                            <p:strVal val="#ppt_x"/>
                                          </p:val>
                                        </p:tav>
                                      </p:tavLst>
                                    </p:anim>
                                    <p:anim calcmode="lin" valueType="num">
                                      <p:cBhvr>
                                        <p:cTn id="39" dur="460" decel="100000" fill="hold"/>
                                        <p:tgtEl>
                                          <p:spTgt spid="111"/>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330"/>
                                  </p:stCondLst>
                                  <p:childTnLst>
                                    <p:set>
                                      <p:cBhvr>
                                        <p:cTn id="41" dur="1" fill="hold">
                                          <p:stCondLst>
                                            <p:cond delay="0"/>
                                          </p:stCondLst>
                                        </p:cTn>
                                        <p:tgtEl>
                                          <p:spTgt spid="214"/>
                                        </p:tgtEl>
                                        <p:attrNameLst>
                                          <p:attrName>style.visibility</p:attrName>
                                        </p:attrNameLst>
                                      </p:cBhvr>
                                      <p:to>
                                        <p:strVal val="visible"/>
                                      </p:to>
                                    </p:set>
                                    <p:animEffect transition="in" filter="fade">
                                      <p:cBhvr>
                                        <p:cTn id="42" dur="450"/>
                                        <p:tgtEl>
                                          <p:spTgt spid="214"/>
                                        </p:tgtEl>
                                      </p:cBhvr>
                                    </p:animEffect>
                                    <p:anim calcmode="lin" valueType="num">
                                      <p:cBhvr>
                                        <p:cTn id="43" dur="450" fill="hold"/>
                                        <p:tgtEl>
                                          <p:spTgt spid="214"/>
                                        </p:tgtEl>
                                        <p:attrNameLst>
                                          <p:attrName>ppt_x</p:attrName>
                                        </p:attrNameLst>
                                      </p:cBhvr>
                                      <p:tavLst>
                                        <p:tav tm="0">
                                          <p:val>
                                            <p:strVal val="#ppt_x"/>
                                          </p:val>
                                        </p:tav>
                                        <p:tav tm="100000">
                                          <p:val>
                                            <p:strVal val="#ppt_x"/>
                                          </p:val>
                                        </p:tav>
                                      </p:tavLst>
                                    </p:anim>
                                    <p:anim calcmode="lin" valueType="num">
                                      <p:cBhvr>
                                        <p:cTn id="44" dur="450" decel="100000" fill="hold"/>
                                        <p:tgtEl>
                                          <p:spTgt spid="214"/>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330"/>
                                  </p:stCondLst>
                                  <p:childTnLst>
                                    <p:set>
                                      <p:cBhvr>
                                        <p:cTn id="46" dur="1" fill="hold">
                                          <p:stCondLst>
                                            <p:cond delay="0"/>
                                          </p:stCondLst>
                                        </p:cTn>
                                        <p:tgtEl>
                                          <p:spTgt spid="215"/>
                                        </p:tgtEl>
                                        <p:attrNameLst>
                                          <p:attrName>style.visibility</p:attrName>
                                        </p:attrNameLst>
                                      </p:cBhvr>
                                      <p:to>
                                        <p:strVal val="visible"/>
                                      </p:to>
                                    </p:set>
                                    <p:animEffect transition="in" filter="fade">
                                      <p:cBhvr>
                                        <p:cTn id="47" dur="450"/>
                                        <p:tgtEl>
                                          <p:spTgt spid="215"/>
                                        </p:tgtEl>
                                      </p:cBhvr>
                                    </p:animEffect>
                                    <p:anim calcmode="lin" valueType="num">
                                      <p:cBhvr>
                                        <p:cTn id="48" dur="450" fill="hold"/>
                                        <p:tgtEl>
                                          <p:spTgt spid="215"/>
                                        </p:tgtEl>
                                        <p:attrNameLst>
                                          <p:attrName>ppt_x</p:attrName>
                                        </p:attrNameLst>
                                      </p:cBhvr>
                                      <p:tavLst>
                                        <p:tav tm="0">
                                          <p:val>
                                            <p:strVal val="#ppt_x"/>
                                          </p:val>
                                        </p:tav>
                                        <p:tav tm="100000">
                                          <p:val>
                                            <p:strVal val="#ppt_x"/>
                                          </p:val>
                                        </p:tav>
                                      </p:tavLst>
                                    </p:anim>
                                    <p:anim calcmode="lin" valueType="num">
                                      <p:cBhvr>
                                        <p:cTn id="49" dur="450" decel="100000" fill="hold"/>
                                        <p:tgtEl>
                                          <p:spTgt spid="215"/>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330"/>
                                  </p:stCondLst>
                                  <p:childTnLst>
                                    <p:set>
                                      <p:cBhvr>
                                        <p:cTn id="51" dur="1" fill="hold">
                                          <p:stCondLst>
                                            <p:cond delay="0"/>
                                          </p:stCondLst>
                                        </p:cTn>
                                        <p:tgtEl>
                                          <p:spTgt spid="216"/>
                                        </p:tgtEl>
                                        <p:attrNameLst>
                                          <p:attrName>style.visibility</p:attrName>
                                        </p:attrNameLst>
                                      </p:cBhvr>
                                      <p:to>
                                        <p:strVal val="visible"/>
                                      </p:to>
                                    </p:set>
                                    <p:animEffect transition="in" filter="fade">
                                      <p:cBhvr>
                                        <p:cTn id="52" dur="450"/>
                                        <p:tgtEl>
                                          <p:spTgt spid="216"/>
                                        </p:tgtEl>
                                      </p:cBhvr>
                                    </p:animEffect>
                                    <p:anim calcmode="lin" valueType="num">
                                      <p:cBhvr>
                                        <p:cTn id="53" dur="450" fill="hold"/>
                                        <p:tgtEl>
                                          <p:spTgt spid="216"/>
                                        </p:tgtEl>
                                        <p:attrNameLst>
                                          <p:attrName>ppt_x</p:attrName>
                                        </p:attrNameLst>
                                      </p:cBhvr>
                                      <p:tavLst>
                                        <p:tav tm="0">
                                          <p:val>
                                            <p:strVal val="#ppt_x"/>
                                          </p:val>
                                        </p:tav>
                                        <p:tav tm="100000">
                                          <p:val>
                                            <p:strVal val="#ppt_x"/>
                                          </p:val>
                                        </p:tav>
                                      </p:tavLst>
                                    </p:anim>
                                    <p:anim calcmode="lin" valueType="num">
                                      <p:cBhvr>
                                        <p:cTn id="54" dur="450" decel="100000" fill="hold"/>
                                        <p:tgtEl>
                                          <p:spTgt spid="216"/>
                                        </p:tgtEl>
                                        <p:attrNameLst>
                                          <p:attrName>ppt_y</p:attrName>
                                        </p:attrNameLst>
                                      </p:cBhvr>
                                      <p:tavLst>
                                        <p:tav tm="0">
                                          <p:val>
                                            <p:strVal val="#ppt_y+0.018"/>
                                          </p:val>
                                        </p:tav>
                                        <p:tav tm="100000">
                                          <p:val>
                                            <p:strVal val="#ppt_y"/>
                                          </p:val>
                                        </p:tav>
                                      </p:tavLst>
                                    </p:anim>
                                  </p:childTnLst>
                                </p:cTn>
                              </p:par>
                              <p:par>
                                <p:cTn id="55" presetID="42" presetClass="entr" presetSubtype="4" fill="hold" grpId="0" nodeType="withEffect">
                                  <p:stCondLst>
                                    <p:cond delay="330"/>
                                  </p:stCondLst>
                                  <p:childTnLst>
                                    <p:set>
                                      <p:cBhvr>
                                        <p:cTn id="56" dur="1" fill="hold">
                                          <p:stCondLst>
                                            <p:cond delay="0"/>
                                          </p:stCondLst>
                                        </p:cTn>
                                        <p:tgtEl>
                                          <p:spTgt spid="217"/>
                                        </p:tgtEl>
                                        <p:attrNameLst>
                                          <p:attrName>style.visibility</p:attrName>
                                        </p:attrNameLst>
                                      </p:cBhvr>
                                      <p:to>
                                        <p:strVal val="visible"/>
                                      </p:to>
                                    </p:set>
                                    <p:animEffect transition="in" filter="fade">
                                      <p:cBhvr>
                                        <p:cTn id="57" dur="450"/>
                                        <p:tgtEl>
                                          <p:spTgt spid="217"/>
                                        </p:tgtEl>
                                      </p:cBhvr>
                                    </p:animEffect>
                                    <p:anim calcmode="lin" valueType="num">
                                      <p:cBhvr>
                                        <p:cTn id="58" dur="450" fill="hold"/>
                                        <p:tgtEl>
                                          <p:spTgt spid="217"/>
                                        </p:tgtEl>
                                        <p:attrNameLst>
                                          <p:attrName>ppt_x</p:attrName>
                                        </p:attrNameLst>
                                      </p:cBhvr>
                                      <p:tavLst>
                                        <p:tav tm="0">
                                          <p:val>
                                            <p:strVal val="#ppt_x"/>
                                          </p:val>
                                        </p:tav>
                                        <p:tav tm="100000">
                                          <p:val>
                                            <p:strVal val="#ppt_x"/>
                                          </p:val>
                                        </p:tav>
                                      </p:tavLst>
                                    </p:anim>
                                    <p:anim calcmode="lin" valueType="num">
                                      <p:cBhvr>
                                        <p:cTn id="59" dur="450" decel="100000" fill="hold"/>
                                        <p:tgtEl>
                                          <p:spTgt spid="217"/>
                                        </p:tgtEl>
                                        <p:attrNameLst>
                                          <p:attrName>ppt_y</p:attrName>
                                        </p:attrNameLst>
                                      </p:cBhvr>
                                      <p:tavLst>
                                        <p:tav tm="0">
                                          <p:val>
                                            <p:strVal val="#ppt_y+0.018"/>
                                          </p:val>
                                        </p:tav>
                                        <p:tav tm="100000">
                                          <p:val>
                                            <p:strVal val="#ppt_y"/>
                                          </p:val>
                                        </p:tav>
                                      </p:tavLst>
                                    </p:anim>
                                  </p:childTnLst>
                                </p:cTn>
                              </p:par>
                              <p:par>
                                <p:cTn id="60" presetID="42" presetClass="entr" presetSubtype="4" fill="hold" grpId="0" nodeType="withEffect">
                                  <p:stCondLst>
                                    <p:cond delay="330"/>
                                  </p:stCondLst>
                                  <p:childTnLst>
                                    <p:set>
                                      <p:cBhvr>
                                        <p:cTn id="61" dur="1" fill="hold">
                                          <p:stCondLst>
                                            <p:cond delay="0"/>
                                          </p:stCondLst>
                                        </p:cTn>
                                        <p:tgtEl>
                                          <p:spTgt spid="218"/>
                                        </p:tgtEl>
                                        <p:attrNameLst>
                                          <p:attrName>style.visibility</p:attrName>
                                        </p:attrNameLst>
                                      </p:cBhvr>
                                      <p:to>
                                        <p:strVal val="visible"/>
                                      </p:to>
                                    </p:set>
                                    <p:animEffect transition="in" filter="fade">
                                      <p:cBhvr>
                                        <p:cTn id="62" dur="450"/>
                                        <p:tgtEl>
                                          <p:spTgt spid="218"/>
                                        </p:tgtEl>
                                      </p:cBhvr>
                                    </p:animEffect>
                                    <p:anim calcmode="lin" valueType="num">
                                      <p:cBhvr>
                                        <p:cTn id="63" dur="450" fill="hold"/>
                                        <p:tgtEl>
                                          <p:spTgt spid="218"/>
                                        </p:tgtEl>
                                        <p:attrNameLst>
                                          <p:attrName>ppt_x</p:attrName>
                                        </p:attrNameLst>
                                      </p:cBhvr>
                                      <p:tavLst>
                                        <p:tav tm="0">
                                          <p:val>
                                            <p:strVal val="#ppt_x"/>
                                          </p:val>
                                        </p:tav>
                                        <p:tav tm="100000">
                                          <p:val>
                                            <p:strVal val="#ppt_x"/>
                                          </p:val>
                                        </p:tav>
                                      </p:tavLst>
                                    </p:anim>
                                    <p:anim calcmode="lin" valueType="num">
                                      <p:cBhvr>
                                        <p:cTn id="64" dur="450" decel="100000" fill="hold"/>
                                        <p:tgtEl>
                                          <p:spTgt spid="218"/>
                                        </p:tgtEl>
                                        <p:attrNameLst>
                                          <p:attrName>ppt_y</p:attrName>
                                        </p:attrNameLst>
                                      </p:cBhvr>
                                      <p:tavLst>
                                        <p:tav tm="0">
                                          <p:val>
                                            <p:strVal val="#ppt_y+0.018"/>
                                          </p:val>
                                        </p:tav>
                                        <p:tav tm="100000">
                                          <p:val>
                                            <p:strVal val="#ppt_y"/>
                                          </p:val>
                                        </p:tav>
                                      </p:tavLst>
                                    </p:anim>
                                  </p:childTnLst>
                                </p:cTn>
                              </p:par>
                              <p:par>
                                <p:cTn id="65" presetID="42" presetClass="entr" presetSubtype="4" fill="hold" grpId="0" nodeType="withEffect">
                                  <p:stCondLst>
                                    <p:cond delay="330"/>
                                  </p:stCondLst>
                                  <p:childTnLst>
                                    <p:set>
                                      <p:cBhvr>
                                        <p:cTn id="66" dur="1" fill="hold">
                                          <p:stCondLst>
                                            <p:cond delay="0"/>
                                          </p:stCondLst>
                                        </p:cTn>
                                        <p:tgtEl>
                                          <p:spTgt spid="219"/>
                                        </p:tgtEl>
                                        <p:attrNameLst>
                                          <p:attrName>style.visibility</p:attrName>
                                        </p:attrNameLst>
                                      </p:cBhvr>
                                      <p:to>
                                        <p:strVal val="visible"/>
                                      </p:to>
                                    </p:set>
                                    <p:animEffect transition="in" filter="fade">
                                      <p:cBhvr>
                                        <p:cTn id="67" dur="450"/>
                                        <p:tgtEl>
                                          <p:spTgt spid="219"/>
                                        </p:tgtEl>
                                      </p:cBhvr>
                                    </p:animEffect>
                                    <p:anim calcmode="lin" valueType="num">
                                      <p:cBhvr>
                                        <p:cTn id="68" dur="450" fill="hold"/>
                                        <p:tgtEl>
                                          <p:spTgt spid="219"/>
                                        </p:tgtEl>
                                        <p:attrNameLst>
                                          <p:attrName>ppt_x</p:attrName>
                                        </p:attrNameLst>
                                      </p:cBhvr>
                                      <p:tavLst>
                                        <p:tav tm="0">
                                          <p:val>
                                            <p:strVal val="#ppt_x"/>
                                          </p:val>
                                        </p:tav>
                                        <p:tav tm="100000">
                                          <p:val>
                                            <p:strVal val="#ppt_x"/>
                                          </p:val>
                                        </p:tav>
                                      </p:tavLst>
                                    </p:anim>
                                    <p:anim calcmode="lin" valueType="num">
                                      <p:cBhvr>
                                        <p:cTn id="69" dur="450" decel="100000" fill="hold"/>
                                        <p:tgtEl>
                                          <p:spTgt spid="219"/>
                                        </p:tgtEl>
                                        <p:attrNameLst>
                                          <p:attrName>ppt_y</p:attrName>
                                        </p:attrNameLst>
                                      </p:cBhvr>
                                      <p:tavLst>
                                        <p:tav tm="0">
                                          <p:val>
                                            <p:strVal val="#ppt_y+0.018"/>
                                          </p:val>
                                        </p:tav>
                                        <p:tav tm="100000">
                                          <p:val>
                                            <p:strVal val="#ppt_y"/>
                                          </p:val>
                                        </p:tav>
                                      </p:tavLst>
                                    </p:anim>
                                  </p:childTnLst>
                                </p:cTn>
                              </p:par>
                              <p:par>
                                <p:cTn id="70" presetID="42" presetClass="entr" presetSubtype="4" fill="hold" grpId="0" nodeType="withEffect">
                                  <p:stCondLst>
                                    <p:cond delay="480"/>
                                  </p:stCondLst>
                                  <p:childTnLst>
                                    <p:set>
                                      <p:cBhvr>
                                        <p:cTn id="71" dur="1" fill="hold">
                                          <p:stCondLst>
                                            <p:cond delay="0"/>
                                          </p:stCondLst>
                                        </p:cTn>
                                        <p:tgtEl>
                                          <p:spTgt spid="220"/>
                                        </p:tgtEl>
                                        <p:attrNameLst>
                                          <p:attrName>style.visibility</p:attrName>
                                        </p:attrNameLst>
                                      </p:cBhvr>
                                      <p:to>
                                        <p:strVal val="visible"/>
                                      </p:to>
                                    </p:set>
                                    <p:animEffect transition="in" filter="fade">
                                      <p:cBhvr>
                                        <p:cTn id="72" dur="420"/>
                                        <p:tgtEl>
                                          <p:spTgt spid="220"/>
                                        </p:tgtEl>
                                      </p:cBhvr>
                                    </p:animEffect>
                                    <p:anim calcmode="lin" valueType="num">
                                      <p:cBhvr>
                                        <p:cTn id="73" dur="420" fill="hold"/>
                                        <p:tgtEl>
                                          <p:spTgt spid="220"/>
                                        </p:tgtEl>
                                        <p:attrNameLst>
                                          <p:attrName>ppt_x</p:attrName>
                                        </p:attrNameLst>
                                      </p:cBhvr>
                                      <p:tavLst>
                                        <p:tav tm="0">
                                          <p:val>
                                            <p:strVal val="#ppt_x"/>
                                          </p:val>
                                        </p:tav>
                                        <p:tav tm="100000">
                                          <p:val>
                                            <p:strVal val="#ppt_x"/>
                                          </p:val>
                                        </p:tav>
                                      </p:tavLst>
                                    </p:anim>
                                    <p:anim calcmode="lin" valueType="num">
                                      <p:cBhvr>
                                        <p:cTn id="74" dur="420" decel="100000" fill="hold"/>
                                        <p:tgtEl>
                                          <p:spTgt spid="220"/>
                                        </p:tgtEl>
                                        <p:attrNameLst>
                                          <p:attrName>ppt_y</p:attrName>
                                        </p:attrNameLst>
                                      </p:cBhvr>
                                      <p:tavLst>
                                        <p:tav tm="0">
                                          <p:val>
                                            <p:strVal val="#ppt_y+0.018"/>
                                          </p:val>
                                        </p:tav>
                                        <p:tav tm="100000">
                                          <p:val>
                                            <p:strVal val="#ppt_y"/>
                                          </p:val>
                                        </p:tav>
                                      </p:tavLst>
                                    </p:anim>
                                  </p:childTnLst>
                                </p:cTn>
                              </p:par>
                              <p:par>
                                <p:cTn id="75" presetID="42" presetClass="entr" presetSubtype="4" fill="hold" grpId="0" nodeType="withEffect">
                                  <p:stCondLst>
                                    <p:cond delay="480"/>
                                  </p:stCondLst>
                                  <p:childTnLst>
                                    <p:set>
                                      <p:cBhvr>
                                        <p:cTn id="76" dur="1" fill="hold">
                                          <p:stCondLst>
                                            <p:cond delay="0"/>
                                          </p:stCondLst>
                                        </p:cTn>
                                        <p:tgtEl>
                                          <p:spTgt spid="221"/>
                                        </p:tgtEl>
                                        <p:attrNameLst>
                                          <p:attrName>style.visibility</p:attrName>
                                        </p:attrNameLst>
                                      </p:cBhvr>
                                      <p:to>
                                        <p:strVal val="visible"/>
                                      </p:to>
                                    </p:set>
                                    <p:animEffect transition="in" filter="fade">
                                      <p:cBhvr>
                                        <p:cTn id="77" dur="420"/>
                                        <p:tgtEl>
                                          <p:spTgt spid="221"/>
                                        </p:tgtEl>
                                      </p:cBhvr>
                                    </p:animEffect>
                                    <p:anim calcmode="lin" valueType="num">
                                      <p:cBhvr>
                                        <p:cTn id="78" dur="420" fill="hold"/>
                                        <p:tgtEl>
                                          <p:spTgt spid="221"/>
                                        </p:tgtEl>
                                        <p:attrNameLst>
                                          <p:attrName>ppt_x</p:attrName>
                                        </p:attrNameLst>
                                      </p:cBhvr>
                                      <p:tavLst>
                                        <p:tav tm="0">
                                          <p:val>
                                            <p:strVal val="#ppt_x"/>
                                          </p:val>
                                        </p:tav>
                                        <p:tav tm="100000">
                                          <p:val>
                                            <p:strVal val="#ppt_x"/>
                                          </p:val>
                                        </p:tav>
                                      </p:tavLst>
                                    </p:anim>
                                    <p:anim calcmode="lin" valueType="num">
                                      <p:cBhvr>
                                        <p:cTn id="79" dur="420" decel="100000" fill="hold"/>
                                        <p:tgtEl>
                                          <p:spTgt spid="221"/>
                                        </p:tgtEl>
                                        <p:attrNameLst>
                                          <p:attrName>ppt_y</p:attrName>
                                        </p:attrNameLst>
                                      </p:cBhvr>
                                      <p:tavLst>
                                        <p:tav tm="0">
                                          <p:val>
                                            <p:strVal val="#ppt_y+0.018"/>
                                          </p:val>
                                        </p:tav>
                                        <p:tav tm="100000">
                                          <p:val>
                                            <p:strVal val="#ppt_y"/>
                                          </p:val>
                                        </p:tav>
                                      </p:tavLst>
                                    </p:anim>
                                  </p:childTnLst>
                                </p:cTn>
                              </p:par>
                              <p:par>
                                <p:cTn id="80" presetID="42" presetClass="entr" presetSubtype="4" fill="hold" grpId="0" nodeType="withEffect">
                                  <p:stCondLst>
                                    <p:cond delay="480"/>
                                  </p:stCondLst>
                                  <p:childTnLst>
                                    <p:set>
                                      <p:cBhvr>
                                        <p:cTn id="81" dur="1" fill="hold">
                                          <p:stCondLst>
                                            <p:cond delay="0"/>
                                          </p:stCondLst>
                                        </p:cTn>
                                        <p:tgtEl>
                                          <p:spTgt spid="222"/>
                                        </p:tgtEl>
                                        <p:attrNameLst>
                                          <p:attrName>style.visibility</p:attrName>
                                        </p:attrNameLst>
                                      </p:cBhvr>
                                      <p:to>
                                        <p:strVal val="visible"/>
                                      </p:to>
                                    </p:set>
                                    <p:animEffect transition="in" filter="fade">
                                      <p:cBhvr>
                                        <p:cTn id="82" dur="420"/>
                                        <p:tgtEl>
                                          <p:spTgt spid="222"/>
                                        </p:tgtEl>
                                      </p:cBhvr>
                                    </p:animEffect>
                                    <p:anim calcmode="lin" valueType="num">
                                      <p:cBhvr>
                                        <p:cTn id="83" dur="420" fill="hold"/>
                                        <p:tgtEl>
                                          <p:spTgt spid="222"/>
                                        </p:tgtEl>
                                        <p:attrNameLst>
                                          <p:attrName>ppt_x</p:attrName>
                                        </p:attrNameLst>
                                      </p:cBhvr>
                                      <p:tavLst>
                                        <p:tav tm="0">
                                          <p:val>
                                            <p:strVal val="#ppt_x"/>
                                          </p:val>
                                        </p:tav>
                                        <p:tav tm="100000">
                                          <p:val>
                                            <p:strVal val="#ppt_x"/>
                                          </p:val>
                                        </p:tav>
                                      </p:tavLst>
                                    </p:anim>
                                    <p:anim calcmode="lin" valueType="num">
                                      <p:cBhvr>
                                        <p:cTn id="84" dur="420" decel="100000" fill="hold"/>
                                        <p:tgtEl>
                                          <p:spTgt spid="222"/>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110" grpId="0" animBg="1"/>
      <p:bldP spid="111" grpId="0" animBg="1"/>
      <p:bldP spid="214" grpId="0" animBg="1"/>
      <p:bldP spid="215" grpId="0" animBg="1"/>
      <p:bldP spid="216" grpId="0" animBg="1"/>
      <p:bldP spid="217" grpId="0" animBg="1"/>
      <p:bldP spid="218" grpId="0" animBg="1"/>
      <p:bldP spid="219" grpId="0" animBg="1"/>
      <p:bldP spid="220" grpId="0" animBg="1"/>
      <p:bldP spid="221" grpId="0" animBg="1"/>
      <p:bldP spid="2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image2.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5382158" cy="256032"/>
          </a:xfrm>
          <a:prstGeom prst="roundRect">
            <a:avLst>
              <a:gd name="adj" fmla="val 50000"/>
            </a:avLst>
          </a:prstGeom>
          <a:solidFill>
            <a:srgbClr val="0F2922"/>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34D399"/>
                </a:solidFill>
                <a:latin typeface="Segoe UI"/>
              </a:rPr>
              <a:t>03 · LIVE DEPLOYED APPLICATION — REPLAY AN UNSEEN DAY</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2950" b="1" i="0">
                <a:solidFill>
                  <a:srgbClr val="F8FAFC"/>
                </a:solidFill>
                <a:effectLst>
                  <a:outerShdw blurRad="57150" dist="22860" dir="5400000" algn="tl">
                    <a:srgbClr val="0F172A">
                      <a:alpha val="25000"/>
                    </a:srgbClr>
                  </a:outerShdw>
                </a:effectLst>
                <a:latin typeface="Segoe UI"/>
              </a:rPr>
              <a:t>Replay 16 July 2018 blind — </a:t>
            </a:r>
            <a:r>
              <a:rPr sz="2950" b="1" i="0">
                <a:solidFill>
                  <a:srgbClr val="34D399"/>
                </a:solidFill>
                <a:effectLst>
                  <a:glow rad="88900">
                    <a:srgbClr val="34D399">
                      <a:alpha val="18000"/>
                    </a:srgbClr>
                  </a:glow>
                </a:effectLst>
                <a:latin typeface="Segoe UI"/>
              </a:rPr>
              <a:t>then reveal reality</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94A3B8"/>
                </a:solidFill>
                <a:latin typeface="Segoe UI"/>
              </a:rPr>
              <a:t>Our deployed 8-tab Streamlit app lets Operations &amp; CX score single orders, upload CSV batches, or replay any of 62 test days.</a:t>
            </a:r>
          </a:p>
        </p:txBody>
      </p:sp>
      <p:sp>
        <p:nvSpPr>
          <p:cNvPr id="6" name="Pill">
            <a:hlinkClick r:id="rId4"/>
          </p:cNvPr>
          <p:cNvSpPr/>
          <p:nvPr/>
        </p:nvSpPr>
        <p:spPr>
          <a:xfrm>
            <a:off x="9747504" y="329184"/>
            <a:ext cx="1865376" cy="310896"/>
          </a:xfrm>
          <a:prstGeom prst="roundRect">
            <a:avLst>
              <a:gd name="adj" fmla="val 50000"/>
            </a:avLst>
          </a:prstGeom>
          <a:solidFill>
            <a:srgbClr val="34D399"/>
          </a:solidFill>
          <a:ln>
            <a:noFill/>
          </a:ln>
          <a:effectLst>
            <a:outerShdw blurRad="127000" dist="31750" dir="5400000" algn="tl" rotWithShape="0">
              <a:srgbClr val="0F172A">
                <a:alpha val="10000"/>
              </a:srgbClr>
            </a:outerShdw>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80" b="1">
                <a:solidFill>
                  <a:srgbClr val="0B1220"/>
                </a:solidFill>
                <a:latin typeface="Segoe UI"/>
              </a:rPr>
              <a:t>▶  Open Live App ↗</a:t>
            </a:r>
          </a:p>
        </p:txBody>
      </p:sp>
      <p:sp>
        <p:nvSpPr>
          <p:cNvPr id="7" name="BrowserWindow"/>
          <p:cNvSpPr/>
          <p:nvPr/>
        </p:nvSpPr>
        <p:spPr>
          <a:xfrm>
            <a:off x="566928" y="1609344"/>
            <a:ext cx="7552944" cy="4517136"/>
          </a:xfrm>
          <a:prstGeom prst="roundRect">
            <a:avLst>
              <a:gd name="adj" fmla="val 3800"/>
            </a:avLst>
          </a:prstGeom>
          <a:solidFill>
            <a:srgbClr val="0F172A"/>
          </a:solidFill>
          <a:ln w="16510">
            <a:solidFill>
              <a:srgbClr val="334155"/>
            </a:solidFill>
          </a:ln>
          <a:effectLst>
            <a:outerShdw blurRad="177800" dist="44450" dir="5400000" algn="tl" rotWithShape="0">
              <a:srgbClr val="0F172A">
                <a:alpha val="3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68096" y="1746504"/>
            <a:ext cx="100584" cy="100584"/>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50976" y="1746504"/>
            <a:ext cx="100584" cy="100584"/>
          </a:xfrm>
          <a:prstGeom prst="ellipse">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33856" y="1746504"/>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ill">
            <a:hlinkClick r:id="rId4"/>
          </p:cNvPr>
          <p:cNvSpPr/>
          <p:nvPr/>
        </p:nvSpPr>
        <p:spPr>
          <a:xfrm>
            <a:off x="1426464" y="1682496"/>
            <a:ext cx="5257800" cy="228600"/>
          </a:xfrm>
          <a:prstGeom prst="roundRect">
            <a:avLst>
              <a:gd name="adj" fmla="val 50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60" b="0">
                <a:solidFill>
                  <a:srgbClr val="CBD5E1"/>
                </a:solidFill>
                <a:latin typeface="Segoe UI"/>
              </a:rPr>
              <a:t>🔒  https://team10-it5006-olist.streamlit.app  ·  ⏮ Replay a day (16 Jul 2018)</a:t>
            </a:r>
          </a:p>
        </p:txBody>
      </p:sp>
      <p:pic>
        <p:nvPicPr>
          <p:cNvPr id="12" name="Picture 11" descr="image14.png">
            <a:hlinkClick r:id="rId4"/>
          </p:cNvPr>
          <p:cNvPicPr>
            <a:picLocks noChangeAspect="1"/>
          </p:cNvPicPr>
          <p:nvPr/>
        </p:nvPicPr>
        <p:blipFill>
          <a:blip r:embed="rId5"/>
          <a:stretch>
            <a:fillRect/>
          </a:stretch>
        </p:blipFill>
        <p:spPr>
          <a:xfrm>
            <a:off x="676656" y="1975104"/>
            <a:ext cx="7333488" cy="3218688"/>
          </a:xfrm>
          <a:prstGeom prst="rect">
            <a:avLst/>
          </a:prstGeom>
        </p:spPr>
      </p:pic>
      <p:sp>
        <p:nvSpPr>
          <p:cNvPr id="13" name="Card"/>
          <p:cNvSpPr/>
          <p:nvPr/>
        </p:nvSpPr>
        <p:spPr>
          <a:xfrm>
            <a:off x="713232" y="5266944"/>
            <a:ext cx="7260336" cy="731520"/>
          </a:xfrm>
          <a:prstGeom prst="roundRect">
            <a:avLst>
              <a:gd name="adj" fmla="val 3800"/>
            </a:avLst>
          </a:prstGeom>
          <a:solidFill>
            <a:srgbClr val="17233B"/>
          </a:solidFill>
          <a:ln w="127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
          <p:cNvSpPr txBox="1"/>
          <p:nvPr/>
        </p:nvSpPr>
        <p:spPr>
          <a:xfrm>
            <a:off x="877824" y="5349240"/>
            <a:ext cx="6967728" cy="566928"/>
          </a:xfrm>
          <a:prstGeom prst="rect">
            <a:avLst/>
          </a:prstGeom>
          <a:noFill/>
        </p:spPr>
        <p:txBody>
          <a:bodyPr wrap="square" lIns="0" tIns="0" rIns="0" bIns="0" anchor="t">
            <a:spAutoFit/>
          </a:bodyPr>
          <a:lstStyle/>
          <a:p>
            <a:pPr algn="l">
              <a:lnSpc>
                <a:spcPct val="120000"/>
              </a:lnSpc>
              <a:spcAft>
                <a:spcPts val="200"/>
              </a:spcAft>
            </a:pPr>
            <a:r>
              <a:rPr sz="940" b="1" i="0" spc="100">
                <a:solidFill>
                  <a:srgbClr val="FBBF24"/>
                </a:solidFill>
                <a:latin typeface="Segoe UI"/>
              </a:rPr>
              <a:t>RANKED #1 ON THAT MORNING'S LIST (85% RISK):  </a:t>
            </a:r>
            <a:r>
              <a:rPr sz="1019" b="1" i="0">
                <a:solidFill>
                  <a:srgbClr val="F8FAFC"/>
                </a:solidFill>
                <a:latin typeface="Segoe UI"/>
              </a:rPr>
              <a:t>São Gonçalo (RJ) · health_beauty</a:t>
            </a:r>
          </a:p>
          <a:p>
            <a:pPr algn="l">
              <a:lnSpc>
                <a:spcPct val="120000"/>
              </a:lnSpc>
            </a:pPr>
            <a:r>
              <a:rPr sz="1000" b="1" i="0">
                <a:solidFill>
                  <a:srgbClr val="FB7185"/>
                </a:solidFill>
                <a:latin typeface="Segoe UI"/>
              </a:rPr>
              <a:t>Our opening Slide 2 customer (#e1320973)! </a:t>
            </a:r>
            <a:r>
              <a:rPr sz="960" b="0" i="0">
                <a:solidFill>
                  <a:srgbClr val="CBD5E1"/>
                </a:solidFill>
                <a:latin typeface="Segoe UI"/>
              </a:rPr>
              <a:t>Flagged #23 of 238 delivered at checkout, and #1 of 244 reviewed on the call list.</a:t>
            </a:r>
          </a:p>
        </p:txBody>
      </p:sp>
      <p:sp>
        <p:nvSpPr>
          <p:cNvPr id="15" name="Card"/>
          <p:cNvSpPr/>
          <p:nvPr/>
        </p:nvSpPr>
        <p:spPr>
          <a:xfrm>
            <a:off x="8302752" y="1609344"/>
            <a:ext cx="3310128" cy="1517904"/>
          </a:xfrm>
          <a:prstGeom prst="roundRect">
            <a:avLst>
              <a:gd name="adj" fmla="val 3800"/>
            </a:avLst>
          </a:prstGeom>
          <a:solidFill>
            <a:srgbClr val="102725"/>
          </a:solidFill>
          <a:ln w="15240">
            <a:solidFill>
              <a:srgbClr val="34D399"/>
            </a:solidFill>
          </a:ln>
          <a:effectLst>
            <a:outerShdw blurRad="177800" dist="44450" dir="5400000" algn="tl" rotWithShape="0">
              <a:srgbClr val="0F172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Card_accent"/>
          <p:cNvSpPr/>
          <p:nvPr/>
        </p:nvSpPr>
        <p:spPr>
          <a:xfrm>
            <a:off x="8449056" y="1609344"/>
            <a:ext cx="3017520" cy="50292"/>
          </a:xfrm>
          <a:prstGeom prst="roundRect">
            <a:avLst>
              <a:gd name="adj" fmla="val 25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
          <p:cNvSpPr txBox="1"/>
          <p:nvPr/>
        </p:nvSpPr>
        <p:spPr>
          <a:xfrm>
            <a:off x="8503920" y="1755648"/>
            <a:ext cx="2926080" cy="1280160"/>
          </a:xfrm>
          <a:prstGeom prst="rect">
            <a:avLst/>
          </a:prstGeom>
          <a:noFill/>
        </p:spPr>
        <p:txBody>
          <a:bodyPr wrap="square" lIns="0" tIns="0" rIns="0" bIns="0" anchor="t">
            <a:spAutoFit/>
          </a:bodyPr>
          <a:lstStyle/>
          <a:p>
            <a:pPr algn="l">
              <a:lnSpc>
                <a:spcPct val="122000"/>
              </a:lnSpc>
              <a:spcAft>
                <a:spcPts val="400"/>
              </a:spcAft>
            </a:pPr>
            <a:r>
              <a:rPr sz="860" b="1" i="0" spc="120">
                <a:solidFill>
                  <a:srgbClr val="34D399"/>
                </a:solidFill>
                <a:latin typeface="Segoe UI"/>
              </a:rPr>
              <a:t>16 JULY 2018  (244 REVIEWED ORDERS)</a:t>
            </a:r>
          </a:p>
          <a:p>
            <a:pPr algn="l">
              <a:lnSpc>
                <a:spcPct val="100000"/>
              </a:lnSpc>
            </a:pPr>
            <a:r>
              <a:rPr sz="3400" b="1" i="0">
                <a:solidFill>
                  <a:srgbClr val="34D399"/>
                </a:solidFill>
                <a:latin typeface="Segoe UI"/>
              </a:rPr>
              <a:t>8 of 10</a:t>
            </a:r>
            <a:r>
              <a:rPr sz="1350" b="1" i="0">
                <a:solidFill>
                  <a:srgbClr val="F8FAFC"/>
                </a:solidFill>
                <a:latin typeface="Segoe UI"/>
              </a:rPr>
              <a:t>  real 1–2★</a:t>
            </a:r>
          </a:p>
          <a:p>
            <a:pPr algn="l">
              <a:lnSpc>
                <a:spcPct val="122000"/>
              </a:lnSpc>
            </a:pPr>
            <a:r>
              <a:rPr sz="980" b="0" i="0">
                <a:solidFill>
                  <a:srgbClr val="CBD5E1"/>
                </a:solidFill>
                <a:latin typeface="Segoe UI"/>
              </a:rPr>
              <a:t>caught in top-10 calls (vs ~1 by random)
Checkout error: 4.3 d vs Olist's 10.7 d</a:t>
            </a:r>
          </a:p>
        </p:txBody>
      </p:sp>
      <p:sp>
        <p:nvSpPr>
          <p:cNvPr id="18" name="Card"/>
          <p:cNvSpPr/>
          <p:nvPr/>
        </p:nvSpPr>
        <p:spPr>
          <a:xfrm>
            <a:off x="8302752" y="3273552"/>
            <a:ext cx="3310128" cy="1719072"/>
          </a:xfrm>
          <a:prstGeom prst="roundRect">
            <a:avLst>
              <a:gd name="adj" fmla="val 3800"/>
            </a:avLst>
          </a:prstGeom>
          <a:solidFill>
            <a:srgbClr val="131F35"/>
          </a:solidFill>
          <a:ln w="13970">
            <a:solidFill>
              <a:srgbClr val="FBBF24"/>
            </a:solidFill>
          </a:ln>
          <a:effectLst>
            <a:outerShdw blurRad="177800" dist="44450" dir="5400000" algn="tl"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Card_accent"/>
          <p:cNvSpPr/>
          <p:nvPr/>
        </p:nvSpPr>
        <p:spPr>
          <a:xfrm>
            <a:off x="8302752" y="3438144"/>
            <a:ext cx="59436" cy="1389888"/>
          </a:xfrm>
          <a:prstGeom prst="roundRect">
            <a:avLst>
              <a:gd name="adj" fmla="val 25000"/>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
          <p:cNvSpPr txBox="1"/>
          <p:nvPr/>
        </p:nvSpPr>
        <p:spPr>
          <a:xfrm>
            <a:off x="8503920" y="3401568"/>
            <a:ext cx="2944368" cy="1499616"/>
          </a:xfrm>
          <a:prstGeom prst="rect">
            <a:avLst/>
          </a:prstGeom>
          <a:noFill/>
        </p:spPr>
        <p:txBody>
          <a:bodyPr wrap="square" lIns="0" tIns="0" rIns="0" bIns="0" anchor="t">
            <a:spAutoFit/>
          </a:bodyPr>
          <a:lstStyle/>
          <a:p>
            <a:pPr algn="l">
              <a:lnSpc>
                <a:spcPct val="120000"/>
              </a:lnSpc>
              <a:spcAft>
                <a:spcPts val="600"/>
              </a:spcAft>
            </a:pPr>
            <a:r>
              <a:rPr sz="860" b="1" i="0" spc="120">
                <a:solidFill>
                  <a:srgbClr val="FBBF24"/>
                </a:solidFill>
                <a:latin typeface="Segoe UI"/>
              </a:rPr>
              <a:t>WHY THOSE 8 WERE UNHAPPY</a:t>
            </a:r>
          </a:p>
          <a:p>
            <a:pPr algn="l">
              <a:lnSpc>
                <a:spcPct val="120000"/>
              </a:lnSpc>
            </a:pPr>
            <a:r>
              <a:rPr sz="1080" b="1" i="0">
                <a:solidFill>
                  <a:srgbClr val="FBBF24"/>
                </a:solidFill>
                <a:latin typeface="Segoe UI"/>
              </a:rPr>
              <a:t>• 4 buyers </a:t>
            </a:r>
            <a:r>
              <a:rPr sz="1000" b="0" i="0">
                <a:solidFill>
                  <a:srgbClr val="CBD5E1"/>
                </a:solidFill>
                <a:latin typeface="Segoe UI"/>
              </a:rPr>
              <a:t>wrote 1★ while still waiting for a late parcel (incl. #1 São Gonçalo).</a:t>
            </a:r>
          </a:p>
          <a:p>
            <a:pPr algn="l">
              <a:lnSpc>
                <a:spcPct val="120000"/>
              </a:lnSpc>
            </a:pPr>
            <a:r>
              <a:rPr sz="1080" b="1" i="0">
                <a:solidFill>
                  <a:srgbClr val="FB7185"/>
                </a:solidFill>
                <a:latin typeface="Segoe UI"/>
              </a:rPr>
              <a:t>• 4 buyers </a:t>
            </a:r>
            <a:r>
              <a:rPr sz="1000" b="0" i="0">
                <a:solidFill>
                  <a:srgbClr val="CBD5E1"/>
                </a:solidFill>
                <a:latin typeface="Segoe UI"/>
              </a:rPr>
              <a:t>never received their parcel at all (shipped, invoiced or cancelled).</a:t>
            </a:r>
          </a:p>
        </p:txBody>
      </p:sp>
      <p:sp>
        <p:nvSpPr>
          <p:cNvPr id="21" name="Card"/>
          <p:cNvSpPr/>
          <p:nvPr/>
        </p:nvSpPr>
        <p:spPr>
          <a:xfrm>
            <a:off x="8302752" y="5138928"/>
            <a:ext cx="3310128" cy="987552"/>
          </a:xfrm>
          <a:prstGeom prst="roundRect">
            <a:avLst>
              <a:gd name="adj" fmla="val 3800"/>
            </a:avLst>
          </a:prstGeom>
          <a:solidFill>
            <a:srgbClr val="131F35"/>
          </a:solidFill>
          <a:ln w="12700">
            <a:solidFill>
              <a:srgbClr val="263650"/>
            </a:solidFill>
          </a:ln>
          <a:effectLst>
            <a:outerShdw blurRad="177800" dist="44450" dir="5400000" algn="tl" rotWithShape="0">
              <a:srgbClr val="0F172A">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
          <p:cNvSpPr txBox="1"/>
          <p:nvPr/>
        </p:nvSpPr>
        <p:spPr>
          <a:xfrm>
            <a:off x="8503920" y="5248656"/>
            <a:ext cx="2944368" cy="804672"/>
          </a:xfrm>
          <a:prstGeom prst="rect">
            <a:avLst/>
          </a:prstGeom>
          <a:noFill/>
        </p:spPr>
        <p:txBody>
          <a:bodyPr wrap="square" lIns="0" tIns="0" rIns="0" bIns="0" anchor="t">
            <a:spAutoFit/>
          </a:bodyPr>
          <a:lstStyle/>
          <a:p>
            <a:pPr algn="l">
              <a:lnSpc>
                <a:spcPct val="116000"/>
              </a:lnSpc>
              <a:spcAft>
                <a:spcPts val="300"/>
              </a:spcAft>
            </a:pPr>
            <a:r>
              <a:rPr sz="840" b="1" i="0" spc="120">
                <a:solidFill>
                  <a:srgbClr val="60A5FA"/>
                </a:solidFill>
                <a:latin typeface="Segoe UI"/>
              </a:rPr>
              <a:t>ACROSS ALL 62 UNSEEN TEST DAYS</a:t>
            </a:r>
          </a:p>
          <a:p>
            <a:pPr algn="l">
              <a:lnSpc>
                <a:spcPct val="116000"/>
              </a:lnSpc>
              <a:spcAft>
                <a:spcPts val="200"/>
              </a:spcAft>
            </a:pPr>
            <a:r>
              <a:rPr sz="1250" b="1" i="0">
                <a:solidFill>
                  <a:srgbClr val="F8FAFC"/>
                </a:solidFill>
                <a:latin typeface="Segoe UI"/>
              </a:rPr>
              <a:t>57 / 100 average precision</a:t>
            </a:r>
          </a:p>
          <a:p>
            <a:pPr algn="l">
              <a:lnSpc>
                <a:spcPct val="116000"/>
              </a:lnSpc>
            </a:pPr>
            <a:r>
              <a:rPr sz="930" b="0" i="0">
                <a:solidFill>
                  <a:srgbClr val="CBD5E1"/>
                </a:solidFill>
                <a:latin typeface="Segoe UI"/>
              </a:rPr>
              <a:t>Shows why Promised-Date care + Delivery calls work together!</a:t>
            </a:r>
          </a:p>
        </p:txBody>
      </p:sp>
      <p:sp>
        <p:nvSpPr>
          <p:cNvPr id="23" name="!!NavDock"/>
          <p:cNvSpPr/>
          <p:nvPr/>
        </p:nvSpPr>
        <p:spPr>
          <a:xfrm>
            <a:off x="566928" y="6327648"/>
            <a:ext cx="11055096" cy="384048"/>
          </a:xfrm>
          <a:prstGeom prst="roundRect">
            <a:avLst>
              <a:gd name="adj" fmla="val 50000"/>
            </a:avLst>
          </a:prstGeom>
          <a:solidFill>
            <a:srgbClr val="111B2E"/>
          </a:solidFill>
          <a:ln w="9525">
            <a:solidFill>
              <a:srgbClr val="233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Nav_1">
            <a:hlinkClick r:id="rId6" action="ppaction://hlinksldjump"/>
          </p:cNvPr>
          <p:cNvSpPr/>
          <p:nvPr/>
        </p:nvSpPr>
        <p:spPr>
          <a:xfrm>
            <a:off x="658368" y="6373368"/>
            <a:ext cx="1261872"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01  The Problem</a:t>
            </a:r>
          </a:p>
        </p:txBody>
      </p:sp>
      <p:sp>
        <p:nvSpPr>
          <p:cNvPr id="25" name="Nav_2">
            <a:hlinkClick r:id="rId7" action="ppaction://hlinksldjump"/>
          </p:cNvPr>
          <p:cNvSpPr/>
          <p:nvPr/>
        </p:nvSpPr>
        <p:spPr>
          <a:xfrm>
            <a:off x="1993391" y="6373368"/>
            <a:ext cx="1261872"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02  Why &amp; Tools</a:t>
            </a:r>
          </a:p>
        </p:txBody>
      </p:sp>
      <p:sp>
        <p:nvSpPr>
          <p:cNvPr id="26" name="Nav_3">
            <a:hlinkClick r:id="rId8" action="ppaction://hlinksldjump"/>
          </p:cNvPr>
          <p:cNvSpPr/>
          <p:nvPr/>
        </p:nvSpPr>
        <p:spPr>
          <a:xfrm>
            <a:off x="3328415" y="6373368"/>
            <a:ext cx="1261872" cy="292608"/>
          </a:xfrm>
          <a:prstGeom prst="roundRect">
            <a:avLst>
              <a:gd name="adj" fmla="val 50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0B1220"/>
                </a:solidFill>
                <a:latin typeface="Segoe UI"/>
              </a:rPr>
              <a:t>03  Proof &amp; App</a:t>
            </a:r>
          </a:p>
        </p:txBody>
      </p:sp>
      <p:sp>
        <p:nvSpPr>
          <p:cNvPr id="27" name="Nav_4">
            <a:hlinkClick r:id="rId9" action="ppaction://hlinksldjump"/>
          </p:cNvPr>
          <p:cNvSpPr/>
          <p:nvPr/>
        </p:nvSpPr>
        <p:spPr>
          <a:xfrm>
            <a:off x="4663440" y="6373368"/>
            <a:ext cx="1261872"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04  Monday Plan</a:t>
            </a:r>
          </a:p>
        </p:txBody>
      </p:sp>
      <p:sp>
        <p:nvSpPr>
          <p:cNvPr id="28" name="Nav_5">
            <a:hlinkClick r:id="rId10" action="ppaction://hlinksldjump"/>
          </p:cNvPr>
          <p:cNvSpPr/>
          <p:nvPr/>
        </p:nvSpPr>
        <p:spPr>
          <a:xfrm>
            <a:off x="5998464" y="6373368"/>
            <a:ext cx="1130198" cy="292608"/>
          </a:xfrm>
          <a:prstGeom prst="roundRect">
            <a:avLst>
              <a:gd name="adj" fmla="val 50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94A3B8"/>
                </a:solidFill>
                <a:latin typeface="Segoe UI"/>
              </a:rPr>
              <a:t>05  Takeaways</a:t>
            </a:r>
          </a:p>
        </p:txBody>
      </p:sp>
      <p:sp>
        <p:nvSpPr>
          <p:cNvPr id="29" name="DockJourneyLine"/>
          <p:cNvSpPr/>
          <p:nvPr/>
        </p:nvSpPr>
        <p:spPr>
          <a:xfrm>
            <a:off x="8915400" y="6510528"/>
            <a:ext cx="1115568"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g1" descr="image4.png"/>
          <p:cNvPicPr>
            <a:picLocks noChangeAspect="1"/>
          </p:cNvPicPr>
          <p:nvPr/>
        </p:nvPicPr>
        <p:blipFill>
          <a:blip r:embed="rId11"/>
          <a:stretch>
            <a:fillRect/>
          </a:stretch>
        </p:blipFill>
        <p:spPr>
          <a:xfrm>
            <a:off x="8778240" y="6377940"/>
            <a:ext cx="283464" cy="283464"/>
          </a:xfrm>
          <a:prstGeom prst="rect">
            <a:avLst/>
          </a:prstGeom>
        </p:spPr>
      </p:pic>
      <p:pic>
        <p:nvPicPr>
          <p:cNvPr id="31" name="!!g2" descr="image5.png"/>
          <p:cNvPicPr>
            <a:picLocks noChangeAspect="1"/>
          </p:cNvPicPr>
          <p:nvPr/>
        </p:nvPicPr>
        <p:blipFill>
          <a:blip r:embed="rId12"/>
          <a:stretch>
            <a:fillRect/>
          </a:stretch>
        </p:blipFill>
        <p:spPr>
          <a:xfrm>
            <a:off x="9144000" y="6377940"/>
            <a:ext cx="283464" cy="283464"/>
          </a:xfrm>
          <a:prstGeom prst="rect">
            <a:avLst/>
          </a:prstGeom>
        </p:spPr>
      </p:pic>
      <p:pic>
        <p:nvPicPr>
          <p:cNvPr id="32" name="!!g3" descr="image6.png"/>
          <p:cNvPicPr>
            <a:picLocks noChangeAspect="1"/>
          </p:cNvPicPr>
          <p:nvPr/>
        </p:nvPicPr>
        <p:blipFill>
          <a:blip r:embed="rId13"/>
          <a:stretch>
            <a:fillRect/>
          </a:stretch>
        </p:blipFill>
        <p:spPr>
          <a:xfrm>
            <a:off x="9509760" y="6377940"/>
            <a:ext cx="283464" cy="283464"/>
          </a:xfrm>
          <a:prstGeom prst="rect">
            <a:avLst/>
          </a:prstGeom>
        </p:spPr>
      </p:pic>
      <p:pic>
        <p:nvPicPr>
          <p:cNvPr id="33" name="!!g4" descr="image7.png"/>
          <p:cNvPicPr>
            <a:picLocks noChangeAspect="1"/>
          </p:cNvPicPr>
          <p:nvPr/>
        </p:nvPicPr>
        <p:blipFill>
          <a:blip r:embed="rId14"/>
          <a:stretch>
            <a:fillRect/>
          </a:stretch>
        </p:blipFill>
        <p:spPr>
          <a:xfrm>
            <a:off x="9875520" y="6409944"/>
            <a:ext cx="219456" cy="219456"/>
          </a:xfrm>
          <a:prstGeom prst="rect">
            <a:avLst/>
          </a:prstGeom>
        </p:spPr>
      </p:pic>
      <p:sp>
        <p:nvSpPr>
          <p:cNvPr id="34" name="Nav_QA">
            <a:hlinkClick r:id="rId15" action="ppaction://hlinksldjump"/>
          </p:cNvPr>
          <p:cNvSpPr/>
          <p:nvPr/>
        </p:nvSpPr>
        <p:spPr>
          <a:xfrm>
            <a:off x="10387584" y="6373368"/>
            <a:ext cx="1152144" cy="292608"/>
          </a:xfrm>
          <a:prstGeom prst="roundRect">
            <a:avLst>
              <a:gd name="adj" fmla="val 50000"/>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F8FAFC"/>
                </a:solidFill>
                <a:latin typeface="Segoe UI"/>
              </a:rPr>
              <a:t>Q&amp;A · 09/13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anim calcmode="lin" valueType="num">
                                      <p:cBhvr>
                                        <p:cTn id="8" dur="400" fill="hold"/>
                                        <p:tgtEl>
                                          <p:spTgt spid="3"/>
                                        </p:tgtEl>
                                        <p:attrNameLst>
                                          <p:attrName>ppt_x</p:attrName>
                                        </p:attrNameLst>
                                      </p:cBhvr>
                                      <p:tavLst>
                                        <p:tav tm="0">
                                          <p:val>
                                            <p:strVal val="#ppt_x"/>
                                          </p:val>
                                        </p:tav>
                                        <p:tav tm="100000">
                                          <p:val>
                                            <p:strVal val="#ppt_x"/>
                                          </p:val>
                                        </p:tav>
                                      </p:tavLst>
                                    </p:anim>
                                    <p:anim calcmode="lin" valueType="num">
                                      <p:cBhvr>
                                        <p:cTn id="9" dur="40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anim calcmode="lin" valueType="num">
                                      <p:cBhvr>
                                        <p:cTn id="13" dur="400" fill="hold"/>
                                        <p:tgtEl>
                                          <p:spTgt spid="4"/>
                                        </p:tgtEl>
                                        <p:attrNameLst>
                                          <p:attrName>ppt_x</p:attrName>
                                        </p:attrNameLst>
                                      </p:cBhvr>
                                      <p:tavLst>
                                        <p:tav tm="0">
                                          <p:val>
                                            <p:strVal val="#ppt_x"/>
                                          </p:val>
                                        </p:tav>
                                        <p:tav tm="100000">
                                          <p:val>
                                            <p:strVal val="#ppt_x"/>
                                          </p:val>
                                        </p:tav>
                                      </p:tavLst>
                                    </p:anim>
                                    <p:anim calcmode="lin" valueType="num">
                                      <p:cBhvr>
                                        <p:cTn id="14" dur="40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anim calcmode="lin" valueType="num">
                                      <p:cBhvr>
                                        <p:cTn id="18" dur="400" fill="hold"/>
                                        <p:tgtEl>
                                          <p:spTgt spid="5"/>
                                        </p:tgtEl>
                                        <p:attrNameLst>
                                          <p:attrName>ppt_x</p:attrName>
                                        </p:attrNameLst>
                                      </p:cBhvr>
                                      <p:tavLst>
                                        <p:tav tm="0">
                                          <p:val>
                                            <p:strVal val="#ppt_x"/>
                                          </p:val>
                                        </p:tav>
                                        <p:tav tm="100000">
                                          <p:val>
                                            <p:strVal val="#ppt_x"/>
                                          </p:val>
                                        </p:tav>
                                      </p:tavLst>
                                    </p:anim>
                                    <p:anim calcmode="lin" valueType="num">
                                      <p:cBhvr>
                                        <p:cTn id="19" dur="40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anim calcmode="lin" valueType="num">
                                      <p:cBhvr>
                                        <p:cTn id="23" dur="400" fill="hold"/>
                                        <p:tgtEl>
                                          <p:spTgt spid="6"/>
                                        </p:tgtEl>
                                        <p:attrNameLst>
                                          <p:attrName>ppt_x</p:attrName>
                                        </p:attrNameLst>
                                      </p:cBhvr>
                                      <p:tavLst>
                                        <p:tav tm="0">
                                          <p:val>
                                            <p:strVal val="#ppt_x"/>
                                          </p:val>
                                        </p:tav>
                                        <p:tav tm="100000">
                                          <p:val>
                                            <p:strVal val="#ppt_x"/>
                                          </p:val>
                                        </p:tav>
                                      </p:tavLst>
                                    </p:anim>
                                    <p:anim calcmode="lin" valueType="num">
                                      <p:cBhvr>
                                        <p:cTn id="24" dur="40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7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80"/>
                                        <p:tgtEl>
                                          <p:spTgt spid="7"/>
                                        </p:tgtEl>
                                      </p:cBhvr>
                                    </p:animEffect>
                                    <p:anim calcmode="lin" valueType="num">
                                      <p:cBhvr>
                                        <p:cTn id="28" dur="480" fill="hold"/>
                                        <p:tgtEl>
                                          <p:spTgt spid="7"/>
                                        </p:tgtEl>
                                        <p:attrNameLst>
                                          <p:attrName>ppt_x</p:attrName>
                                        </p:attrNameLst>
                                      </p:cBhvr>
                                      <p:tavLst>
                                        <p:tav tm="0">
                                          <p:val>
                                            <p:strVal val="#ppt_x"/>
                                          </p:val>
                                        </p:tav>
                                        <p:tav tm="100000">
                                          <p:val>
                                            <p:strVal val="#ppt_x"/>
                                          </p:val>
                                        </p:tav>
                                      </p:tavLst>
                                    </p:anim>
                                    <p:anim calcmode="lin" valueType="num">
                                      <p:cBhvr>
                                        <p:cTn id="29" dur="480" decel="100000" fill="hold"/>
                                        <p:tgtEl>
                                          <p:spTgt spid="7"/>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7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80"/>
                                        <p:tgtEl>
                                          <p:spTgt spid="11"/>
                                        </p:tgtEl>
                                      </p:cBhvr>
                                    </p:animEffect>
                                    <p:anim calcmode="lin" valueType="num">
                                      <p:cBhvr>
                                        <p:cTn id="33" dur="480" fill="hold"/>
                                        <p:tgtEl>
                                          <p:spTgt spid="11"/>
                                        </p:tgtEl>
                                        <p:attrNameLst>
                                          <p:attrName>ppt_x</p:attrName>
                                        </p:attrNameLst>
                                      </p:cBhvr>
                                      <p:tavLst>
                                        <p:tav tm="0">
                                          <p:val>
                                            <p:strVal val="#ppt_x"/>
                                          </p:val>
                                        </p:tav>
                                        <p:tav tm="100000">
                                          <p:val>
                                            <p:strVal val="#ppt_x"/>
                                          </p:val>
                                        </p:tav>
                                      </p:tavLst>
                                    </p:anim>
                                    <p:anim calcmode="lin" valueType="num">
                                      <p:cBhvr>
                                        <p:cTn id="34" dur="480" decel="100000" fill="hold"/>
                                        <p:tgtEl>
                                          <p:spTgt spid="11"/>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17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80"/>
                                        <p:tgtEl>
                                          <p:spTgt spid="12"/>
                                        </p:tgtEl>
                                      </p:cBhvr>
                                    </p:animEffect>
                                    <p:anim calcmode="lin" valueType="num">
                                      <p:cBhvr>
                                        <p:cTn id="38" dur="480" fill="hold"/>
                                        <p:tgtEl>
                                          <p:spTgt spid="12"/>
                                        </p:tgtEl>
                                        <p:attrNameLst>
                                          <p:attrName>ppt_x</p:attrName>
                                        </p:attrNameLst>
                                      </p:cBhvr>
                                      <p:tavLst>
                                        <p:tav tm="0">
                                          <p:val>
                                            <p:strVal val="#ppt_x"/>
                                          </p:val>
                                        </p:tav>
                                        <p:tav tm="100000">
                                          <p:val>
                                            <p:strVal val="#ppt_x"/>
                                          </p:val>
                                        </p:tav>
                                      </p:tavLst>
                                    </p:anim>
                                    <p:anim calcmode="lin" valueType="num">
                                      <p:cBhvr>
                                        <p:cTn id="39" dur="480" decel="100000" fill="hold"/>
                                        <p:tgtEl>
                                          <p:spTgt spid="12"/>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1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480"/>
                                        <p:tgtEl>
                                          <p:spTgt spid="13"/>
                                        </p:tgtEl>
                                      </p:cBhvr>
                                    </p:animEffect>
                                    <p:anim calcmode="lin" valueType="num">
                                      <p:cBhvr>
                                        <p:cTn id="43" dur="480" fill="hold"/>
                                        <p:tgtEl>
                                          <p:spTgt spid="13"/>
                                        </p:tgtEl>
                                        <p:attrNameLst>
                                          <p:attrName>ppt_x</p:attrName>
                                        </p:attrNameLst>
                                      </p:cBhvr>
                                      <p:tavLst>
                                        <p:tav tm="0">
                                          <p:val>
                                            <p:strVal val="#ppt_x"/>
                                          </p:val>
                                        </p:tav>
                                        <p:tav tm="100000">
                                          <p:val>
                                            <p:strVal val="#ppt_x"/>
                                          </p:val>
                                        </p:tav>
                                      </p:tavLst>
                                    </p:anim>
                                    <p:anim calcmode="lin" valueType="num">
                                      <p:cBhvr>
                                        <p:cTn id="44" dur="480" decel="100000" fill="hold"/>
                                        <p:tgtEl>
                                          <p:spTgt spid="13"/>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33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60"/>
                                        <p:tgtEl>
                                          <p:spTgt spid="15"/>
                                        </p:tgtEl>
                                      </p:cBhvr>
                                    </p:animEffect>
                                    <p:anim calcmode="lin" valueType="num">
                                      <p:cBhvr>
                                        <p:cTn id="48" dur="460" fill="hold"/>
                                        <p:tgtEl>
                                          <p:spTgt spid="15"/>
                                        </p:tgtEl>
                                        <p:attrNameLst>
                                          <p:attrName>ppt_x</p:attrName>
                                        </p:attrNameLst>
                                      </p:cBhvr>
                                      <p:tavLst>
                                        <p:tav tm="0">
                                          <p:val>
                                            <p:strVal val="#ppt_x"/>
                                          </p:val>
                                        </p:tav>
                                        <p:tav tm="100000">
                                          <p:val>
                                            <p:strVal val="#ppt_x"/>
                                          </p:val>
                                        </p:tav>
                                      </p:tavLst>
                                    </p:anim>
                                    <p:anim calcmode="lin" valueType="num">
                                      <p:cBhvr>
                                        <p:cTn id="49" dur="460" decel="100000" fill="hold"/>
                                        <p:tgtEl>
                                          <p:spTgt spid="15"/>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3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460"/>
                                        <p:tgtEl>
                                          <p:spTgt spid="16"/>
                                        </p:tgtEl>
                                      </p:cBhvr>
                                    </p:animEffect>
                                    <p:anim calcmode="lin" valueType="num">
                                      <p:cBhvr>
                                        <p:cTn id="53" dur="460" fill="hold"/>
                                        <p:tgtEl>
                                          <p:spTgt spid="16"/>
                                        </p:tgtEl>
                                        <p:attrNameLst>
                                          <p:attrName>ppt_x</p:attrName>
                                        </p:attrNameLst>
                                      </p:cBhvr>
                                      <p:tavLst>
                                        <p:tav tm="0">
                                          <p:val>
                                            <p:strVal val="#ppt_x"/>
                                          </p:val>
                                        </p:tav>
                                        <p:tav tm="100000">
                                          <p:val>
                                            <p:strVal val="#ppt_x"/>
                                          </p:val>
                                        </p:tav>
                                      </p:tavLst>
                                    </p:anim>
                                    <p:anim calcmode="lin" valueType="num">
                                      <p:cBhvr>
                                        <p:cTn id="54" dur="460" decel="100000" fill="hold"/>
                                        <p:tgtEl>
                                          <p:spTgt spid="16"/>
                                        </p:tgtEl>
                                        <p:attrNameLst>
                                          <p:attrName>ppt_y</p:attrName>
                                        </p:attrNameLst>
                                      </p:cBhvr>
                                      <p:tavLst>
                                        <p:tav tm="0">
                                          <p:val>
                                            <p:strVal val="#ppt_y+0.018"/>
                                          </p:val>
                                        </p:tav>
                                        <p:tav tm="100000">
                                          <p:val>
                                            <p:strVal val="#ppt_y"/>
                                          </p:val>
                                        </p:tav>
                                      </p:tavLst>
                                    </p:anim>
                                  </p:childTnLst>
                                </p:cTn>
                              </p:par>
                              <p:par>
                                <p:cTn id="55" presetID="42" presetClass="entr" presetSubtype="4" fill="hold" grpId="0" nodeType="withEffect">
                                  <p:stCondLst>
                                    <p:cond delay="33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460"/>
                                        <p:tgtEl>
                                          <p:spTgt spid="17"/>
                                        </p:tgtEl>
                                      </p:cBhvr>
                                    </p:animEffect>
                                    <p:anim calcmode="lin" valueType="num">
                                      <p:cBhvr>
                                        <p:cTn id="58" dur="460" fill="hold"/>
                                        <p:tgtEl>
                                          <p:spTgt spid="17"/>
                                        </p:tgtEl>
                                        <p:attrNameLst>
                                          <p:attrName>ppt_x</p:attrName>
                                        </p:attrNameLst>
                                      </p:cBhvr>
                                      <p:tavLst>
                                        <p:tav tm="0">
                                          <p:val>
                                            <p:strVal val="#ppt_x"/>
                                          </p:val>
                                        </p:tav>
                                        <p:tav tm="100000">
                                          <p:val>
                                            <p:strVal val="#ppt_x"/>
                                          </p:val>
                                        </p:tav>
                                      </p:tavLst>
                                    </p:anim>
                                    <p:anim calcmode="lin" valueType="num">
                                      <p:cBhvr>
                                        <p:cTn id="59" dur="460" decel="100000" fill="hold"/>
                                        <p:tgtEl>
                                          <p:spTgt spid="17"/>
                                        </p:tgtEl>
                                        <p:attrNameLst>
                                          <p:attrName>ppt_y</p:attrName>
                                        </p:attrNameLst>
                                      </p:cBhvr>
                                      <p:tavLst>
                                        <p:tav tm="0">
                                          <p:val>
                                            <p:strVal val="#ppt_y+0.018"/>
                                          </p:val>
                                        </p:tav>
                                        <p:tav tm="100000">
                                          <p:val>
                                            <p:strVal val="#ppt_y"/>
                                          </p:val>
                                        </p:tav>
                                      </p:tavLst>
                                    </p:anim>
                                  </p:childTnLst>
                                </p:cTn>
                              </p:par>
                              <p:par>
                                <p:cTn id="60" presetID="42" presetClass="entr" presetSubtype="4" fill="hold" grpId="0" nodeType="withEffect">
                                  <p:stCondLst>
                                    <p:cond delay="33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460"/>
                                        <p:tgtEl>
                                          <p:spTgt spid="18"/>
                                        </p:tgtEl>
                                      </p:cBhvr>
                                    </p:animEffect>
                                    <p:anim calcmode="lin" valueType="num">
                                      <p:cBhvr>
                                        <p:cTn id="63" dur="460" fill="hold"/>
                                        <p:tgtEl>
                                          <p:spTgt spid="18"/>
                                        </p:tgtEl>
                                        <p:attrNameLst>
                                          <p:attrName>ppt_x</p:attrName>
                                        </p:attrNameLst>
                                      </p:cBhvr>
                                      <p:tavLst>
                                        <p:tav tm="0">
                                          <p:val>
                                            <p:strVal val="#ppt_x"/>
                                          </p:val>
                                        </p:tav>
                                        <p:tav tm="100000">
                                          <p:val>
                                            <p:strVal val="#ppt_x"/>
                                          </p:val>
                                        </p:tav>
                                      </p:tavLst>
                                    </p:anim>
                                    <p:anim calcmode="lin" valueType="num">
                                      <p:cBhvr>
                                        <p:cTn id="64" dur="460" decel="100000" fill="hold"/>
                                        <p:tgtEl>
                                          <p:spTgt spid="18"/>
                                        </p:tgtEl>
                                        <p:attrNameLst>
                                          <p:attrName>ppt_y</p:attrName>
                                        </p:attrNameLst>
                                      </p:cBhvr>
                                      <p:tavLst>
                                        <p:tav tm="0">
                                          <p:val>
                                            <p:strVal val="#ppt_y+0.018"/>
                                          </p:val>
                                        </p:tav>
                                        <p:tav tm="100000">
                                          <p:val>
                                            <p:strVal val="#ppt_y"/>
                                          </p:val>
                                        </p:tav>
                                      </p:tavLst>
                                    </p:anim>
                                  </p:childTnLst>
                                </p:cTn>
                              </p:par>
                              <p:par>
                                <p:cTn id="65" presetID="42" presetClass="entr" presetSubtype="4" fill="hold" grpId="0" nodeType="withEffect">
                                  <p:stCondLst>
                                    <p:cond delay="33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460"/>
                                        <p:tgtEl>
                                          <p:spTgt spid="19"/>
                                        </p:tgtEl>
                                      </p:cBhvr>
                                    </p:animEffect>
                                    <p:anim calcmode="lin" valueType="num">
                                      <p:cBhvr>
                                        <p:cTn id="68" dur="460" fill="hold"/>
                                        <p:tgtEl>
                                          <p:spTgt spid="19"/>
                                        </p:tgtEl>
                                        <p:attrNameLst>
                                          <p:attrName>ppt_x</p:attrName>
                                        </p:attrNameLst>
                                      </p:cBhvr>
                                      <p:tavLst>
                                        <p:tav tm="0">
                                          <p:val>
                                            <p:strVal val="#ppt_x"/>
                                          </p:val>
                                        </p:tav>
                                        <p:tav tm="100000">
                                          <p:val>
                                            <p:strVal val="#ppt_x"/>
                                          </p:val>
                                        </p:tav>
                                      </p:tavLst>
                                    </p:anim>
                                    <p:anim calcmode="lin" valueType="num">
                                      <p:cBhvr>
                                        <p:cTn id="69" dur="460" decel="100000" fill="hold"/>
                                        <p:tgtEl>
                                          <p:spTgt spid="19"/>
                                        </p:tgtEl>
                                        <p:attrNameLst>
                                          <p:attrName>ppt_y</p:attrName>
                                        </p:attrNameLst>
                                      </p:cBhvr>
                                      <p:tavLst>
                                        <p:tav tm="0">
                                          <p:val>
                                            <p:strVal val="#ppt_y+0.018"/>
                                          </p:val>
                                        </p:tav>
                                        <p:tav tm="100000">
                                          <p:val>
                                            <p:strVal val="#ppt_y"/>
                                          </p:val>
                                        </p:tav>
                                      </p:tavLst>
                                    </p:anim>
                                  </p:childTnLst>
                                </p:cTn>
                              </p:par>
                              <p:par>
                                <p:cTn id="70" presetID="42" presetClass="entr" presetSubtype="4" fill="hold" grpId="0" nodeType="withEffect">
                                  <p:stCondLst>
                                    <p:cond delay="33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460"/>
                                        <p:tgtEl>
                                          <p:spTgt spid="20"/>
                                        </p:tgtEl>
                                      </p:cBhvr>
                                    </p:animEffect>
                                    <p:anim calcmode="lin" valueType="num">
                                      <p:cBhvr>
                                        <p:cTn id="73" dur="460" fill="hold"/>
                                        <p:tgtEl>
                                          <p:spTgt spid="20"/>
                                        </p:tgtEl>
                                        <p:attrNameLst>
                                          <p:attrName>ppt_x</p:attrName>
                                        </p:attrNameLst>
                                      </p:cBhvr>
                                      <p:tavLst>
                                        <p:tav tm="0">
                                          <p:val>
                                            <p:strVal val="#ppt_x"/>
                                          </p:val>
                                        </p:tav>
                                        <p:tav tm="100000">
                                          <p:val>
                                            <p:strVal val="#ppt_x"/>
                                          </p:val>
                                        </p:tav>
                                      </p:tavLst>
                                    </p:anim>
                                    <p:anim calcmode="lin" valueType="num">
                                      <p:cBhvr>
                                        <p:cTn id="74" dur="460" decel="100000" fill="hold"/>
                                        <p:tgtEl>
                                          <p:spTgt spid="20"/>
                                        </p:tgtEl>
                                        <p:attrNameLst>
                                          <p:attrName>ppt_y</p:attrName>
                                        </p:attrNameLst>
                                      </p:cBhvr>
                                      <p:tavLst>
                                        <p:tav tm="0">
                                          <p:val>
                                            <p:strVal val="#ppt_y+0.018"/>
                                          </p:val>
                                        </p:tav>
                                        <p:tav tm="100000">
                                          <p:val>
                                            <p:strVal val="#ppt_y"/>
                                          </p:val>
                                        </p:tav>
                                      </p:tavLst>
                                    </p:anim>
                                  </p:childTnLst>
                                </p:cTn>
                              </p:par>
                              <p:par>
                                <p:cTn id="75" presetID="42" presetClass="entr" presetSubtype="4" fill="hold" grpId="0" nodeType="withEffect">
                                  <p:stCondLst>
                                    <p:cond delay="330"/>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460"/>
                                        <p:tgtEl>
                                          <p:spTgt spid="21"/>
                                        </p:tgtEl>
                                      </p:cBhvr>
                                    </p:animEffect>
                                    <p:anim calcmode="lin" valueType="num">
                                      <p:cBhvr>
                                        <p:cTn id="78" dur="460" fill="hold"/>
                                        <p:tgtEl>
                                          <p:spTgt spid="21"/>
                                        </p:tgtEl>
                                        <p:attrNameLst>
                                          <p:attrName>ppt_x</p:attrName>
                                        </p:attrNameLst>
                                      </p:cBhvr>
                                      <p:tavLst>
                                        <p:tav tm="0">
                                          <p:val>
                                            <p:strVal val="#ppt_x"/>
                                          </p:val>
                                        </p:tav>
                                        <p:tav tm="100000">
                                          <p:val>
                                            <p:strVal val="#ppt_x"/>
                                          </p:val>
                                        </p:tav>
                                      </p:tavLst>
                                    </p:anim>
                                    <p:anim calcmode="lin" valueType="num">
                                      <p:cBhvr>
                                        <p:cTn id="79" dur="460" decel="100000" fill="hold"/>
                                        <p:tgtEl>
                                          <p:spTgt spid="21"/>
                                        </p:tgtEl>
                                        <p:attrNameLst>
                                          <p:attrName>ppt_y</p:attrName>
                                        </p:attrNameLst>
                                      </p:cBhvr>
                                      <p:tavLst>
                                        <p:tav tm="0">
                                          <p:val>
                                            <p:strVal val="#ppt_y+0.018"/>
                                          </p:val>
                                        </p:tav>
                                        <p:tav tm="100000">
                                          <p:val>
                                            <p:strVal val="#ppt_y"/>
                                          </p:val>
                                        </p:tav>
                                      </p:tavLst>
                                    </p:anim>
                                  </p:childTnLst>
                                </p:cTn>
                              </p:par>
                              <p:par>
                                <p:cTn id="80" presetID="42" presetClass="entr" presetSubtype="4" fill="hold" grpId="0" nodeType="withEffect">
                                  <p:stCondLst>
                                    <p:cond delay="33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460"/>
                                        <p:tgtEl>
                                          <p:spTgt spid="22"/>
                                        </p:tgtEl>
                                      </p:cBhvr>
                                    </p:animEffect>
                                    <p:anim calcmode="lin" valueType="num">
                                      <p:cBhvr>
                                        <p:cTn id="83" dur="460" fill="hold"/>
                                        <p:tgtEl>
                                          <p:spTgt spid="22"/>
                                        </p:tgtEl>
                                        <p:attrNameLst>
                                          <p:attrName>ppt_x</p:attrName>
                                        </p:attrNameLst>
                                      </p:cBhvr>
                                      <p:tavLst>
                                        <p:tav tm="0">
                                          <p:val>
                                            <p:strVal val="#ppt_x"/>
                                          </p:val>
                                        </p:tav>
                                        <p:tav tm="100000">
                                          <p:val>
                                            <p:strVal val="#ppt_x"/>
                                          </p:val>
                                        </p:tav>
                                      </p:tavLst>
                                    </p:anim>
                                    <p:anim calcmode="lin" valueType="num">
                                      <p:cBhvr>
                                        <p:cTn id="84" dur="460" decel="100000" fill="hold"/>
                                        <p:tgtEl>
                                          <p:spTgt spid="22"/>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11" grpId="0" animBg="1"/>
      <p:bldP spid="12" grpId="0" animBg="1"/>
      <p:bldP spid="13"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light_studio_bg.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5195620" cy="256032"/>
          </a:xfrm>
          <a:prstGeom prst="roundRect">
            <a:avLst>
              <a:gd name="adj" fmla="val 50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D97706"/>
                </a:solidFill>
                <a:latin typeface="Segoe UI"/>
              </a:rPr>
              <a:t>04 · MONDAY PLAYBOOK — CONCRETE OPERATIONAL ACTIONS</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3050" b="1" i="0">
                <a:solidFill>
                  <a:srgbClr val="0F172A"/>
                </a:solidFill>
                <a:latin typeface="Segoe UI"/>
              </a:rPr>
              <a:t>Four changes Olist can launch </a:t>
            </a:r>
            <a:r>
              <a:rPr sz="3050" b="1" i="0">
                <a:solidFill>
                  <a:srgbClr val="D97706"/>
                </a:solidFill>
                <a:latin typeface="Segoe UI"/>
              </a:rPr>
              <a:t>on Monday</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64748B"/>
                </a:solidFill>
                <a:latin typeface="Segoe UI"/>
              </a:rPr>
              <a:t>Three proactive actions across the order timeline — plus one costly reflex to avoid.</a:t>
            </a:r>
          </a:p>
        </p:txBody>
      </p:sp>
      <p:sp>
        <p:nvSpPr>
          <p:cNvPr id="6" name="Card"/>
          <p:cNvSpPr/>
          <p:nvPr/>
        </p:nvSpPr>
        <p:spPr>
          <a:xfrm>
            <a:off x="566928" y="1645920"/>
            <a:ext cx="5394960" cy="1810512"/>
          </a:xfrm>
          <a:prstGeom prst="roundRect">
            <a:avLst>
              <a:gd name="adj" fmla="val 3800"/>
            </a:avLst>
          </a:prstGeom>
          <a:solidFill>
            <a:srgbClr val="FFFFFF"/>
          </a:solidFill>
          <a:ln w="15240">
            <a:solidFill>
              <a:srgbClr val="BFDBFE"/>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ard_accent"/>
          <p:cNvSpPr/>
          <p:nvPr/>
        </p:nvSpPr>
        <p:spPr>
          <a:xfrm>
            <a:off x="566928" y="1810512"/>
            <a:ext cx="59436" cy="1481328"/>
          </a:xfrm>
          <a:prstGeom prst="roundRect">
            <a:avLst>
              <a:gd name="adj" fmla="val 2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act_date_blue.png"/>
          <p:cNvPicPr>
            <a:picLocks noChangeAspect="1"/>
          </p:cNvPicPr>
          <p:nvPr/>
        </p:nvPicPr>
        <p:blipFill>
          <a:blip r:embed="rId4"/>
          <a:stretch>
            <a:fillRect/>
          </a:stretch>
        </p:blipFill>
        <p:spPr>
          <a:xfrm>
            <a:off x="768096" y="1828800"/>
            <a:ext cx="420624" cy="420624"/>
          </a:xfrm>
          <a:prstGeom prst="rect">
            <a:avLst/>
          </a:prstGeom>
        </p:spPr>
      </p:pic>
      <p:sp>
        <p:nvSpPr>
          <p:cNvPr id="9" name="Pill"/>
          <p:cNvSpPr/>
          <p:nvPr/>
        </p:nvSpPr>
        <p:spPr>
          <a:xfrm>
            <a:off x="1280160" y="1847088"/>
            <a:ext cx="3127248" cy="228600"/>
          </a:xfrm>
          <a:prstGeom prst="roundRect">
            <a:avLst>
              <a:gd name="adj" fmla="val 5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30" b="1" spc="110">
                <a:solidFill>
                  <a:srgbClr val="2563EB"/>
                </a:solidFill>
                <a:latin typeface="Segoe UI"/>
              </a:rPr>
              <a:t>1 · AT CHECKOUT  (OPERATIONS)</a:t>
            </a:r>
          </a:p>
        </p:txBody>
      </p:sp>
      <p:sp>
        <p:nvSpPr>
          <p:cNvPr id="10" name="Text"/>
          <p:cNvSpPr txBox="1"/>
          <p:nvPr/>
        </p:nvSpPr>
        <p:spPr>
          <a:xfrm>
            <a:off x="786384" y="2304288"/>
            <a:ext cx="4992624" cy="859536"/>
          </a:xfrm>
          <a:prstGeom prst="rect">
            <a:avLst/>
          </a:prstGeom>
          <a:noFill/>
        </p:spPr>
        <p:txBody>
          <a:bodyPr wrap="square" lIns="0" tIns="0" rIns="0" bIns="0" anchor="t">
            <a:spAutoFit/>
          </a:bodyPr>
          <a:lstStyle/>
          <a:p>
            <a:pPr algn="l">
              <a:lnSpc>
                <a:spcPct val="120000"/>
              </a:lnSpc>
              <a:spcAft>
                <a:spcPts val="300"/>
              </a:spcAft>
            </a:pPr>
            <a:r>
              <a:rPr sz="1350" b="1" i="0">
                <a:solidFill>
                  <a:srgbClr val="0F172A"/>
                </a:solidFill>
                <a:latin typeface="Segoe UI"/>
              </a:rPr>
              <a:t>Quote honest dates &amp; warn ≥ 11% risk</a:t>
            </a:r>
          </a:p>
          <a:p>
            <a:pPr algn="l">
              <a:lnSpc>
                <a:spcPct val="120000"/>
              </a:lnSpc>
            </a:pPr>
            <a:r>
              <a:rPr sz="990" b="0" i="0">
                <a:solidFill>
                  <a:srgbClr val="334155"/>
                </a:solidFill>
                <a:latin typeface="Segoe UI"/>
              </a:rPr>
              <a:t>Replace padded promises with our checkout forecast (</a:t>
            </a:r>
            <a:r>
              <a:rPr sz="990" b="1" i="0">
                <a:solidFill>
                  <a:srgbClr val="2563EB"/>
                </a:solidFill>
                <a:latin typeface="Segoe UI"/>
              </a:rPr>
              <a:t>60% smaller error: 9.79 → 3.90 d</a:t>
            </a:r>
            <a:r>
              <a:rPr sz="990" b="0" i="0">
                <a:solidFill>
                  <a:srgbClr val="334155"/>
                </a:solidFill>
                <a:latin typeface="Segoe UI"/>
              </a:rPr>
              <a:t>) and show a free heads-up banner above 11% risk — pre-warning </a:t>
            </a:r>
            <a:r>
              <a:rPr sz="990" b="1" i="0">
                <a:solidFill>
                  <a:srgbClr val="0F172A"/>
                </a:solidFill>
                <a:latin typeface="Segoe UI"/>
              </a:rPr>
              <a:t>83% (5 in 6)</a:t>
            </a:r>
            <a:r>
              <a:rPr sz="990" b="0" i="0">
                <a:solidFill>
                  <a:srgbClr val="334155"/>
                </a:solidFill>
                <a:latin typeface="Segoe UI"/>
              </a:rPr>
              <a:t> future late orders.</a:t>
            </a:r>
          </a:p>
        </p:txBody>
      </p:sp>
      <p:sp>
        <p:nvSpPr>
          <p:cNvPr id="11" name="Text"/>
          <p:cNvSpPr txBox="1"/>
          <p:nvPr/>
        </p:nvSpPr>
        <p:spPr>
          <a:xfrm>
            <a:off x="786384" y="3163824"/>
            <a:ext cx="4956048" cy="219456"/>
          </a:xfrm>
          <a:prstGeom prst="rect">
            <a:avLst/>
          </a:prstGeom>
          <a:noFill/>
        </p:spPr>
        <p:txBody>
          <a:bodyPr wrap="square" lIns="0" tIns="0" rIns="0" bIns="0" anchor="t">
            <a:spAutoFit/>
          </a:bodyPr>
          <a:lstStyle/>
          <a:p>
            <a:pPr algn="l">
              <a:lnSpc>
                <a:spcPct val="122000"/>
              </a:lnSpc>
            </a:pPr>
            <a:r>
              <a:rPr sz="890" b="1" i="0">
                <a:solidFill>
                  <a:srgbClr val="64748B"/>
                </a:solidFill>
                <a:latin typeface="Segoe UI"/>
              </a:rPr>
              <a:t>Cost: ~R$0   ·   Immediate trust gain</a:t>
            </a:r>
          </a:p>
        </p:txBody>
      </p:sp>
      <p:sp>
        <p:nvSpPr>
          <p:cNvPr id="12" name="Card"/>
          <p:cNvSpPr/>
          <p:nvPr/>
        </p:nvSpPr>
        <p:spPr>
          <a:xfrm>
            <a:off x="6217920" y="1645920"/>
            <a:ext cx="5394960" cy="1810512"/>
          </a:xfrm>
          <a:prstGeom prst="roundRect">
            <a:avLst>
              <a:gd name="adj" fmla="val 3800"/>
            </a:avLst>
          </a:prstGeom>
          <a:solidFill>
            <a:srgbClr val="FFFFFF"/>
          </a:solidFill>
          <a:ln w="15240">
            <a:solidFill>
              <a:srgbClr val="FDE68A"/>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Card_accent"/>
          <p:cNvSpPr/>
          <p:nvPr/>
        </p:nvSpPr>
        <p:spPr>
          <a:xfrm>
            <a:off x="6217920" y="1810512"/>
            <a:ext cx="59436" cy="1481328"/>
          </a:xfrm>
          <a:prstGeom prst="roundRect">
            <a:avLst>
              <a:gd name="adj" fmla="val 25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act_speak_amber.png"/>
          <p:cNvPicPr>
            <a:picLocks noChangeAspect="1"/>
          </p:cNvPicPr>
          <p:nvPr/>
        </p:nvPicPr>
        <p:blipFill>
          <a:blip r:embed="rId5"/>
          <a:stretch>
            <a:fillRect/>
          </a:stretch>
        </p:blipFill>
        <p:spPr>
          <a:xfrm>
            <a:off x="6419088" y="1828800"/>
            <a:ext cx="420624" cy="420624"/>
          </a:xfrm>
          <a:prstGeom prst="rect">
            <a:avLst/>
          </a:prstGeom>
        </p:spPr>
      </p:pic>
      <p:sp>
        <p:nvSpPr>
          <p:cNvPr id="15" name="Pill"/>
          <p:cNvSpPr/>
          <p:nvPr/>
        </p:nvSpPr>
        <p:spPr>
          <a:xfrm>
            <a:off x="6931152" y="1847088"/>
            <a:ext cx="3127248" cy="228600"/>
          </a:xfrm>
          <a:prstGeom prst="roundRect">
            <a:avLst>
              <a:gd name="adj" fmla="val 50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30" b="1" spc="110">
                <a:solidFill>
                  <a:srgbClr val="D97706"/>
                </a:solidFill>
                <a:latin typeface="Segoe UI"/>
              </a:rPr>
              <a:t>2 · ON PROMISED DATE  (CUSTOMER CARE)</a:t>
            </a:r>
          </a:p>
        </p:txBody>
      </p:sp>
      <p:sp>
        <p:nvSpPr>
          <p:cNvPr id="16" name="Text"/>
          <p:cNvSpPr txBox="1"/>
          <p:nvPr/>
        </p:nvSpPr>
        <p:spPr>
          <a:xfrm>
            <a:off x="6437376" y="2304288"/>
            <a:ext cx="4992624" cy="859536"/>
          </a:xfrm>
          <a:prstGeom prst="rect">
            <a:avLst/>
          </a:prstGeom>
          <a:noFill/>
        </p:spPr>
        <p:txBody>
          <a:bodyPr wrap="square" lIns="0" tIns="0" rIns="0" bIns="0" anchor="t">
            <a:spAutoFit/>
          </a:bodyPr>
          <a:lstStyle/>
          <a:p>
            <a:pPr algn="l">
              <a:lnSpc>
                <a:spcPct val="120000"/>
              </a:lnSpc>
              <a:spcAft>
                <a:spcPts val="300"/>
              </a:spcAft>
            </a:pPr>
            <a:r>
              <a:rPr sz="1350" b="1" i="0">
                <a:solidFill>
                  <a:srgbClr val="0F172A"/>
                </a:solidFill>
                <a:latin typeface="Segoe UI"/>
              </a:rPr>
              <a:t>Speak first &amp; pause the review email</a:t>
            </a:r>
          </a:p>
          <a:p>
            <a:pPr algn="l">
              <a:lnSpc>
                <a:spcPct val="120000"/>
              </a:lnSpc>
            </a:pPr>
            <a:r>
              <a:rPr sz="990" b="0" i="0">
                <a:solidFill>
                  <a:srgbClr val="334155"/>
                </a:solidFill>
                <a:latin typeface="Segoe UI"/>
              </a:rPr>
              <a:t>No ML needed: the day a promised date passes with no delivery scan, </a:t>
            </a:r>
            <a:r>
              <a:rPr sz="990" b="1" i="0">
                <a:solidFill>
                  <a:srgbClr val="D97706"/>
                </a:solidFill>
                <a:latin typeface="Segoe UI"/>
              </a:rPr>
              <a:t>send a proactive apology + status update</a:t>
            </a:r>
            <a:r>
              <a:rPr sz="990" b="0" i="0">
                <a:solidFill>
                  <a:srgbClr val="334155"/>
                </a:solidFill>
                <a:latin typeface="Segoe UI"/>
              </a:rPr>
              <a:t> and hold the review survey until actual arrival — closing the window behind </a:t>
            </a:r>
            <a:r>
              <a:rPr sz="990" b="1" i="0">
                <a:solidFill>
                  <a:srgbClr val="0F172A"/>
                </a:solidFill>
                <a:latin typeface="Segoe UI"/>
              </a:rPr>
              <a:t>87.3% of late 1–2★</a:t>
            </a:r>
            <a:r>
              <a:rPr sz="990" b="0" i="0">
                <a:solidFill>
                  <a:srgbClr val="334155"/>
                </a:solidFill>
                <a:latin typeface="Segoe UI"/>
              </a:rPr>
              <a:t>.</a:t>
            </a:r>
          </a:p>
        </p:txBody>
      </p:sp>
      <p:sp>
        <p:nvSpPr>
          <p:cNvPr id="17" name="Text"/>
          <p:cNvSpPr txBox="1"/>
          <p:nvPr/>
        </p:nvSpPr>
        <p:spPr>
          <a:xfrm>
            <a:off x="6437376" y="3163824"/>
            <a:ext cx="4956048" cy="219456"/>
          </a:xfrm>
          <a:prstGeom prst="rect">
            <a:avLst/>
          </a:prstGeom>
          <a:noFill/>
        </p:spPr>
        <p:txBody>
          <a:bodyPr wrap="square" lIns="0" tIns="0" rIns="0" bIns="0" anchor="t">
            <a:spAutoFit/>
          </a:bodyPr>
          <a:lstStyle/>
          <a:p>
            <a:pPr algn="l">
              <a:lnSpc>
                <a:spcPct val="122000"/>
              </a:lnSpc>
            </a:pPr>
            <a:r>
              <a:rPr sz="890" b="1" i="0">
                <a:solidFill>
                  <a:srgbClr val="64748B"/>
                </a:solidFill>
                <a:latin typeface="Segoe UI"/>
              </a:rPr>
              <a:t>Cost: Automated trigger   ·   Stops pre-arrival 1★</a:t>
            </a:r>
          </a:p>
        </p:txBody>
      </p:sp>
      <p:sp>
        <p:nvSpPr>
          <p:cNvPr id="18" name="Card"/>
          <p:cNvSpPr/>
          <p:nvPr/>
        </p:nvSpPr>
        <p:spPr>
          <a:xfrm>
            <a:off x="566928" y="3639312"/>
            <a:ext cx="5394960" cy="1810512"/>
          </a:xfrm>
          <a:prstGeom prst="roundRect">
            <a:avLst>
              <a:gd name="adj" fmla="val 3800"/>
            </a:avLst>
          </a:prstGeom>
          <a:solidFill>
            <a:srgbClr val="FFFFFF"/>
          </a:solidFill>
          <a:ln w="15240">
            <a:solidFill>
              <a:srgbClr val="A7F3D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Card_accent"/>
          <p:cNvSpPr/>
          <p:nvPr/>
        </p:nvSpPr>
        <p:spPr>
          <a:xfrm>
            <a:off x="566928" y="3803904"/>
            <a:ext cx="59436" cy="1481328"/>
          </a:xfrm>
          <a:prstGeom prst="roundRect">
            <a:avLst>
              <a:gd name="adj" fmla="val 25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act_call_green.png"/>
          <p:cNvPicPr>
            <a:picLocks noChangeAspect="1"/>
          </p:cNvPicPr>
          <p:nvPr/>
        </p:nvPicPr>
        <p:blipFill>
          <a:blip r:embed="rId6"/>
          <a:stretch>
            <a:fillRect/>
          </a:stretch>
        </p:blipFill>
        <p:spPr>
          <a:xfrm>
            <a:off x="768096" y="3822191"/>
            <a:ext cx="420624" cy="420624"/>
          </a:xfrm>
          <a:prstGeom prst="rect">
            <a:avLst/>
          </a:prstGeom>
        </p:spPr>
      </p:pic>
      <p:sp>
        <p:nvSpPr>
          <p:cNvPr id="21" name="Pill"/>
          <p:cNvSpPr/>
          <p:nvPr/>
        </p:nvSpPr>
        <p:spPr>
          <a:xfrm>
            <a:off x="1280160" y="3840480"/>
            <a:ext cx="3127248" cy="228600"/>
          </a:xfrm>
          <a:prstGeom prst="roundRect">
            <a:avLst>
              <a:gd name="adj" fmla="val 5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30" b="1" spc="110">
                <a:solidFill>
                  <a:srgbClr val="059669"/>
                </a:solidFill>
                <a:latin typeface="Segoe UI"/>
              </a:rPr>
              <a:t>3 · AT DELIVERY  (CUSTOMER EXPERIENCE)</a:t>
            </a:r>
          </a:p>
        </p:txBody>
      </p:sp>
      <p:sp>
        <p:nvSpPr>
          <p:cNvPr id="22" name="Text"/>
          <p:cNvSpPr txBox="1"/>
          <p:nvPr/>
        </p:nvSpPr>
        <p:spPr>
          <a:xfrm>
            <a:off x="786384" y="4297680"/>
            <a:ext cx="4992624" cy="859536"/>
          </a:xfrm>
          <a:prstGeom prst="rect">
            <a:avLst/>
          </a:prstGeom>
          <a:noFill/>
        </p:spPr>
        <p:txBody>
          <a:bodyPr wrap="square" lIns="0" tIns="0" rIns="0" bIns="0" anchor="t">
            <a:spAutoFit/>
          </a:bodyPr>
          <a:lstStyle/>
          <a:p>
            <a:pPr algn="l">
              <a:lnSpc>
                <a:spcPct val="120000"/>
              </a:lnSpc>
              <a:spcAft>
                <a:spcPts val="300"/>
              </a:spcAft>
            </a:pPr>
            <a:r>
              <a:rPr sz="1350" b="1" i="0">
                <a:solidFill>
                  <a:srgbClr val="0F172A"/>
                </a:solidFill>
                <a:latin typeface="Segoe UI"/>
              </a:rPr>
              <a:t>Call the daily top-10 risk list</a:t>
            </a:r>
          </a:p>
          <a:p>
            <a:pPr algn="l">
              <a:lnSpc>
                <a:spcPct val="120000"/>
              </a:lnSpc>
            </a:pPr>
            <a:r>
              <a:rPr sz="990" b="0" i="0">
                <a:solidFill>
                  <a:srgbClr val="334155"/>
                </a:solidFill>
                <a:latin typeface="Segoe UI"/>
              </a:rPr>
              <a:t>Hand support the top ~10 orders each morning (</a:t>
            </a:r>
            <a:r>
              <a:rPr sz="990" b="1" i="0">
                <a:solidFill>
                  <a:srgbClr val="059669"/>
                </a:solidFill>
                <a:latin typeface="Segoe UI"/>
              </a:rPr>
              <a:t>57% precision = 5.2× random</a:t>
            </a:r>
            <a:r>
              <a:rPr sz="990" b="0" i="0">
                <a:solidFill>
                  <a:srgbClr val="334155"/>
                </a:solidFill>
                <a:latin typeface="Segoe UI"/>
              </a:rPr>
              <a:t>; </a:t>
            </a:r>
            <a:r>
              <a:rPr sz="990" b="1" i="0">
                <a:solidFill>
                  <a:srgbClr val="0F172A"/>
                </a:solidFill>
                <a:latin typeface="Segoe UI"/>
              </a:rPr>
              <a:t>45% on delivered parcels alone</a:t>
            </a:r>
            <a:r>
              <a:rPr sz="990" b="0" i="0">
                <a:solidFill>
                  <a:srgbClr val="334155"/>
                </a:solidFill>
                <a:latin typeface="Segoe UI"/>
              </a:rPr>
              <a:t>) while buyers still wait ~2.1 days before reviewing.</a:t>
            </a:r>
          </a:p>
        </p:txBody>
      </p:sp>
      <p:sp>
        <p:nvSpPr>
          <p:cNvPr id="23" name="Text"/>
          <p:cNvSpPr txBox="1"/>
          <p:nvPr/>
        </p:nvSpPr>
        <p:spPr>
          <a:xfrm>
            <a:off x="786384" y="5157216"/>
            <a:ext cx="4956048" cy="219456"/>
          </a:xfrm>
          <a:prstGeom prst="rect">
            <a:avLst/>
          </a:prstGeom>
          <a:noFill/>
        </p:spPr>
        <p:txBody>
          <a:bodyPr wrap="square" lIns="0" tIns="0" rIns="0" bIns="0" anchor="t">
            <a:spAutoFit/>
          </a:bodyPr>
          <a:lstStyle/>
          <a:p>
            <a:pPr algn="l">
              <a:lnSpc>
                <a:spcPct val="122000"/>
              </a:lnSpc>
            </a:pPr>
            <a:r>
              <a:rPr sz="890" b="1" i="0">
                <a:solidFill>
                  <a:srgbClr val="64748B"/>
                </a:solidFill>
                <a:latin typeface="Segoe UI"/>
              </a:rPr>
              <a:t>Cost: ~R$5/call   ·   Targets multi-item &amp; delayed orders</a:t>
            </a:r>
          </a:p>
        </p:txBody>
      </p:sp>
      <p:sp>
        <p:nvSpPr>
          <p:cNvPr id="24" name="Card"/>
          <p:cNvSpPr/>
          <p:nvPr/>
        </p:nvSpPr>
        <p:spPr>
          <a:xfrm>
            <a:off x="6217920" y="3639312"/>
            <a:ext cx="5394960" cy="1810512"/>
          </a:xfrm>
          <a:prstGeom prst="roundRect">
            <a:avLst>
              <a:gd name="adj" fmla="val 3800"/>
            </a:avLst>
          </a:prstGeom>
          <a:solidFill>
            <a:srgbClr val="FFF9FA"/>
          </a:solidFill>
          <a:ln w="15240">
            <a:solidFill>
              <a:srgbClr val="FECDD3"/>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Card_accent"/>
          <p:cNvSpPr/>
          <p:nvPr/>
        </p:nvSpPr>
        <p:spPr>
          <a:xfrm>
            <a:off x="6217920" y="3803904"/>
            <a:ext cx="59436" cy="1481328"/>
          </a:xfrm>
          <a:prstGeom prst="roundRect">
            <a:avLst>
              <a:gd name="adj" fmla="val 25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act_stop_rose.png"/>
          <p:cNvPicPr>
            <a:picLocks noChangeAspect="1"/>
          </p:cNvPicPr>
          <p:nvPr/>
        </p:nvPicPr>
        <p:blipFill>
          <a:blip r:embed="rId7"/>
          <a:stretch>
            <a:fillRect/>
          </a:stretch>
        </p:blipFill>
        <p:spPr>
          <a:xfrm>
            <a:off x="6419088" y="3822191"/>
            <a:ext cx="420624" cy="420624"/>
          </a:xfrm>
          <a:prstGeom prst="rect">
            <a:avLst/>
          </a:prstGeom>
        </p:spPr>
      </p:pic>
      <p:sp>
        <p:nvSpPr>
          <p:cNvPr id="27" name="Pill"/>
          <p:cNvSpPr/>
          <p:nvPr/>
        </p:nvSpPr>
        <p:spPr>
          <a:xfrm>
            <a:off x="6931152" y="3840480"/>
            <a:ext cx="3127248" cy="228600"/>
          </a:xfrm>
          <a:prstGeom prst="roundRect">
            <a:avLst>
              <a:gd name="adj" fmla="val 50000"/>
            </a:avLst>
          </a:prstGeom>
          <a:solidFill>
            <a:srgbClr val="FFF8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30" b="1" spc="110">
                <a:solidFill>
                  <a:srgbClr val="E11D48"/>
                </a:solidFill>
                <a:latin typeface="Segoe UI"/>
              </a:rPr>
              <a:t>4 · AT CHECKOUT  (DISCIPLINED GUARDRAIL)</a:t>
            </a:r>
          </a:p>
        </p:txBody>
      </p:sp>
      <p:sp>
        <p:nvSpPr>
          <p:cNvPr id="28" name="Text"/>
          <p:cNvSpPr txBox="1"/>
          <p:nvPr/>
        </p:nvSpPr>
        <p:spPr>
          <a:xfrm>
            <a:off x="6437376" y="4297680"/>
            <a:ext cx="4992624" cy="859536"/>
          </a:xfrm>
          <a:prstGeom prst="rect">
            <a:avLst/>
          </a:prstGeom>
          <a:noFill/>
        </p:spPr>
        <p:txBody>
          <a:bodyPr wrap="square" lIns="0" tIns="0" rIns="0" bIns="0" anchor="t">
            <a:spAutoFit/>
          </a:bodyPr>
          <a:lstStyle/>
          <a:p>
            <a:pPr algn="l">
              <a:lnSpc>
                <a:spcPct val="120000"/>
              </a:lnSpc>
              <a:spcAft>
                <a:spcPts val="300"/>
              </a:spcAft>
            </a:pPr>
            <a:r>
              <a:rPr sz="1350" b="1" i="0">
                <a:solidFill>
                  <a:srgbClr val="0F172A"/>
                </a:solidFill>
                <a:latin typeface="Segoe UI"/>
              </a:rPr>
              <a:t>Do NOT pay R$12 to rush on checkout flag</a:t>
            </a:r>
          </a:p>
          <a:p>
            <a:pPr algn="l">
              <a:lnSpc>
                <a:spcPct val="120000"/>
              </a:lnSpc>
            </a:pPr>
            <a:r>
              <a:rPr sz="990" b="0" i="0">
                <a:solidFill>
                  <a:srgbClr val="334155"/>
                </a:solidFill>
                <a:latin typeface="Segoe UI"/>
              </a:rPr>
              <a:t>Checkout-only precision plateaus at </a:t>
            </a:r>
            <a:r>
              <a:rPr sz="990" b="1" i="0">
                <a:solidFill>
                  <a:srgbClr val="E11D48"/>
                </a:solidFill>
                <a:latin typeface="Segoe UI"/>
              </a:rPr>
              <a:t>27–28% across top-K tiers</a:t>
            </a:r>
            <a:r>
              <a:rPr sz="990" b="0" i="0">
                <a:solidFill>
                  <a:srgbClr val="334155"/>
                </a:solidFill>
                <a:latin typeface="Segoe UI"/>
              </a:rPr>
              <a:t> — below the </a:t>
            </a:r>
            <a:r>
              <a:rPr sz="990" b="1" i="0">
                <a:solidFill>
                  <a:srgbClr val="0F172A"/>
                </a:solidFill>
                <a:latin typeface="Segoe UI"/>
              </a:rPr>
              <a:t>30% break-even (R$12 / R$40)</a:t>
            </a:r>
            <a:r>
              <a:rPr sz="990" b="0" i="0">
                <a:solidFill>
                  <a:srgbClr val="334155"/>
                </a:solidFill>
                <a:latin typeface="Segoe UI"/>
              </a:rPr>
              <a:t>. Save express upgrades until a live mid-transit carrier scan stalls.</a:t>
            </a:r>
          </a:p>
        </p:txBody>
      </p:sp>
      <p:sp>
        <p:nvSpPr>
          <p:cNvPr id="29" name="Text"/>
          <p:cNvSpPr txBox="1"/>
          <p:nvPr/>
        </p:nvSpPr>
        <p:spPr>
          <a:xfrm>
            <a:off x="6437376" y="5157216"/>
            <a:ext cx="4956048" cy="219456"/>
          </a:xfrm>
          <a:prstGeom prst="rect">
            <a:avLst/>
          </a:prstGeom>
          <a:noFill/>
        </p:spPr>
        <p:txBody>
          <a:bodyPr wrap="square" lIns="0" tIns="0" rIns="0" bIns="0" anchor="t">
            <a:spAutoFit/>
          </a:bodyPr>
          <a:lstStyle/>
          <a:p>
            <a:pPr algn="l">
              <a:lnSpc>
                <a:spcPct val="122000"/>
              </a:lnSpc>
            </a:pPr>
            <a:r>
              <a:rPr sz="890" b="1" i="0">
                <a:solidFill>
                  <a:srgbClr val="64748B"/>
                </a:solidFill>
                <a:latin typeface="Segoe UI"/>
              </a:rPr>
              <a:t>Saves budget   ·   Prevents negative-ROI upgrades</a:t>
            </a:r>
          </a:p>
        </p:txBody>
      </p:sp>
      <p:sp>
        <p:nvSpPr>
          <p:cNvPr id="30" name="Card"/>
          <p:cNvSpPr/>
          <p:nvPr/>
        </p:nvSpPr>
        <p:spPr>
          <a:xfrm>
            <a:off x="566928" y="5614416"/>
            <a:ext cx="11045952" cy="512064"/>
          </a:xfrm>
          <a:prstGeom prst="roundRect">
            <a:avLst>
              <a:gd name="adj" fmla="val 38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
          <p:cNvSpPr txBox="1"/>
          <p:nvPr/>
        </p:nvSpPr>
        <p:spPr>
          <a:xfrm>
            <a:off x="804672" y="5724144"/>
            <a:ext cx="10561320" cy="310896"/>
          </a:xfrm>
          <a:prstGeom prst="rect">
            <a:avLst/>
          </a:prstGeom>
          <a:noFill/>
        </p:spPr>
        <p:txBody>
          <a:bodyPr wrap="square" lIns="0" tIns="0" rIns="0" bIns="0" anchor="t">
            <a:spAutoFit/>
          </a:bodyPr>
          <a:lstStyle/>
          <a:p>
            <a:pPr algn="l">
              <a:lnSpc>
                <a:spcPct val="122000"/>
              </a:lnSpc>
            </a:pPr>
            <a:r>
              <a:rPr sz="950" b="1" i="0" spc="120">
                <a:solidFill>
                  <a:srgbClr val="4F46E5"/>
                </a:solidFill>
                <a:latin typeface="Segoe UI"/>
              </a:rPr>
              <a:t>KEEPING IT FRESH IN PRODUCTION:  </a:t>
            </a:r>
            <a:r>
              <a:rPr sz="1019" b="1" i="0">
                <a:solidFill>
                  <a:srgbClr val="0F172A"/>
                </a:solidFill>
                <a:latin typeface="Segoe UI"/>
              </a:rPr>
              <a:t>Refit monthly on a rolling 12-month window</a:t>
            </a:r>
            <a:r>
              <a:rPr sz="1019" b="0" i="0">
                <a:solidFill>
                  <a:srgbClr val="334155"/>
                </a:solidFill>
                <a:latin typeface="Segoe UI"/>
              </a:rPr>
              <a:t> (because transit speed halved in 6 months) and </a:t>
            </a:r>
            <a:r>
              <a:rPr sz="1019" b="1" i="0">
                <a:solidFill>
                  <a:srgbClr val="0F172A"/>
                </a:solidFill>
                <a:latin typeface="Segoe UI"/>
              </a:rPr>
              <a:t>monitor weekly late-rate spikes</a:t>
            </a:r>
            <a:r>
              <a:rPr sz="1019" b="0" i="0">
                <a:solidFill>
                  <a:srgbClr val="334155"/>
                </a:solidFill>
                <a:latin typeface="Segoe UI"/>
              </a:rPr>
              <a:t> during carrier strikes or Black Friday.</a:t>
            </a:r>
          </a:p>
        </p:txBody>
      </p:sp>
      <p:sp>
        <p:nvSpPr>
          <p:cNvPr id="32" name="!!NavDock"/>
          <p:cNvSpPr/>
          <p:nvPr/>
        </p:nvSpPr>
        <p:spPr>
          <a:xfrm>
            <a:off x="566928" y="6327648"/>
            <a:ext cx="11055096" cy="384048"/>
          </a:xfrm>
          <a:prstGeom prst="roundRect">
            <a:avLst>
              <a:gd name="adj" fmla="val 50000"/>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Nav_1">
            <a:hlinkClick r:id="rId8" action="ppaction://hlinksldjump"/>
          </p:cNvPr>
          <p:cNvSpPr/>
          <p:nvPr/>
        </p:nvSpPr>
        <p:spPr>
          <a:xfrm>
            <a:off x="658368"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01  The Problem</a:t>
            </a:r>
          </a:p>
        </p:txBody>
      </p:sp>
      <p:sp>
        <p:nvSpPr>
          <p:cNvPr id="34" name="Nav_2">
            <a:hlinkClick r:id="rId9" action="ppaction://hlinksldjump"/>
          </p:cNvPr>
          <p:cNvSpPr/>
          <p:nvPr/>
        </p:nvSpPr>
        <p:spPr>
          <a:xfrm>
            <a:off x="1993391"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02  Why &amp; Tools</a:t>
            </a:r>
          </a:p>
        </p:txBody>
      </p:sp>
      <p:sp>
        <p:nvSpPr>
          <p:cNvPr id="35" name="Nav_3">
            <a:hlinkClick r:id="rId10" action="ppaction://hlinksldjump"/>
          </p:cNvPr>
          <p:cNvSpPr/>
          <p:nvPr/>
        </p:nvSpPr>
        <p:spPr>
          <a:xfrm>
            <a:off x="3328415"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03  Proof &amp; App</a:t>
            </a:r>
          </a:p>
        </p:txBody>
      </p:sp>
      <p:sp>
        <p:nvSpPr>
          <p:cNvPr id="36" name="Nav_4">
            <a:hlinkClick r:id="rId11" action="ppaction://hlinksldjump"/>
          </p:cNvPr>
          <p:cNvSpPr/>
          <p:nvPr/>
        </p:nvSpPr>
        <p:spPr>
          <a:xfrm>
            <a:off x="4663440" y="6373368"/>
            <a:ext cx="1261872" cy="292608"/>
          </a:xfrm>
          <a:prstGeom prst="roundRect">
            <a:avLst>
              <a:gd name="adj" fmla="val 50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FFFFFF"/>
                </a:solidFill>
                <a:latin typeface="Segoe UI"/>
              </a:rPr>
              <a:t>04  Monday Plan</a:t>
            </a:r>
          </a:p>
        </p:txBody>
      </p:sp>
      <p:sp>
        <p:nvSpPr>
          <p:cNvPr id="37" name="Nav_5">
            <a:hlinkClick r:id="rId12" action="ppaction://hlinksldjump"/>
          </p:cNvPr>
          <p:cNvSpPr/>
          <p:nvPr/>
        </p:nvSpPr>
        <p:spPr>
          <a:xfrm>
            <a:off x="5998464" y="6373368"/>
            <a:ext cx="1130198"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05  Takeaways</a:t>
            </a:r>
          </a:p>
        </p:txBody>
      </p:sp>
      <p:sp>
        <p:nvSpPr>
          <p:cNvPr id="38" name="DockJourneyLine"/>
          <p:cNvSpPr/>
          <p:nvPr/>
        </p:nvSpPr>
        <p:spPr>
          <a:xfrm>
            <a:off x="8915400" y="6510528"/>
            <a:ext cx="1115568"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g1" descr="g_checkout_blue.png"/>
          <p:cNvPicPr>
            <a:picLocks noChangeAspect="1"/>
          </p:cNvPicPr>
          <p:nvPr/>
        </p:nvPicPr>
        <p:blipFill>
          <a:blip r:embed="rId13"/>
          <a:stretch>
            <a:fillRect/>
          </a:stretch>
        </p:blipFill>
        <p:spPr>
          <a:xfrm>
            <a:off x="8778240" y="6377940"/>
            <a:ext cx="283464" cy="283464"/>
          </a:xfrm>
          <a:prstGeom prst="rect">
            <a:avLst/>
          </a:prstGeom>
        </p:spPr>
      </p:pic>
      <p:pic>
        <p:nvPicPr>
          <p:cNvPr id="40" name="!!g2" descr="g_promise_amber.png"/>
          <p:cNvPicPr>
            <a:picLocks noChangeAspect="1"/>
          </p:cNvPicPr>
          <p:nvPr/>
        </p:nvPicPr>
        <p:blipFill>
          <a:blip r:embed="rId14"/>
          <a:stretch>
            <a:fillRect/>
          </a:stretch>
        </p:blipFill>
        <p:spPr>
          <a:xfrm>
            <a:off x="9144000" y="6377940"/>
            <a:ext cx="283464" cy="283464"/>
          </a:xfrm>
          <a:prstGeom prst="rect">
            <a:avLst/>
          </a:prstGeom>
        </p:spPr>
      </p:pic>
      <p:pic>
        <p:nvPicPr>
          <p:cNvPr id="41" name="!!g3" descr="g_delivery_green.png"/>
          <p:cNvPicPr>
            <a:picLocks noChangeAspect="1"/>
          </p:cNvPicPr>
          <p:nvPr/>
        </p:nvPicPr>
        <p:blipFill>
          <a:blip r:embed="rId15"/>
          <a:stretch>
            <a:fillRect/>
          </a:stretch>
        </p:blipFill>
        <p:spPr>
          <a:xfrm>
            <a:off x="9509760" y="6377940"/>
            <a:ext cx="283464" cy="283464"/>
          </a:xfrm>
          <a:prstGeom prst="rect">
            <a:avLst/>
          </a:prstGeom>
        </p:spPr>
      </p:pic>
      <p:pic>
        <p:nvPicPr>
          <p:cNvPr id="42" name="!!g4" descr="g_review_muted.png"/>
          <p:cNvPicPr>
            <a:picLocks noChangeAspect="1"/>
          </p:cNvPicPr>
          <p:nvPr/>
        </p:nvPicPr>
        <p:blipFill>
          <a:blip r:embed="rId16"/>
          <a:stretch>
            <a:fillRect/>
          </a:stretch>
        </p:blipFill>
        <p:spPr>
          <a:xfrm>
            <a:off x="9875520" y="6409944"/>
            <a:ext cx="219456" cy="219456"/>
          </a:xfrm>
          <a:prstGeom prst="rect">
            <a:avLst/>
          </a:prstGeom>
        </p:spPr>
      </p:pic>
      <p:sp>
        <p:nvSpPr>
          <p:cNvPr id="43" name="Nav_QA">
            <a:hlinkClick r:id="rId17" action="ppaction://hlinksldjump"/>
          </p:cNvPr>
          <p:cNvSpPr/>
          <p:nvPr/>
        </p:nvSpPr>
        <p:spPr>
          <a:xfrm>
            <a:off x="10387584" y="6373368"/>
            <a:ext cx="1152144" cy="292608"/>
          </a:xfrm>
          <a:prstGeom prst="roundRect">
            <a:avLst>
              <a:gd name="adj" fmla="val 50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0F172A"/>
                </a:solidFill>
                <a:latin typeface="Segoe UI"/>
              </a:rPr>
              <a:t>Q&amp;A · 10/13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anim calcmode="lin" valueType="num">
                                      <p:cBhvr>
                                        <p:cTn id="8" dur="400" fill="hold"/>
                                        <p:tgtEl>
                                          <p:spTgt spid="3"/>
                                        </p:tgtEl>
                                        <p:attrNameLst>
                                          <p:attrName>ppt_x</p:attrName>
                                        </p:attrNameLst>
                                      </p:cBhvr>
                                      <p:tavLst>
                                        <p:tav tm="0">
                                          <p:val>
                                            <p:strVal val="#ppt_x"/>
                                          </p:val>
                                        </p:tav>
                                        <p:tav tm="100000">
                                          <p:val>
                                            <p:strVal val="#ppt_x"/>
                                          </p:val>
                                        </p:tav>
                                      </p:tavLst>
                                    </p:anim>
                                    <p:anim calcmode="lin" valueType="num">
                                      <p:cBhvr>
                                        <p:cTn id="9" dur="40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anim calcmode="lin" valueType="num">
                                      <p:cBhvr>
                                        <p:cTn id="13" dur="400" fill="hold"/>
                                        <p:tgtEl>
                                          <p:spTgt spid="4"/>
                                        </p:tgtEl>
                                        <p:attrNameLst>
                                          <p:attrName>ppt_x</p:attrName>
                                        </p:attrNameLst>
                                      </p:cBhvr>
                                      <p:tavLst>
                                        <p:tav tm="0">
                                          <p:val>
                                            <p:strVal val="#ppt_x"/>
                                          </p:val>
                                        </p:tav>
                                        <p:tav tm="100000">
                                          <p:val>
                                            <p:strVal val="#ppt_x"/>
                                          </p:val>
                                        </p:tav>
                                      </p:tavLst>
                                    </p:anim>
                                    <p:anim calcmode="lin" valueType="num">
                                      <p:cBhvr>
                                        <p:cTn id="14" dur="40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anim calcmode="lin" valueType="num">
                                      <p:cBhvr>
                                        <p:cTn id="18" dur="400" fill="hold"/>
                                        <p:tgtEl>
                                          <p:spTgt spid="5"/>
                                        </p:tgtEl>
                                        <p:attrNameLst>
                                          <p:attrName>ppt_x</p:attrName>
                                        </p:attrNameLst>
                                      </p:cBhvr>
                                      <p:tavLst>
                                        <p:tav tm="0">
                                          <p:val>
                                            <p:strVal val="#ppt_x"/>
                                          </p:val>
                                        </p:tav>
                                        <p:tav tm="100000">
                                          <p:val>
                                            <p:strVal val="#ppt_x"/>
                                          </p:val>
                                        </p:tav>
                                      </p:tavLst>
                                    </p:anim>
                                    <p:anim calcmode="lin" valueType="num">
                                      <p:cBhvr>
                                        <p:cTn id="19" dur="40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17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50"/>
                                        <p:tgtEl>
                                          <p:spTgt spid="6"/>
                                        </p:tgtEl>
                                      </p:cBhvr>
                                    </p:animEffect>
                                    <p:anim calcmode="lin" valueType="num">
                                      <p:cBhvr>
                                        <p:cTn id="23" dur="45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7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50"/>
                                        <p:tgtEl>
                                          <p:spTgt spid="7"/>
                                        </p:tgtEl>
                                      </p:cBhvr>
                                    </p:animEffect>
                                    <p:anim calcmode="lin" valueType="num">
                                      <p:cBhvr>
                                        <p:cTn id="28" dur="450" fill="hold"/>
                                        <p:tgtEl>
                                          <p:spTgt spid="7"/>
                                        </p:tgtEl>
                                        <p:attrNameLst>
                                          <p:attrName>ppt_x</p:attrName>
                                        </p:attrNameLst>
                                      </p:cBhvr>
                                      <p:tavLst>
                                        <p:tav tm="0">
                                          <p:val>
                                            <p:strVal val="#ppt_x"/>
                                          </p:val>
                                        </p:tav>
                                        <p:tav tm="100000">
                                          <p:val>
                                            <p:strVal val="#ppt_x"/>
                                          </p:val>
                                        </p:tav>
                                      </p:tavLst>
                                    </p:anim>
                                    <p:anim calcmode="lin" valueType="num">
                                      <p:cBhvr>
                                        <p:cTn id="29" dur="450" decel="100000" fill="hold"/>
                                        <p:tgtEl>
                                          <p:spTgt spid="7"/>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7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50"/>
                                        <p:tgtEl>
                                          <p:spTgt spid="8"/>
                                        </p:tgtEl>
                                      </p:cBhvr>
                                    </p:animEffect>
                                    <p:anim calcmode="lin" valueType="num">
                                      <p:cBhvr>
                                        <p:cTn id="33" dur="450" fill="hold"/>
                                        <p:tgtEl>
                                          <p:spTgt spid="8"/>
                                        </p:tgtEl>
                                        <p:attrNameLst>
                                          <p:attrName>ppt_x</p:attrName>
                                        </p:attrNameLst>
                                      </p:cBhvr>
                                      <p:tavLst>
                                        <p:tav tm="0">
                                          <p:val>
                                            <p:strVal val="#ppt_x"/>
                                          </p:val>
                                        </p:tav>
                                        <p:tav tm="100000">
                                          <p:val>
                                            <p:strVal val="#ppt_x"/>
                                          </p:val>
                                        </p:tav>
                                      </p:tavLst>
                                    </p:anim>
                                    <p:anim calcmode="lin" valueType="num">
                                      <p:cBhvr>
                                        <p:cTn id="34" dur="450" decel="100000" fill="hold"/>
                                        <p:tgtEl>
                                          <p:spTgt spid="8"/>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17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50"/>
                                        <p:tgtEl>
                                          <p:spTgt spid="9"/>
                                        </p:tgtEl>
                                      </p:cBhvr>
                                    </p:animEffect>
                                    <p:anim calcmode="lin" valueType="num">
                                      <p:cBhvr>
                                        <p:cTn id="38" dur="450" fill="hold"/>
                                        <p:tgtEl>
                                          <p:spTgt spid="9"/>
                                        </p:tgtEl>
                                        <p:attrNameLst>
                                          <p:attrName>ppt_x</p:attrName>
                                        </p:attrNameLst>
                                      </p:cBhvr>
                                      <p:tavLst>
                                        <p:tav tm="0">
                                          <p:val>
                                            <p:strVal val="#ppt_x"/>
                                          </p:val>
                                        </p:tav>
                                        <p:tav tm="100000">
                                          <p:val>
                                            <p:strVal val="#ppt_x"/>
                                          </p:val>
                                        </p:tav>
                                      </p:tavLst>
                                    </p:anim>
                                    <p:anim calcmode="lin" valueType="num">
                                      <p:cBhvr>
                                        <p:cTn id="39" dur="450" decel="100000" fill="hold"/>
                                        <p:tgtEl>
                                          <p:spTgt spid="9"/>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17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450"/>
                                        <p:tgtEl>
                                          <p:spTgt spid="10"/>
                                        </p:tgtEl>
                                      </p:cBhvr>
                                    </p:animEffect>
                                    <p:anim calcmode="lin" valueType="num">
                                      <p:cBhvr>
                                        <p:cTn id="43" dur="450" fill="hold"/>
                                        <p:tgtEl>
                                          <p:spTgt spid="10"/>
                                        </p:tgtEl>
                                        <p:attrNameLst>
                                          <p:attrName>ppt_x</p:attrName>
                                        </p:attrNameLst>
                                      </p:cBhvr>
                                      <p:tavLst>
                                        <p:tav tm="0">
                                          <p:val>
                                            <p:strVal val="#ppt_x"/>
                                          </p:val>
                                        </p:tav>
                                        <p:tav tm="100000">
                                          <p:val>
                                            <p:strVal val="#ppt_x"/>
                                          </p:val>
                                        </p:tav>
                                      </p:tavLst>
                                    </p:anim>
                                    <p:anim calcmode="lin" valueType="num">
                                      <p:cBhvr>
                                        <p:cTn id="44" dur="450" decel="100000" fill="hold"/>
                                        <p:tgtEl>
                                          <p:spTgt spid="10"/>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17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450"/>
                                        <p:tgtEl>
                                          <p:spTgt spid="11"/>
                                        </p:tgtEl>
                                      </p:cBhvr>
                                    </p:animEffect>
                                    <p:anim calcmode="lin" valueType="num">
                                      <p:cBhvr>
                                        <p:cTn id="48" dur="450" fill="hold"/>
                                        <p:tgtEl>
                                          <p:spTgt spid="11"/>
                                        </p:tgtEl>
                                        <p:attrNameLst>
                                          <p:attrName>ppt_x</p:attrName>
                                        </p:attrNameLst>
                                      </p:cBhvr>
                                      <p:tavLst>
                                        <p:tav tm="0">
                                          <p:val>
                                            <p:strVal val="#ppt_x"/>
                                          </p:val>
                                        </p:tav>
                                        <p:tav tm="100000">
                                          <p:val>
                                            <p:strVal val="#ppt_x"/>
                                          </p:val>
                                        </p:tav>
                                      </p:tavLst>
                                    </p:anim>
                                    <p:anim calcmode="lin" valueType="num">
                                      <p:cBhvr>
                                        <p:cTn id="49" dur="450" decel="100000" fill="hold"/>
                                        <p:tgtEl>
                                          <p:spTgt spid="11"/>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17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50"/>
                                        <p:tgtEl>
                                          <p:spTgt spid="12"/>
                                        </p:tgtEl>
                                      </p:cBhvr>
                                    </p:animEffect>
                                    <p:anim calcmode="lin" valueType="num">
                                      <p:cBhvr>
                                        <p:cTn id="53" dur="450" fill="hold"/>
                                        <p:tgtEl>
                                          <p:spTgt spid="12"/>
                                        </p:tgtEl>
                                        <p:attrNameLst>
                                          <p:attrName>ppt_x</p:attrName>
                                        </p:attrNameLst>
                                      </p:cBhvr>
                                      <p:tavLst>
                                        <p:tav tm="0">
                                          <p:val>
                                            <p:strVal val="#ppt_x"/>
                                          </p:val>
                                        </p:tav>
                                        <p:tav tm="100000">
                                          <p:val>
                                            <p:strVal val="#ppt_x"/>
                                          </p:val>
                                        </p:tav>
                                      </p:tavLst>
                                    </p:anim>
                                    <p:anim calcmode="lin" valueType="num">
                                      <p:cBhvr>
                                        <p:cTn id="54" dur="450" decel="100000" fill="hold"/>
                                        <p:tgtEl>
                                          <p:spTgt spid="12"/>
                                        </p:tgtEl>
                                        <p:attrNameLst>
                                          <p:attrName>ppt_y</p:attrName>
                                        </p:attrNameLst>
                                      </p:cBhvr>
                                      <p:tavLst>
                                        <p:tav tm="0">
                                          <p:val>
                                            <p:strVal val="#ppt_y+0.018"/>
                                          </p:val>
                                        </p:tav>
                                        <p:tav tm="100000">
                                          <p:val>
                                            <p:strVal val="#ppt_y"/>
                                          </p:val>
                                        </p:tav>
                                      </p:tavLst>
                                    </p:anim>
                                  </p:childTnLst>
                                </p:cTn>
                              </p:par>
                              <p:par>
                                <p:cTn id="55" presetID="42" presetClass="entr" presetSubtype="4" fill="hold" grpId="0" nodeType="withEffect">
                                  <p:stCondLst>
                                    <p:cond delay="17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450"/>
                                        <p:tgtEl>
                                          <p:spTgt spid="13"/>
                                        </p:tgtEl>
                                      </p:cBhvr>
                                    </p:animEffect>
                                    <p:anim calcmode="lin" valueType="num">
                                      <p:cBhvr>
                                        <p:cTn id="58" dur="450" fill="hold"/>
                                        <p:tgtEl>
                                          <p:spTgt spid="13"/>
                                        </p:tgtEl>
                                        <p:attrNameLst>
                                          <p:attrName>ppt_x</p:attrName>
                                        </p:attrNameLst>
                                      </p:cBhvr>
                                      <p:tavLst>
                                        <p:tav tm="0">
                                          <p:val>
                                            <p:strVal val="#ppt_x"/>
                                          </p:val>
                                        </p:tav>
                                        <p:tav tm="100000">
                                          <p:val>
                                            <p:strVal val="#ppt_x"/>
                                          </p:val>
                                        </p:tav>
                                      </p:tavLst>
                                    </p:anim>
                                    <p:anim calcmode="lin" valueType="num">
                                      <p:cBhvr>
                                        <p:cTn id="59" dur="450" decel="100000" fill="hold"/>
                                        <p:tgtEl>
                                          <p:spTgt spid="13"/>
                                        </p:tgtEl>
                                        <p:attrNameLst>
                                          <p:attrName>ppt_y</p:attrName>
                                        </p:attrNameLst>
                                      </p:cBhvr>
                                      <p:tavLst>
                                        <p:tav tm="0">
                                          <p:val>
                                            <p:strVal val="#ppt_y+0.018"/>
                                          </p:val>
                                        </p:tav>
                                        <p:tav tm="100000">
                                          <p:val>
                                            <p:strVal val="#ppt_y"/>
                                          </p:val>
                                        </p:tav>
                                      </p:tavLst>
                                    </p:anim>
                                  </p:childTnLst>
                                </p:cTn>
                              </p:par>
                              <p:par>
                                <p:cTn id="60" presetID="42" presetClass="entr" presetSubtype="4" fill="hold" grpId="0" nodeType="withEffect">
                                  <p:stCondLst>
                                    <p:cond delay="17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450"/>
                                        <p:tgtEl>
                                          <p:spTgt spid="14"/>
                                        </p:tgtEl>
                                      </p:cBhvr>
                                    </p:animEffect>
                                    <p:anim calcmode="lin" valueType="num">
                                      <p:cBhvr>
                                        <p:cTn id="63" dur="450" fill="hold"/>
                                        <p:tgtEl>
                                          <p:spTgt spid="14"/>
                                        </p:tgtEl>
                                        <p:attrNameLst>
                                          <p:attrName>ppt_x</p:attrName>
                                        </p:attrNameLst>
                                      </p:cBhvr>
                                      <p:tavLst>
                                        <p:tav tm="0">
                                          <p:val>
                                            <p:strVal val="#ppt_x"/>
                                          </p:val>
                                        </p:tav>
                                        <p:tav tm="100000">
                                          <p:val>
                                            <p:strVal val="#ppt_x"/>
                                          </p:val>
                                        </p:tav>
                                      </p:tavLst>
                                    </p:anim>
                                    <p:anim calcmode="lin" valueType="num">
                                      <p:cBhvr>
                                        <p:cTn id="64" dur="450" decel="100000" fill="hold"/>
                                        <p:tgtEl>
                                          <p:spTgt spid="14"/>
                                        </p:tgtEl>
                                        <p:attrNameLst>
                                          <p:attrName>ppt_y</p:attrName>
                                        </p:attrNameLst>
                                      </p:cBhvr>
                                      <p:tavLst>
                                        <p:tav tm="0">
                                          <p:val>
                                            <p:strVal val="#ppt_y+0.018"/>
                                          </p:val>
                                        </p:tav>
                                        <p:tav tm="100000">
                                          <p:val>
                                            <p:strVal val="#ppt_y"/>
                                          </p:val>
                                        </p:tav>
                                      </p:tavLst>
                                    </p:anim>
                                  </p:childTnLst>
                                </p:cTn>
                              </p:par>
                              <p:par>
                                <p:cTn id="65" presetID="42" presetClass="entr" presetSubtype="4" fill="hold" grpId="0" nodeType="withEffect">
                                  <p:stCondLst>
                                    <p:cond delay="17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450"/>
                                        <p:tgtEl>
                                          <p:spTgt spid="15"/>
                                        </p:tgtEl>
                                      </p:cBhvr>
                                    </p:animEffect>
                                    <p:anim calcmode="lin" valueType="num">
                                      <p:cBhvr>
                                        <p:cTn id="68" dur="450" fill="hold"/>
                                        <p:tgtEl>
                                          <p:spTgt spid="15"/>
                                        </p:tgtEl>
                                        <p:attrNameLst>
                                          <p:attrName>ppt_x</p:attrName>
                                        </p:attrNameLst>
                                      </p:cBhvr>
                                      <p:tavLst>
                                        <p:tav tm="0">
                                          <p:val>
                                            <p:strVal val="#ppt_x"/>
                                          </p:val>
                                        </p:tav>
                                        <p:tav tm="100000">
                                          <p:val>
                                            <p:strVal val="#ppt_x"/>
                                          </p:val>
                                        </p:tav>
                                      </p:tavLst>
                                    </p:anim>
                                    <p:anim calcmode="lin" valueType="num">
                                      <p:cBhvr>
                                        <p:cTn id="69" dur="450" decel="100000" fill="hold"/>
                                        <p:tgtEl>
                                          <p:spTgt spid="15"/>
                                        </p:tgtEl>
                                        <p:attrNameLst>
                                          <p:attrName>ppt_y</p:attrName>
                                        </p:attrNameLst>
                                      </p:cBhvr>
                                      <p:tavLst>
                                        <p:tav tm="0">
                                          <p:val>
                                            <p:strVal val="#ppt_y+0.018"/>
                                          </p:val>
                                        </p:tav>
                                        <p:tav tm="100000">
                                          <p:val>
                                            <p:strVal val="#ppt_y"/>
                                          </p:val>
                                        </p:tav>
                                      </p:tavLst>
                                    </p:anim>
                                  </p:childTnLst>
                                </p:cTn>
                              </p:par>
                              <p:par>
                                <p:cTn id="70" presetID="42" presetClass="entr" presetSubtype="4" fill="hold" grpId="0" nodeType="withEffect">
                                  <p:stCondLst>
                                    <p:cond delay="17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450"/>
                                        <p:tgtEl>
                                          <p:spTgt spid="16"/>
                                        </p:tgtEl>
                                      </p:cBhvr>
                                    </p:animEffect>
                                    <p:anim calcmode="lin" valueType="num">
                                      <p:cBhvr>
                                        <p:cTn id="73" dur="450" fill="hold"/>
                                        <p:tgtEl>
                                          <p:spTgt spid="16"/>
                                        </p:tgtEl>
                                        <p:attrNameLst>
                                          <p:attrName>ppt_x</p:attrName>
                                        </p:attrNameLst>
                                      </p:cBhvr>
                                      <p:tavLst>
                                        <p:tav tm="0">
                                          <p:val>
                                            <p:strVal val="#ppt_x"/>
                                          </p:val>
                                        </p:tav>
                                        <p:tav tm="100000">
                                          <p:val>
                                            <p:strVal val="#ppt_x"/>
                                          </p:val>
                                        </p:tav>
                                      </p:tavLst>
                                    </p:anim>
                                    <p:anim calcmode="lin" valueType="num">
                                      <p:cBhvr>
                                        <p:cTn id="74" dur="450" decel="100000" fill="hold"/>
                                        <p:tgtEl>
                                          <p:spTgt spid="16"/>
                                        </p:tgtEl>
                                        <p:attrNameLst>
                                          <p:attrName>ppt_y</p:attrName>
                                        </p:attrNameLst>
                                      </p:cBhvr>
                                      <p:tavLst>
                                        <p:tav tm="0">
                                          <p:val>
                                            <p:strVal val="#ppt_y+0.018"/>
                                          </p:val>
                                        </p:tav>
                                        <p:tav tm="100000">
                                          <p:val>
                                            <p:strVal val="#ppt_y"/>
                                          </p:val>
                                        </p:tav>
                                      </p:tavLst>
                                    </p:anim>
                                  </p:childTnLst>
                                </p:cTn>
                              </p:par>
                              <p:par>
                                <p:cTn id="75" presetID="42" presetClass="entr" presetSubtype="4" fill="hold" grpId="0" nodeType="withEffect">
                                  <p:stCondLst>
                                    <p:cond delay="17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450"/>
                                        <p:tgtEl>
                                          <p:spTgt spid="17"/>
                                        </p:tgtEl>
                                      </p:cBhvr>
                                    </p:animEffect>
                                    <p:anim calcmode="lin" valueType="num">
                                      <p:cBhvr>
                                        <p:cTn id="78" dur="450" fill="hold"/>
                                        <p:tgtEl>
                                          <p:spTgt spid="17"/>
                                        </p:tgtEl>
                                        <p:attrNameLst>
                                          <p:attrName>ppt_x</p:attrName>
                                        </p:attrNameLst>
                                      </p:cBhvr>
                                      <p:tavLst>
                                        <p:tav tm="0">
                                          <p:val>
                                            <p:strVal val="#ppt_x"/>
                                          </p:val>
                                        </p:tav>
                                        <p:tav tm="100000">
                                          <p:val>
                                            <p:strVal val="#ppt_x"/>
                                          </p:val>
                                        </p:tav>
                                      </p:tavLst>
                                    </p:anim>
                                    <p:anim calcmode="lin" valueType="num">
                                      <p:cBhvr>
                                        <p:cTn id="79" dur="450" decel="100000" fill="hold"/>
                                        <p:tgtEl>
                                          <p:spTgt spid="17"/>
                                        </p:tgtEl>
                                        <p:attrNameLst>
                                          <p:attrName>ppt_y</p:attrName>
                                        </p:attrNameLst>
                                      </p:cBhvr>
                                      <p:tavLst>
                                        <p:tav tm="0">
                                          <p:val>
                                            <p:strVal val="#ppt_y+0.018"/>
                                          </p:val>
                                        </p:tav>
                                        <p:tav tm="100000">
                                          <p:val>
                                            <p:strVal val="#ppt_y"/>
                                          </p:val>
                                        </p:tav>
                                      </p:tavLst>
                                    </p:anim>
                                  </p:childTnLst>
                                </p:cTn>
                              </p:par>
                              <p:par>
                                <p:cTn id="80" presetID="42" presetClass="entr" presetSubtype="4" fill="hold" grpId="0" nodeType="withEffect">
                                  <p:stCondLst>
                                    <p:cond delay="33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450"/>
                                        <p:tgtEl>
                                          <p:spTgt spid="18"/>
                                        </p:tgtEl>
                                      </p:cBhvr>
                                    </p:animEffect>
                                    <p:anim calcmode="lin" valueType="num">
                                      <p:cBhvr>
                                        <p:cTn id="83" dur="450" fill="hold"/>
                                        <p:tgtEl>
                                          <p:spTgt spid="18"/>
                                        </p:tgtEl>
                                        <p:attrNameLst>
                                          <p:attrName>ppt_x</p:attrName>
                                        </p:attrNameLst>
                                      </p:cBhvr>
                                      <p:tavLst>
                                        <p:tav tm="0">
                                          <p:val>
                                            <p:strVal val="#ppt_x"/>
                                          </p:val>
                                        </p:tav>
                                        <p:tav tm="100000">
                                          <p:val>
                                            <p:strVal val="#ppt_x"/>
                                          </p:val>
                                        </p:tav>
                                      </p:tavLst>
                                    </p:anim>
                                    <p:anim calcmode="lin" valueType="num">
                                      <p:cBhvr>
                                        <p:cTn id="84" dur="450" decel="100000" fill="hold"/>
                                        <p:tgtEl>
                                          <p:spTgt spid="18"/>
                                        </p:tgtEl>
                                        <p:attrNameLst>
                                          <p:attrName>ppt_y</p:attrName>
                                        </p:attrNameLst>
                                      </p:cBhvr>
                                      <p:tavLst>
                                        <p:tav tm="0">
                                          <p:val>
                                            <p:strVal val="#ppt_y+0.018"/>
                                          </p:val>
                                        </p:tav>
                                        <p:tav tm="100000">
                                          <p:val>
                                            <p:strVal val="#ppt_y"/>
                                          </p:val>
                                        </p:tav>
                                      </p:tavLst>
                                    </p:anim>
                                  </p:childTnLst>
                                </p:cTn>
                              </p:par>
                              <p:par>
                                <p:cTn id="85" presetID="42" presetClass="entr" presetSubtype="4" fill="hold" grpId="0" nodeType="withEffect">
                                  <p:stCondLst>
                                    <p:cond delay="33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450"/>
                                        <p:tgtEl>
                                          <p:spTgt spid="19"/>
                                        </p:tgtEl>
                                      </p:cBhvr>
                                    </p:animEffect>
                                    <p:anim calcmode="lin" valueType="num">
                                      <p:cBhvr>
                                        <p:cTn id="88" dur="450" fill="hold"/>
                                        <p:tgtEl>
                                          <p:spTgt spid="19"/>
                                        </p:tgtEl>
                                        <p:attrNameLst>
                                          <p:attrName>ppt_x</p:attrName>
                                        </p:attrNameLst>
                                      </p:cBhvr>
                                      <p:tavLst>
                                        <p:tav tm="0">
                                          <p:val>
                                            <p:strVal val="#ppt_x"/>
                                          </p:val>
                                        </p:tav>
                                        <p:tav tm="100000">
                                          <p:val>
                                            <p:strVal val="#ppt_x"/>
                                          </p:val>
                                        </p:tav>
                                      </p:tavLst>
                                    </p:anim>
                                    <p:anim calcmode="lin" valueType="num">
                                      <p:cBhvr>
                                        <p:cTn id="89" dur="450" decel="100000" fill="hold"/>
                                        <p:tgtEl>
                                          <p:spTgt spid="19"/>
                                        </p:tgtEl>
                                        <p:attrNameLst>
                                          <p:attrName>ppt_y</p:attrName>
                                        </p:attrNameLst>
                                      </p:cBhvr>
                                      <p:tavLst>
                                        <p:tav tm="0">
                                          <p:val>
                                            <p:strVal val="#ppt_y+0.018"/>
                                          </p:val>
                                        </p:tav>
                                        <p:tav tm="100000">
                                          <p:val>
                                            <p:strVal val="#ppt_y"/>
                                          </p:val>
                                        </p:tav>
                                      </p:tavLst>
                                    </p:anim>
                                  </p:childTnLst>
                                </p:cTn>
                              </p:par>
                              <p:par>
                                <p:cTn id="90" presetID="42" presetClass="entr" presetSubtype="4" fill="hold" grpId="0" nodeType="withEffect">
                                  <p:stCondLst>
                                    <p:cond delay="33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450"/>
                                        <p:tgtEl>
                                          <p:spTgt spid="20"/>
                                        </p:tgtEl>
                                      </p:cBhvr>
                                    </p:animEffect>
                                    <p:anim calcmode="lin" valueType="num">
                                      <p:cBhvr>
                                        <p:cTn id="93" dur="450" fill="hold"/>
                                        <p:tgtEl>
                                          <p:spTgt spid="20"/>
                                        </p:tgtEl>
                                        <p:attrNameLst>
                                          <p:attrName>ppt_x</p:attrName>
                                        </p:attrNameLst>
                                      </p:cBhvr>
                                      <p:tavLst>
                                        <p:tav tm="0">
                                          <p:val>
                                            <p:strVal val="#ppt_x"/>
                                          </p:val>
                                        </p:tav>
                                        <p:tav tm="100000">
                                          <p:val>
                                            <p:strVal val="#ppt_x"/>
                                          </p:val>
                                        </p:tav>
                                      </p:tavLst>
                                    </p:anim>
                                    <p:anim calcmode="lin" valueType="num">
                                      <p:cBhvr>
                                        <p:cTn id="94" dur="450" decel="100000" fill="hold"/>
                                        <p:tgtEl>
                                          <p:spTgt spid="20"/>
                                        </p:tgtEl>
                                        <p:attrNameLst>
                                          <p:attrName>ppt_y</p:attrName>
                                        </p:attrNameLst>
                                      </p:cBhvr>
                                      <p:tavLst>
                                        <p:tav tm="0">
                                          <p:val>
                                            <p:strVal val="#ppt_y+0.018"/>
                                          </p:val>
                                        </p:tav>
                                        <p:tav tm="100000">
                                          <p:val>
                                            <p:strVal val="#ppt_y"/>
                                          </p:val>
                                        </p:tav>
                                      </p:tavLst>
                                    </p:anim>
                                  </p:childTnLst>
                                </p:cTn>
                              </p:par>
                              <p:par>
                                <p:cTn id="95" presetID="42" presetClass="entr" presetSubtype="4" fill="hold" grpId="0" nodeType="withEffect">
                                  <p:stCondLst>
                                    <p:cond delay="33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450"/>
                                        <p:tgtEl>
                                          <p:spTgt spid="21"/>
                                        </p:tgtEl>
                                      </p:cBhvr>
                                    </p:animEffect>
                                    <p:anim calcmode="lin" valueType="num">
                                      <p:cBhvr>
                                        <p:cTn id="98" dur="450" fill="hold"/>
                                        <p:tgtEl>
                                          <p:spTgt spid="21"/>
                                        </p:tgtEl>
                                        <p:attrNameLst>
                                          <p:attrName>ppt_x</p:attrName>
                                        </p:attrNameLst>
                                      </p:cBhvr>
                                      <p:tavLst>
                                        <p:tav tm="0">
                                          <p:val>
                                            <p:strVal val="#ppt_x"/>
                                          </p:val>
                                        </p:tav>
                                        <p:tav tm="100000">
                                          <p:val>
                                            <p:strVal val="#ppt_x"/>
                                          </p:val>
                                        </p:tav>
                                      </p:tavLst>
                                    </p:anim>
                                    <p:anim calcmode="lin" valueType="num">
                                      <p:cBhvr>
                                        <p:cTn id="99" dur="450" decel="100000" fill="hold"/>
                                        <p:tgtEl>
                                          <p:spTgt spid="21"/>
                                        </p:tgtEl>
                                        <p:attrNameLst>
                                          <p:attrName>ppt_y</p:attrName>
                                        </p:attrNameLst>
                                      </p:cBhvr>
                                      <p:tavLst>
                                        <p:tav tm="0">
                                          <p:val>
                                            <p:strVal val="#ppt_y+0.018"/>
                                          </p:val>
                                        </p:tav>
                                        <p:tav tm="100000">
                                          <p:val>
                                            <p:strVal val="#ppt_y"/>
                                          </p:val>
                                        </p:tav>
                                      </p:tavLst>
                                    </p:anim>
                                  </p:childTnLst>
                                </p:cTn>
                              </p:par>
                              <p:par>
                                <p:cTn id="100" presetID="42" presetClass="entr" presetSubtype="4" fill="hold" grpId="0" nodeType="withEffect">
                                  <p:stCondLst>
                                    <p:cond delay="33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450"/>
                                        <p:tgtEl>
                                          <p:spTgt spid="22"/>
                                        </p:tgtEl>
                                      </p:cBhvr>
                                    </p:animEffect>
                                    <p:anim calcmode="lin" valueType="num">
                                      <p:cBhvr>
                                        <p:cTn id="103" dur="450" fill="hold"/>
                                        <p:tgtEl>
                                          <p:spTgt spid="22"/>
                                        </p:tgtEl>
                                        <p:attrNameLst>
                                          <p:attrName>ppt_x</p:attrName>
                                        </p:attrNameLst>
                                      </p:cBhvr>
                                      <p:tavLst>
                                        <p:tav tm="0">
                                          <p:val>
                                            <p:strVal val="#ppt_x"/>
                                          </p:val>
                                        </p:tav>
                                        <p:tav tm="100000">
                                          <p:val>
                                            <p:strVal val="#ppt_x"/>
                                          </p:val>
                                        </p:tav>
                                      </p:tavLst>
                                    </p:anim>
                                    <p:anim calcmode="lin" valueType="num">
                                      <p:cBhvr>
                                        <p:cTn id="104" dur="450" decel="100000" fill="hold"/>
                                        <p:tgtEl>
                                          <p:spTgt spid="22"/>
                                        </p:tgtEl>
                                        <p:attrNameLst>
                                          <p:attrName>ppt_y</p:attrName>
                                        </p:attrNameLst>
                                      </p:cBhvr>
                                      <p:tavLst>
                                        <p:tav tm="0">
                                          <p:val>
                                            <p:strVal val="#ppt_y+0.018"/>
                                          </p:val>
                                        </p:tav>
                                        <p:tav tm="100000">
                                          <p:val>
                                            <p:strVal val="#ppt_y"/>
                                          </p:val>
                                        </p:tav>
                                      </p:tavLst>
                                    </p:anim>
                                  </p:childTnLst>
                                </p:cTn>
                              </p:par>
                              <p:par>
                                <p:cTn id="105" presetID="42" presetClass="entr" presetSubtype="4" fill="hold" grpId="0" nodeType="withEffect">
                                  <p:stCondLst>
                                    <p:cond delay="33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450"/>
                                        <p:tgtEl>
                                          <p:spTgt spid="23"/>
                                        </p:tgtEl>
                                      </p:cBhvr>
                                    </p:animEffect>
                                    <p:anim calcmode="lin" valueType="num">
                                      <p:cBhvr>
                                        <p:cTn id="108" dur="450" fill="hold"/>
                                        <p:tgtEl>
                                          <p:spTgt spid="23"/>
                                        </p:tgtEl>
                                        <p:attrNameLst>
                                          <p:attrName>ppt_x</p:attrName>
                                        </p:attrNameLst>
                                      </p:cBhvr>
                                      <p:tavLst>
                                        <p:tav tm="0">
                                          <p:val>
                                            <p:strVal val="#ppt_x"/>
                                          </p:val>
                                        </p:tav>
                                        <p:tav tm="100000">
                                          <p:val>
                                            <p:strVal val="#ppt_x"/>
                                          </p:val>
                                        </p:tav>
                                      </p:tavLst>
                                    </p:anim>
                                    <p:anim calcmode="lin" valueType="num">
                                      <p:cBhvr>
                                        <p:cTn id="109" dur="450" decel="100000" fill="hold"/>
                                        <p:tgtEl>
                                          <p:spTgt spid="23"/>
                                        </p:tgtEl>
                                        <p:attrNameLst>
                                          <p:attrName>ppt_y</p:attrName>
                                        </p:attrNameLst>
                                      </p:cBhvr>
                                      <p:tavLst>
                                        <p:tav tm="0">
                                          <p:val>
                                            <p:strVal val="#ppt_y+0.018"/>
                                          </p:val>
                                        </p:tav>
                                        <p:tav tm="100000">
                                          <p:val>
                                            <p:strVal val="#ppt_y"/>
                                          </p:val>
                                        </p:tav>
                                      </p:tavLst>
                                    </p:anim>
                                  </p:childTnLst>
                                </p:cTn>
                              </p:par>
                              <p:par>
                                <p:cTn id="110" presetID="42" presetClass="entr" presetSubtype="4" fill="hold" grpId="0" nodeType="withEffect">
                                  <p:stCondLst>
                                    <p:cond delay="33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450"/>
                                        <p:tgtEl>
                                          <p:spTgt spid="24"/>
                                        </p:tgtEl>
                                      </p:cBhvr>
                                    </p:animEffect>
                                    <p:anim calcmode="lin" valueType="num">
                                      <p:cBhvr>
                                        <p:cTn id="113" dur="450" fill="hold"/>
                                        <p:tgtEl>
                                          <p:spTgt spid="24"/>
                                        </p:tgtEl>
                                        <p:attrNameLst>
                                          <p:attrName>ppt_x</p:attrName>
                                        </p:attrNameLst>
                                      </p:cBhvr>
                                      <p:tavLst>
                                        <p:tav tm="0">
                                          <p:val>
                                            <p:strVal val="#ppt_x"/>
                                          </p:val>
                                        </p:tav>
                                        <p:tav tm="100000">
                                          <p:val>
                                            <p:strVal val="#ppt_x"/>
                                          </p:val>
                                        </p:tav>
                                      </p:tavLst>
                                    </p:anim>
                                    <p:anim calcmode="lin" valueType="num">
                                      <p:cBhvr>
                                        <p:cTn id="114" dur="450" decel="100000" fill="hold"/>
                                        <p:tgtEl>
                                          <p:spTgt spid="24"/>
                                        </p:tgtEl>
                                        <p:attrNameLst>
                                          <p:attrName>ppt_y</p:attrName>
                                        </p:attrNameLst>
                                      </p:cBhvr>
                                      <p:tavLst>
                                        <p:tav tm="0">
                                          <p:val>
                                            <p:strVal val="#ppt_y+0.018"/>
                                          </p:val>
                                        </p:tav>
                                        <p:tav tm="100000">
                                          <p:val>
                                            <p:strVal val="#ppt_y"/>
                                          </p:val>
                                        </p:tav>
                                      </p:tavLst>
                                    </p:anim>
                                  </p:childTnLst>
                                </p:cTn>
                              </p:par>
                              <p:par>
                                <p:cTn id="115" presetID="42" presetClass="entr" presetSubtype="4" fill="hold" grpId="0" nodeType="withEffect">
                                  <p:stCondLst>
                                    <p:cond delay="33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450"/>
                                        <p:tgtEl>
                                          <p:spTgt spid="25"/>
                                        </p:tgtEl>
                                      </p:cBhvr>
                                    </p:animEffect>
                                    <p:anim calcmode="lin" valueType="num">
                                      <p:cBhvr>
                                        <p:cTn id="118" dur="450" fill="hold"/>
                                        <p:tgtEl>
                                          <p:spTgt spid="25"/>
                                        </p:tgtEl>
                                        <p:attrNameLst>
                                          <p:attrName>ppt_x</p:attrName>
                                        </p:attrNameLst>
                                      </p:cBhvr>
                                      <p:tavLst>
                                        <p:tav tm="0">
                                          <p:val>
                                            <p:strVal val="#ppt_x"/>
                                          </p:val>
                                        </p:tav>
                                        <p:tav tm="100000">
                                          <p:val>
                                            <p:strVal val="#ppt_x"/>
                                          </p:val>
                                        </p:tav>
                                      </p:tavLst>
                                    </p:anim>
                                    <p:anim calcmode="lin" valueType="num">
                                      <p:cBhvr>
                                        <p:cTn id="119" dur="450" decel="100000" fill="hold"/>
                                        <p:tgtEl>
                                          <p:spTgt spid="25"/>
                                        </p:tgtEl>
                                        <p:attrNameLst>
                                          <p:attrName>ppt_y</p:attrName>
                                        </p:attrNameLst>
                                      </p:cBhvr>
                                      <p:tavLst>
                                        <p:tav tm="0">
                                          <p:val>
                                            <p:strVal val="#ppt_y+0.018"/>
                                          </p:val>
                                        </p:tav>
                                        <p:tav tm="100000">
                                          <p:val>
                                            <p:strVal val="#ppt_y"/>
                                          </p:val>
                                        </p:tav>
                                      </p:tavLst>
                                    </p:anim>
                                  </p:childTnLst>
                                </p:cTn>
                              </p:par>
                              <p:par>
                                <p:cTn id="120" presetID="42" presetClass="entr" presetSubtype="4" fill="hold" grpId="0" nodeType="withEffect">
                                  <p:stCondLst>
                                    <p:cond delay="33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450"/>
                                        <p:tgtEl>
                                          <p:spTgt spid="26"/>
                                        </p:tgtEl>
                                      </p:cBhvr>
                                    </p:animEffect>
                                    <p:anim calcmode="lin" valueType="num">
                                      <p:cBhvr>
                                        <p:cTn id="123" dur="450" fill="hold"/>
                                        <p:tgtEl>
                                          <p:spTgt spid="26"/>
                                        </p:tgtEl>
                                        <p:attrNameLst>
                                          <p:attrName>ppt_x</p:attrName>
                                        </p:attrNameLst>
                                      </p:cBhvr>
                                      <p:tavLst>
                                        <p:tav tm="0">
                                          <p:val>
                                            <p:strVal val="#ppt_x"/>
                                          </p:val>
                                        </p:tav>
                                        <p:tav tm="100000">
                                          <p:val>
                                            <p:strVal val="#ppt_x"/>
                                          </p:val>
                                        </p:tav>
                                      </p:tavLst>
                                    </p:anim>
                                    <p:anim calcmode="lin" valueType="num">
                                      <p:cBhvr>
                                        <p:cTn id="124" dur="450" decel="100000" fill="hold"/>
                                        <p:tgtEl>
                                          <p:spTgt spid="26"/>
                                        </p:tgtEl>
                                        <p:attrNameLst>
                                          <p:attrName>ppt_y</p:attrName>
                                        </p:attrNameLst>
                                      </p:cBhvr>
                                      <p:tavLst>
                                        <p:tav tm="0">
                                          <p:val>
                                            <p:strVal val="#ppt_y+0.018"/>
                                          </p:val>
                                        </p:tav>
                                        <p:tav tm="100000">
                                          <p:val>
                                            <p:strVal val="#ppt_y"/>
                                          </p:val>
                                        </p:tav>
                                      </p:tavLst>
                                    </p:anim>
                                  </p:childTnLst>
                                </p:cTn>
                              </p:par>
                              <p:par>
                                <p:cTn id="125" presetID="42" presetClass="entr" presetSubtype="4" fill="hold" grpId="0" nodeType="withEffect">
                                  <p:stCondLst>
                                    <p:cond delay="33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450"/>
                                        <p:tgtEl>
                                          <p:spTgt spid="27"/>
                                        </p:tgtEl>
                                      </p:cBhvr>
                                    </p:animEffect>
                                    <p:anim calcmode="lin" valueType="num">
                                      <p:cBhvr>
                                        <p:cTn id="128" dur="450" fill="hold"/>
                                        <p:tgtEl>
                                          <p:spTgt spid="27"/>
                                        </p:tgtEl>
                                        <p:attrNameLst>
                                          <p:attrName>ppt_x</p:attrName>
                                        </p:attrNameLst>
                                      </p:cBhvr>
                                      <p:tavLst>
                                        <p:tav tm="0">
                                          <p:val>
                                            <p:strVal val="#ppt_x"/>
                                          </p:val>
                                        </p:tav>
                                        <p:tav tm="100000">
                                          <p:val>
                                            <p:strVal val="#ppt_x"/>
                                          </p:val>
                                        </p:tav>
                                      </p:tavLst>
                                    </p:anim>
                                    <p:anim calcmode="lin" valueType="num">
                                      <p:cBhvr>
                                        <p:cTn id="129" dur="450" decel="100000" fill="hold"/>
                                        <p:tgtEl>
                                          <p:spTgt spid="27"/>
                                        </p:tgtEl>
                                        <p:attrNameLst>
                                          <p:attrName>ppt_y</p:attrName>
                                        </p:attrNameLst>
                                      </p:cBhvr>
                                      <p:tavLst>
                                        <p:tav tm="0">
                                          <p:val>
                                            <p:strVal val="#ppt_y+0.018"/>
                                          </p:val>
                                        </p:tav>
                                        <p:tav tm="100000">
                                          <p:val>
                                            <p:strVal val="#ppt_y"/>
                                          </p:val>
                                        </p:tav>
                                      </p:tavLst>
                                    </p:anim>
                                  </p:childTnLst>
                                </p:cTn>
                              </p:par>
                              <p:par>
                                <p:cTn id="130" presetID="42" presetClass="entr" presetSubtype="4" fill="hold" grpId="0" nodeType="withEffect">
                                  <p:stCondLst>
                                    <p:cond delay="33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450"/>
                                        <p:tgtEl>
                                          <p:spTgt spid="28"/>
                                        </p:tgtEl>
                                      </p:cBhvr>
                                    </p:animEffect>
                                    <p:anim calcmode="lin" valueType="num">
                                      <p:cBhvr>
                                        <p:cTn id="133" dur="450" fill="hold"/>
                                        <p:tgtEl>
                                          <p:spTgt spid="28"/>
                                        </p:tgtEl>
                                        <p:attrNameLst>
                                          <p:attrName>ppt_x</p:attrName>
                                        </p:attrNameLst>
                                      </p:cBhvr>
                                      <p:tavLst>
                                        <p:tav tm="0">
                                          <p:val>
                                            <p:strVal val="#ppt_x"/>
                                          </p:val>
                                        </p:tav>
                                        <p:tav tm="100000">
                                          <p:val>
                                            <p:strVal val="#ppt_x"/>
                                          </p:val>
                                        </p:tav>
                                      </p:tavLst>
                                    </p:anim>
                                    <p:anim calcmode="lin" valueType="num">
                                      <p:cBhvr>
                                        <p:cTn id="134" dur="450" decel="100000" fill="hold"/>
                                        <p:tgtEl>
                                          <p:spTgt spid="28"/>
                                        </p:tgtEl>
                                        <p:attrNameLst>
                                          <p:attrName>ppt_y</p:attrName>
                                        </p:attrNameLst>
                                      </p:cBhvr>
                                      <p:tavLst>
                                        <p:tav tm="0">
                                          <p:val>
                                            <p:strVal val="#ppt_y+0.018"/>
                                          </p:val>
                                        </p:tav>
                                        <p:tav tm="100000">
                                          <p:val>
                                            <p:strVal val="#ppt_y"/>
                                          </p:val>
                                        </p:tav>
                                      </p:tavLst>
                                    </p:anim>
                                  </p:childTnLst>
                                </p:cTn>
                              </p:par>
                              <p:par>
                                <p:cTn id="135" presetID="42" presetClass="entr" presetSubtype="4" fill="hold" grpId="0" nodeType="withEffect">
                                  <p:stCondLst>
                                    <p:cond delay="33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450"/>
                                        <p:tgtEl>
                                          <p:spTgt spid="29"/>
                                        </p:tgtEl>
                                      </p:cBhvr>
                                    </p:animEffect>
                                    <p:anim calcmode="lin" valueType="num">
                                      <p:cBhvr>
                                        <p:cTn id="138" dur="450" fill="hold"/>
                                        <p:tgtEl>
                                          <p:spTgt spid="29"/>
                                        </p:tgtEl>
                                        <p:attrNameLst>
                                          <p:attrName>ppt_x</p:attrName>
                                        </p:attrNameLst>
                                      </p:cBhvr>
                                      <p:tavLst>
                                        <p:tav tm="0">
                                          <p:val>
                                            <p:strVal val="#ppt_x"/>
                                          </p:val>
                                        </p:tav>
                                        <p:tav tm="100000">
                                          <p:val>
                                            <p:strVal val="#ppt_x"/>
                                          </p:val>
                                        </p:tav>
                                      </p:tavLst>
                                    </p:anim>
                                    <p:anim calcmode="lin" valueType="num">
                                      <p:cBhvr>
                                        <p:cTn id="139" dur="450" decel="100000" fill="hold"/>
                                        <p:tgtEl>
                                          <p:spTgt spid="29"/>
                                        </p:tgtEl>
                                        <p:attrNameLst>
                                          <p:attrName>ppt_y</p:attrName>
                                        </p:attrNameLst>
                                      </p:cBhvr>
                                      <p:tavLst>
                                        <p:tav tm="0">
                                          <p:val>
                                            <p:strVal val="#ppt_y+0.018"/>
                                          </p:val>
                                        </p:tav>
                                        <p:tav tm="100000">
                                          <p:val>
                                            <p:strVal val="#ppt_y"/>
                                          </p:val>
                                        </p:tav>
                                      </p:tavLst>
                                    </p:anim>
                                  </p:childTnLst>
                                </p:cTn>
                              </p:par>
                              <p:par>
                                <p:cTn id="140" presetID="42" presetClass="entr" presetSubtype="4" fill="hold" grpId="0" nodeType="withEffect">
                                  <p:stCondLst>
                                    <p:cond delay="33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450"/>
                                        <p:tgtEl>
                                          <p:spTgt spid="30"/>
                                        </p:tgtEl>
                                      </p:cBhvr>
                                    </p:animEffect>
                                    <p:anim calcmode="lin" valueType="num">
                                      <p:cBhvr>
                                        <p:cTn id="143" dur="450" fill="hold"/>
                                        <p:tgtEl>
                                          <p:spTgt spid="30"/>
                                        </p:tgtEl>
                                        <p:attrNameLst>
                                          <p:attrName>ppt_x</p:attrName>
                                        </p:attrNameLst>
                                      </p:cBhvr>
                                      <p:tavLst>
                                        <p:tav tm="0">
                                          <p:val>
                                            <p:strVal val="#ppt_x"/>
                                          </p:val>
                                        </p:tav>
                                        <p:tav tm="100000">
                                          <p:val>
                                            <p:strVal val="#ppt_x"/>
                                          </p:val>
                                        </p:tav>
                                      </p:tavLst>
                                    </p:anim>
                                    <p:anim calcmode="lin" valueType="num">
                                      <p:cBhvr>
                                        <p:cTn id="144" dur="450" decel="100000" fill="hold"/>
                                        <p:tgtEl>
                                          <p:spTgt spid="30"/>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light_studio_bg.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3889857" cy="256032"/>
          </a:xfrm>
          <a:prstGeom prst="roundRect">
            <a:avLst>
              <a:gd name="adj" fmla="val 5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059669"/>
                </a:solidFill>
                <a:latin typeface="Segoe UI"/>
              </a:rPr>
              <a:t>04 · BUSINESS VALUE &amp; LIVE VALIDATION</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2900" b="1" i="0">
                <a:solidFill>
                  <a:srgbClr val="0F172A"/>
                </a:solidFill>
                <a:latin typeface="Segoe UI"/>
              </a:rPr>
              <a:t>Worth R$775–R$1,466 / 1k orders — </a:t>
            </a:r>
            <a:r>
              <a:rPr sz="2900" b="1" i="0">
                <a:solidFill>
                  <a:srgbClr val="059669"/>
                </a:solidFill>
                <a:latin typeface="Segoe UI"/>
              </a:rPr>
              <a:t>test before scaling</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64748B"/>
                </a:solidFill>
                <a:latin typeface="Segoe UI"/>
              </a:rPr>
              <a:t>Historical data proves we find the right unhappy customers; a 6-week A/B pilot proves how many calls change a mind.</a:t>
            </a:r>
          </a:p>
        </p:txBody>
      </p:sp>
      <p:sp>
        <p:nvSpPr>
          <p:cNvPr id="6" name="Card"/>
          <p:cNvSpPr/>
          <p:nvPr/>
        </p:nvSpPr>
        <p:spPr>
          <a:xfrm>
            <a:off x="566928" y="1645920"/>
            <a:ext cx="4736592" cy="2304288"/>
          </a:xfrm>
          <a:prstGeom prst="roundRect">
            <a:avLst>
              <a:gd name="adj" fmla="val 3800"/>
            </a:avLst>
          </a:prstGeom>
          <a:solidFill>
            <a:srgbClr val="FFFFFF"/>
          </a:solidFill>
          <a:ln w="16510">
            <a:solidFill>
              <a:srgbClr val="A7F3D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ard_accent"/>
          <p:cNvSpPr/>
          <p:nvPr/>
        </p:nvSpPr>
        <p:spPr>
          <a:xfrm>
            <a:off x="713232" y="1645920"/>
            <a:ext cx="4443983" cy="50292"/>
          </a:xfrm>
          <a:prstGeom prst="roundRect">
            <a:avLst>
              <a:gd name="adj" fmla="val 25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
          <p:cNvSpPr txBox="1"/>
          <p:nvPr/>
        </p:nvSpPr>
        <p:spPr>
          <a:xfrm>
            <a:off x="804672" y="1810512"/>
            <a:ext cx="4297680" cy="2029968"/>
          </a:xfrm>
          <a:prstGeom prst="rect">
            <a:avLst/>
          </a:prstGeom>
          <a:noFill/>
        </p:spPr>
        <p:txBody>
          <a:bodyPr wrap="square" lIns="0" tIns="0" rIns="0" bIns="0" anchor="t">
            <a:spAutoFit/>
          </a:bodyPr>
          <a:lstStyle/>
          <a:p>
            <a:pPr algn="l">
              <a:lnSpc>
                <a:spcPct val="120000"/>
              </a:lnSpc>
              <a:spcAft>
                <a:spcPts val="600"/>
              </a:spcAft>
            </a:pPr>
            <a:r>
              <a:rPr sz="880" b="1" i="0" spc="120">
                <a:solidFill>
                  <a:srgbClr val="059669"/>
                </a:solidFill>
                <a:latin typeface="Segoe UI"/>
              </a:rPr>
              <a:t>NET VALUE CEILING  (R$5 CALL  VS  R$40 BAD REVIEW)</a:t>
            </a:r>
          </a:p>
          <a:p>
            <a:pPr algn="l">
              <a:lnSpc>
                <a:spcPct val="100000"/>
              </a:lnSpc>
            </a:pPr>
            <a:r>
              <a:rPr sz="3800" b="1" i="0">
                <a:solidFill>
                  <a:srgbClr val="059669"/>
                </a:solidFill>
                <a:latin typeface="Segoe UI"/>
              </a:rPr>
              <a:t>R$775</a:t>
            </a:r>
            <a:r>
              <a:rPr sz="2600" b="1" i="0">
                <a:solidFill>
                  <a:srgbClr val="0F172A"/>
                </a:solidFill>
                <a:latin typeface="Segoe UI"/>
              </a:rPr>
              <a:t> – R$1,466</a:t>
            </a:r>
            <a:r>
              <a:rPr sz="1200" b="1" i="0">
                <a:solidFill>
                  <a:srgbClr val="64748B"/>
                </a:solidFill>
                <a:latin typeface="Segoe UI"/>
              </a:rPr>
              <a:t> / 1k orders</a:t>
            </a:r>
          </a:p>
          <a:p>
            <a:pPr algn="l">
              <a:lnSpc>
                <a:spcPct val="120000"/>
              </a:lnSpc>
            </a:pPr>
            <a:r>
              <a:rPr sz="1040" b="1" i="0">
                <a:solidFill>
                  <a:srgbClr val="059669"/>
                </a:solidFill>
                <a:latin typeface="Segoe UI"/>
              </a:rPr>
              <a:t>• R$775 </a:t>
            </a:r>
            <a:r>
              <a:rPr sz="1019" b="0" i="0">
                <a:solidFill>
                  <a:srgbClr val="334155"/>
                </a:solidFill>
                <a:latin typeface="Segoe UI"/>
              </a:rPr>
              <a:t>conservative ceiling on the </a:t>
            </a:r>
            <a:r>
              <a:rPr sz="1019" b="1" i="0">
                <a:solidFill>
                  <a:srgbClr val="0F172A"/>
                </a:solidFill>
                <a:latin typeface="Segoe UI"/>
              </a:rPr>
              <a:t>35/100 share</a:t>
            </a:r>
            <a:r>
              <a:rPr sz="1000" b="0" i="0">
                <a:solidFill>
                  <a:srgbClr val="334155"/>
                </a:solidFill>
                <a:latin typeface="Segoe UI"/>
              </a:rPr>
              <a:t> not confirmed written before arrival (R$433 at fixed 10 calls/day).</a:t>
            </a:r>
          </a:p>
          <a:p>
            <a:pPr algn="l">
              <a:lnSpc>
                <a:spcPct val="120000"/>
              </a:lnSpc>
            </a:pPr>
            <a:r>
              <a:rPr sz="1040" b="1" i="0">
                <a:solidFill>
                  <a:srgbClr val="0F172A"/>
                </a:solidFill>
                <a:latin typeface="Segoe UI"/>
              </a:rPr>
              <a:t>• R$1,466 </a:t>
            </a:r>
            <a:r>
              <a:rPr sz="1019" b="0" i="0">
                <a:solidFill>
                  <a:srgbClr val="334155"/>
                </a:solidFill>
                <a:latin typeface="Segoe UI"/>
              </a:rPr>
              <a:t>full ceiling across all hits once </a:t>
            </a:r>
            <a:r>
              <a:rPr sz="1019" b="1" i="0">
                <a:solidFill>
                  <a:srgbClr val="D97706"/>
                </a:solidFill>
                <a:latin typeface="Segoe UI"/>
              </a:rPr>
              <a:t>Promised-Date survey pause</a:t>
            </a:r>
            <a:r>
              <a:rPr sz="1019" b="0" i="0">
                <a:solidFill>
                  <a:srgbClr val="334155"/>
                </a:solidFill>
                <a:latin typeface="Segoe UI"/>
              </a:rPr>
              <a:t> keeps late orders reachable.</a:t>
            </a:r>
          </a:p>
        </p:txBody>
      </p:sp>
      <p:sp>
        <p:nvSpPr>
          <p:cNvPr id="9" name="Card"/>
          <p:cNvSpPr/>
          <p:nvPr/>
        </p:nvSpPr>
        <p:spPr>
          <a:xfrm>
            <a:off x="566928" y="4114800"/>
            <a:ext cx="4736592" cy="1993392"/>
          </a:xfrm>
          <a:prstGeom prst="roundRect">
            <a:avLst>
              <a:gd name="adj" fmla="val 3800"/>
            </a:avLst>
          </a:prstGeom>
          <a:solidFill>
            <a:srgbClr val="FFFBEB"/>
          </a:solidFill>
          <a:ln w="15240">
            <a:solidFill>
              <a:srgbClr val="FDE68A"/>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ard_accent"/>
          <p:cNvSpPr/>
          <p:nvPr/>
        </p:nvSpPr>
        <p:spPr>
          <a:xfrm>
            <a:off x="566928" y="4279392"/>
            <a:ext cx="59436" cy="1664208"/>
          </a:xfrm>
          <a:prstGeom prst="roundRect">
            <a:avLst>
              <a:gd name="adj" fmla="val 25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
          <p:cNvSpPr txBox="1"/>
          <p:nvPr/>
        </p:nvSpPr>
        <p:spPr>
          <a:xfrm>
            <a:off x="804672" y="4261104"/>
            <a:ext cx="4297680" cy="1719072"/>
          </a:xfrm>
          <a:prstGeom prst="rect">
            <a:avLst/>
          </a:prstGeom>
          <a:noFill/>
        </p:spPr>
        <p:txBody>
          <a:bodyPr wrap="square" lIns="0" tIns="0" rIns="0" bIns="0" anchor="t">
            <a:spAutoFit/>
          </a:bodyPr>
          <a:lstStyle/>
          <a:p>
            <a:pPr algn="l">
              <a:lnSpc>
                <a:spcPct val="124000"/>
              </a:lnSpc>
              <a:spcAft>
                <a:spcPts val="500"/>
              </a:spcAft>
            </a:pPr>
            <a:r>
              <a:rPr sz="900" b="1" i="0" spc="130">
                <a:solidFill>
                  <a:srgbClr val="D97706"/>
                </a:solidFill>
                <a:latin typeface="Segoe UI"/>
              </a:rPr>
              <a:t>THE HONEST CATCH IN HISTORICAL DATA</a:t>
            </a:r>
          </a:p>
          <a:p>
            <a:pPr algn="l">
              <a:lnSpc>
                <a:spcPct val="124000"/>
              </a:lnSpc>
              <a:spcAft>
                <a:spcPts val="600"/>
              </a:spcAft>
            </a:pPr>
            <a:r>
              <a:rPr sz="1380" b="1" i="0">
                <a:solidFill>
                  <a:srgbClr val="0F172A"/>
                </a:solidFill>
                <a:latin typeface="Segoe UI"/>
              </a:rPr>
              <a:t>Nobody in the 2016–2018 log was ever called.</a:t>
            </a:r>
          </a:p>
          <a:p>
            <a:pPr algn="l">
              <a:lnSpc>
                <a:spcPct val="124000"/>
              </a:lnSpc>
            </a:pPr>
            <a:r>
              <a:rPr sz="1040" b="0" i="0">
                <a:solidFill>
                  <a:srgbClr val="334155"/>
                </a:solidFill>
                <a:latin typeface="Segoe UI"/>
              </a:rPr>
              <a:t>Offline test sets measure </a:t>
            </a:r>
            <a:r>
              <a:rPr sz="1040" b="1" i="0">
                <a:solidFill>
                  <a:srgbClr val="0F172A"/>
                </a:solidFill>
                <a:latin typeface="Segoe UI"/>
              </a:rPr>
              <a:t>who ends up unhappy (57.2%)</a:t>
            </a:r>
            <a:r>
              <a:rPr sz="1040" b="0" i="0">
                <a:solidFill>
                  <a:srgbClr val="334155"/>
                </a:solidFill>
                <a:latin typeface="Segoe UI"/>
              </a:rPr>
              <a:t> — not </a:t>
            </a:r>
            <a:r>
              <a:rPr sz="1040" b="1" i="0">
                <a:solidFill>
                  <a:srgbClr val="D97706"/>
                </a:solidFill>
                <a:latin typeface="Segoe UI"/>
              </a:rPr>
              <a:t>how often a real phone call changes a 1★ into 4–5★</a:t>
            </a:r>
            <a:r>
              <a:rPr sz="1040" b="0" i="0">
                <a:solidFill>
                  <a:srgbClr val="334155"/>
                </a:solidFill>
                <a:latin typeface="Segoe UI"/>
              </a:rPr>
              <a:t>. Scaling blind would be irresponsible.</a:t>
            </a:r>
          </a:p>
        </p:txBody>
      </p:sp>
      <p:sp>
        <p:nvSpPr>
          <p:cNvPr id="12" name="Card"/>
          <p:cNvSpPr/>
          <p:nvPr/>
        </p:nvSpPr>
        <p:spPr>
          <a:xfrm>
            <a:off x="5522976" y="1645920"/>
            <a:ext cx="6089904" cy="4462272"/>
          </a:xfrm>
          <a:prstGeom prst="roundRect">
            <a:avLst>
              <a:gd name="adj" fmla="val 3800"/>
            </a:avLst>
          </a:prstGeom>
          <a:solidFill>
            <a:srgbClr val="FFFFFF"/>
          </a:solidFill>
          <a:ln w="12700">
            <a:solidFill>
              <a:srgbClr val="E2E8F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Card_accent"/>
          <p:cNvSpPr/>
          <p:nvPr/>
        </p:nvSpPr>
        <p:spPr>
          <a:xfrm>
            <a:off x="5669280" y="1645920"/>
            <a:ext cx="5797296" cy="50292"/>
          </a:xfrm>
          <a:prstGeom prst="roundRect">
            <a:avLst>
              <a:gd name="adj" fmla="val 2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
          <p:cNvSpPr txBox="1"/>
          <p:nvPr/>
        </p:nvSpPr>
        <p:spPr>
          <a:xfrm>
            <a:off x="5779008" y="1810512"/>
            <a:ext cx="5596128" cy="493776"/>
          </a:xfrm>
          <a:prstGeom prst="rect">
            <a:avLst/>
          </a:prstGeom>
          <a:noFill/>
        </p:spPr>
        <p:txBody>
          <a:bodyPr wrap="square" lIns="0" tIns="0" rIns="0" bIns="0" anchor="t">
            <a:spAutoFit/>
          </a:bodyPr>
          <a:lstStyle/>
          <a:p>
            <a:pPr algn="l">
              <a:lnSpc>
                <a:spcPct val="122000"/>
              </a:lnSpc>
              <a:spcAft>
                <a:spcPts val="200"/>
              </a:spcAft>
            </a:pPr>
            <a:r>
              <a:rPr sz="919" b="1" i="0" spc="130">
                <a:solidFill>
                  <a:srgbClr val="2563EB"/>
                </a:solidFill>
                <a:latin typeface="Segoe UI"/>
              </a:rPr>
              <a:t>THE 6-WEEK RANDOMIZED EXPERIMENT  (ZERO NEW SOFTWARE)</a:t>
            </a:r>
          </a:p>
          <a:p>
            <a:pPr algn="l">
              <a:lnSpc>
                <a:spcPct val="122000"/>
              </a:lnSpc>
            </a:pPr>
            <a:r>
              <a:rPr sz="1220" b="1" i="0">
                <a:solidFill>
                  <a:srgbClr val="0F172A"/>
                </a:solidFill>
                <a:latin typeface="Segoe UI"/>
              </a:rPr>
              <a:t>Split each morning's top-10 call list 50 / 50 for 6 weeks (191 orders per arm)</a:t>
            </a:r>
          </a:p>
        </p:txBody>
      </p:sp>
      <p:sp>
        <p:nvSpPr>
          <p:cNvPr id="15" name="Card"/>
          <p:cNvSpPr/>
          <p:nvPr/>
        </p:nvSpPr>
        <p:spPr>
          <a:xfrm>
            <a:off x="5779008" y="2432304"/>
            <a:ext cx="2633472" cy="1207008"/>
          </a:xfrm>
          <a:prstGeom prst="roundRect">
            <a:avLst>
              <a:gd name="adj" fmla="val 3800"/>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p:cNvSpPr txBox="1"/>
          <p:nvPr/>
        </p:nvSpPr>
        <p:spPr>
          <a:xfrm>
            <a:off x="5907024" y="2523744"/>
            <a:ext cx="2377440" cy="384048"/>
          </a:xfrm>
          <a:prstGeom prst="rect">
            <a:avLst/>
          </a:prstGeom>
          <a:noFill/>
        </p:spPr>
        <p:txBody>
          <a:bodyPr wrap="square" lIns="0" tIns="0" rIns="0" bIns="0" anchor="t">
            <a:spAutoFit/>
          </a:bodyPr>
          <a:lstStyle/>
          <a:p>
            <a:pPr algn="ctr">
              <a:lnSpc>
                <a:spcPct val="122000"/>
              </a:lnSpc>
            </a:pPr>
            <a:r>
              <a:rPr sz="880" b="1" i="0" spc="110">
                <a:solidFill>
                  <a:srgbClr val="059669"/>
                </a:solidFill>
                <a:latin typeface="Segoe UI"/>
              </a:rPr>
              <a:t>5 RANDOMLY CALLED / DAY</a:t>
            </a:r>
          </a:p>
          <a:p>
            <a:pPr algn="ctr">
              <a:lnSpc>
                <a:spcPct val="122000"/>
              </a:lnSpc>
            </a:pPr>
            <a:r>
              <a:rPr sz="919" b="0" i="0">
                <a:solidFill>
                  <a:srgbClr val="334155"/>
                </a:solidFill>
                <a:latin typeface="Segoe UI"/>
              </a:rPr>
              <a:t>Agent checks in &amp; resolves issue</a:t>
            </a:r>
          </a:p>
        </p:txBody>
      </p:sp>
      <p:pic>
        <p:nvPicPr>
          <p:cNvPr id="17" name="Picture 16" descr="person_emerald.png"/>
          <p:cNvPicPr>
            <a:picLocks noChangeAspect="1"/>
          </p:cNvPicPr>
          <p:nvPr/>
        </p:nvPicPr>
        <p:blipFill>
          <a:blip r:embed="rId4"/>
          <a:stretch>
            <a:fillRect/>
          </a:stretch>
        </p:blipFill>
        <p:spPr>
          <a:xfrm>
            <a:off x="5989320" y="3035808"/>
            <a:ext cx="384048" cy="384048"/>
          </a:xfrm>
          <a:prstGeom prst="rect">
            <a:avLst/>
          </a:prstGeom>
        </p:spPr>
      </p:pic>
      <p:pic>
        <p:nvPicPr>
          <p:cNvPr id="18" name="Picture 17" descr="person_emerald.png"/>
          <p:cNvPicPr>
            <a:picLocks noChangeAspect="1"/>
          </p:cNvPicPr>
          <p:nvPr/>
        </p:nvPicPr>
        <p:blipFill>
          <a:blip r:embed="rId4"/>
          <a:stretch>
            <a:fillRect/>
          </a:stretch>
        </p:blipFill>
        <p:spPr>
          <a:xfrm>
            <a:off x="6437376" y="3035808"/>
            <a:ext cx="384048" cy="384048"/>
          </a:xfrm>
          <a:prstGeom prst="rect">
            <a:avLst/>
          </a:prstGeom>
        </p:spPr>
      </p:pic>
      <p:pic>
        <p:nvPicPr>
          <p:cNvPr id="19" name="Picture 18" descr="person_emerald.png"/>
          <p:cNvPicPr>
            <a:picLocks noChangeAspect="1"/>
          </p:cNvPicPr>
          <p:nvPr/>
        </p:nvPicPr>
        <p:blipFill>
          <a:blip r:embed="rId4"/>
          <a:stretch>
            <a:fillRect/>
          </a:stretch>
        </p:blipFill>
        <p:spPr>
          <a:xfrm>
            <a:off x="6885431" y="3035808"/>
            <a:ext cx="384048" cy="384048"/>
          </a:xfrm>
          <a:prstGeom prst="rect">
            <a:avLst/>
          </a:prstGeom>
        </p:spPr>
      </p:pic>
      <p:pic>
        <p:nvPicPr>
          <p:cNvPr id="20" name="Picture 19" descr="person_emerald.png"/>
          <p:cNvPicPr>
            <a:picLocks noChangeAspect="1"/>
          </p:cNvPicPr>
          <p:nvPr/>
        </p:nvPicPr>
        <p:blipFill>
          <a:blip r:embed="rId4"/>
          <a:stretch>
            <a:fillRect/>
          </a:stretch>
        </p:blipFill>
        <p:spPr>
          <a:xfrm>
            <a:off x="7333488" y="3035808"/>
            <a:ext cx="384048" cy="384048"/>
          </a:xfrm>
          <a:prstGeom prst="rect">
            <a:avLst/>
          </a:prstGeom>
        </p:spPr>
      </p:pic>
      <p:pic>
        <p:nvPicPr>
          <p:cNvPr id="21" name="Picture 20" descr="person_emerald.png"/>
          <p:cNvPicPr>
            <a:picLocks noChangeAspect="1"/>
          </p:cNvPicPr>
          <p:nvPr/>
        </p:nvPicPr>
        <p:blipFill>
          <a:blip r:embed="rId4"/>
          <a:stretch>
            <a:fillRect/>
          </a:stretch>
        </p:blipFill>
        <p:spPr>
          <a:xfrm>
            <a:off x="7781544" y="3035808"/>
            <a:ext cx="384048" cy="384048"/>
          </a:xfrm>
          <a:prstGeom prst="rect">
            <a:avLst/>
          </a:prstGeom>
        </p:spPr>
      </p:pic>
      <p:sp>
        <p:nvSpPr>
          <p:cNvPr id="22" name="Card"/>
          <p:cNvSpPr/>
          <p:nvPr/>
        </p:nvSpPr>
        <p:spPr>
          <a:xfrm>
            <a:off x="8686800" y="2432304"/>
            <a:ext cx="2670048" cy="1207008"/>
          </a:xfrm>
          <a:prstGeom prst="roundRect">
            <a:avLst>
              <a:gd name="adj" fmla="val 38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
          <p:cNvSpPr txBox="1"/>
          <p:nvPr/>
        </p:nvSpPr>
        <p:spPr>
          <a:xfrm>
            <a:off x="8814816" y="2523744"/>
            <a:ext cx="2414016" cy="384048"/>
          </a:xfrm>
          <a:prstGeom prst="rect">
            <a:avLst/>
          </a:prstGeom>
          <a:noFill/>
        </p:spPr>
        <p:txBody>
          <a:bodyPr wrap="square" lIns="0" tIns="0" rIns="0" bIns="0" anchor="t">
            <a:spAutoFit/>
          </a:bodyPr>
          <a:lstStyle/>
          <a:p>
            <a:pPr algn="ctr">
              <a:lnSpc>
                <a:spcPct val="122000"/>
              </a:lnSpc>
            </a:pPr>
            <a:r>
              <a:rPr sz="880" b="1" i="0" spc="110">
                <a:solidFill>
                  <a:srgbClr val="64748B"/>
                </a:solidFill>
                <a:latin typeface="Segoe UI"/>
              </a:rPr>
              <a:t>5 HELD AS CONTROL / DAY</a:t>
            </a:r>
          </a:p>
          <a:p>
            <a:pPr algn="ctr">
              <a:lnSpc>
                <a:spcPct val="122000"/>
              </a:lnSpc>
            </a:pPr>
            <a:r>
              <a:rPr sz="919" b="0" i="0">
                <a:solidFill>
                  <a:srgbClr val="64748B"/>
                </a:solidFill>
                <a:latin typeface="Segoe UI"/>
              </a:rPr>
              <a:t>Business-as-usual (no call)</a:t>
            </a:r>
          </a:p>
        </p:txBody>
      </p:sp>
      <p:pic>
        <p:nvPicPr>
          <p:cNvPr id="24" name="Picture 23" descr="person_slate_light.png"/>
          <p:cNvPicPr>
            <a:picLocks noChangeAspect="1"/>
          </p:cNvPicPr>
          <p:nvPr/>
        </p:nvPicPr>
        <p:blipFill>
          <a:blip r:embed="rId5"/>
          <a:stretch>
            <a:fillRect/>
          </a:stretch>
        </p:blipFill>
        <p:spPr>
          <a:xfrm>
            <a:off x="8915400" y="3035808"/>
            <a:ext cx="384048" cy="384048"/>
          </a:xfrm>
          <a:prstGeom prst="rect">
            <a:avLst/>
          </a:prstGeom>
        </p:spPr>
      </p:pic>
      <p:pic>
        <p:nvPicPr>
          <p:cNvPr id="25" name="Picture 24" descr="person_slate_light.png"/>
          <p:cNvPicPr>
            <a:picLocks noChangeAspect="1"/>
          </p:cNvPicPr>
          <p:nvPr/>
        </p:nvPicPr>
        <p:blipFill>
          <a:blip r:embed="rId5"/>
          <a:stretch>
            <a:fillRect/>
          </a:stretch>
        </p:blipFill>
        <p:spPr>
          <a:xfrm>
            <a:off x="9363456" y="3035808"/>
            <a:ext cx="384048" cy="384048"/>
          </a:xfrm>
          <a:prstGeom prst="rect">
            <a:avLst/>
          </a:prstGeom>
        </p:spPr>
      </p:pic>
      <p:pic>
        <p:nvPicPr>
          <p:cNvPr id="26" name="Picture 25" descr="person_slate_light.png"/>
          <p:cNvPicPr>
            <a:picLocks noChangeAspect="1"/>
          </p:cNvPicPr>
          <p:nvPr/>
        </p:nvPicPr>
        <p:blipFill>
          <a:blip r:embed="rId5"/>
          <a:stretch>
            <a:fillRect/>
          </a:stretch>
        </p:blipFill>
        <p:spPr>
          <a:xfrm>
            <a:off x="9811512" y="3035808"/>
            <a:ext cx="384048" cy="384048"/>
          </a:xfrm>
          <a:prstGeom prst="rect">
            <a:avLst/>
          </a:prstGeom>
        </p:spPr>
      </p:pic>
      <p:pic>
        <p:nvPicPr>
          <p:cNvPr id="27" name="Picture 26" descr="person_slate_light.png"/>
          <p:cNvPicPr>
            <a:picLocks noChangeAspect="1"/>
          </p:cNvPicPr>
          <p:nvPr/>
        </p:nvPicPr>
        <p:blipFill>
          <a:blip r:embed="rId5"/>
          <a:stretch>
            <a:fillRect/>
          </a:stretch>
        </p:blipFill>
        <p:spPr>
          <a:xfrm>
            <a:off x="10259568" y="3035808"/>
            <a:ext cx="384048" cy="384048"/>
          </a:xfrm>
          <a:prstGeom prst="rect">
            <a:avLst/>
          </a:prstGeom>
        </p:spPr>
      </p:pic>
      <p:pic>
        <p:nvPicPr>
          <p:cNvPr id="28" name="Picture 27" descr="person_slate_light.png"/>
          <p:cNvPicPr>
            <a:picLocks noChangeAspect="1"/>
          </p:cNvPicPr>
          <p:nvPr/>
        </p:nvPicPr>
        <p:blipFill>
          <a:blip r:embed="rId5"/>
          <a:stretch>
            <a:fillRect/>
          </a:stretch>
        </p:blipFill>
        <p:spPr>
          <a:xfrm>
            <a:off x="10707624" y="3035808"/>
            <a:ext cx="384048" cy="384048"/>
          </a:xfrm>
          <a:prstGeom prst="rect">
            <a:avLst/>
          </a:prstGeom>
        </p:spPr>
      </p:pic>
      <p:sp>
        <p:nvSpPr>
          <p:cNvPr id="29" name="Text"/>
          <p:cNvSpPr txBox="1"/>
          <p:nvPr/>
        </p:nvSpPr>
        <p:spPr>
          <a:xfrm>
            <a:off x="8412480" y="2889504"/>
            <a:ext cx="274320" cy="292608"/>
          </a:xfrm>
          <a:prstGeom prst="rect">
            <a:avLst/>
          </a:prstGeom>
          <a:noFill/>
        </p:spPr>
        <p:txBody>
          <a:bodyPr wrap="square" lIns="0" tIns="0" rIns="0" bIns="0" anchor="t">
            <a:spAutoFit/>
          </a:bodyPr>
          <a:lstStyle/>
          <a:p>
            <a:pPr algn="ctr">
              <a:lnSpc>
                <a:spcPct val="122000"/>
              </a:lnSpc>
            </a:pPr>
            <a:r>
              <a:rPr sz="1100" b="1" i="0">
                <a:solidFill>
                  <a:srgbClr val="64748B"/>
                </a:solidFill>
                <a:latin typeface="Segoe UI"/>
              </a:rPr>
              <a:t>vs</a:t>
            </a:r>
          </a:p>
        </p:txBody>
      </p:sp>
      <p:sp>
        <p:nvSpPr>
          <p:cNvPr id="30" name="Card"/>
          <p:cNvSpPr/>
          <p:nvPr/>
        </p:nvSpPr>
        <p:spPr>
          <a:xfrm>
            <a:off x="5779008" y="3803904"/>
            <a:ext cx="1755648" cy="1335024"/>
          </a:xfrm>
          <a:prstGeom prst="roundRect">
            <a:avLst>
              <a:gd name="adj" fmla="val 3800"/>
            </a:avLst>
          </a:prstGeom>
          <a:solidFill>
            <a:srgbClr val="FFF1F2"/>
          </a:solidFill>
          <a:ln w="12700">
            <a:solidFill>
              <a:srgbClr val="FE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
          <p:cNvSpPr txBox="1"/>
          <p:nvPr/>
        </p:nvSpPr>
        <p:spPr>
          <a:xfrm>
            <a:off x="5852160" y="3895344"/>
            <a:ext cx="1609344" cy="1152144"/>
          </a:xfrm>
          <a:prstGeom prst="rect">
            <a:avLst/>
          </a:prstGeom>
          <a:noFill/>
        </p:spPr>
        <p:txBody>
          <a:bodyPr wrap="square" lIns="0" tIns="0" rIns="0" bIns="0" anchor="t">
            <a:spAutoFit/>
          </a:bodyPr>
          <a:lstStyle/>
          <a:p>
            <a:pPr algn="ctr">
              <a:lnSpc>
                <a:spcPct val="122000"/>
              </a:lnSpc>
              <a:spcAft>
                <a:spcPts val="300"/>
              </a:spcAft>
            </a:pPr>
            <a:r>
              <a:rPr sz="780" b="1" i="0" spc="90">
                <a:solidFill>
                  <a:srgbClr val="E11D48"/>
                </a:solidFill>
                <a:latin typeface="Segoe UI"/>
              </a:rPr>
              <a:t>TODAY (NO CALL)</a:t>
            </a:r>
          </a:p>
          <a:p>
            <a:pPr algn="ctr">
              <a:lnSpc>
                <a:spcPct val="102000"/>
              </a:lnSpc>
              <a:spcAft>
                <a:spcPts val="300"/>
              </a:spcAft>
            </a:pPr>
            <a:r>
              <a:rPr sz="2300" b="1" i="0">
                <a:solidFill>
                  <a:srgbClr val="E11D48"/>
                </a:solidFill>
                <a:latin typeface="Segoe UI"/>
              </a:rPr>
              <a:t>57.2%</a:t>
            </a:r>
          </a:p>
          <a:p>
            <a:pPr algn="ctr">
              <a:lnSpc>
                <a:spcPct val="116000"/>
              </a:lnSpc>
            </a:pPr>
            <a:r>
              <a:rPr sz="880" b="0" i="0">
                <a:solidFill>
                  <a:srgbClr val="0F172A"/>
                </a:solidFill>
                <a:latin typeface="Segoe UI"/>
              </a:rPr>
              <a:t>leave 1–2★ in control</a:t>
            </a:r>
          </a:p>
        </p:txBody>
      </p:sp>
      <p:sp>
        <p:nvSpPr>
          <p:cNvPr id="32" name="Card"/>
          <p:cNvSpPr/>
          <p:nvPr/>
        </p:nvSpPr>
        <p:spPr>
          <a:xfrm>
            <a:off x="7699248" y="3803904"/>
            <a:ext cx="1755648" cy="1335024"/>
          </a:xfrm>
          <a:prstGeom prst="roundRect">
            <a:avLst>
              <a:gd name="adj" fmla="val 3800"/>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p:cNvSpPr txBox="1"/>
          <p:nvPr/>
        </p:nvSpPr>
        <p:spPr>
          <a:xfrm>
            <a:off x="7772400" y="3895344"/>
            <a:ext cx="1609344" cy="1152144"/>
          </a:xfrm>
          <a:prstGeom prst="rect">
            <a:avLst/>
          </a:prstGeom>
          <a:noFill/>
        </p:spPr>
        <p:txBody>
          <a:bodyPr wrap="square" lIns="0" tIns="0" rIns="0" bIns="0" anchor="t">
            <a:spAutoFit/>
          </a:bodyPr>
          <a:lstStyle/>
          <a:p>
            <a:pPr algn="ctr">
              <a:lnSpc>
                <a:spcPct val="122000"/>
              </a:lnSpc>
              <a:spcAft>
                <a:spcPts val="300"/>
              </a:spcAft>
            </a:pPr>
            <a:r>
              <a:rPr sz="780" b="1" i="0" spc="90">
                <a:solidFill>
                  <a:srgbClr val="D97706"/>
                </a:solidFill>
                <a:latin typeface="Segoe UI"/>
              </a:rPr>
              <a:t>BREAK-EVEN (~1 IN 5)</a:t>
            </a:r>
          </a:p>
          <a:p>
            <a:pPr algn="ctr">
              <a:lnSpc>
                <a:spcPct val="102000"/>
              </a:lnSpc>
              <a:spcAft>
                <a:spcPts val="300"/>
              </a:spcAft>
            </a:pPr>
            <a:r>
              <a:rPr sz="2300" b="1" i="0">
                <a:solidFill>
                  <a:srgbClr val="D97706"/>
                </a:solidFill>
                <a:latin typeface="Segoe UI"/>
              </a:rPr>
              <a:t>≤ 44.7%</a:t>
            </a:r>
          </a:p>
          <a:p>
            <a:pPr algn="ctr">
              <a:lnSpc>
                <a:spcPct val="116000"/>
              </a:lnSpc>
            </a:pPr>
            <a:r>
              <a:rPr sz="880" b="0" i="0">
                <a:solidFill>
                  <a:srgbClr val="0F172A"/>
                </a:solidFill>
                <a:latin typeface="Segoe UI"/>
              </a:rPr>
              <a:t>covers R$5 call cost</a:t>
            </a:r>
          </a:p>
        </p:txBody>
      </p:sp>
      <p:sp>
        <p:nvSpPr>
          <p:cNvPr id="34" name="Card"/>
          <p:cNvSpPr/>
          <p:nvPr/>
        </p:nvSpPr>
        <p:spPr>
          <a:xfrm>
            <a:off x="9619488" y="3803904"/>
            <a:ext cx="1755648" cy="1335024"/>
          </a:xfrm>
          <a:prstGeom prst="roundRect">
            <a:avLst>
              <a:gd name="adj" fmla="val 3800"/>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p:cNvSpPr txBox="1"/>
          <p:nvPr/>
        </p:nvSpPr>
        <p:spPr>
          <a:xfrm>
            <a:off x="9692640" y="3895344"/>
            <a:ext cx="1609344" cy="1152144"/>
          </a:xfrm>
          <a:prstGeom prst="rect">
            <a:avLst/>
          </a:prstGeom>
          <a:noFill/>
        </p:spPr>
        <p:txBody>
          <a:bodyPr wrap="square" lIns="0" tIns="0" rIns="0" bIns="0" anchor="t">
            <a:spAutoFit/>
          </a:bodyPr>
          <a:lstStyle/>
          <a:p>
            <a:pPr algn="ctr">
              <a:lnSpc>
                <a:spcPct val="122000"/>
              </a:lnSpc>
              <a:spcAft>
                <a:spcPts val="300"/>
              </a:spcAft>
            </a:pPr>
            <a:r>
              <a:rPr sz="780" b="1" i="0" spc="90">
                <a:solidFill>
                  <a:srgbClr val="059669"/>
                </a:solidFill>
                <a:latin typeface="Segoe UI"/>
              </a:rPr>
              <a:t>6-WK TARGET (1 IN 4)</a:t>
            </a:r>
          </a:p>
          <a:p>
            <a:pPr algn="ctr">
              <a:lnSpc>
                <a:spcPct val="102000"/>
              </a:lnSpc>
              <a:spcAft>
                <a:spcPts val="300"/>
              </a:spcAft>
            </a:pPr>
            <a:r>
              <a:rPr sz="2300" b="1" i="0">
                <a:solidFill>
                  <a:srgbClr val="059669"/>
                </a:solidFill>
                <a:latin typeface="Segoe UI"/>
              </a:rPr>
              <a:t>42.9%</a:t>
            </a:r>
          </a:p>
          <a:p>
            <a:pPr algn="ctr">
              <a:lnSpc>
                <a:spcPct val="116000"/>
              </a:lnSpc>
            </a:pPr>
            <a:r>
              <a:rPr sz="880" b="0" i="0">
                <a:solidFill>
                  <a:srgbClr val="0F172A"/>
                </a:solidFill>
                <a:latin typeface="Segoe UI"/>
              </a:rPr>
              <a:t>80% power · +R$0.72/call</a:t>
            </a:r>
          </a:p>
        </p:txBody>
      </p:sp>
      <p:sp>
        <p:nvSpPr>
          <p:cNvPr id="36" name="Card"/>
          <p:cNvSpPr/>
          <p:nvPr/>
        </p:nvSpPr>
        <p:spPr>
          <a:xfrm>
            <a:off x="5779008" y="5285232"/>
            <a:ext cx="5577840" cy="658368"/>
          </a:xfrm>
          <a:prstGeom prst="roundRect">
            <a:avLst>
              <a:gd name="adj" fmla="val 3800"/>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
          <p:cNvSpPr txBox="1"/>
          <p:nvPr/>
        </p:nvSpPr>
        <p:spPr>
          <a:xfrm>
            <a:off x="5943600" y="5376672"/>
            <a:ext cx="5285232" cy="493776"/>
          </a:xfrm>
          <a:prstGeom prst="rect">
            <a:avLst/>
          </a:prstGeom>
          <a:noFill/>
        </p:spPr>
        <p:txBody>
          <a:bodyPr wrap="square" lIns="0" tIns="0" rIns="0" bIns="0" anchor="t">
            <a:spAutoFit/>
          </a:bodyPr>
          <a:lstStyle/>
          <a:p>
            <a:pPr algn="l">
              <a:lnSpc>
                <a:spcPct val="120000"/>
              </a:lnSpc>
            </a:pPr>
            <a:r>
              <a:rPr sz="900" b="1" i="0" spc="100">
                <a:solidFill>
                  <a:srgbClr val="2563EB"/>
                </a:solidFill>
                <a:latin typeface="Segoe UI"/>
              </a:rPr>
              <a:t>PLUS ARM B (PROMISED-DATE OVERDUE ORDERS):  </a:t>
            </a:r>
            <a:r>
              <a:rPr sz="960" b="0" i="0">
                <a:solidFill>
                  <a:srgbClr val="334155"/>
                </a:solidFill>
                <a:latin typeface="Segoe UI"/>
              </a:rPr>
              <a:t>Randomize </a:t>
            </a:r>
            <a:r>
              <a:rPr sz="960" b="1" i="0">
                <a:solidFill>
                  <a:srgbClr val="0F172A"/>
                </a:solidFill>
                <a:latin typeface="Segoe UI"/>
              </a:rPr>
              <a:t>proactive apology + holding the survey until arrival</a:t>
            </a:r>
            <a:r>
              <a:rPr sz="960" b="0" i="0">
                <a:solidFill>
                  <a:srgbClr val="334155"/>
                </a:solidFill>
                <a:latin typeface="Segoe UI"/>
              </a:rPr>
              <a:t> on overdue parcels to measure pre-arrival 1★ reduction directly.</a:t>
            </a:r>
          </a:p>
        </p:txBody>
      </p:sp>
      <p:sp>
        <p:nvSpPr>
          <p:cNvPr id="38" name="!!NavDock"/>
          <p:cNvSpPr/>
          <p:nvPr/>
        </p:nvSpPr>
        <p:spPr>
          <a:xfrm>
            <a:off x="566928" y="6327648"/>
            <a:ext cx="11055096" cy="384048"/>
          </a:xfrm>
          <a:prstGeom prst="roundRect">
            <a:avLst>
              <a:gd name="adj" fmla="val 50000"/>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Nav_1">
            <a:hlinkClick r:id="rId6" action="ppaction://hlinksldjump"/>
          </p:cNvPr>
          <p:cNvSpPr/>
          <p:nvPr/>
        </p:nvSpPr>
        <p:spPr>
          <a:xfrm>
            <a:off x="658368"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01  The Problem</a:t>
            </a:r>
          </a:p>
        </p:txBody>
      </p:sp>
      <p:sp>
        <p:nvSpPr>
          <p:cNvPr id="40" name="Nav_2">
            <a:hlinkClick r:id="rId7" action="ppaction://hlinksldjump"/>
          </p:cNvPr>
          <p:cNvSpPr/>
          <p:nvPr/>
        </p:nvSpPr>
        <p:spPr>
          <a:xfrm>
            <a:off x="1993391"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02  Why &amp; Tools</a:t>
            </a:r>
          </a:p>
        </p:txBody>
      </p:sp>
      <p:sp>
        <p:nvSpPr>
          <p:cNvPr id="41" name="Nav_3">
            <a:hlinkClick r:id="rId8" action="ppaction://hlinksldjump"/>
          </p:cNvPr>
          <p:cNvSpPr/>
          <p:nvPr/>
        </p:nvSpPr>
        <p:spPr>
          <a:xfrm>
            <a:off x="3328415"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03  Proof &amp; App</a:t>
            </a:r>
          </a:p>
        </p:txBody>
      </p:sp>
      <p:sp>
        <p:nvSpPr>
          <p:cNvPr id="42" name="Nav_4">
            <a:hlinkClick r:id="rId9" action="ppaction://hlinksldjump"/>
          </p:cNvPr>
          <p:cNvSpPr/>
          <p:nvPr/>
        </p:nvSpPr>
        <p:spPr>
          <a:xfrm>
            <a:off x="4663440" y="6373368"/>
            <a:ext cx="1261872" cy="292608"/>
          </a:xfrm>
          <a:prstGeom prst="roundRect">
            <a:avLst>
              <a:gd name="adj" fmla="val 50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FFFFFF"/>
                </a:solidFill>
                <a:latin typeface="Segoe UI"/>
              </a:rPr>
              <a:t>04  Monday Plan</a:t>
            </a:r>
          </a:p>
        </p:txBody>
      </p:sp>
      <p:sp>
        <p:nvSpPr>
          <p:cNvPr id="43" name="Nav_5">
            <a:hlinkClick r:id="rId10" action="ppaction://hlinksldjump"/>
          </p:cNvPr>
          <p:cNvSpPr/>
          <p:nvPr/>
        </p:nvSpPr>
        <p:spPr>
          <a:xfrm>
            <a:off x="5998464" y="6373368"/>
            <a:ext cx="1130198"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05  Takeaways</a:t>
            </a:r>
          </a:p>
        </p:txBody>
      </p:sp>
      <p:sp>
        <p:nvSpPr>
          <p:cNvPr id="44" name="DockJourneyLine"/>
          <p:cNvSpPr/>
          <p:nvPr/>
        </p:nvSpPr>
        <p:spPr>
          <a:xfrm>
            <a:off x="8915400" y="6510528"/>
            <a:ext cx="1115568"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5" name="!!g1" descr="g_checkout_muted.png"/>
          <p:cNvPicPr>
            <a:picLocks noChangeAspect="1"/>
          </p:cNvPicPr>
          <p:nvPr/>
        </p:nvPicPr>
        <p:blipFill>
          <a:blip r:embed="rId11"/>
          <a:stretch>
            <a:fillRect/>
          </a:stretch>
        </p:blipFill>
        <p:spPr>
          <a:xfrm>
            <a:off x="8778240" y="6409944"/>
            <a:ext cx="219456" cy="219456"/>
          </a:xfrm>
          <a:prstGeom prst="rect">
            <a:avLst/>
          </a:prstGeom>
        </p:spPr>
      </p:pic>
      <p:pic>
        <p:nvPicPr>
          <p:cNvPr id="46" name="!!g2" descr="g_promise_amber.png"/>
          <p:cNvPicPr>
            <a:picLocks noChangeAspect="1"/>
          </p:cNvPicPr>
          <p:nvPr/>
        </p:nvPicPr>
        <p:blipFill>
          <a:blip r:embed="rId12"/>
          <a:stretch>
            <a:fillRect/>
          </a:stretch>
        </p:blipFill>
        <p:spPr>
          <a:xfrm>
            <a:off x="9144000" y="6377940"/>
            <a:ext cx="283464" cy="283464"/>
          </a:xfrm>
          <a:prstGeom prst="rect">
            <a:avLst/>
          </a:prstGeom>
        </p:spPr>
      </p:pic>
      <p:pic>
        <p:nvPicPr>
          <p:cNvPr id="47" name="!!g3" descr="g_delivery_green.png"/>
          <p:cNvPicPr>
            <a:picLocks noChangeAspect="1"/>
          </p:cNvPicPr>
          <p:nvPr/>
        </p:nvPicPr>
        <p:blipFill>
          <a:blip r:embed="rId13"/>
          <a:stretch>
            <a:fillRect/>
          </a:stretch>
        </p:blipFill>
        <p:spPr>
          <a:xfrm>
            <a:off x="9509760" y="6377940"/>
            <a:ext cx="283464" cy="283464"/>
          </a:xfrm>
          <a:prstGeom prst="rect">
            <a:avLst/>
          </a:prstGeom>
        </p:spPr>
      </p:pic>
      <p:pic>
        <p:nvPicPr>
          <p:cNvPr id="48" name="!!g4" descr="g_review_muted.png"/>
          <p:cNvPicPr>
            <a:picLocks noChangeAspect="1"/>
          </p:cNvPicPr>
          <p:nvPr/>
        </p:nvPicPr>
        <p:blipFill>
          <a:blip r:embed="rId14"/>
          <a:stretch>
            <a:fillRect/>
          </a:stretch>
        </p:blipFill>
        <p:spPr>
          <a:xfrm>
            <a:off x="9875520" y="6409944"/>
            <a:ext cx="219456" cy="219456"/>
          </a:xfrm>
          <a:prstGeom prst="rect">
            <a:avLst/>
          </a:prstGeom>
        </p:spPr>
      </p:pic>
      <p:sp>
        <p:nvSpPr>
          <p:cNvPr id="49" name="Nav_QA">
            <a:hlinkClick r:id="rId15" action="ppaction://hlinksldjump"/>
          </p:cNvPr>
          <p:cNvSpPr/>
          <p:nvPr/>
        </p:nvSpPr>
        <p:spPr>
          <a:xfrm>
            <a:off x="10387584" y="6373368"/>
            <a:ext cx="1152144" cy="292608"/>
          </a:xfrm>
          <a:prstGeom prst="roundRect">
            <a:avLst>
              <a:gd name="adj" fmla="val 50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0F172A"/>
                </a:solidFill>
                <a:latin typeface="Segoe UI"/>
              </a:rPr>
              <a:t>Q&amp;A · 11/13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anim calcmode="lin" valueType="num">
                                      <p:cBhvr>
                                        <p:cTn id="8" dur="400" fill="hold"/>
                                        <p:tgtEl>
                                          <p:spTgt spid="3"/>
                                        </p:tgtEl>
                                        <p:attrNameLst>
                                          <p:attrName>ppt_x</p:attrName>
                                        </p:attrNameLst>
                                      </p:cBhvr>
                                      <p:tavLst>
                                        <p:tav tm="0">
                                          <p:val>
                                            <p:strVal val="#ppt_x"/>
                                          </p:val>
                                        </p:tav>
                                        <p:tav tm="100000">
                                          <p:val>
                                            <p:strVal val="#ppt_x"/>
                                          </p:val>
                                        </p:tav>
                                      </p:tavLst>
                                    </p:anim>
                                    <p:anim calcmode="lin" valueType="num">
                                      <p:cBhvr>
                                        <p:cTn id="9" dur="40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anim calcmode="lin" valueType="num">
                                      <p:cBhvr>
                                        <p:cTn id="13" dur="400" fill="hold"/>
                                        <p:tgtEl>
                                          <p:spTgt spid="4"/>
                                        </p:tgtEl>
                                        <p:attrNameLst>
                                          <p:attrName>ppt_x</p:attrName>
                                        </p:attrNameLst>
                                      </p:cBhvr>
                                      <p:tavLst>
                                        <p:tav tm="0">
                                          <p:val>
                                            <p:strVal val="#ppt_x"/>
                                          </p:val>
                                        </p:tav>
                                        <p:tav tm="100000">
                                          <p:val>
                                            <p:strVal val="#ppt_x"/>
                                          </p:val>
                                        </p:tav>
                                      </p:tavLst>
                                    </p:anim>
                                    <p:anim calcmode="lin" valueType="num">
                                      <p:cBhvr>
                                        <p:cTn id="14" dur="40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anim calcmode="lin" valueType="num">
                                      <p:cBhvr>
                                        <p:cTn id="18" dur="400" fill="hold"/>
                                        <p:tgtEl>
                                          <p:spTgt spid="5"/>
                                        </p:tgtEl>
                                        <p:attrNameLst>
                                          <p:attrName>ppt_x</p:attrName>
                                        </p:attrNameLst>
                                      </p:cBhvr>
                                      <p:tavLst>
                                        <p:tav tm="0">
                                          <p:val>
                                            <p:strVal val="#ppt_x"/>
                                          </p:val>
                                        </p:tav>
                                        <p:tav tm="100000">
                                          <p:val>
                                            <p:strVal val="#ppt_x"/>
                                          </p:val>
                                        </p:tav>
                                      </p:tavLst>
                                    </p:anim>
                                    <p:anim calcmode="lin" valueType="num">
                                      <p:cBhvr>
                                        <p:cTn id="19" dur="40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17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50"/>
                                        <p:tgtEl>
                                          <p:spTgt spid="6"/>
                                        </p:tgtEl>
                                      </p:cBhvr>
                                    </p:animEffect>
                                    <p:anim calcmode="lin" valueType="num">
                                      <p:cBhvr>
                                        <p:cTn id="23" dur="45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7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50"/>
                                        <p:tgtEl>
                                          <p:spTgt spid="7"/>
                                        </p:tgtEl>
                                      </p:cBhvr>
                                    </p:animEffect>
                                    <p:anim calcmode="lin" valueType="num">
                                      <p:cBhvr>
                                        <p:cTn id="28" dur="450" fill="hold"/>
                                        <p:tgtEl>
                                          <p:spTgt spid="7"/>
                                        </p:tgtEl>
                                        <p:attrNameLst>
                                          <p:attrName>ppt_x</p:attrName>
                                        </p:attrNameLst>
                                      </p:cBhvr>
                                      <p:tavLst>
                                        <p:tav tm="0">
                                          <p:val>
                                            <p:strVal val="#ppt_x"/>
                                          </p:val>
                                        </p:tav>
                                        <p:tav tm="100000">
                                          <p:val>
                                            <p:strVal val="#ppt_x"/>
                                          </p:val>
                                        </p:tav>
                                      </p:tavLst>
                                    </p:anim>
                                    <p:anim calcmode="lin" valueType="num">
                                      <p:cBhvr>
                                        <p:cTn id="29" dur="450" decel="100000" fill="hold"/>
                                        <p:tgtEl>
                                          <p:spTgt spid="7"/>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7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50"/>
                                        <p:tgtEl>
                                          <p:spTgt spid="8"/>
                                        </p:tgtEl>
                                      </p:cBhvr>
                                    </p:animEffect>
                                    <p:anim calcmode="lin" valueType="num">
                                      <p:cBhvr>
                                        <p:cTn id="33" dur="450" fill="hold"/>
                                        <p:tgtEl>
                                          <p:spTgt spid="8"/>
                                        </p:tgtEl>
                                        <p:attrNameLst>
                                          <p:attrName>ppt_x</p:attrName>
                                        </p:attrNameLst>
                                      </p:cBhvr>
                                      <p:tavLst>
                                        <p:tav tm="0">
                                          <p:val>
                                            <p:strVal val="#ppt_x"/>
                                          </p:val>
                                        </p:tav>
                                        <p:tav tm="100000">
                                          <p:val>
                                            <p:strVal val="#ppt_x"/>
                                          </p:val>
                                        </p:tav>
                                      </p:tavLst>
                                    </p:anim>
                                    <p:anim calcmode="lin" valueType="num">
                                      <p:cBhvr>
                                        <p:cTn id="34" dur="450" decel="100000" fill="hold"/>
                                        <p:tgtEl>
                                          <p:spTgt spid="8"/>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17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50"/>
                                        <p:tgtEl>
                                          <p:spTgt spid="9"/>
                                        </p:tgtEl>
                                      </p:cBhvr>
                                    </p:animEffect>
                                    <p:anim calcmode="lin" valueType="num">
                                      <p:cBhvr>
                                        <p:cTn id="38" dur="450" fill="hold"/>
                                        <p:tgtEl>
                                          <p:spTgt spid="9"/>
                                        </p:tgtEl>
                                        <p:attrNameLst>
                                          <p:attrName>ppt_x</p:attrName>
                                        </p:attrNameLst>
                                      </p:cBhvr>
                                      <p:tavLst>
                                        <p:tav tm="0">
                                          <p:val>
                                            <p:strVal val="#ppt_x"/>
                                          </p:val>
                                        </p:tav>
                                        <p:tav tm="100000">
                                          <p:val>
                                            <p:strVal val="#ppt_x"/>
                                          </p:val>
                                        </p:tav>
                                      </p:tavLst>
                                    </p:anim>
                                    <p:anim calcmode="lin" valueType="num">
                                      <p:cBhvr>
                                        <p:cTn id="39" dur="450" decel="100000" fill="hold"/>
                                        <p:tgtEl>
                                          <p:spTgt spid="9"/>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17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450"/>
                                        <p:tgtEl>
                                          <p:spTgt spid="10"/>
                                        </p:tgtEl>
                                      </p:cBhvr>
                                    </p:animEffect>
                                    <p:anim calcmode="lin" valueType="num">
                                      <p:cBhvr>
                                        <p:cTn id="43" dur="450" fill="hold"/>
                                        <p:tgtEl>
                                          <p:spTgt spid="10"/>
                                        </p:tgtEl>
                                        <p:attrNameLst>
                                          <p:attrName>ppt_x</p:attrName>
                                        </p:attrNameLst>
                                      </p:cBhvr>
                                      <p:tavLst>
                                        <p:tav tm="0">
                                          <p:val>
                                            <p:strVal val="#ppt_x"/>
                                          </p:val>
                                        </p:tav>
                                        <p:tav tm="100000">
                                          <p:val>
                                            <p:strVal val="#ppt_x"/>
                                          </p:val>
                                        </p:tav>
                                      </p:tavLst>
                                    </p:anim>
                                    <p:anim calcmode="lin" valueType="num">
                                      <p:cBhvr>
                                        <p:cTn id="44" dur="450" decel="100000" fill="hold"/>
                                        <p:tgtEl>
                                          <p:spTgt spid="10"/>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17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450"/>
                                        <p:tgtEl>
                                          <p:spTgt spid="11"/>
                                        </p:tgtEl>
                                      </p:cBhvr>
                                    </p:animEffect>
                                    <p:anim calcmode="lin" valueType="num">
                                      <p:cBhvr>
                                        <p:cTn id="48" dur="450" fill="hold"/>
                                        <p:tgtEl>
                                          <p:spTgt spid="11"/>
                                        </p:tgtEl>
                                        <p:attrNameLst>
                                          <p:attrName>ppt_x</p:attrName>
                                        </p:attrNameLst>
                                      </p:cBhvr>
                                      <p:tavLst>
                                        <p:tav tm="0">
                                          <p:val>
                                            <p:strVal val="#ppt_x"/>
                                          </p:val>
                                        </p:tav>
                                        <p:tav tm="100000">
                                          <p:val>
                                            <p:strVal val="#ppt_x"/>
                                          </p:val>
                                        </p:tav>
                                      </p:tavLst>
                                    </p:anim>
                                    <p:anim calcmode="lin" valueType="num">
                                      <p:cBhvr>
                                        <p:cTn id="49" dur="450" decel="100000" fill="hold"/>
                                        <p:tgtEl>
                                          <p:spTgt spid="11"/>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32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50"/>
                                        <p:tgtEl>
                                          <p:spTgt spid="12"/>
                                        </p:tgtEl>
                                      </p:cBhvr>
                                    </p:animEffect>
                                    <p:anim calcmode="lin" valueType="num">
                                      <p:cBhvr>
                                        <p:cTn id="53" dur="450" fill="hold"/>
                                        <p:tgtEl>
                                          <p:spTgt spid="12"/>
                                        </p:tgtEl>
                                        <p:attrNameLst>
                                          <p:attrName>ppt_x</p:attrName>
                                        </p:attrNameLst>
                                      </p:cBhvr>
                                      <p:tavLst>
                                        <p:tav tm="0">
                                          <p:val>
                                            <p:strVal val="#ppt_x"/>
                                          </p:val>
                                        </p:tav>
                                        <p:tav tm="100000">
                                          <p:val>
                                            <p:strVal val="#ppt_x"/>
                                          </p:val>
                                        </p:tav>
                                      </p:tavLst>
                                    </p:anim>
                                    <p:anim calcmode="lin" valueType="num">
                                      <p:cBhvr>
                                        <p:cTn id="54" dur="450" decel="100000" fill="hold"/>
                                        <p:tgtEl>
                                          <p:spTgt spid="12"/>
                                        </p:tgtEl>
                                        <p:attrNameLst>
                                          <p:attrName>ppt_y</p:attrName>
                                        </p:attrNameLst>
                                      </p:cBhvr>
                                      <p:tavLst>
                                        <p:tav tm="0">
                                          <p:val>
                                            <p:strVal val="#ppt_y+0.018"/>
                                          </p:val>
                                        </p:tav>
                                        <p:tav tm="100000">
                                          <p:val>
                                            <p:strVal val="#ppt_y"/>
                                          </p:val>
                                        </p:tav>
                                      </p:tavLst>
                                    </p:anim>
                                  </p:childTnLst>
                                </p:cTn>
                              </p:par>
                              <p:par>
                                <p:cTn id="55" presetID="42" presetClass="entr" presetSubtype="4" fill="hold" grpId="0" nodeType="withEffect">
                                  <p:stCondLst>
                                    <p:cond delay="32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450"/>
                                        <p:tgtEl>
                                          <p:spTgt spid="13"/>
                                        </p:tgtEl>
                                      </p:cBhvr>
                                    </p:animEffect>
                                    <p:anim calcmode="lin" valueType="num">
                                      <p:cBhvr>
                                        <p:cTn id="58" dur="450" fill="hold"/>
                                        <p:tgtEl>
                                          <p:spTgt spid="13"/>
                                        </p:tgtEl>
                                        <p:attrNameLst>
                                          <p:attrName>ppt_x</p:attrName>
                                        </p:attrNameLst>
                                      </p:cBhvr>
                                      <p:tavLst>
                                        <p:tav tm="0">
                                          <p:val>
                                            <p:strVal val="#ppt_x"/>
                                          </p:val>
                                        </p:tav>
                                        <p:tav tm="100000">
                                          <p:val>
                                            <p:strVal val="#ppt_x"/>
                                          </p:val>
                                        </p:tav>
                                      </p:tavLst>
                                    </p:anim>
                                    <p:anim calcmode="lin" valueType="num">
                                      <p:cBhvr>
                                        <p:cTn id="59" dur="450" decel="100000" fill="hold"/>
                                        <p:tgtEl>
                                          <p:spTgt spid="13"/>
                                        </p:tgtEl>
                                        <p:attrNameLst>
                                          <p:attrName>ppt_y</p:attrName>
                                        </p:attrNameLst>
                                      </p:cBhvr>
                                      <p:tavLst>
                                        <p:tav tm="0">
                                          <p:val>
                                            <p:strVal val="#ppt_y+0.018"/>
                                          </p:val>
                                        </p:tav>
                                        <p:tav tm="100000">
                                          <p:val>
                                            <p:strVal val="#ppt_y"/>
                                          </p:val>
                                        </p:tav>
                                      </p:tavLst>
                                    </p:anim>
                                  </p:childTnLst>
                                </p:cTn>
                              </p:par>
                              <p:par>
                                <p:cTn id="60" presetID="42" presetClass="entr" presetSubtype="4" fill="hold" grpId="0" nodeType="withEffect">
                                  <p:stCondLst>
                                    <p:cond delay="32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anim calcmode="lin" valueType="num">
                                      <p:cBhvr>
                                        <p:cTn id="63" dur="450" fill="hold"/>
                                        <p:tgtEl>
                                          <p:spTgt spid="15"/>
                                        </p:tgtEl>
                                        <p:attrNameLst>
                                          <p:attrName>ppt_x</p:attrName>
                                        </p:attrNameLst>
                                      </p:cBhvr>
                                      <p:tavLst>
                                        <p:tav tm="0">
                                          <p:val>
                                            <p:strVal val="#ppt_x"/>
                                          </p:val>
                                        </p:tav>
                                        <p:tav tm="100000">
                                          <p:val>
                                            <p:strVal val="#ppt_x"/>
                                          </p:val>
                                        </p:tav>
                                      </p:tavLst>
                                    </p:anim>
                                    <p:anim calcmode="lin" valueType="num">
                                      <p:cBhvr>
                                        <p:cTn id="64" dur="450" decel="100000" fill="hold"/>
                                        <p:tgtEl>
                                          <p:spTgt spid="15"/>
                                        </p:tgtEl>
                                        <p:attrNameLst>
                                          <p:attrName>ppt_y</p:attrName>
                                        </p:attrNameLst>
                                      </p:cBhvr>
                                      <p:tavLst>
                                        <p:tav tm="0">
                                          <p:val>
                                            <p:strVal val="#ppt_y+0.018"/>
                                          </p:val>
                                        </p:tav>
                                        <p:tav tm="100000">
                                          <p:val>
                                            <p:strVal val="#ppt_y"/>
                                          </p:val>
                                        </p:tav>
                                      </p:tavLst>
                                    </p:anim>
                                  </p:childTnLst>
                                </p:cTn>
                              </p:par>
                              <p:par>
                                <p:cTn id="65" presetID="42" presetClass="entr" presetSubtype="4" fill="hold" grpId="0" nodeType="withEffect">
                                  <p:stCondLst>
                                    <p:cond delay="32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450"/>
                                        <p:tgtEl>
                                          <p:spTgt spid="22"/>
                                        </p:tgtEl>
                                      </p:cBhvr>
                                    </p:animEffect>
                                    <p:anim calcmode="lin" valueType="num">
                                      <p:cBhvr>
                                        <p:cTn id="68" dur="450" fill="hold"/>
                                        <p:tgtEl>
                                          <p:spTgt spid="22"/>
                                        </p:tgtEl>
                                        <p:attrNameLst>
                                          <p:attrName>ppt_x</p:attrName>
                                        </p:attrNameLst>
                                      </p:cBhvr>
                                      <p:tavLst>
                                        <p:tav tm="0">
                                          <p:val>
                                            <p:strVal val="#ppt_x"/>
                                          </p:val>
                                        </p:tav>
                                        <p:tav tm="100000">
                                          <p:val>
                                            <p:strVal val="#ppt_x"/>
                                          </p:val>
                                        </p:tav>
                                      </p:tavLst>
                                    </p:anim>
                                    <p:anim calcmode="lin" valueType="num">
                                      <p:cBhvr>
                                        <p:cTn id="69" dur="450" decel="100000" fill="hold"/>
                                        <p:tgtEl>
                                          <p:spTgt spid="22"/>
                                        </p:tgtEl>
                                        <p:attrNameLst>
                                          <p:attrName>ppt_y</p:attrName>
                                        </p:attrNameLst>
                                      </p:cBhvr>
                                      <p:tavLst>
                                        <p:tav tm="0">
                                          <p:val>
                                            <p:strVal val="#ppt_y+0.018"/>
                                          </p:val>
                                        </p:tav>
                                        <p:tav tm="100000">
                                          <p:val>
                                            <p:strVal val="#ppt_y"/>
                                          </p:val>
                                        </p:tav>
                                      </p:tavLst>
                                    </p:anim>
                                  </p:childTnLst>
                                </p:cTn>
                              </p:par>
                              <p:par>
                                <p:cTn id="70" presetID="42" presetClass="entr" presetSubtype="4" fill="hold" grpId="0" nodeType="withEffect">
                                  <p:stCondLst>
                                    <p:cond delay="47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450"/>
                                        <p:tgtEl>
                                          <p:spTgt spid="30"/>
                                        </p:tgtEl>
                                      </p:cBhvr>
                                    </p:animEffect>
                                    <p:anim calcmode="lin" valueType="num">
                                      <p:cBhvr>
                                        <p:cTn id="73" dur="450" fill="hold"/>
                                        <p:tgtEl>
                                          <p:spTgt spid="30"/>
                                        </p:tgtEl>
                                        <p:attrNameLst>
                                          <p:attrName>ppt_x</p:attrName>
                                        </p:attrNameLst>
                                      </p:cBhvr>
                                      <p:tavLst>
                                        <p:tav tm="0">
                                          <p:val>
                                            <p:strVal val="#ppt_x"/>
                                          </p:val>
                                        </p:tav>
                                        <p:tav tm="100000">
                                          <p:val>
                                            <p:strVal val="#ppt_x"/>
                                          </p:val>
                                        </p:tav>
                                      </p:tavLst>
                                    </p:anim>
                                    <p:anim calcmode="lin" valueType="num">
                                      <p:cBhvr>
                                        <p:cTn id="74" dur="450" decel="100000" fill="hold"/>
                                        <p:tgtEl>
                                          <p:spTgt spid="30"/>
                                        </p:tgtEl>
                                        <p:attrNameLst>
                                          <p:attrName>ppt_y</p:attrName>
                                        </p:attrNameLst>
                                      </p:cBhvr>
                                      <p:tavLst>
                                        <p:tav tm="0">
                                          <p:val>
                                            <p:strVal val="#ppt_y+0.018"/>
                                          </p:val>
                                        </p:tav>
                                        <p:tav tm="100000">
                                          <p:val>
                                            <p:strVal val="#ppt_y"/>
                                          </p:val>
                                        </p:tav>
                                      </p:tavLst>
                                    </p:anim>
                                  </p:childTnLst>
                                </p:cTn>
                              </p:par>
                              <p:par>
                                <p:cTn id="75" presetID="42" presetClass="entr" presetSubtype="4" fill="hold" grpId="0" nodeType="withEffect">
                                  <p:stCondLst>
                                    <p:cond delay="47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450"/>
                                        <p:tgtEl>
                                          <p:spTgt spid="31"/>
                                        </p:tgtEl>
                                      </p:cBhvr>
                                    </p:animEffect>
                                    <p:anim calcmode="lin" valueType="num">
                                      <p:cBhvr>
                                        <p:cTn id="78" dur="450" fill="hold"/>
                                        <p:tgtEl>
                                          <p:spTgt spid="31"/>
                                        </p:tgtEl>
                                        <p:attrNameLst>
                                          <p:attrName>ppt_x</p:attrName>
                                        </p:attrNameLst>
                                      </p:cBhvr>
                                      <p:tavLst>
                                        <p:tav tm="0">
                                          <p:val>
                                            <p:strVal val="#ppt_x"/>
                                          </p:val>
                                        </p:tav>
                                        <p:tav tm="100000">
                                          <p:val>
                                            <p:strVal val="#ppt_x"/>
                                          </p:val>
                                        </p:tav>
                                      </p:tavLst>
                                    </p:anim>
                                    <p:anim calcmode="lin" valueType="num">
                                      <p:cBhvr>
                                        <p:cTn id="79" dur="450" decel="100000" fill="hold"/>
                                        <p:tgtEl>
                                          <p:spTgt spid="31"/>
                                        </p:tgtEl>
                                        <p:attrNameLst>
                                          <p:attrName>ppt_y</p:attrName>
                                        </p:attrNameLst>
                                      </p:cBhvr>
                                      <p:tavLst>
                                        <p:tav tm="0">
                                          <p:val>
                                            <p:strVal val="#ppt_y+0.018"/>
                                          </p:val>
                                        </p:tav>
                                        <p:tav tm="100000">
                                          <p:val>
                                            <p:strVal val="#ppt_y"/>
                                          </p:val>
                                        </p:tav>
                                      </p:tavLst>
                                    </p:anim>
                                  </p:childTnLst>
                                </p:cTn>
                              </p:par>
                              <p:par>
                                <p:cTn id="80" presetID="42" presetClass="entr" presetSubtype="4" fill="hold" grpId="0" nodeType="withEffect">
                                  <p:stCondLst>
                                    <p:cond delay="47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450"/>
                                        <p:tgtEl>
                                          <p:spTgt spid="32"/>
                                        </p:tgtEl>
                                      </p:cBhvr>
                                    </p:animEffect>
                                    <p:anim calcmode="lin" valueType="num">
                                      <p:cBhvr>
                                        <p:cTn id="83" dur="450" fill="hold"/>
                                        <p:tgtEl>
                                          <p:spTgt spid="32"/>
                                        </p:tgtEl>
                                        <p:attrNameLst>
                                          <p:attrName>ppt_x</p:attrName>
                                        </p:attrNameLst>
                                      </p:cBhvr>
                                      <p:tavLst>
                                        <p:tav tm="0">
                                          <p:val>
                                            <p:strVal val="#ppt_x"/>
                                          </p:val>
                                        </p:tav>
                                        <p:tav tm="100000">
                                          <p:val>
                                            <p:strVal val="#ppt_x"/>
                                          </p:val>
                                        </p:tav>
                                      </p:tavLst>
                                    </p:anim>
                                    <p:anim calcmode="lin" valueType="num">
                                      <p:cBhvr>
                                        <p:cTn id="84" dur="450" decel="100000" fill="hold"/>
                                        <p:tgtEl>
                                          <p:spTgt spid="32"/>
                                        </p:tgtEl>
                                        <p:attrNameLst>
                                          <p:attrName>ppt_y</p:attrName>
                                        </p:attrNameLst>
                                      </p:cBhvr>
                                      <p:tavLst>
                                        <p:tav tm="0">
                                          <p:val>
                                            <p:strVal val="#ppt_y+0.018"/>
                                          </p:val>
                                        </p:tav>
                                        <p:tav tm="100000">
                                          <p:val>
                                            <p:strVal val="#ppt_y"/>
                                          </p:val>
                                        </p:tav>
                                      </p:tavLst>
                                    </p:anim>
                                  </p:childTnLst>
                                </p:cTn>
                              </p:par>
                              <p:par>
                                <p:cTn id="85" presetID="42" presetClass="entr" presetSubtype="4" fill="hold" grpId="0" nodeType="withEffect">
                                  <p:stCondLst>
                                    <p:cond delay="47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450"/>
                                        <p:tgtEl>
                                          <p:spTgt spid="33"/>
                                        </p:tgtEl>
                                      </p:cBhvr>
                                    </p:animEffect>
                                    <p:anim calcmode="lin" valueType="num">
                                      <p:cBhvr>
                                        <p:cTn id="88" dur="450" fill="hold"/>
                                        <p:tgtEl>
                                          <p:spTgt spid="33"/>
                                        </p:tgtEl>
                                        <p:attrNameLst>
                                          <p:attrName>ppt_x</p:attrName>
                                        </p:attrNameLst>
                                      </p:cBhvr>
                                      <p:tavLst>
                                        <p:tav tm="0">
                                          <p:val>
                                            <p:strVal val="#ppt_x"/>
                                          </p:val>
                                        </p:tav>
                                        <p:tav tm="100000">
                                          <p:val>
                                            <p:strVal val="#ppt_x"/>
                                          </p:val>
                                        </p:tav>
                                      </p:tavLst>
                                    </p:anim>
                                    <p:anim calcmode="lin" valueType="num">
                                      <p:cBhvr>
                                        <p:cTn id="89" dur="450" decel="100000" fill="hold"/>
                                        <p:tgtEl>
                                          <p:spTgt spid="33"/>
                                        </p:tgtEl>
                                        <p:attrNameLst>
                                          <p:attrName>ppt_y</p:attrName>
                                        </p:attrNameLst>
                                      </p:cBhvr>
                                      <p:tavLst>
                                        <p:tav tm="0">
                                          <p:val>
                                            <p:strVal val="#ppt_y+0.018"/>
                                          </p:val>
                                        </p:tav>
                                        <p:tav tm="100000">
                                          <p:val>
                                            <p:strVal val="#ppt_y"/>
                                          </p:val>
                                        </p:tav>
                                      </p:tavLst>
                                    </p:anim>
                                  </p:childTnLst>
                                </p:cTn>
                              </p:par>
                              <p:par>
                                <p:cTn id="90" presetID="42" presetClass="entr" presetSubtype="4" fill="hold" grpId="0" nodeType="withEffect">
                                  <p:stCondLst>
                                    <p:cond delay="47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450"/>
                                        <p:tgtEl>
                                          <p:spTgt spid="34"/>
                                        </p:tgtEl>
                                      </p:cBhvr>
                                    </p:animEffect>
                                    <p:anim calcmode="lin" valueType="num">
                                      <p:cBhvr>
                                        <p:cTn id="93" dur="450" fill="hold"/>
                                        <p:tgtEl>
                                          <p:spTgt spid="34"/>
                                        </p:tgtEl>
                                        <p:attrNameLst>
                                          <p:attrName>ppt_x</p:attrName>
                                        </p:attrNameLst>
                                      </p:cBhvr>
                                      <p:tavLst>
                                        <p:tav tm="0">
                                          <p:val>
                                            <p:strVal val="#ppt_x"/>
                                          </p:val>
                                        </p:tav>
                                        <p:tav tm="100000">
                                          <p:val>
                                            <p:strVal val="#ppt_x"/>
                                          </p:val>
                                        </p:tav>
                                      </p:tavLst>
                                    </p:anim>
                                    <p:anim calcmode="lin" valueType="num">
                                      <p:cBhvr>
                                        <p:cTn id="94" dur="450" decel="100000" fill="hold"/>
                                        <p:tgtEl>
                                          <p:spTgt spid="34"/>
                                        </p:tgtEl>
                                        <p:attrNameLst>
                                          <p:attrName>ppt_y</p:attrName>
                                        </p:attrNameLst>
                                      </p:cBhvr>
                                      <p:tavLst>
                                        <p:tav tm="0">
                                          <p:val>
                                            <p:strVal val="#ppt_y+0.018"/>
                                          </p:val>
                                        </p:tav>
                                        <p:tav tm="100000">
                                          <p:val>
                                            <p:strVal val="#ppt_y"/>
                                          </p:val>
                                        </p:tav>
                                      </p:tavLst>
                                    </p:anim>
                                  </p:childTnLst>
                                </p:cTn>
                              </p:par>
                              <p:par>
                                <p:cTn id="95" presetID="42" presetClass="entr" presetSubtype="4" fill="hold" grpId="0" nodeType="withEffect">
                                  <p:stCondLst>
                                    <p:cond delay="47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450"/>
                                        <p:tgtEl>
                                          <p:spTgt spid="35"/>
                                        </p:tgtEl>
                                      </p:cBhvr>
                                    </p:animEffect>
                                    <p:anim calcmode="lin" valueType="num">
                                      <p:cBhvr>
                                        <p:cTn id="98" dur="450" fill="hold"/>
                                        <p:tgtEl>
                                          <p:spTgt spid="35"/>
                                        </p:tgtEl>
                                        <p:attrNameLst>
                                          <p:attrName>ppt_x</p:attrName>
                                        </p:attrNameLst>
                                      </p:cBhvr>
                                      <p:tavLst>
                                        <p:tav tm="0">
                                          <p:val>
                                            <p:strVal val="#ppt_x"/>
                                          </p:val>
                                        </p:tav>
                                        <p:tav tm="100000">
                                          <p:val>
                                            <p:strVal val="#ppt_x"/>
                                          </p:val>
                                        </p:tav>
                                      </p:tavLst>
                                    </p:anim>
                                    <p:anim calcmode="lin" valueType="num">
                                      <p:cBhvr>
                                        <p:cTn id="99" dur="450" decel="100000" fill="hold"/>
                                        <p:tgtEl>
                                          <p:spTgt spid="35"/>
                                        </p:tgtEl>
                                        <p:attrNameLst>
                                          <p:attrName>ppt_y</p:attrName>
                                        </p:attrNameLst>
                                      </p:cBhvr>
                                      <p:tavLst>
                                        <p:tav tm="0">
                                          <p:val>
                                            <p:strVal val="#ppt_y+0.018"/>
                                          </p:val>
                                        </p:tav>
                                        <p:tav tm="100000">
                                          <p:val>
                                            <p:strVal val="#ppt_y"/>
                                          </p:val>
                                        </p:tav>
                                      </p:tavLst>
                                    </p:anim>
                                  </p:childTnLst>
                                </p:cTn>
                              </p:par>
                              <p:par>
                                <p:cTn id="100" presetID="42" presetClass="entr" presetSubtype="4" fill="hold" grpId="0" nodeType="withEffect">
                                  <p:stCondLst>
                                    <p:cond delay="470"/>
                                  </p:stCondLst>
                                  <p:childTnLst>
                                    <p:set>
                                      <p:cBhvr>
                                        <p:cTn id="101" dur="1" fill="hold">
                                          <p:stCondLst>
                                            <p:cond delay="0"/>
                                          </p:stCondLst>
                                        </p:cTn>
                                        <p:tgtEl>
                                          <p:spTgt spid="36"/>
                                        </p:tgtEl>
                                        <p:attrNameLst>
                                          <p:attrName>style.visibility</p:attrName>
                                        </p:attrNameLst>
                                      </p:cBhvr>
                                      <p:to>
                                        <p:strVal val="visible"/>
                                      </p:to>
                                    </p:set>
                                    <p:animEffect transition="in" filter="fade">
                                      <p:cBhvr>
                                        <p:cTn id="102" dur="450"/>
                                        <p:tgtEl>
                                          <p:spTgt spid="36"/>
                                        </p:tgtEl>
                                      </p:cBhvr>
                                    </p:animEffect>
                                    <p:anim calcmode="lin" valueType="num">
                                      <p:cBhvr>
                                        <p:cTn id="103" dur="450" fill="hold"/>
                                        <p:tgtEl>
                                          <p:spTgt spid="36"/>
                                        </p:tgtEl>
                                        <p:attrNameLst>
                                          <p:attrName>ppt_x</p:attrName>
                                        </p:attrNameLst>
                                      </p:cBhvr>
                                      <p:tavLst>
                                        <p:tav tm="0">
                                          <p:val>
                                            <p:strVal val="#ppt_x"/>
                                          </p:val>
                                        </p:tav>
                                        <p:tav tm="100000">
                                          <p:val>
                                            <p:strVal val="#ppt_x"/>
                                          </p:val>
                                        </p:tav>
                                      </p:tavLst>
                                    </p:anim>
                                    <p:anim calcmode="lin" valueType="num">
                                      <p:cBhvr>
                                        <p:cTn id="104" dur="450" decel="100000" fill="hold"/>
                                        <p:tgtEl>
                                          <p:spTgt spid="36"/>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22" grpId="0" animBg="1"/>
      <p:bldP spid="30" grpId="0" animBg="1"/>
      <p:bldP spid="31" grpId="0" animBg="1"/>
      <p:bldP spid="32" grpId="0" animBg="1"/>
      <p:bldP spid="33" grpId="0" animBg="1"/>
      <p:bldP spid="34" grpId="0" animBg="1"/>
      <p:bldP spid="35" grpId="0" animBg="1"/>
      <p:bldP spid="3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light_studio_bg.jpg"/>
          <p:cNvPicPr>
            <a:picLocks noChangeAspect="1"/>
          </p:cNvPicPr>
          <p:nvPr/>
        </p:nvPicPr>
        <p:blipFill>
          <a:blip r:embed="rId3"/>
          <a:stretch>
            <a:fillRect/>
          </a:stretch>
        </p:blipFill>
        <p:spPr>
          <a:xfrm>
            <a:off x="0" y="0"/>
            <a:ext cx="12191695" cy="6858000"/>
          </a:xfrm>
          <a:prstGeom prst="rect">
            <a:avLst/>
          </a:prstGeom>
        </p:spPr>
      </p:pic>
      <p:sp>
        <p:nvSpPr>
          <p:cNvPr id="3" name="EyebrowPill"/>
          <p:cNvSpPr/>
          <p:nvPr/>
        </p:nvSpPr>
        <p:spPr>
          <a:xfrm>
            <a:off x="566928" y="329184"/>
            <a:ext cx="4449470" cy="256032"/>
          </a:xfrm>
          <a:prstGeom prst="roundRect">
            <a:avLst>
              <a:gd name="adj" fmla="val 5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4F46E5"/>
                </a:solidFill>
                <a:latin typeface="Segoe UI"/>
              </a:rPr>
              <a:t>05 · KEY TAKEAWAYS &amp; RESPONSIBLE GOVERNANCE</a:t>
            </a:r>
          </a:p>
        </p:txBody>
      </p:sp>
      <p:sp>
        <p:nvSpPr>
          <p:cNvPr id="4" name="SlideTitle"/>
          <p:cNvSpPr txBox="1"/>
          <p:nvPr/>
        </p:nvSpPr>
        <p:spPr>
          <a:xfrm>
            <a:off x="566928" y="640080"/>
            <a:ext cx="11064240" cy="512064"/>
          </a:xfrm>
          <a:prstGeom prst="rect">
            <a:avLst/>
          </a:prstGeom>
          <a:noFill/>
        </p:spPr>
        <p:txBody>
          <a:bodyPr wrap="square" lIns="0" tIns="0" rIns="0" bIns="0" anchor="t">
            <a:spAutoFit/>
          </a:bodyPr>
          <a:lstStyle/>
          <a:p>
            <a:pPr algn="l">
              <a:lnSpc>
                <a:spcPct val="110000"/>
              </a:lnSpc>
            </a:pPr>
            <a:r>
              <a:rPr sz="3050" b="1" i="0">
                <a:solidFill>
                  <a:srgbClr val="0F172A"/>
                </a:solidFill>
                <a:latin typeface="Segoe UI"/>
              </a:rPr>
              <a:t>Three lessons we would tell </a:t>
            </a:r>
            <a:r>
              <a:rPr sz="3050" b="1" i="0">
                <a:solidFill>
                  <a:srgbClr val="4F46E5"/>
                </a:solidFill>
                <a:latin typeface="Segoe UI"/>
              </a:rPr>
              <a:t>the next analytics team</a:t>
            </a:r>
          </a:p>
        </p:txBody>
      </p:sp>
      <p:sp>
        <p:nvSpPr>
          <p:cNvPr id="5" name="SlideSubtitle"/>
          <p:cNvSpPr txBox="1"/>
          <p:nvPr/>
        </p:nvSpPr>
        <p:spPr>
          <a:xfrm>
            <a:off x="566928" y="1170432"/>
            <a:ext cx="11064240" cy="292608"/>
          </a:xfrm>
          <a:prstGeom prst="rect">
            <a:avLst/>
          </a:prstGeom>
          <a:noFill/>
        </p:spPr>
        <p:txBody>
          <a:bodyPr wrap="square" lIns="0" tIns="0" rIns="0" bIns="0" anchor="t">
            <a:spAutoFit/>
          </a:bodyPr>
          <a:lstStyle/>
          <a:p>
            <a:pPr algn="l">
              <a:lnSpc>
                <a:spcPct val="115000"/>
              </a:lnSpc>
            </a:pPr>
            <a:r>
              <a:rPr sz="1250" b="0" i="0">
                <a:solidFill>
                  <a:srgbClr val="64748B"/>
                </a:solidFill>
                <a:latin typeface="Segoe UI"/>
              </a:rPr>
              <a:t>What mattered most across three phases of cleaning, modelling, and deploying on 100,000 real orders.</a:t>
            </a:r>
          </a:p>
        </p:txBody>
      </p:sp>
      <p:sp>
        <p:nvSpPr>
          <p:cNvPr id="6" name="Card"/>
          <p:cNvSpPr/>
          <p:nvPr/>
        </p:nvSpPr>
        <p:spPr>
          <a:xfrm>
            <a:off x="566928" y="1664208"/>
            <a:ext cx="3474720" cy="3547872"/>
          </a:xfrm>
          <a:prstGeom prst="roundRect">
            <a:avLst>
              <a:gd name="adj" fmla="val 3800"/>
            </a:avLst>
          </a:prstGeom>
          <a:solidFill>
            <a:srgbClr val="FFFFFF"/>
          </a:solidFill>
          <a:ln w="15240">
            <a:solidFill>
              <a:srgbClr val="FECDD3"/>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ard_accent"/>
          <p:cNvSpPr/>
          <p:nvPr/>
        </p:nvSpPr>
        <p:spPr>
          <a:xfrm>
            <a:off x="713232" y="1664208"/>
            <a:ext cx="3182112" cy="50292"/>
          </a:xfrm>
          <a:prstGeom prst="roundRect">
            <a:avLst>
              <a:gd name="adj" fmla="val 25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ill"/>
          <p:cNvSpPr/>
          <p:nvPr/>
        </p:nvSpPr>
        <p:spPr>
          <a:xfrm>
            <a:off x="786384" y="1865376"/>
            <a:ext cx="512064" cy="310896"/>
          </a:xfrm>
          <a:prstGeom prst="roundRect">
            <a:avLst>
              <a:gd name="adj" fmla="val 50000"/>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1200" b="1">
                <a:solidFill>
                  <a:srgbClr val="E11D48"/>
                </a:solidFill>
                <a:latin typeface="Segoe UI"/>
              </a:rPr>
              <a:t>01</a:t>
            </a:r>
          </a:p>
        </p:txBody>
      </p:sp>
      <p:sp>
        <p:nvSpPr>
          <p:cNvPr id="9" name="Text"/>
          <p:cNvSpPr txBox="1"/>
          <p:nvPr/>
        </p:nvSpPr>
        <p:spPr>
          <a:xfrm>
            <a:off x="1389888" y="1929384"/>
            <a:ext cx="2450592" cy="237744"/>
          </a:xfrm>
          <a:prstGeom prst="rect">
            <a:avLst/>
          </a:prstGeom>
          <a:noFill/>
        </p:spPr>
        <p:txBody>
          <a:bodyPr wrap="square" lIns="0" tIns="0" rIns="0" bIns="0" anchor="t">
            <a:spAutoFit/>
          </a:bodyPr>
          <a:lstStyle/>
          <a:p>
            <a:pPr algn="l">
              <a:lnSpc>
                <a:spcPct val="122000"/>
              </a:lnSpc>
            </a:pPr>
            <a:r>
              <a:rPr sz="860" b="1" i="0" spc="120">
                <a:solidFill>
                  <a:srgbClr val="E11D48"/>
                </a:solidFill>
                <a:latin typeface="Segoe UI"/>
              </a:rPr>
              <a:t>TIMING BEATS FANCY MODELS</a:t>
            </a:r>
          </a:p>
        </p:txBody>
      </p:sp>
      <p:sp>
        <p:nvSpPr>
          <p:cNvPr id="10" name="Text"/>
          <p:cNvSpPr txBox="1"/>
          <p:nvPr/>
        </p:nvSpPr>
        <p:spPr>
          <a:xfrm>
            <a:off x="786384" y="2340864"/>
            <a:ext cx="3035808" cy="2688336"/>
          </a:xfrm>
          <a:prstGeom prst="rect">
            <a:avLst/>
          </a:prstGeom>
          <a:noFill/>
        </p:spPr>
        <p:txBody>
          <a:bodyPr wrap="square" lIns="0" tIns="0" rIns="0" bIns="0" anchor="t">
            <a:spAutoFit/>
          </a:bodyPr>
          <a:lstStyle/>
          <a:p>
            <a:pPr algn="l">
              <a:lnSpc>
                <a:spcPct val="116000"/>
              </a:lnSpc>
              <a:spcAft>
                <a:spcPts val="1000"/>
              </a:spcAft>
            </a:pPr>
            <a:r>
              <a:rPr sz="1500" b="1" i="0">
                <a:solidFill>
                  <a:srgbClr val="0F172A"/>
                </a:solidFill>
                <a:latin typeface="Segoe UI"/>
              </a:rPr>
              <a:t>Check when the outcome happens first</a:t>
            </a:r>
          </a:p>
          <a:p>
            <a:pPr algn="l">
              <a:lnSpc>
                <a:spcPct val="130000"/>
              </a:lnSpc>
            </a:pPr>
            <a:r>
              <a:rPr sz="1050" b="0" i="0">
                <a:solidFill>
                  <a:srgbClr val="334155"/>
                </a:solidFill>
                <a:latin typeface="Segoe UI"/>
              </a:rPr>
              <a:t>87.3% of late-order bad reviews were written </a:t>
            </a:r>
            <a:r>
              <a:rPr sz="1050" b="1" i="0">
                <a:solidFill>
                  <a:srgbClr val="E11D48"/>
                </a:solidFill>
                <a:latin typeface="Segoe UI"/>
              </a:rPr>
              <a:t>before the parcel even arrived</a:t>
            </a:r>
            <a:r>
              <a:rPr sz="1050" b="0" i="0">
                <a:solidFill>
                  <a:srgbClr val="334155"/>
                </a:solidFill>
                <a:latin typeface="Segoe UI"/>
              </a:rPr>
              <a:t>. Matching simple tools to the right moment — checkout, promised date, and delivery — mattered infinitely more than squeezing 0.001 AUC from a complex ensemble.</a:t>
            </a:r>
          </a:p>
        </p:txBody>
      </p:sp>
      <p:sp>
        <p:nvSpPr>
          <p:cNvPr id="11" name="Card"/>
          <p:cNvSpPr/>
          <p:nvPr/>
        </p:nvSpPr>
        <p:spPr>
          <a:xfrm>
            <a:off x="4352544" y="1664208"/>
            <a:ext cx="3474720" cy="3547872"/>
          </a:xfrm>
          <a:prstGeom prst="roundRect">
            <a:avLst>
              <a:gd name="adj" fmla="val 3800"/>
            </a:avLst>
          </a:prstGeom>
          <a:solidFill>
            <a:srgbClr val="FFFFFF"/>
          </a:solidFill>
          <a:ln w="15240">
            <a:solidFill>
              <a:srgbClr val="BFDBFE"/>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ard_accent"/>
          <p:cNvSpPr/>
          <p:nvPr/>
        </p:nvSpPr>
        <p:spPr>
          <a:xfrm>
            <a:off x="4498848" y="1664208"/>
            <a:ext cx="3182112" cy="50292"/>
          </a:xfrm>
          <a:prstGeom prst="roundRect">
            <a:avLst>
              <a:gd name="adj" fmla="val 2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ill"/>
          <p:cNvSpPr/>
          <p:nvPr/>
        </p:nvSpPr>
        <p:spPr>
          <a:xfrm>
            <a:off x="4572000" y="1865376"/>
            <a:ext cx="512064" cy="310896"/>
          </a:xfrm>
          <a:prstGeom prst="roundRect">
            <a:avLst>
              <a:gd name="adj" fmla="val 5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1200" b="1">
                <a:solidFill>
                  <a:srgbClr val="2563EB"/>
                </a:solidFill>
                <a:latin typeface="Segoe UI"/>
              </a:rPr>
              <a:t>02</a:t>
            </a:r>
          </a:p>
        </p:txBody>
      </p:sp>
      <p:sp>
        <p:nvSpPr>
          <p:cNvPr id="14" name="Text"/>
          <p:cNvSpPr txBox="1"/>
          <p:nvPr/>
        </p:nvSpPr>
        <p:spPr>
          <a:xfrm>
            <a:off x="5175504" y="1929384"/>
            <a:ext cx="2450592" cy="237744"/>
          </a:xfrm>
          <a:prstGeom prst="rect">
            <a:avLst/>
          </a:prstGeom>
          <a:noFill/>
        </p:spPr>
        <p:txBody>
          <a:bodyPr wrap="square" lIns="0" tIns="0" rIns="0" bIns="0" anchor="t">
            <a:spAutoFit/>
          </a:bodyPr>
          <a:lstStyle/>
          <a:p>
            <a:pPr algn="l">
              <a:lnSpc>
                <a:spcPct val="122000"/>
              </a:lnSpc>
            </a:pPr>
            <a:r>
              <a:rPr sz="860" b="1" i="0" spc="120">
                <a:solidFill>
                  <a:srgbClr val="2563EB"/>
                </a:solidFill>
                <a:latin typeface="Segoe UI"/>
              </a:rPr>
              <a:t>JUDGE STRICTLY ON THE FUTURE</a:t>
            </a:r>
          </a:p>
        </p:txBody>
      </p:sp>
      <p:sp>
        <p:nvSpPr>
          <p:cNvPr id="15" name="Text"/>
          <p:cNvSpPr txBox="1"/>
          <p:nvPr/>
        </p:nvSpPr>
        <p:spPr>
          <a:xfrm>
            <a:off x="4572000" y="2340864"/>
            <a:ext cx="3035808" cy="2688336"/>
          </a:xfrm>
          <a:prstGeom prst="rect">
            <a:avLst/>
          </a:prstGeom>
          <a:noFill/>
        </p:spPr>
        <p:txBody>
          <a:bodyPr wrap="square" lIns="0" tIns="0" rIns="0" bIns="0" anchor="t">
            <a:spAutoFit/>
          </a:bodyPr>
          <a:lstStyle/>
          <a:p>
            <a:pPr algn="l">
              <a:lnSpc>
                <a:spcPct val="116000"/>
              </a:lnSpc>
              <a:spcAft>
                <a:spcPts val="1000"/>
              </a:spcAft>
            </a:pPr>
            <a:r>
              <a:rPr sz="1500" b="1" i="0">
                <a:solidFill>
                  <a:srgbClr val="0F172A"/>
                </a:solidFill>
                <a:latin typeface="Segoe UI"/>
              </a:rPr>
              <a:t>Real networks drift and get hit by strikes</a:t>
            </a:r>
          </a:p>
          <a:p>
            <a:pPr algn="l">
              <a:lnSpc>
                <a:spcPct val="130000"/>
              </a:lnSpc>
            </a:pPr>
            <a:r>
              <a:rPr sz="1050" b="0" i="0">
                <a:solidFill>
                  <a:srgbClr val="334155"/>
                </a:solidFill>
                <a:latin typeface="Segoe UI"/>
              </a:rPr>
              <a:t>Delivery time halved while carrier jams and a national strike whipsawed lateness. Peeking at future timestamps gives a </a:t>
            </a:r>
            <a:r>
              <a:rPr sz="1050" b="1" i="0">
                <a:solidFill>
                  <a:srgbClr val="2563EB"/>
                </a:solidFill>
                <a:latin typeface="Segoe UI"/>
              </a:rPr>
              <a:t>fake 1.00 AUC (vs 0.59 honest)</a:t>
            </a:r>
            <a:r>
              <a:rPr sz="1050" b="0" i="0">
                <a:solidFill>
                  <a:srgbClr val="334155"/>
                </a:solidFill>
                <a:latin typeface="Segoe UI"/>
              </a:rPr>
              <a:t>. Always test forward in time and refit monthly.</a:t>
            </a:r>
          </a:p>
        </p:txBody>
      </p:sp>
      <p:sp>
        <p:nvSpPr>
          <p:cNvPr id="16" name="Card"/>
          <p:cNvSpPr/>
          <p:nvPr/>
        </p:nvSpPr>
        <p:spPr>
          <a:xfrm>
            <a:off x="8138160" y="1664208"/>
            <a:ext cx="3474720" cy="3547872"/>
          </a:xfrm>
          <a:prstGeom prst="roundRect">
            <a:avLst>
              <a:gd name="adj" fmla="val 3800"/>
            </a:avLst>
          </a:prstGeom>
          <a:solidFill>
            <a:srgbClr val="FFFFFF"/>
          </a:solidFill>
          <a:ln w="15240">
            <a:solidFill>
              <a:srgbClr val="A7F3D0"/>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Card_accent"/>
          <p:cNvSpPr/>
          <p:nvPr/>
        </p:nvSpPr>
        <p:spPr>
          <a:xfrm>
            <a:off x="8284464" y="1664208"/>
            <a:ext cx="3182112" cy="50292"/>
          </a:xfrm>
          <a:prstGeom prst="roundRect">
            <a:avLst>
              <a:gd name="adj" fmla="val 25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ill"/>
          <p:cNvSpPr/>
          <p:nvPr/>
        </p:nvSpPr>
        <p:spPr>
          <a:xfrm>
            <a:off x="8357616" y="1865376"/>
            <a:ext cx="512064" cy="310896"/>
          </a:xfrm>
          <a:prstGeom prst="roundRect">
            <a:avLst>
              <a:gd name="adj" fmla="val 5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1200" b="1">
                <a:solidFill>
                  <a:srgbClr val="059669"/>
                </a:solidFill>
                <a:latin typeface="Segoe UI"/>
              </a:rPr>
              <a:t>03</a:t>
            </a:r>
          </a:p>
        </p:txBody>
      </p:sp>
      <p:sp>
        <p:nvSpPr>
          <p:cNvPr id="19" name="Text"/>
          <p:cNvSpPr txBox="1"/>
          <p:nvPr/>
        </p:nvSpPr>
        <p:spPr>
          <a:xfrm>
            <a:off x="8961120" y="1929384"/>
            <a:ext cx="2450592" cy="237744"/>
          </a:xfrm>
          <a:prstGeom prst="rect">
            <a:avLst/>
          </a:prstGeom>
          <a:noFill/>
        </p:spPr>
        <p:txBody>
          <a:bodyPr wrap="square" lIns="0" tIns="0" rIns="0" bIns="0" anchor="t">
            <a:spAutoFit/>
          </a:bodyPr>
          <a:lstStyle/>
          <a:p>
            <a:pPr algn="l">
              <a:lnSpc>
                <a:spcPct val="122000"/>
              </a:lnSpc>
            </a:pPr>
            <a:r>
              <a:rPr sz="860" b="1" i="0" spc="120">
                <a:solidFill>
                  <a:srgbClr val="059669"/>
                </a:solidFill>
                <a:latin typeface="Segoe UI"/>
              </a:rPr>
              <a:t>DESIGN FOR BLIND SPOTS</a:t>
            </a:r>
          </a:p>
        </p:txBody>
      </p:sp>
      <p:sp>
        <p:nvSpPr>
          <p:cNvPr id="20" name="Text"/>
          <p:cNvSpPr txBox="1"/>
          <p:nvPr/>
        </p:nvSpPr>
        <p:spPr>
          <a:xfrm>
            <a:off x="8357616" y="2340864"/>
            <a:ext cx="3035808" cy="2688336"/>
          </a:xfrm>
          <a:prstGeom prst="rect">
            <a:avLst/>
          </a:prstGeom>
          <a:noFill/>
        </p:spPr>
        <p:txBody>
          <a:bodyPr wrap="square" lIns="0" tIns="0" rIns="0" bIns="0" anchor="t">
            <a:spAutoFit/>
          </a:bodyPr>
          <a:lstStyle/>
          <a:p>
            <a:pPr algn="l">
              <a:lnSpc>
                <a:spcPct val="116000"/>
              </a:lnSpc>
              <a:spcAft>
                <a:spcPts val="1000"/>
              </a:spcAft>
            </a:pPr>
            <a:r>
              <a:rPr sz="1500" b="1" i="0">
                <a:solidFill>
                  <a:srgbClr val="0F172A"/>
                </a:solidFill>
                <a:latin typeface="Segoe UI"/>
              </a:rPr>
              <a:t>Say clearly what data cannot prove yet</a:t>
            </a:r>
          </a:p>
          <a:p>
            <a:pPr algn="l">
              <a:lnSpc>
                <a:spcPct val="130000"/>
              </a:lnSpc>
            </a:pPr>
            <a:r>
              <a:rPr sz="1050" b="0" i="0">
                <a:solidFill>
                  <a:srgbClr val="334155"/>
                </a:solidFill>
                <a:latin typeface="Segoe UI"/>
              </a:rPr>
              <a:t>Checkout flags plateau at </a:t>
            </a:r>
            <a:r>
              <a:rPr sz="1050" b="1" i="0">
                <a:solidFill>
                  <a:srgbClr val="059669"/>
                </a:solidFill>
                <a:latin typeface="Segoe UI"/>
              </a:rPr>
              <a:t>27–28% (&lt; 30% rush break-even)</a:t>
            </a:r>
            <a:r>
              <a:rPr sz="1050" b="0" i="0">
                <a:solidFill>
                  <a:srgbClr val="334155"/>
                </a:solidFill>
                <a:latin typeface="Segoe UI"/>
              </a:rPr>
              <a:t>, and offline logs can't prove human call persuasion. Good analytics tells leadership both where NOT to spend R$12 and how to run the 6-week pilot.</a:t>
            </a:r>
          </a:p>
        </p:txBody>
      </p:sp>
      <p:sp>
        <p:nvSpPr>
          <p:cNvPr id="21" name="Card"/>
          <p:cNvSpPr/>
          <p:nvPr/>
        </p:nvSpPr>
        <p:spPr>
          <a:xfrm>
            <a:off x="566928" y="5394960"/>
            <a:ext cx="11045952" cy="731520"/>
          </a:xfrm>
          <a:prstGeom prst="roundRect">
            <a:avLst>
              <a:gd name="adj" fmla="val 3800"/>
            </a:avLst>
          </a:prstGeom>
          <a:solidFill>
            <a:srgbClr val="EEF2FF"/>
          </a:solidFill>
          <a:ln w="15240">
            <a:solidFill>
              <a:srgbClr val="C7D2FE"/>
            </a:solidFill>
          </a:ln>
          <a:effectLst>
            <a:outerShdw blurRad="177800" dist="44450" dir="5400000" algn="tl" rotWithShape="0">
              <a:srgbClr val="0F172A">
                <a:alpha val="75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Card_accent"/>
          <p:cNvSpPr/>
          <p:nvPr/>
        </p:nvSpPr>
        <p:spPr>
          <a:xfrm>
            <a:off x="566928" y="5559552"/>
            <a:ext cx="59436" cy="402336"/>
          </a:xfrm>
          <a:prstGeom prst="roundRect">
            <a:avLst>
              <a:gd name="adj" fmla="val 25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
          <p:cNvSpPr txBox="1"/>
          <p:nvPr/>
        </p:nvSpPr>
        <p:spPr>
          <a:xfrm>
            <a:off x="822960" y="5504688"/>
            <a:ext cx="10561320" cy="530352"/>
          </a:xfrm>
          <a:prstGeom prst="rect">
            <a:avLst/>
          </a:prstGeom>
          <a:noFill/>
        </p:spPr>
        <p:txBody>
          <a:bodyPr wrap="square" lIns="0" tIns="0" rIns="0" bIns="0" anchor="t">
            <a:spAutoFit/>
          </a:bodyPr>
          <a:lstStyle/>
          <a:p>
            <a:pPr algn="l">
              <a:lnSpc>
                <a:spcPct val="120000"/>
              </a:lnSpc>
            </a:pPr>
            <a:r>
              <a:rPr sz="980" b="1" i="0" spc="120">
                <a:solidFill>
                  <a:srgbClr val="4F46E5"/>
                </a:solidFill>
                <a:latin typeface="Segoe UI"/>
              </a:rPr>
              <a:t>RESPONSIBLE DEPLOYMENT GUARDRAIL:  </a:t>
            </a:r>
            <a:r>
              <a:rPr sz="1080" b="1" i="0">
                <a:solidFill>
                  <a:srgbClr val="0F172A"/>
                </a:solidFill>
                <a:latin typeface="Segoe UI"/>
              </a:rPr>
              <a:t>Use risk scores ONLY for proactive customer care &amp; honest date quotes — NEVER to penalise or fine sellers.</a:t>
            </a:r>
          </a:p>
          <a:p>
            <a:pPr algn="l">
              <a:lnSpc>
                <a:spcPct val="120000"/>
              </a:lnSpc>
            </a:pPr>
            <a:r>
              <a:rPr sz="980" b="0" i="0">
                <a:solidFill>
                  <a:srgbClr val="334155"/>
                </a:solidFill>
                <a:latin typeface="Segoe UI"/>
              </a:rPr>
              <a:t>75% of delivery time happens inside third-party carriers after seller handoff, and Northeast / North routes face structural distance disadvantages.</a:t>
            </a:r>
          </a:p>
        </p:txBody>
      </p:sp>
      <p:sp>
        <p:nvSpPr>
          <p:cNvPr id="24" name="!!NavDock"/>
          <p:cNvSpPr/>
          <p:nvPr/>
        </p:nvSpPr>
        <p:spPr>
          <a:xfrm>
            <a:off x="566928" y="6327648"/>
            <a:ext cx="11055096" cy="384048"/>
          </a:xfrm>
          <a:prstGeom prst="roundRect">
            <a:avLst>
              <a:gd name="adj" fmla="val 50000"/>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Nav_1">
            <a:hlinkClick r:id="rId4" action="ppaction://hlinksldjump"/>
          </p:cNvPr>
          <p:cNvSpPr/>
          <p:nvPr/>
        </p:nvSpPr>
        <p:spPr>
          <a:xfrm>
            <a:off x="658368"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01  The Problem</a:t>
            </a:r>
          </a:p>
        </p:txBody>
      </p:sp>
      <p:sp>
        <p:nvSpPr>
          <p:cNvPr id="26" name="Nav_2">
            <a:hlinkClick r:id="rId5" action="ppaction://hlinksldjump"/>
          </p:cNvPr>
          <p:cNvSpPr/>
          <p:nvPr/>
        </p:nvSpPr>
        <p:spPr>
          <a:xfrm>
            <a:off x="1993391"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02  Why &amp; Tools</a:t>
            </a:r>
          </a:p>
        </p:txBody>
      </p:sp>
      <p:sp>
        <p:nvSpPr>
          <p:cNvPr id="27" name="Nav_3">
            <a:hlinkClick r:id="rId6" action="ppaction://hlinksldjump"/>
          </p:cNvPr>
          <p:cNvSpPr/>
          <p:nvPr/>
        </p:nvSpPr>
        <p:spPr>
          <a:xfrm>
            <a:off x="3328415"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03  Proof &amp; App</a:t>
            </a:r>
          </a:p>
        </p:txBody>
      </p:sp>
      <p:sp>
        <p:nvSpPr>
          <p:cNvPr id="28" name="Nav_4">
            <a:hlinkClick r:id="rId7" action="ppaction://hlinksldjump"/>
          </p:cNvPr>
          <p:cNvSpPr/>
          <p:nvPr/>
        </p:nvSpPr>
        <p:spPr>
          <a:xfrm>
            <a:off x="4663440" y="6373368"/>
            <a:ext cx="1261872" cy="29260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0">
                <a:solidFill>
                  <a:srgbClr val="64748B"/>
                </a:solidFill>
                <a:latin typeface="Segoe UI"/>
              </a:rPr>
              <a:t>04  Monday Plan</a:t>
            </a:r>
          </a:p>
        </p:txBody>
      </p:sp>
      <p:sp>
        <p:nvSpPr>
          <p:cNvPr id="29" name="Nav_5">
            <a:hlinkClick r:id="rId8" action="ppaction://hlinksldjump"/>
          </p:cNvPr>
          <p:cNvSpPr/>
          <p:nvPr/>
        </p:nvSpPr>
        <p:spPr>
          <a:xfrm>
            <a:off x="5998464" y="6373368"/>
            <a:ext cx="1130198" cy="292608"/>
          </a:xfrm>
          <a:prstGeom prst="roundRect">
            <a:avLst>
              <a:gd name="adj" fmla="val 5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19" b="1">
                <a:solidFill>
                  <a:srgbClr val="FFFFFF"/>
                </a:solidFill>
                <a:latin typeface="Segoe UI"/>
              </a:rPr>
              <a:t>05  Takeaways</a:t>
            </a:r>
          </a:p>
        </p:txBody>
      </p:sp>
      <p:sp>
        <p:nvSpPr>
          <p:cNvPr id="30" name="DockJourneyLine"/>
          <p:cNvSpPr/>
          <p:nvPr/>
        </p:nvSpPr>
        <p:spPr>
          <a:xfrm>
            <a:off x="8915400" y="6510528"/>
            <a:ext cx="1115568" cy="18288"/>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g1" descr="g_checkout_blue.png"/>
          <p:cNvPicPr>
            <a:picLocks noChangeAspect="1"/>
          </p:cNvPicPr>
          <p:nvPr/>
        </p:nvPicPr>
        <p:blipFill>
          <a:blip r:embed="rId9"/>
          <a:stretch>
            <a:fillRect/>
          </a:stretch>
        </p:blipFill>
        <p:spPr>
          <a:xfrm>
            <a:off x="8778240" y="6377940"/>
            <a:ext cx="283464" cy="283464"/>
          </a:xfrm>
          <a:prstGeom prst="rect">
            <a:avLst/>
          </a:prstGeom>
        </p:spPr>
      </p:pic>
      <p:pic>
        <p:nvPicPr>
          <p:cNvPr id="32" name="!!g2" descr="g_promise_amber.png"/>
          <p:cNvPicPr>
            <a:picLocks noChangeAspect="1"/>
          </p:cNvPicPr>
          <p:nvPr/>
        </p:nvPicPr>
        <p:blipFill>
          <a:blip r:embed="rId10"/>
          <a:stretch>
            <a:fillRect/>
          </a:stretch>
        </p:blipFill>
        <p:spPr>
          <a:xfrm>
            <a:off x="9144000" y="6377940"/>
            <a:ext cx="283464" cy="283464"/>
          </a:xfrm>
          <a:prstGeom prst="rect">
            <a:avLst/>
          </a:prstGeom>
        </p:spPr>
      </p:pic>
      <p:pic>
        <p:nvPicPr>
          <p:cNvPr id="33" name="!!g3" descr="g_delivery_green.png"/>
          <p:cNvPicPr>
            <a:picLocks noChangeAspect="1"/>
          </p:cNvPicPr>
          <p:nvPr/>
        </p:nvPicPr>
        <p:blipFill>
          <a:blip r:embed="rId11"/>
          <a:stretch>
            <a:fillRect/>
          </a:stretch>
        </p:blipFill>
        <p:spPr>
          <a:xfrm>
            <a:off x="9509760" y="6377940"/>
            <a:ext cx="283464" cy="283464"/>
          </a:xfrm>
          <a:prstGeom prst="rect">
            <a:avLst/>
          </a:prstGeom>
        </p:spPr>
      </p:pic>
      <p:pic>
        <p:nvPicPr>
          <p:cNvPr id="34" name="!!g4" descr="g_review_rose.png"/>
          <p:cNvPicPr>
            <a:picLocks noChangeAspect="1"/>
          </p:cNvPicPr>
          <p:nvPr/>
        </p:nvPicPr>
        <p:blipFill>
          <a:blip r:embed="rId12"/>
          <a:stretch>
            <a:fillRect/>
          </a:stretch>
        </p:blipFill>
        <p:spPr>
          <a:xfrm>
            <a:off x="9875520" y="6377940"/>
            <a:ext cx="283464" cy="283464"/>
          </a:xfrm>
          <a:prstGeom prst="rect">
            <a:avLst/>
          </a:prstGeom>
        </p:spPr>
      </p:pic>
      <p:sp>
        <p:nvSpPr>
          <p:cNvPr id="35" name="Nav_QA">
            <a:hlinkClick r:id="rId13" action="ppaction://hlinksldjump"/>
          </p:cNvPr>
          <p:cNvSpPr/>
          <p:nvPr/>
        </p:nvSpPr>
        <p:spPr>
          <a:xfrm>
            <a:off x="10387584" y="6373368"/>
            <a:ext cx="1152144" cy="292608"/>
          </a:xfrm>
          <a:prstGeom prst="roundRect">
            <a:avLst>
              <a:gd name="adj" fmla="val 50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a:solidFill>
                  <a:srgbClr val="0F172A"/>
                </a:solidFill>
                <a:latin typeface="Segoe UI"/>
              </a:rPr>
              <a:t>Q&amp;A · 12/13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anim calcmode="lin" valueType="num">
                                      <p:cBhvr>
                                        <p:cTn id="8" dur="400" fill="hold"/>
                                        <p:tgtEl>
                                          <p:spTgt spid="3"/>
                                        </p:tgtEl>
                                        <p:attrNameLst>
                                          <p:attrName>ppt_x</p:attrName>
                                        </p:attrNameLst>
                                      </p:cBhvr>
                                      <p:tavLst>
                                        <p:tav tm="0">
                                          <p:val>
                                            <p:strVal val="#ppt_x"/>
                                          </p:val>
                                        </p:tav>
                                        <p:tav tm="100000">
                                          <p:val>
                                            <p:strVal val="#ppt_x"/>
                                          </p:val>
                                        </p:tav>
                                      </p:tavLst>
                                    </p:anim>
                                    <p:anim calcmode="lin" valueType="num">
                                      <p:cBhvr>
                                        <p:cTn id="9" dur="40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anim calcmode="lin" valueType="num">
                                      <p:cBhvr>
                                        <p:cTn id="13" dur="400" fill="hold"/>
                                        <p:tgtEl>
                                          <p:spTgt spid="4"/>
                                        </p:tgtEl>
                                        <p:attrNameLst>
                                          <p:attrName>ppt_x</p:attrName>
                                        </p:attrNameLst>
                                      </p:cBhvr>
                                      <p:tavLst>
                                        <p:tav tm="0">
                                          <p:val>
                                            <p:strVal val="#ppt_x"/>
                                          </p:val>
                                        </p:tav>
                                        <p:tav tm="100000">
                                          <p:val>
                                            <p:strVal val="#ppt_x"/>
                                          </p:val>
                                        </p:tav>
                                      </p:tavLst>
                                    </p:anim>
                                    <p:anim calcmode="lin" valueType="num">
                                      <p:cBhvr>
                                        <p:cTn id="14" dur="40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6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anim calcmode="lin" valueType="num">
                                      <p:cBhvr>
                                        <p:cTn id="18" dur="400" fill="hold"/>
                                        <p:tgtEl>
                                          <p:spTgt spid="5"/>
                                        </p:tgtEl>
                                        <p:attrNameLst>
                                          <p:attrName>ppt_x</p:attrName>
                                        </p:attrNameLst>
                                      </p:cBhvr>
                                      <p:tavLst>
                                        <p:tav tm="0">
                                          <p:val>
                                            <p:strVal val="#ppt_x"/>
                                          </p:val>
                                        </p:tav>
                                        <p:tav tm="100000">
                                          <p:val>
                                            <p:strVal val="#ppt_x"/>
                                          </p:val>
                                        </p:tav>
                                      </p:tavLst>
                                    </p:anim>
                                    <p:anim calcmode="lin" valueType="num">
                                      <p:cBhvr>
                                        <p:cTn id="19" dur="40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17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40"/>
                                        <p:tgtEl>
                                          <p:spTgt spid="6"/>
                                        </p:tgtEl>
                                      </p:cBhvr>
                                    </p:animEffect>
                                    <p:anim calcmode="lin" valueType="num">
                                      <p:cBhvr>
                                        <p:cTn id="23" dur="440" fill="hold"/>
                                        <p:tgtEl>
                                          <p:spTgt spid="6"/>
                                        </p:tgtEl>
                                        <p:attrNameLst>
                                          <p:attrName>ppt_x</p:attrName>
                                        </p:attrNameLst>
                                      </p:cBhvr>
                                      <p:tavLst>
                                        <p:tav tm="0">
                                          <p:val>
                                            <p:strVal val="#ppt_x"/>
                                          </p:val>
                                        </p:tav>
                                        <p:tav tm="100000">
                                          <p:val>
                                            <p:strVal val="#ppt_x"/>
                                          </p:val>
                                        </p:tav>
                                      </p:tavLst>
                                    </p:anim>
                                    <p:anim calcmode="lin" valueType="num">
                                      <p:cBhvr>
                                        <p:cTn id="24" dur="440" decel="100000" fill="hold"/>
                                        <p:tgtEl>
                                          <p:spTgt spid="6"/>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17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40"/>
                                        <p:tgtEl>
                                          <p:spTgt spid="7"/>
                                        </p:tgtEl>
                                      </p:cBhvr>
                                    </p:animEffect>
                                    <p:anim calcmode="lin" valueType="num">
                                      <p:cBhvr>
                                        <p:cTn id="28" dur="440" fill="hold"/>
                                        <p:tgtEl>
                                          <p:spTgt spid="7"/>
                                        </p:tgtEl>
                                        <p:attrNameLst>
                                          <p:attrName>ppt_x</p:attrName>
                                        </p:attrNameLst>
                                      </p:cBhvr>
                                      <p:tavLst>
                                        <p:tav tm="0">
                                          <p:val>
                                            <p:strVal val="#ppt_x"/>
                                          </p:val>
                                        </p:tav>
                                        <p:tav tm="100000">
                                          <p:val>
                                            <p:strVal val="#ppt_x"/>
                                          </p:val>
                                        </p:tav>
                                      </p:tavLst>
                                    </p:anim>
                                    <p:anim calcmode="lin" valueType="num">
                                      <p:cBhvr>
                                        <p:cTn id="29" dur="440" decel="100000" fill="hold"/>
                                        <p:tgtEl>
                                          <p:spTgt spid="7"/>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17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40"/>
                                        <p:tgtEl>
                                          <p:spTgt spid="8"/>
                                        </p:tgtEl>
                                      </p:cBhvr>
                                    </p:animEffect>
                                    <p:anim calcmode="lin" valueType="num">
                                      <p:cBhvr>
                                        <p:cTn id="33" dur="440" fill="hold"/>
                                        <p:tgtEl>
                                          <p:spTgt spid="8"/>
                                        </p:tgtEl>
                                        <p:attrNameLst>
                                          <p:attrName>ppt_x</p:attrName>
                                        </p:attrNameLst>
                                      </p:cBhvr>
                                      <p:tavLst>
                                        <p:tav tm="0">
                                          <p:val>
                                            <p:strVal val="#ppt_x"/>
                                          </p:val>
                                        </p:tav>
                                        <p:tav tm="100000">
                                          <p:val>
                                            <p:strVal val="#ppt_x"/>
                                          </p:val>
                                        </p:tav>
                                      </p:tavLst>
                                    </p:anim>
                                    <p:anim calcmode="lin" valueType="num">
                                      <p:cBhvr>
                                        <p:cTn id="34" dur="440" decel="100000" fill="hold"/>
                                        <p:tgtEl>
                                          <p:spTgt spid="8"/>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17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40"/>
                                        <p:tgtEl>
                                          <p:spTgt spid="9"/>
                                        </p:tgtEl>
                                      </p:cBhvr>
                                    </p:animEffect>
                                    <p:anim calcmode="lin" valueType="num">
                                      <p:cBhvr>
                                        <p:cTn id="38" dur="440" fill="hold"/>
                                        <p:tgtEl>
                                          <p:spTgt spid="9"/>
                                        </p:tgtEl>
                                        <p:attrNameLst>
                                          <p:attrName>ppt_x</p:attrName>
                                        </p:attrNameLst>
                                      </p:cBhvr>
                                      <p:tavLst>
                                        <p:tav tm="0">
                                          <p:val>
                                            <p:strVal val="#ppt_x"/>
                                          </p:val>
                                        </p:tav>
                                        <p:tav tm="100000">
                                          <p:val>
                                            <p:strVal val="#ppt_x"/>
                                          </p:val>
                                        </p:tav>
                                      </p:tavLst>
                                    </p:anim>
                                    <p:anim calcmode="lin" valueType="num">
                                      <p:cBhvr>
                                        <p:cTn id="39" dur="440" decel="100000" fill="hold"/>
                                        <p:tgtEl>
                                          <p:spTgt spid="9"/>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17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440"/>
                                        <p:tgtEl>
                                          <p:spTgt spid="10"/>
                                        </p:tgtEl>
                                      </p:cBhvr>
                                    </p:animEffect>
                                    <p:anim calcmode="lin" valueType="num">
                                      <p:cBhvr>
                                        <p:cTn id="43" dur="440" fill="hold"/>
                                        <p:tgtEl>
                                          <p:spTgt spid="10"/>
                                        </p:tgtEl>
                                        <p:attrNameLst>
                                          <p:attrName>ppt_x</p:attrName>
                                        </p:attrNameLst>
                                      </p:cBhvr>
                                      <p:tavLst>
                                        <p:tav tm="0">
                                          <p:val>
                                            <p:strVal val="#ppt_x"/>
                                          </p:val>
                                        </p:tav>
                                        <p:tav tm="100000">
                                          <p:val>
                                            <p:strVal val="#ppt_x"/>
                                          </p:val>
                                        </p:tav>
                                      </p:tavLst>
                                    </p:anim>
                                    <p:anim calcmode="lin" valueType="num">
                                      <p:cBhvr>
                                        <p:cTn id="44" dur="440" decel="100000" fill="hold"/>
                                        <p:tgtEl>
                                          <p:spTgt spid="10"/>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30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440"/>
                                        <p:tgtEl>
                                          <p:spTgt spid="11"/>
                                        </p:tgtEl>
                                      </p:cBhvr>
                                    </p:animEffect>
                                    <p:anim calcmode="lin" valueType="num">
                                      <p:cBhvr>
                                        <p:cTn id="48" dur="440" fill="hold"/>
                                        <p:tgtEl>
                                          <p:spTgt spid="11"/>
                                        </p:tgtEl>
                                        <p:attrNameLst>
                                          <p:attrName>ppt_x</p:attrName>
                                        </p:attrNameLst>
                                      </p:cBhvr>
                                      <p:tavLst>
                                        <p:tav tm="0">
                                          <p:val>
                                            <p:strVal val="#ppt_x"/>
                                          </p:val>
                                        </p:tav>
                                        <p:tav tm="100000">
                                          <p:val>
                                            <p:strVal val="#ppt_x"/>
                                          </p:val>
                                        </p:tav>
                                      </p:tavLst>
                                    </p:anim>
                                    <p:anim calcmode="lin" valueType="num">
                                      <p:cBhvr>
                                        <p:cTn id="49" dur="440" decel="100000" fill="hold"/>
                                        <p:tgtEl>
                                          <p:spTgt spid="11"/>
                                        </p:tgtEl>
                                        <p:attrNameLst>
                                          <p:attrName>ppt_y</p:attrName>
                                        </p:attrNameLst>
                                      </p:cBhvr>
                                      <p:tavLst>
                                        <p:tav tm="0">
                                          <p:val>
                                            <p:strVal val="#ppt_y+0.018"/>
                                          </p:val>
                                        </p:tav>
                                        <p:tav tm="100000">
                                          <p:val>
                                            <p:strVal val="#ppt_y"/>
                                          </p:val>
                                        </p:tav>
                                      </p:tavLst>
                                    </p:anim>
                                  </p:childTnLst>
                                </p:cTn>
                              </p:par>
                              <p:par>
                                <p:cTn id="50" presetID="42" presetClass="entr" presetSubtype="4" fill="hold" grpId="0" nodeType="withEffect">
                                  <p:stCondLst>
                                    <p:cond delay="30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40"/>
                                        <p:tgtEl>
                                          <p:spTgt spid="12"/>
                                        </p:tgtEl>
                                      </p:cBhvr>
                                    </p:animEffect>
                                    <p:anim calcmode="lin" valueType="num">
                                      <p:cBhvr>
                                        <p:cTn id="53" dur="440" fill="hold"/>
                                        <p:tgtEl>
                                          <p:spTgt spid="12"/>
                                        </p:tgtEl>
                                        <p:attrNameLst>
                                          <p:attrName>ppt_x</p:attrName>
                                        </p:attrNameLst>
                                      </p:cBhvr>
                                      <p:tavLst>
                                        <p:tav tm="0">
                                          <p:val>
                                            <p:strVal val="#ppt_x"/>
                                          </p:val>
                                        </p:tav>
                                        <p:tav tm="100000">
                                          <p:val>
                                            <p:strVal val="#ppt_x"/>
                                          </p:val>
                                        </p:tav>
                                      </p:tavLst>
                                    </p:anim>
                                    <p:anim calcmode="lin" valueType="num">
                                      <p:cBhvr>
                                        <p:cTn id="54" dur="440" decel="100000" fill="hold"/>
                                        <p:tgtEl>
                                          <p:spTgt spid="12"/>
                                        </p:tgtEl>
                                        <p:attrNameLst>
                                          <p:attrName>ppt_y</p:attrName>
                                        </p:attrNameLst>
                                      </p:cBhvr>
                                      <p:tavLst>
                                        <p:tav tm="0">
                                          <p:val>
                                            <p:strVal val="#ppt_y+0.018"/>
                                          </p:val>
                                        </p:tav>
                                        <p:tav tm="100000">
                                          <p:val>
                                            <p:strVal val="#ppt_y"/>
                                          </p:val>
                                        </p:tav>
                                      </p:tavLst>
                                    </p:anim>
                                  </p:childTnLst>
                                </p:cTn>
                              </p:par>
                              <p:par>
                                <p:cTn id="55" presetID="42" presetClass="entr" presetSubtype="4" fill="hold" grpId="0" nodeType="withEffect">
                                  <p:stCondLst>
                                    <p:cond delay="30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440"/>
                                        <p:tgtEl>
                                          <p:spTgt spid="13"/>
                                        </p:tgtEl>
                                      </p:cBhvr>
                                    </p:animEffect>
                                    <p:anim calcmode="lin" valueType="num">
                                      <p:cBhvr>
                                        <p:cTn id="58" dur="440" fill="hold"/>
                                        <p:tgtEl>
                                          <p:spTgt spid="13"/>
                                        </p:tgtEl>
                                        <p:attrNameLst>
                                          <p:attrName>ppt_x</p:attrName>
                                        </p:attrNameLst>
                                      </p:cBhvr>
                                      <p:tavLst>
                                        <p:tav tm="0">
                                          <p:val>
                                            <p:strVal val="#ppt_x"/>
                                          </p:val>
                                        </p:tav>
                                        <p:tav tm="100000">
                                          <p:val>
                                            <p:strVal val="#ppt_x"/>
                                          </p:val>
                                        </p:tav>
                                      </p:tavLst>
                                    </p:anim>
                                    <p:anim calcmode="lin" valueType="num">
                                      <p:cBhvr>
                                        <p:cTn id="59" dur="440" decel="100000" fill="hold"/>
                                        <p:tgtEl>
                                          <p:spTgt spid="13"/>
                                        </p:tgtEl>
                                        <p:attrNameLst>
                                          <p:attrName>ppt_y</p:attrName>
                                        </p:attrNameLst>
                                      </p:cBhvr>
                                      <p:tavLst>
                                        <p:tav tm="0">
                                          <p:val>
                                            <p:strVal val="#ppt_y+0.018"/>
                                          </p:val>
                                        </p:tav>
                                        <p:tav tm="100000">
                                          <p:val>
                                            <p:strVal val="#ppt_y"/>
                                          </p:val>
                                        </p:tav>
                                      </p:tavLst>
                                    </p:anim>
                                  </p:childTnLst>
                                </p:cTn>
                              </p:par>
                              <p:par>
                                <p:cTn id="60" presetID="42" presetClass="entr" presetSubtype="4" fill="hold" grpId="0" nodeType="withEffect">
                                  <p:stCondLst>
                                    <p:cond delay="30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440"/>
                                        <p:tgtEl>
                                          <p:spTgt spid="14"/>
                                        </p:tgtEl>
                                      </p:cBhvr>
                                    </p:animEffect>
                                    <p:anim calcmode="lin" valueType="num">
                                      <p:cBhvr>
                                        <p:cTn id="63" dur="440" fill="hold"/>
                                        <p:tgtEl>
                                          <p:spTgt spid="14"/>
                                        </p:tgtEl>
                                        <p:attrNameLst>
                                          <p:attrName>ppt_x</p:attrName>
                                        </p:attrNameLst>
                                      </p:cBhvr>
                                      <p:tavLst>
                                        <p:tav tm="0">
                                          <p:val>
                                            <p:strVal val="#ppt_x"/>
                                          </p:val>
                                        </p:tav>
                                        <p:tav tm="100000">
                                          <p:val>
                                            <p:strVal val="#ppt_x"/>
                                          </p:val>
                                        </p:tav>
                                      </p:tavLst>
                                    </p:anim>
                                    <p:anim calcmode="lin" valueType="num">
                                      <p:cBhvr>
                                        <p:cTn id="64" dur="440" decel="100000" fill="hold"/>
                                        <p:tgtEl>
                                          <p:spTgt spid="14"/>
                                        </p:tgtEl>
                                        <p:attrNameLst>
                                          <p:attrName>ppt_y</p:attrName>
                                        </p:attrNameLst>
                                      </p:cBhvr>
                                      <p:tavLst>
                                        <p:tav tm="0">
                                          <p:val>
                                            <p:strVal val="#ppt_y+0.018"/>
                                          </p:val>
                                        </p:tav>
                                        <p:tav tm="100000">
                                          <p:val>
                                            <p:strVal val="#ppt_y"/>
                                          </p:val>
                                        </p:tav>
                                      </p:tavLst>
                                    </p:anim>
                                  </p:childTnLst>
                                </p:cTn>
                              </p:par>
                              <p:par>
                                <p:cTn id="65" presetID="42" presetClass="entr" presetSubtype="4" fill="hold" grpId="0" nodeType="withEffect">
                                  <p:stCondLst>
                                    <p:cond delay="3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440"/>
                                        <p:tgtEl>
                                          <p:spTgt spid="15"/>
                                        </p:tgtEl>
                                      </p:cBhvr>
                                    </p:animEffect>
                                    <p:anim calcmode="lin" valueType="num">
                                      <p:cBhvr>
                                        <p:cTn id="68" dur="440" fill="hold"/>
                                        <p:tgtEl>
                                          <p:spTgt spid="15"/>
                                        </p:tgtEl>
                                        <p:attrNameLst>
                                          <p:attrName>ppt_x</p:attrName>
                                        </p:attrNameLst>
                                      </p:cBhvr>
                                      <p:tavLst>
                                        <p:tav tm="0">
                                          <p:val>
                                            <p:strVal val="#ppt_x"/>
                                          </p:val>
                                        </p:tav>
                                        <p:tav tm="100000">
                                          <p:val>
                                            <p:strVal val="#ppt_x"/>
                                          </p:val>
                                        </p:tav>
                                      </p:tavLst>
                                    </p:anim>
                                    <p:anim calcmode="lin" valueType="num">
                                      <p:cBhvr>
                                        <p:cTn id="69" dur="440" decel="100000" fill="hold"/>
                                        <p:tgtEl>
                                          <p:spTgt spid="15"/>
                                        </p:tgtEl>
                                        <p:attrNameLst>
                                          <p:attrName>ppt_y</p:attrName>
                                        </p:attrNameLst>
                                      </p:cBhvr>
                                      <p:tavLst>
                                        <p:tav tm="0">
                                          <p:val>
                                            <p:strVal val="#ppt_y+0.018"/>
                                          </p:val>
                                        </p:tav>
                                        <p:tav tm="100000">
                                          <p:val>
                                            <p:strVal val="#ppt_y"/>
                                          </p:val>
                                        </p:tav>
                                      </p:tavLst>
                                    </p:anim>
                                  </p:childTnLst>
                                </p:cTn>
                              </p:par>
                              <p:par>
                                <p:cTn id="70" presetID="42" presetClass="entr" presetSubtype="4" fill="hold" grpId="0" nodeType="withEffect">
                                  <p:stCondLst>
                                    <p:cond delay="43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440"/>
                                        <p:tgtEl>
                                          <p:spTgt spid="16"/>
                                        </p:tgtEl>
                                      </p:cBhvr>
                                    </p:animEffect>
                                    <p:anim calcmode="lin" valueType="num">
                                      <p:cBhvr>
                                        <p:cTn id="73" dur="440" fill="hold"/>
                                        <p:tgtEl>
                                          <p:spTgt spid="16"/>
                                        </p:tgtEl>
                                        <p:attrNameLst>
                                          <p:attrName>ppt_x</p:attrName>
                                        </p:attrNameLst>
                                      </p:cBhvr>
                                      <p:tavLst>
                                        <p:tav tm="0">
                                          <p:val>
                                            <p:strVal val="#ppt_x"/>
                                          </p:val>
                                        </p:tav>
                                        <p:tav tm="100000">
                                          <p:val>
                                            <p:strVal val="#ppt_x"/>
                                          </p:val>
                                        </p:tav>
                                      </p:tavLst>
                                    </p:anim>
                                    <p:anim calcmode="lin" valueType="num">
                                      <p:cBhvr>
                                        <p:cTn id="74" dur="440" decel="100000" fill="hold"/>
                                        <p:tgtEl>
                                          <p:spTgt spid="16"/>
                                        </p:tgtEl>
                                        <p:attrNameLst>
                                          <p:attrName>ppt_y</p:attrName>
                                        </p:attrNameLst>
                                      </p:cBhvr>
                                      <p:tavLst>
                                        <p:tav tm="0">
                                          <p:val>
                                            <p:strVal val="#ppt_y+0.018"/>
                                          </p:val>
                                        </p:tav>
                                        <p:tav tm="100000">
                                          <p:val>
                                            <p:strVal val="#ppt_y"/>
                                          </p:val>
                                        </p:tav>
                                      </p:tavLst>
                                    </p:anim>
                                  </p:childTnLst>
                                </p:cTn>
                              </p:par>
                              <p:par>
                                <p:cTn id="75" presetID="42" presetClass="entr" presetSubtype="4" fill="hold" grpId="0" nodeType="withEffect">
                                  <p:stCondLst>
                                    <p:cond delay="43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440"/>
                                        <p:tgtEl>
                                          <p:spTgt spid="17"/>
                                        </p:tgtEl>
                                      </p:cBhvr>
                                    </p:animEffect>
                                    <p:anim calcmode="lin" valueType="num">
                                      <p:cBhvr>
                                        <p:cTn id="78" dur="440" fill="hold"/>
                                        <p:tgtEl>
                                          <p:spTgt spid="17"/>
                                        </p:tgtEl>
                                        <p:attrNameLst>
                                          <p:attrName>ppt_x</p:attrName>
                                        </p:attrNameLst>
                                      </p:cBhvr>
                                      <p:tavLst>
                                        <p:tav tm="0">
                                          <p:val>
                                            <p:strVal val="#ppt_x"/>
                                          </p:val>
                                        </p:tav>
                                        <p:tav tm="100000">
                                          <p:val>
                                            <p:strVal val="#ppt_x"/>
                                          </p:val>
                                        </p:tav>
                                      </p:tavLst>
                                    </p:anim>
                                    <p:anim calcmode="lin" valueType="num">
                                      <p:cBhvr>
                                        <p:cTn id="79" dur="440" decel="100000" fill="hold"/>
                                        <p:tgtEl>
                                          <p:spTgt spid="17"/>
                                        </p:tgtEl>
                                        <p:attrNameLst>
                                          <p:attrName>ppt_y</p:attrName>
                                        </p:attrNameLst>
                                      </p:cBhvr>
                                      <p:tavLst>
                                        <p:tav tm="0">
                                          <p:val>
                                            <p:strVal val="#ppt_y+0.018"/>
                                          </p:val>
                                        </p:tav>
                                        <p:tav tm="100000">
                                          <p:val>
                                            <p:strVal val="#ppt_y"/>
                                          </p:val>
                                        </p:tav>
                                      </p:tavLst>
                                    </p:anim>
                                  </p:childTnLst>
                                </p:cTn>
                              </p:par>
                              <p:par>
                                <p:cTn id="80" presetID="42" presetClass="entr" presetSubtype="4" fill="hold" grpId="0" nodeType="withEffect">
                                  <p:stCondLst>
                                    <p:cond delay="43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440"/>
                                        <p:tgtEl>
                                          <p:spTgt spid="18"/>
                                        </p:tgtEl>
                                      </p:cBhvr>
                                    </p:animEffect>
                                    <p:anim calcmode="lin" valueType="num">
                                      <p:cBhvr>
                                        <p:cTn id="83" dur="440" fill="hold"/>
                                        <p:tgtEl>
                                          <p:spTgt spid="18"/>
                                        </p:tgtEl>
                                        <p:attrNameLst>
                                          <p:attrName>ppt_x</p:attrName>
                                        </p:attrNameLst>
                                      </p:cBhvr>
                                      <p:tavLst>
                                        <p:tav tm="0">
                                          <p:val>
                                            <p:strVal val="#ppt_x"/>
                                          </p:val>
                                        </p:tav>
                                        <p:tav tm="100000">
                                          <p:val>
                                            <p:strVal val="#ppt_x"/>
                                          </p:val>
                                        </p:tav>
                                      </p:tavLst>
                                    </p:anim>
                                    <p:anim calcmode="lin" valueType="num">
                                      <p:cBhvr>
                                        <p:cTn id="84" dur="440" decel="100000" fill="hold"/>
                                        <p:tgtEl>
                                          <p:spTgt spid="18"/>
                                        </p:tgtEl>
                                        <p:attrNameLst>
                                          <p:attrName>ppt_y</p:attrName>
                                        </p:attrNameLst>
                                      </p:cBhvr>
                                      <p:tavLst>
                                        <p:tav tm="0">
                                          <p:val>
                                            <p:strVal val="#ppt_y+0.018"/>
                                          </p:val>
                                        </p:tav>
                                        <p:tav tm="100000">
                                          <p:val>
                                            <p:strVal val="#ppt_y"/>
                                          </p:val>
                                        </p:tav>
                                      </p:tavLst>
                                    </p:anim>
                                  </p:childTnLst>
                                </p:cTn>
                              </p:par>
                              <p:par>
                                <p:cTn id="85" presetID="42" presetClass="entr" presetSubtype="4" fill="hold" grpId="0" nodeType="withEffect">
                                  <p:stCondLst>
                                    <p:cond delay="43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440"/>
                                        <p:tgtEl>
                                          <p:spTgt spid="19"/>
                                        </p:tgtEl>
                                      </p:cBhvr>
                                    </p:animEffect>
                                    <p:anim calcmode="lin" valueType="num">
                                      <p:cBhvr>
                                        <p:cTn id="88" dur="440" fill="hold"/>
                                        <p:tgtEl>
                                          <p:spTgt spid="19"/>
                                        </p:tgtEl>
                                        <p:attrNameLst>
                                          <p:attrName>ppt_x</p:attrName>
                                        </p:attrNameLst>
                                      </p:cBhvr>
                                      <p:tavLst>
                                        <p:tav tm="0">
                                          <p:val>
                                            <p:strVal val="#ppt_x"/>
                                          </p:val>
                                        </p:tav>
                                        <p:tav tm="100000">
                                          <p:val>
                                            <p:strVal val="#ppt_x"/>
                                          </p:val>
                                        </p:tav>
                                      </p:tavLst>
                                    </p:anim>
                                    <p:anim calcmode="lin" valueType="num">
                                      <p:cBhvr>
                                        <p:cTn id="89" dur="440" decel="100000" fill="hold"/>
                                        <p:tgtEl>
                                          <p:spTgt spid="19"/>
                                        </p:tgtEl>
                                        <p:attrNameLst>
                                          <p:attrName>ppt_y</p:attrName>
                                        </p:attrNameLst>
                                      </p:cBhvr>
                                      <p:tavLst>
                                        <p:tav tm="0">
                                          <p:val>
                                            <p:strVal val="#ppt_y+0.018"/>
                                          </p:val>
                                        </p:tav>
                                        <p:tav tm="100000">
                                          <p:val>
                                            <p:strVal val="#ppt_y"/>
                                          </p:val>
                                        </p:tav>
                                      </p:tavLst>
                                    </p:anim>
                                  </p:childTnLst>
                                </p:cTn>
                              </p:par>
                              <p:par>
                                <p:cTn id="90" presetID="42" presetClass="entr" presetSubtype="4" fill="hold" grpId="0" nodeType="withEffect">
                                  <p:stCondLst>
                                    <p:cond delay="43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440"/>
                                        <p:tgtEl>
                                          <p:spTgt spid="20"/>
                                        </p:tgtEl>
                                      </p:cBhvr>
                                    </p:animEffect>
                                    <p:anim calcmode="lin" valueType="num">
                                      <p:cBhvr>
                                        <p:cTn id="93" dur="440" fill="hold"/>
                                        <p:tgtEl>
                                          <p:spTgt spid="20"/>
                                        </p:tgtEl>
                                        <p:attrNameLst>
                                          <p:attrName>ppt_x</p:attrName>
                                        </p:attrNameLst>
                                      </p:cBhvr>
                                      <p:tavLst>
                                        <p:tav tm="0">
                                          <p:val>
                                            <p:strVal val="#ppt_x"/>
                                          </p:val>
                                        </p:tav>
                                        <p:tav tm="100000">
                                          <p:val>
                                            <p:strVal val="#ppt_x"/>
                                          </p:val>
                                        </p:tav>
                                      </p:tavLst>
                                    </p:anim>
                                    <p:anim calcmode="lin" valueType="num">
                                      <p:cBhvr>
                                        <p:cTn id="94" dur="440" decel="100000" fill="hold"/>
                                        <p:tgtEl>
                                          <p:spTgt spid="20"/>
                                        </p:tgtEl>
                                        <p:attrNameLst>
                                          <p:attrName>ppt_y</p:attrName>
                                        </p:attrNameLst>
                                      </p:cBhvr>
                                      <p:tavLst>
                                        <p:tav tm="0">
                                          <p:val>
                                            <p:strVal val="#ppt_y+0.018"/>
                                          </p:val>
                                        </p:tav>
                                        <p:tav tm="100000">
                                          <p:val>
                                            <p:strVal val="#ppt_y"/>
                                          </p:val>
                                        </p:tav>
                                      </p:tavLst>
                                    </p:anim>
                                  </p:childTnLst>
                                </p:cTn>
                              </p:par>
                              <p:par>
                                <p:cTn id="95" presetID="42" presetClass="entr" presetSubtype="4" fill="hold" grpId="0" nodeType="withEffect">
                                  <p:stCondLst>
                                    <p:cond delay="43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440"/>
                                        <p:tgtEl>
                                          <p:spTgt spid="21"/>
                                        </p:tgtEl>
                                      </p:cBhvr>
                                    </p:animEffect>
                                    <p:anim calcmode="lin" valueType="num">
                                      <p:cBhvr>
                                        <p:cTn id="98" dur="440" fill="hold"/>
                                        <p:tgtEl>
                                          <p:spTgt spid="21"/>
                                        </p:tgtEl>
                                        <p:attrNameLst>
                                          <p:attrName>ppt_x</p:attrName>
                                        </p:attrNameLst>
                                      </p:cBhvr>
                                      <p:tavLst>
                                        <p:tav tm="0">
                                          <p:val>
                                            <p:strVal val="#ppt_x"/>
                                          </p:val>
                                        </p:tav>
                                        <p:tav tm="100000">
                                          <p:val>
                                            <p:strVal val="#ppt_x"/>
                                          </p:val>
                                        </p:tav>
                                      </p:tavLst>
                                    </p:anim>
                                    <p:anim calcmode="lin" valueType="num">
                                      <p:cBhvr>
                                        <p:cTn id="99" dur="440" decel="100000" fill="hold"/>
                                        <p:tgtEl>
                                          <p:spTgt spid="21"/>
                                        </p:tgtEl>
                                        <p:attrNameLst>
                                          <p:attrName>ppt_y</p:attrName>
                                        </p:attrNameLst>
                                      </p:cBhvr>
                                      <p:tavLst>
                                        <p:tav tm="0">
                                          <p:val>
                                            <p:strVal val="#ppt_y+0.018"/>
                                          </p:val>
                                        </p:tav>
                                        <p:tav tm="100000">
                                          <p:val>
                                            <p:strVal val="#ppt_y"/>
                                          </p:val>
                                        </p:tav>
                                      </p:tavLst>
                                    </p:anim>
                                  </p:childTnLst>
                                </p:cTn>
                              </p:par>
                              <p:par>
                                <p:cTn id="100" presetID="42" presetClass="entr" presetSubtype="4" fill="hold" grpId="0" nodeType="withEffect">
                                  <p:stCondLst>
                                    <p:cond delay="43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440"/>
                                        <p:tgtEl>
                                          <p:spTgt spid="22"/>
                                        </p:tgtEl>
                                      </p:cBhvr>
                                    </p:animEffect>
                                    <p:anim calcmode="lin" valueType="num">
                                      <p:cBhvr>
                                        <p:cTn id="103" dur="440" fill="hold"/>
                                        <p:tgtEl>
                                          <p:spTgt spid="22"/>
                                        </p:tgtEl>
                                        <p:attrNameLst>
                                          <p:attrName>ppt_x</p:attrName>
                                        </p:attrNameLst>
                                      </p:cBhvr>
                                      <p:tavLst>
                                        <p:tav tm="0">
                                          <p:val>
                                            <p:strVal val="#ppt_x"/>
                                          </p:val>
                                        </p:tav>
                                        <p:tav tm="100000">
                                          <p:val>
                                            <p:strVal val="#ppt_x"/>
                                          </p:val>
                                        </p:tav>
                                      </p:tavLst>
                                    </p:anim>
                                    <p:anim calcmode="lin" valueType="num">
                                      <p:cBhvr>
                                        <p:cTn id="104" dur="440" decel="100000" fill="hold"/>
                                        <p:tgtEl>
                                          <p:spTgt spid="22"/>
                                        </p:tgtEl>
                                        <p:attrNameLst>
                                          <p:attrName>ppt_y</p:attrName>
                                        </p:attrNameLst>
                                      </p:cBhvr>
                                      <p:tavLst>
                                        <p:tav tm="0">
                                          <p:val>
                                            <p:strVal val="#ppt_y+0.018"/>
                                          </p:val>
                                        </p:tav>
                                        <p:tav tm="100000">
                                          <p:val>
                                            <p:strVal val="#ppt_y"/>
                                          </p:val>
                                        </p:tav>
                                      </p:tavLst>
                                    </p:anim>
                                  </p:childTnLst>
                                </p:cTn>
                              </p:par>
                              <p:par>
                                <p:cTn id="105" presetID="42" presetClass="entr" presetSubtype="4" fill="hold" grpId="0" nodeType="withEffect">
                                  <p:stCondLst>
                                    <p:cond delay="43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440"/>
                                        <p:tgtEl>
                                          <p:spTgt spid="23"/>
                                        </p:tgtEl>
                                      </p:cBhvr>
                                    </p:animEffect>
                                    <p:anim calcmode="lin" valueType="num">
                                      <p:cBhvr>
                                        <p:cTn id="108" dur="440" fill="hold"/>
                                        <p:tgtEl>
                                          <p:spTgt spid="23"/>
                                        </p:tgtEl>
                                        <p:attrNameLst>
                                          <p:attrName>ppt_x</p:attrName>
                                        </p:attrNameLst>
                                      </p:cBhvr>
                                      <p:tavLst>
                                        <p:tav tm="0">
                                          <p:val>
                                            <p:strVal val="#ppt_x"/>
                                          </p:val>
                                        </p:tav>
                                        <p:tav tm="100000">
                                          <p:val>
                                            <p:strVal val="#ppt_x"/>
                                          </p:val>
                                        </p:tav>
                                      </p:tavLst>
                                    </p:anim>
                                    <p:anim calcmode="lin" valueType="num">
                                      <p:cBhvr>
                                        <p:cTn id="109" dur="440" decel="100000" fill="hold"/>
                                        <p:tgtEl>
                                          <p:spTgt spid="23"/>
                                        </p:tgtEl>
                                        <p:attrNameLst>
                                          <p:attrName>ppt_y</p:attrName>
                                        </p:attrNameLst>
                                      </p:cBhvr>
                                      <p:tavLst>
                                        <p:tav tm="0">
                                          <p:val>
                                            <p:strVal val="#ppt_y+0.0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gCanvas" descr="image2.jpg"/>
          <p:cNvPicPr>
            <a:picLocks noChangeAspect="1"/>
          </p:cNvPicPr>
          <p:nvPr/>
        </p:nvPicPr>
        <p:blipFill>
          <a:blip r:embed="rId3"/>
          <a:stretch>
            <a:fillRect/>
          </a:stretch>
        </p:blipFill>
        <p:spPr>
          <a:xfrm>
            <a:off x="0" y="0"/>
            <a:ext cx="12191695" cy="6858000"/>
          </a:xfrm>
          <a:prstGeom prst="rect">
            <a:avLst/>
          </a:prstGeom>
        </p:spPr>
      </p:pic>
      <p:sp>
        <p:nvSpPr>
          <p:cNvPr id="3" name="Pill"/>
          <p:cNvSpPr/>
          <p:nvPr/>
        </p:nvSpPr>
        <p:spPr>
          <a:xfrm>
            <a:off x="658368" y="457200"/>
            <a:ext cx="3977639" cy="274320"/>
          </a:xfrm>
          <a:prstGeom prst="roundRect">
            <a:avLst>
              <a:gd name="adj" fmla="val 50000"/>
            </a:avLst>
          </a:prstGeom>
          <a:solidFill>
            <a:srgbClr val="172554"/>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900" b="1" spc="140">
                <a:solidFill>
                  <a:srgbClr val="34D399"/>
                </a:solidFill>
                <a:latin typeface="Segoe UI"/>
              </a:rPr>
              <a:t>THANK YOU  ·  2-MIN LIVE DEMO &amp; Q&amp;A</a:t>
            </a:r>
          </a:p>
        </p:txBody>
      </p:sp>
      <p:sp>
        <p:nvSpPr>
          <p:cNvPr id="4" name="Text"/>
          <p:cNvSpPr txBox="1"/>
          <p:nvPr/>
        </p:nvSpPr>
        <p:spPr>
          <a:xfrm>
            <a:off x="658368" y="877824"/>
            <a:ext cx="10789920" cy="1261872"/>
          </a:xfrm>
          <a:prstGeom prst="rect">
            <a:avLst/>
          </a:prstGeom>
          <a:noFill/>
        </p:spPr>
        <p:txBody>
          <a:bodyPr wrap="square" lIns="0" tIns="0" rIns="0" bIns="0" anchor="t">
            <a:spAutoFit/>
          </a:bodyPr>
          <a:lstStyle/>
          <a:p>
            <a:pPr algn="l">
              <a:lnSpc>
                <a:spcPct val="110000"/>
              </a:lnSpc>
            </a:pPr>
            <a:r>
              <a:rPr sz="3700" b="1" i="0">
                <a:solidFill>
                  <a:srgbClr val="F8FAFC"/>
                </a:solidFill>
                <a:latin typeface="Segoe UI"/>
              </a:rPr>
              <a:t>The review arrived before the parcel.</a:t>
            </a:r>
          </a:p>
          <a:p>
            <a:pPr algn="l">
              <a:lnSpc>
                <a:spcPct val="110000"/>
              </a:lnSpc>
            </a:pPr>
            <a:r>
              <a:rPr sz="3700" b="1" i="0">
                <a:solidFill>
                  <a:srgbClr val="34D399"/>
                </a:solidFill>
                <a:effectLst>
                  <a:glow rad="114300">
                    <a:srgbClr val="34D399">
                      <a:alpha val="22000"/>
                    </a:srgbClr>
                  </a:glow>
                </a:effectLst>
                <a:latin typeface="Segoe UI"/>
              </a:rPr>
              <a:t>Olist can get there first.</a:t>
            </a:r>
          </a:p>
        </p:txBody>
      </p:sp>
      <p:sp>
        <p:nvSpPr>
          <p:cNvPr id="5" name="Card"/>
          <p:cNvSpPr/>
          <p:nvPr/>
        </p:nvSpPr>
        <p:spPr>
          <a:xfrm>
            <a:off x="658368" y="2267712"/>
            <a:ext cx="6967728" cy="1261872"/>
          </a:xfrm>
          <a:prstGeom prst="roundRect">
            <a:avLst>
              <a:gd name="adj" fmla="val 3800"/>
            </a:avLst>
          </a:prstGeom>
          <a:solidFill>
            <a:srgbClr val="121E34"/>
          </a:solidFill>
          <a:ln w="12700">
            <a:solidFill>
              <a:srgbClr val="263650"/>
            </a:solidFill>
          </a:ln>
          <a:effectLst>
            <a:outerShdw blurRad="177800" dist="44450" dir="5400000" algn="tl"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298448" y="2761488"/>
            <a:ext cx="5349240" cy="2286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g1" descr="image4.png"/>
          <p:cNvPicPr>
            <a:picLocks noChangeAspect="1"/>
          </p:cNvPicPr>
          <p:nvPr/>
        </p:nvPicPr>
        <p:blipFill>
          <a:blip r:embed="rId4"/>
          <a:stretch>
            <a:fillRect/>
          </a:stretch>
        </p:blipFill>
        <p:spPr>
          <a:xfrm>
            <a:off x="1115568" y="2505456"/>
            <a:ext cx="457200" cy="457200"/>
          </a:xfrm>
          <a:prstGeom prst="rect">
            <a:avLst/>
          </a:prstGeom>
        </p:spPr>
      </p:pic>
      <p:sp>
        <p:nvSpPr>
          <p:cNvPr id="8" name="Text"/>
          <p:cNvSpPr txBox="1"/>
          <p:nvPr/>
        </p:nvSpPr>
        <p:spPr>
          <a:xfrm>
            <a:off x="676656" y="2999232"/>
            <a:ext cx="1353312" cy="420624"/>
          </a:xfrm>
          <a:prstGeom prst="rect">
            <a:avLst/>
          </a:prstGeom>
          <a:noFill/>
        </p:spPr>
        <p:txBody>
          <a:bodyPr wrap="square" lIns="0" tIns="0" rIns="0" bIns="0" anchor="t">
            <a:spAutoFit/>
          </a:bodyPr>
          <a:lstStyle/>
          <a:p>
            <a:pPr algn="ctr">
              <a:lnSpc>
                <a:spcPct val="112000"/>
              </a:lnSpc>
            </a:pPr>
            <a:r>
              <a:rPr sz="980" b="1" i="0">
                <a:solidFill>
                  <a:srgbClr val="60A5FA"/>
                </a:solidFill>
                <a:latin typeface="Segoe UI"/>
              </a:rPr>
              <a:t>1. Checkout</a:t>
            </a:r>
          </a:p>
          <a:p>
            <a:pPr algn="ctr">
              <a:lnSpc>
                <a:spcPct val="112000"/>
              </a:lnSpc>
            </a:pPr>
            <a:r>
              <a:rPr sz="840" b="0" i="0">
                <a:solidFill>
                  <a:srgbClr val="CBD5E1"/>
                </a:solidFill>
                <a:latin typeface="Segoe UI"/>
              </a:rPr>
              <a:t>60% closer date</a:t>
            </a:r>
          </a:p>
        </p:txBody>
      </p:sp>
      <p:pic>
        <p:nvPicPr>
          <p:cNvPr id="9" name="!!g2" descr="image5.png"/>
          <p:cNvPicPr>
            <a:picLocks noChangeAspect="1"/>
          </p:cNvPicPr>
          <p:nvPr/>
        </p:nvPicPr>
        <p:blipFill>
          <a:blip r:embed="rId5"/>
          <a:stretch>
            <a:fillRect/>
          </a:stretch>
        </p:blipFill>
        <p:spPr>
          <a:xfrm>
            <a:off x="2807208" y="2505456"/>
            <a:ext cx="457200" cy="457200"/>
          </a:xfrm>
          <a:prstGeom prst="rect">
            <a:avLst/>
          </a:prstGeom>
        </p:spPr>
      </p:pic>
      <p:sp>
        <p:nvSpPr>
          <p:cNvPr id="10" name="Text"/>
          <p:cNvSpPr txBox="1"/>
          <p:nvPr/>
        </p:nvSpPr>
        <p:spPr>
          <a:xfrm>
            <a:off x="2368296" y="2999232"/>
            <a:ext cx="1353312" cy="420624"/>
          </a:xfrm>
          <a:prstGeom prst="rect">
            <a:avLst/>
          </a:prstGeom>
          <a:noFill/>
        </p:spPr>
        <p:txBody>
          <a:bodyPr wrap="square" lIns="0" tIns="0" rIns="0" bIns="0" anchor="t">
            <a:spAutoFit/>
          </a:bodyPr>
          <a:lstStyle/>
          <a:p>
            <a:pPr algn="ctr">
              <a:lnSpc>
                <a:spcPct val="112000"/>
              </a:lnSpc>
            </a:pPr>
            <a:r>
              <a:rPr sz="980" b="1" i="0">
                <a:solidFill>
                  <a:srgbClr val="FBBF24"/>
                </a:solidFill>
                <a:latin typeface="Segoe UI"/>
              </a:rPr>
              <a:t>2. Promised date</a:t>
            </a:r>
          </a:p>
          <a:p>
            <a:pPr algn="ctr">
              <a:lnSpc>
                <a:spcPct val="112000"/>
              </a:lnSpc>
            </a:pPr>
            <a:r>
              <a:rPr sz="840" b="0" i="0">
                <a:solidFill>
                  <a:srgbClr val="CBD5E1"/>
                </a:solidFill>
                <a:latin typeface="Segoe UI"/>
              </a:rPr>
              <a:t>Speak first + hold survey</a:t>
            </a:r>
          </a:p>
        </p:txBody>
      </p:sp>
      <p:pic>
        <p:nvPicPr>
          <p:cNvPr id="11" name="!!g3" descr="image6.png"/>
          <p:cNvPicPr>
            <a:picLocks noChangeAspect="1"/>
          </p:cNvPicPr>
          <p:nvPr/>
        </p:nvPicPr>
        <p:blipFill>
          <a:blip r:embed="rId6"/>
          <a:stretch>
            <a:fillRect/>
          </a:stretch>
        </p:blipFill>
        <p:spPr>
          <a:xfrm>
            <a:off x="4608576" y="2505456"/>
            <a:ext cx="457200" cy="457200"/>
          </a:xfrm>
          <a:prstGeom prst="rect">
            <a:avLst/>
          </a:prstGeom>
        </p:spPr>
      </p:pic>
      <p:sp>
        <p:nvSpPr>
          <p:cNvPr id="12" name="Text"/>
          <p:cNvSpPr txBox="1"/>
          <p:nvPr/>
        </p:nvSpPr>
        <p:spPr>
          <a:xfrm>
            <a:off x="4169663" y="2999232"/>
            <a:ext cx="1353312" cy="420624"/>
          </a:xfrm>
          <a:prstGeom prst="rect">
            <a:avLst/>
          </a:prstGeom>
          <a:noFill/>
        </p:spPr>
        <p:txBody>
          <a:bodyPr wrap="square" lIns="0" tIns="0" rIns="0" bIns="0" anchor="t">
            <a:spAutoFit/>
          </a:bodyPr>
          <a:lstStyle/>
          <a:p>
            <a:pPr algn="ctr">
              <a:lnSpc>
                <a:spcPct val="112000"/>
              </a:lnSpc>
            </a:pPr>
            <a:r>
              <a:rPr sz="980" b="1" i="0">
                <a:solidFill>
                  <a:srgbClr val="34D399"/>
                </a:solidFill>
                <a:latin typeface="Segoe UI"/>
              </a:rPr>
              <a:t>3. Delivery</a:t>
            </a:r>
          </a:p>
          <a:p>
            <a:pPr algn="ctr">
              <a:lnSpc>
                <a:spcPct val="112000"/>
              </a:lnSpc>
            </a:pPr>
            <a:r>
              <a:rPr sz="840" b="0" i="0">
                <a:solidFill>
                  <a:srgbClr val="CBD5E1"/>
                </a:solidFill>
                <a:latin typeface="Segoe UI"/>
              </a:rPr>
              <a:t>Top-10 calls (5.2×)</a:t>
            </a:r>
          </a:p>
        </p:txBody>
      </p:sp>
      <p:pic>
        <p:nvPicPr>
          <p:cNvPr id="13" name="!!g4" descr="image7.png"/>
          <p:cNvPicPr>
            <a:picLocks noChangeAspect="1"/>
          </p:cNvPicPr>
          <p:nvPr/>
        </p:nvPicPr>
        <p:blipFill>
          <a:blip r:embed="rId7"/>
          <a:stretch>
            <a:fillRect/>
          </a:stretch>
        </p:blipFill>
        <p:spPr>
          <a:xfrm>
            <a:off x="6345936" y="2505456"/>
            <a:ext cx="457200" cy="457200"/>
          </a:xfrm>
          <a:prstGeom prst="rect">
            <a:avLst/>
          </a:prstGeom>
        </p:spPr>
      </p:pic>
      <p:sp>
        <p:nvSpPr>
          <p:cNvPr id="14" name="Text"/>
          <p:cNvSpPr txBox="1"/>
          <p:nvPr/>
        </p:nvSpPr>
        <p:spPr>
          <a:xfrm>
            <a:off x="5907024" y="2999232"/>
            <a:ext cx="1353312" cy="420624"/>
          </a:xfrm>
          <a:prstGeom prst="rect">
            <a:avLst/>
          </a:prstGeom>
          <a:noFill/>
        </p:spPr>
        <p:txBody>
          <a:bodyPr wrap="square" lIns="0" tIns="0" rIns="0" bIns="0" anchor="t">
            <a:spAutoFit/>
          </a:bodyPr>
          <a:lstStyle/>
          <a:p>
            <a:pPr algn="ctr">
              <a:lnSpc>
                <a:spcPct val="112000"/>
              </a:lnSpc>
            </a:pPr>
            <a:r>
              <a:rPr sz="980" b="1" i="0">
                <a:solidFill>
                  <a:srgbClr val="FB7185"/>
                </a:solidFill>
                <a:latin typeface="Segoe UI"/>
              </a:rPr>
              <a:t>4. Review</a:t>
            </a:r>
          </a:p>
          <a:p>
            <a:pPr algn="ctr">
              <a:lnSpc>
                <a:spcPct val="112000"/>
              </a:lnSpc>
            </a:pPr>
            <a:r>
              <a:rPr sz="840" b="0" i="0">
                <a:solidFill>
                  <a:srgbClr val="CBD5E1"/>
                </a:solidFill>
                <a:latin typeface="Segoe UI"/>
              </a:rPr>
              <a:t>Saved before 1★!</a:t>
            </a:r>
          </a:p>
        </p:txBody>
      </p:sp>
      <p:sp>
        <p:nvSpPr>
          <p:cNvPr id="15" name="Card">
            <a:hlinkClick r:id="rId8"/>
          </p:cNvPr>
          <p:cNvSpPr/>
          <p:nvPr/>
        </p:nvSpPr>
        <p:spPr>
          <a:xfrm>
            <a:off x="7845552" y="2267712"/>
            <a:ext cx="3675887" cy="1261872"/>
          </a:xfrm>
          <a:prstGeom prst="roundRect">
            <a:avLst>
              <a:gd name="adj" fmla="val 3800"/>
            </a:avLst>
          </a:prstGeom>
          <a:solidFill>
            <a:srgbClr val="102725"/>
          </a:solidFill>
          <a:ln w="15240">
            <a:solidFill>
              <a:srgbClr val="34D399"/>
            </a:solidFill>
          </a:ln>
          <a:effectLst>
            <a:outerShdw blurRad="177800" dist="44450" dir="5400000" algn="tl" rotWithShape="0">
              <a:srgbClr val="0F172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image8.png">
            <a:hlinkClick r:id="rId8"/>
          </p:cNvPr>
          <p:cNvPicPr>
            <a:picLocks noChangeAspect="1"/>
          </p:cNvPicPr>
          <p:nvPr/>
        </p:nvPicPr>
        <p:blipFill>
          <a:blip r:embed="rId9"/>
          <a:stretch>
            <a:fillRect/>
          </a:stretch>
        </p:blipFill>
        <p:spPr>
          <a:xfrm>
            <a:off x="8010144" y="2404872"/>
            <a:ext cx="987552" cy="987552"/>
          </a:xfrm>
          <a:prstGeom prst="rect">
            <a:avLst/>
          </a:prstGeom>
        </p:spPr>
      </p:pic>
      <p:sp>
        <p:nvSpPr>
          <p:cNvPr id="17" name="Text">
            <a:hlinkClick r:id="rId8"/>
          </p:cNvPr>
          <p:cNvSpPr txBox="1"/>
          <p:nvPr/>
        </p:nvSpPr>
        <p:spPr>
          <a:xfrm>
            <a:off x="9107424" y="2432304"/>
            <a:ext cx="2304288" cy="950976"/>
          </a:xfrm>
          <a:prstGeom prst="rect">
            <a:avLst/>
          </a:prstGeom>
          <a:noFill/>
        </p:spPr>
        <p:txBody>
          <a:bodyPr wrap="square" lIns="0" tIns="0" rIns="0" bIns="0" anchor="t">
            <a:spAutoFit/>
          </a:bodyPr>
          <a:lstStyle/>
          <a:p>
            <a:pPr algn="l">
              <a:lnSpc>
                <a:spcPct val="122000"/>
              </a:lnSpc>
              <a:spcAft>
                <a:spcPts val="400"/>
              </a:spcAft>
            </a:pPr>
            <a:r>
              <a:rPr sz="900" b="1" i="0" spc="120">
                <a:solidFill>
                  <a:srgbClr val="34D399"/>
                </a:solidFill>
                <a:latin typeface="Segoe UI"/>
              </a:rPr>
              <a:t>▶  LIVE STREAMLIT APP</a:t>
            </a:r>
          </a:p>
          <a:p>
            <a:pPr algn="l">
              <a:lnSpc>
                <a:spcPct val="122000"/>
              </a:lnSpc>
              <a:spcAft>
                <a:spcPts val="500"/>
              </a:spcAft>
            </a:pPr>
            <a:r>
              <a:rPr sz="980" b="1" i="0">
                <a:solidFill>
                  <a:srgbClr val="F8FAFC"/>
                </a:solidFill>
                <a:latin typeface="Segoe UI"/>
              </a:rPr>
              <a:t>team10-it5006-olist.streamlit.app</a:t>
            </a:r>
          </a:p>
          <a:p>
            <a:pPr algn="l">
              <a:lnSpc>
                <a:spcPct val="122000"/>
              </a:lnSpc>
            </a:pPr>
            <a:r>
              <a:rPr sz="880" b="0" i="0">
                <a:solidFill>
                  <a:srgbClr val="CBD5E1"/>
                </a:solidFill>
                <a:latin typeface="Segoe UI"/>
              </a:rPr>
              <a:t>Click to launch 2-min live demo ↗</a:t>
            </a:r>
          </a:p>
        </p:txBody>
      </p:sp>
      <p:sp>
        <p:nvSpPr>
          <p:cNvPr id="18" name="Card">
            <a:hlinkClick r:id="rId10"/>
          </p:cNvPr>
          <p:cNvSpPr/>
          <p:nvPr/>
        </p:nvSpPr>
        <p:spPr>
          <a:xfrm>
            <a:off x="7845552" y="3675887"/>
            <a:ext cx="3675887" cy="1133856"/>
          </a:xfrm>
          <a:prstGeom prst="roundRect">
            <a:avLst>
              <a:gd name="adj" fmla="val 3800"/>
            </a:avLst>
          </a:prstGeom>
          <a:solidFill>
            <a:srgbClr val="131F35"/>
          </a:solidFill>
          <a:ln w="12700">
            <a:solidFill>
              <a:srgbClr val="263650"/>
            </a:solidFill>
          </a:ln>
          <a:effectLst>
            <a:outerShdw blurRad="177800" dist="44450" dir="5400000" algn="tl" rotWithShape="0">
              <a:srgbClr val="0F172A">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23.png">
            <a:hlinkClick r:id="rId10"/>
          </p:cNvPr>
          <p:cNvPicPr>
            <a:picLocks noChangeAspect="1"/>
          </p:cNvPicPr>
          <p:nvPr/>
        </p:nvPicPr>
        <p:blipFill>
          <a:blip r:embed="rId11"/>
          <a:stretch>
            <a:fillRect/>
          </a:stretch>
        </p:blipFill>
        <p:spPr>
          <a:xfrm>
            <a:off x="8010144" y="3794760"/>
            <a:ext cx="896112" cy="896112"/>
          </a:xfrm>
          <a:prstGeom prst="rect">
            <a:avLst/>
          </a:prstGeom>
        </p:spPr>
      </p:pic>
      <p:sp>
        <p:nvSpPr>
          <p:cNvPr id="20" name="Text">
            <a:hlinkClick r:id="rId10"/>
          </p:cNvPr>
          <p:cNvSpPr txBox="1"/>
          <p:nvPr/>
        </p:nvSpPr>
        <p:spPr>
          <a:xfrm>
            <a:off x="9144000" y="3822191"/>
            <a:ext cx="2231136" cy="859536"/>
          </a:xfrm>
          <a:prstGeom prst="rect">
            <a:avLst/>
          </a:prstGeom>
          <a:noFill/>
        </p:spPr>
        <p:txBody>
          <a:bodyPr wrap="square" lIns="0" tIns="0" rIns="0" bIns="0" anchor="t">
            <a:spAutoFit/>
          </a:bodyPr>
          <a:lstStyle/>
          <a:p>
            <a:pPr algn="l">
              <a:lnSpc>
                <a:spcPct val="122000"/>
              </a:lnSpc>
              <a:spcAft>
                <a:spcPts val="300"/>
              </a:spcAft>
            </a:pPr>
            <a:r>
              <a:rPr sz="880" b="1" i="0" spc="120">
                <a:solidFill>
                  <a:srgbClr val="60A5FA"/>
                </a:solidFill>
                <a:latin typeface="Segoe UI"/>
              </a:rPr>
              <a:t>GITHUB REPOSITORY</a:t>
            </a:r>
          </a:p>
          <a:p>
            <a:pPr algn="l">
              <a:lnSpc>
                <a:spcPct val="118000"/>
              </a:lnSpc>
            </a:pPr>
            <a:r>
              <a:rPr sz="1000" b="1" i="0">
                <a:solidFill>
                  <a:srgbClr val="F8FAFC"/>
                </a:solidFill>
                <a:latin typeface="Segoe UI"/>
              </a:rPr>
              <a:t>Full reproducible code,
tests &amp; Phase 3 report ↗</a:t>
            </a:r>
          </a:p>
        </p:txBody>
      </p:sp>
      <p:sp>
        <p:nvSpPr>
          <p:cNvPr id="21" name="Card"/>
          <p:cNvSpPr/>
          <p:nvPr/>
        </p:nvSpPr>
        <p:spPr>
          <a:xfrm>
            <a:off x="658368" y="3675887"/>
            <a:ext cx="6967728" cy="2322576"/>
          </a:xfrm>
          <a:prstGeom prst="roundRect">
            <a:avLst>
              <a:gd name="adj" fmla="val 3800"/>
            </a:avLst>
          </a:prstGeom>
          <a:solidFill>
            <a:srgbClr val="111C31"/>
          </a:solidFill>
          <a:ln w="12700">
            <a:solidFill>
              <a:srgbClr val="263650"/>
            </a:solidFill>
          </a:ln>
          <a:effectLst>
            <a:outerShdw blurRad="177800" dist="44450" dir="5400000" algn="tl"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
          <p:cNvSpPr txBox="1"/>
          <p:nvPr/>
        </p:nvSpPr>
        <p:spPr>
          <a:xfrm>
            <a:off x="896112" y="3794760"/>
            <a:ext cx="6510528" cy="256032"/>
          </a:xfrm>
          <a:prstGeom prst="rect">
            <a:avLst/>
          </a:prstGeom>
          <a:noFill/>
        </p:spPr>
        <p:txBody>
          <a:bodyPr wrap="square" lIns="0" tIns="0" rIns="0" bIns="0" anchor="t">
            <a:spAutoFit/>
          </a:bodyPr>
          <a:lstStyle/>
          <a:p>
            <a:pPr algn="l">
              <a:lnSpc>
                <a:spcPct val="122000"/>
              </a:lnSpc>
            </a:pPr>
            <a:r>
              <a:rPr sz="919" b="1" i="0" spc="130">
                <a:solidFill>
                  <a:srgbClr val="34D399"/>
                </a:solidFill>
                <a:latin typeface="Segoe UI"/>
              </a:rPr>
              <a:t>NEXT UP · 2-MINUTE LIVE DASHBOARD DEMO  </a:t>
            </a:r>
            <a:r>
              <a:rPr sz="900" b="0" i="0">
                <a:solidFill>
                  <a:srgbClr val="94A3B8"/>
                </a:solidFill>
                <a:latin typeface="Segoe UI"/>
              </a:rPr>
              <a:t>·  Click any step to launch live app ↗</a:t>
            </a:r>
          </a:p>
        </p:txBody>
      </p:sp>
      <p:sp>
        <p:nvSpPr>
          <p:cNvPr id="23" name="Card">
            <a:hlinkClick r:id="rId8"/>
          </p:cNvPr>
          <p:cNvSpPr/>
          <p:nvPr/>
        </p:nvSpPr>
        <p:spPr>
          <a:xfrm>
            <a:off x="877824" y="4096512"/>
            <a:ext cx="2103120" cy="1207008"/>
          </a:xfrm>
          <a:prstGeom prst="roundRect">
            <a:avLst>
              <a:gd name="adj" fmla="val 3800"/>
            </a:avLst>
          </a:prstGeom>
          <a:solidFill>
            <a:srgbClr val="102725"/>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
            <a:hlinkClick r:id="rId8"/>
          </p:cNvPr>
          <p:cNvSpPr txBox="1"/>
          <p:nvPr/>
        </p:nvSpPr>
        <p:spPr>
          <a:xfrm>
            <a:off x="1005840" y="4187952"/>
            <a:ext cx="1847088" cy="1024128"/>
          </a:xfrm>
          <a:prstGeom prst="rect">
            <a:avLst/>
          </a:prstGeom>
          <a:noFill/>
        </p:spPr>
        <p:txBody>
          <a:bodyPr wrap="square" lIns="0" tIns="0" rIns="0" bIns="0" anchor="t">
            <a:spAutoFit/>
          </a:bodyPr>
          <a:lstStyle/>
          <a:p>
            <a:pPr algn="l">
              <a:lnSpc>
                <a:spcPct val="122000"/>
              </a:lnSpc>
              <a:spcAft>
                <a:spcPts val="300"/>
              </a:spcAft>
            </a:pPr>
            <a:r>
              <a:rPr sz="840" b="1" i="0" spc="100">
                <a:solidFill>
                  <a:srgbClr val="34D399"/>
                </a:solidFill>
                <a:latin typeface="Segoe UI"/>
              </a:rPr>
              <a:t>01 · REPLAY A DAY</a:t>
            </a:r>
          </a:p>
          <a:p>
            <a:pPr algn="l">
              <a:lnSpc>
                <a:spcPct val="122000"/>
              </a:lnSpc>
              <a:spcAft>
                <a:spcPts val="300"/>
              </a:spcAft>
            </a:pPr>
            <a:r>
              <a:rPr sz="1019" b="1" i="0">
                <a:solidFill>
                  <a:srgbClr val="F8FAFC"/>
                </a:solidFill>
                <a:latin typeface="Segoe UI"/>
              </a:rPr>
              <a:t>16 Jul 2018 blind → Reveal</a:t>
            </a:r>
          </a:p>
          <a:p>
            <a:pPr algn="l">
              <a:lnSpc>
                <a:spcPct val="118000"/>
              </a:lnSpc>
            </a:pPr>
            <a:r>
              <a:rPr sz="880" b="0" i="0">
                <a:solidFill>
                  <a:srgbClr val="CBD5E1"/>
                </a:solidFill>
                <a:latin typeface="Segoe UI"/>
              </a:rPr>
              <a:t>Catch 8 of 10 real 1–2★ (#1 = São Gonçalo!)</a:t>
            </a:r>
          </a:p>
        </p:txBody>
      </p:sp>
      <p:sp>
        <p:nvSpPr>
          <p:cNvPr id="25" name="Card">
            <a:hlinkClick r:id="rId8"/>
          </p:cNvPr>
          <p:cNvSpPr/>
          <p:nvPr/>
        </p:nvSpPr>
        <p:spPr>
          <a:xfrm>
            <a:off x="3090672" y="4096512"/>
            <a:ext cx="2103120" cy="1207008"/>
          </a:xfrm>
          <a:prstGeom prst="roundRect">
            <a:avLst>
              <a:gd name="adj" fmla="val 3800"/>
            </a:avLst>
          </a:prstGeom>
          <a:solidFill>
            <a:srgbClr val="12243F"/>
          </a:solidFill>
          <a:ln w="127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a:hlinkClick r:id="rId8"/>
          </p:cNvPr>
          <p:cNvSpPr txBox="1"/>
          <p:nvPr/>
        </p:nvSpPr>
        <p:spPr>
          <a:xfrm>
            <a:off x="3218688" y="4187952"/>
            <a:ext cx="1847088" cy="1024128"/>
          </a:xfrm>
          <a:prstGeom prst="rect">
            <a:avLst/>
          </a:prstGeom>
          <a:noFill/>
        </p:spPr>
        <p:txBody>
          <a:bodyPr wrap="square" lIns="0" tIns="0" rIns="0" bIns="0" anchor="t">
            <a:spAutoFit/>
          </a:bodyPr>
          <a:lstStyle/>
          <a:p>
            <a:pPr algn="l">
              <a:lnSpc>
                <a:spcPct val="122000"/>
              </a:lnSpc>
              <a:spcAft>
                <a:spcPts val="300"/>
              </a:spcAft>
            </a:pPr>
            <a:r>
              <a:rPr sz="840" b="1" i="0" spc="100">
                <a:solidFill>
                  <a:srgbClr val="60A5FA"/>
                </a:solidFill>
                <a:latin typeface="Segoe UI"/>
              </a:rPr>
              <a:t>02 · PREDICT LIVE</a:t>
            </a:r>
          </a:p>
          <a:p>
            <a:pPr algn="l">
              <a:lnSpc>
                <a:spcPct val="122000"/>
              </a:lnSpc>
              <a:spcAft>
                <a:spcPts val="300"/>
              </a:spcAft>
            </a:pPr>
            <a:r>
              <a:rPr sz="1019" b="1" i="0">
                <a:solidFill>
                  <a:srgbClr val="F8FAFC"/>
                </a:solidFill>
                <a:latin typeface="Segoe UI"/>
              </a:rPr>
              <a:t>Score MA → RJ at checkout</a:t>
            </a:r>
          </a:p>
          <a:p>
            <a:pPr algn="l">
              <a:lnSpc>
                <a:spcPct val="118000"/>
              </a:lnSpc>
            </a:pPr>
            <a:r>
              <a:rPr sz="880" b="0" i="0">
                <a:solidFill>
                  <a:srgbClr val="CBD5E1"/>
                </a:solidFill>
                <a:latin typeface="Segoe UI"/>
              </a:rPr>
              <a:t>Honest date vs promise + ≥11% warning</a:t>
            </a:r>
          </a:p>
        </p:txBody>
      </p:sp>
      <p:sp>
        <p:nvSpPr>
          <p:cNvPr id="27" name="Card">
            <a:hlinkClick r:id="rId8"/>
          </p:cNvPr>
          <p:cNvSpPr/>
          <p:nvPr/>
        </p:nvSpPr>
        <p:spPr>
          <a:xfrm>
            <a:off x="5303520" y="4096512"/>
            <a:ext cx="2103120" cy="1207008"/>
          </a:xfrm>
          <a:prstGeom prst="roundRect">
            <a:avLst>
              <a:gd name="adj" fmla="val 3800"/>
            </a:avLst>
          </a:prstGeom>
          <a:solidFill>
            <a:srgbClr val="231E17"/>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
            <a:hlinkClick r:id="rId8"/>
          </p:cNvPr>
          <p:cNvSpPr txBox="1"/>
          <p:nvPr/>
        </p:nvSpPr>
        <p:spPr>
          <a:xfrm>
            <a:off x="5431536" y="4187952"/>
            <a:ext cx="1847088" cy="1024128"/>
          </a:xfrm>
          <a:prstGeom prst="rect">
            <a:avLst/>
          </a:prstGeom>
          <a:noFill/>
        </p:spPr>
        <p:txBody>
          <a:bodyPr wrap="square" lIns="0" tIns="0" rIns="0" bIns="0" anchor="t">
            <a:spAutoFit/>
          </a:bodyPr>
          <a:lstStyle/>
          <a:p>
            <a:pPr algn="l">
              <a:lnSpc>
                <a:spcPct val="122000"/>
              </a:lnSpc>
              <a:spcAft>
                <a:spcPts val="300"/>
              </a:spcAft>
            </a:pPr>
            <a:r>
              <a:rPr sz="840" b="1" i="0" spc="100">
                <a:solidFill>
                  <a:srgbClr val="FBBF24"/>
                </a:solidFill>
                <a:latin typeface="Segoe UI"/>
              </a:rPr>
              <a:t>03 · MODEL CARD</a:t>
            </a:r>
          </a:p>
          <a:p>
            <a:pPr algn="l">
              <a:lnSpc>
                <a:spcPct val="122000"/>
              </a:lnSpc>
              <a:spcAft>
                <a:spcPts val="300"/>
              </a:spcAft>
            </a:pPr>
            <a:r>
              <a:rPr sz="1019" b="1" i="0">
                <a:solidFill>
                  <a:srgbClr val="F8FAFC"/>
                </a:solidFill>
                <a:latin typeface="Segoe UI"/>
              </a:rPr>
              <a:t>What-if cost &amp; pilot planner</a:t>
            </a:r>
          </a:p>
          <a:p>
            <a:pPr algn="l">
              <a:lnSpc>
                <a:spcPct val="118000"/>
              </a:lnSpc>
            </a:pPr>
            <a:r>
              <a:rPr sz="880" b="0" i="0">
                <a:solidFill>
                  <a:srgbClr val="CBD5E1"/>
                </a:solidFill>
                <a:latin typeface="Segoe UI"/>
              </a:rPr>
              <a:t>Test R$5 call vs R$40 review &amp; 6-wk RCT</a:t>
            </a:r>
          </a:p>
        </p:txBody>
      </p:sp>
      <p:sp>
        <p:nvSpPr>
          <p:cNvPr id="29" name="Pill">
            <a:hlinkClick r:id="rId12" action="ppaction://hlinksldjump"/>
          </p:cNvPr>
          <p:cNvSpPr/>
          <p:nvPr/>
        </p:nvSpPr>
        <p:spPr>
          <a:xfrm>
            <a:off x="877824" y="5468112"/>
            <a:ext cx="1563624" cy="329184"/>
          </a:xfrm>
          <a:prstGeom prst="roundRect">
            <a:avLst>
              <a:gd name="adj" fmla="val 50000"/>
            </a:avLst>
          </a:prstGeom>
          <a:solidFill>
            <a:srgbClr val="281722"/>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40" b="1">
                <a:solidFill>
                  <a:srgbClr val="FB7185"/>
                </a:solidFill>
                <a:latin typeface="Segoe UI"/>
              </a:rPr>
              <a:t>↺ Slide 2 · Order #e1320973</a:t>
            </a:r>
          </a:p>
        </p:txBody>
      </p:sp>
      <p:sp>
        <p:nvSpPr>
          <p:cNvPr id="30" name="Pill">
            <a:hlinkClick r:id="rId13" action="ppaction://hlinksldjump"/>
          </p:cNvPr>
          <p:cNvSpPr/>
          <p:nvPr/>
        </p:nvSpPr>
        <p:spPr>
          <a:xfrm>
            <a:off x="2532888" y="5468112"/>
            <a:ext cx="1563624" cy="329184"/>
          </a:xfrm>
          <a:prstGeom prst="roundRect">
            <a:avLst>
              <a:gd name="adj" fmla="val 50000"/>
            </a:avLst>
          </a:prstGeom>
          <a:solidFill>
            <a:srgbClr val="231E17"/>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40" b="1">
                <a:solidFill>
                  <a:srgbClr val="FBBF24"/>
                </a:solidFill>
                <a:latin typeface="Segoe UI"/>
              </a:rPr>
              <a:t>↺ Slide 4 · Timing Twist</a:t>
            </a:r>
          </a:p>
        </p:txBody>
      </p:sp>
      <p:sp>
        <p:nvSpPr>
          <p:cNvPr id="31" name="Pill">
            <a:hlinkClick r:id="rId14" action="ppaction://hlinksldjump"/>
          </p:cNvPr>
          <p:cNvSpPr/>
          <p:nvPr/>
        </p:nvSpPr>
        <p:spPr>
          <a:xfrm>
            <a:off x="4187952" y="5468112"/>
            <a:ext cx="1563624" cy="329184"/>
          </a:xfrm>
          <a:prstGeom prst="roundRect">
            <a:avLst>
              <a:gd name="adj" fmla="val 50000"/>
            </a:avLst>
          </a:prstGeom>
          <a:solidFill>
            <a:srgbClr val="102725"/>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40" b="1">
                <a:solidFill>
                  <a:srgbClr val="34D399"/>
                </a:solidFill>
                <a:latin typeface="Segoe UI"/>
              </a:rPr>
              <a:t>↺ Slide 8 · 5.2× &amp; On-Time</a:t>
            </a:r>
          </a:p>
        </p:txBody>
      </p:sp>
      <p:sp>
        <p:nvSpPr>
          <p:cNvPr id="32" name="Pill">
            <a:hlinkClick r:id="rId15" action="ppaction://hlinksldjump"/>
          </p:cNvPr>
          <p:cNvSpPr/>
          <p:nvPr/>
        </p:nvSpPr>
        <p:spPr>
          <a:xfrm>
            <a:off x="5843016" y="5468112"/>
            <a:ext cx="1563624" cy="329184"/>
          </a:xfrm>
          <a:prstGeom prst="roundRect">
            <a:avLst>
              <a:gd name="adj" fmla="val 50000"/>
            </a:avLst>
          </a:prstGeom>
          <a:solidFill>
            <a:srgbClr val="12243F"/>
          </a:solidFill>
          <a:ln w="12700">
            <a:solidFill>
              <a:srgbClr val="60A5FA"/>
            </a:solidFill>
          </a:ln>
          <a:effectLst/>
        </p:spPr>
        <p:style>
          <a:lnRef idx="1">
            <a:schemeClr val="accent1"/>
          </a:lnRef>
          <a:fillRef idx="3">
            <a:schemeClr val="accent1"/>
          </a:fillRef>
          <a:effectRef idx="2">
            <a:schemeClr val="accent1"/>
          </a:effectRef>
          <a:fontRef idx="minor">
            <a:schemeClr val="lt1"/>
          </a:fontRef>
        </p:style>
        <p:txBody>
          <a:bodyPr wrap="none" lIns="109728" tIns="0" rIns="109728" bIns="0" rtlCol="0" anchor="ctr"/>
          <a:lstStyle/>
          <a:p>
            <a:pPr algn="ctr"/>
            <a:r>
              <a:rPr sz="840" b="1">
                <a:solidFill>
                  <a:srgbClr val="60A5FA"/>
                </a:solidFill>
                <a:latin typeface="Segoe UI"/>
              </a:rPr>
              <a:t>↺ Slide 11 · 6-Wk A/B Pilot</a:t>
            </a:r>
          </a:p>
        </p:txBody>
      </p:sp>
      <p:sp>
        <p:nvSpPr>
          <p:cNvPr id="33" name="Text"/>
          <p:cNvSpPr txBox="1"/>
          <p:nvPr/>
        </p:nvSpPr>
        <p:spPr>
          <a:xfrm>
            <a:off x="658368" y="6199632"/>
            <a:ext cx="10863072" cy="186846"/>
          </a:xfrm>
          <a:prstGeom prst="rect">
            <a:avLst/>
          </a:prstGeom>
          <a:noFill/>
        </p:spPr>
        <p:txBody>
          <a:bodyPr wrap="square" lIns="0" tIns="0" rIns="0" bIns="0" anchor="t">
            <a:spAutoFit/>
          </a:bodyPr>
          <a:lstStyle/>
          <a:p>
            <a:pPr>
              <a:lnSpc>
                <a:spcPct val="122000"/>
              </a:lnSpc>
            </a:pPr>
            <a:r>
              <a:rPr sz="1100" b="1" i="0" dirty="0">
                <a:solidFill>
                  <a:srgbClr val="F8FAFC"/>
                </a:solidFill>
                <a:latin typeface="Segoe UI"/>
              </a:rPr>
              <a:t>Team 10  ·  </a:t>
            </a:r>
            <a:r>
              <a:rPr lang="en-US" sz="1100" b="1" dirty="0">
                <a:solidFill>
                  <a:srgbClr val="F8FAFC"/>
                </a:solidFill>
                <a:latin typeface="Segoe UI"/>
              </a:rPr>
              <a:t>P</a:t>
            </a:r>
            <a:r>
              <a:rPr lang="en-US" altLang="zh-CN" sz="1100" b="1" dirty="0">
                <a:solidFill>
                  <a:srgbClr val="F8FAFC"/>
                </a:solidFill>
                <a:latin typeface="Segoe UI"/>
              </a:rPr>
              <a:t>an</a:t>
            </a:r>
            <a:r>
              <a:rPr sz="1100" b="1" i="0" dirty="0">
                <a:solidFill>
                  <a:srgbClr val="F8FAFC"/>
                </a:solidFill>
                <a:latin typeface="Segoe UI"/>
              </a:rPr>
              <a:t> </a:t>
            </a:r>
            <a:r>
              <a:rPr lang="en-US" sz="1100" b="1" i="0" dirty="0" err="1">
                <a:solidFill>
                  <a:srgbClr val="F8FAFC"/>
                </a:solidFill>
                <a:latin typeface="Segoe UI"/>
              </a:rPr>
              <a:t>P</a:t>
            </a:r>
            <a:r>
              <a:rPr lang="en-US" altLang="zh-CN" sz="1100" b="1" i="0" dirty="0" err="1">
                <a:solidFill>
                  <a:srgbClr val="F8FAFC"/>
                </a:solidFill>
                <a:latin typeface="Segoe UI"/>
              </a:rPr>
              <a:t>inyou</a:t>
            </a:r>
            <a:r>
              <a:rPr sz="1100" b="1" i="0" dirty="0">
                <a:solidFill>
                  <a:srgbClr val="F8FAFC"/>
                </a:solidFill>
                <a:latin typeface="Segoe UI"/>
              </a:rPr>
              <a:t> &amp; </a:t>
            </a:r>
            <a:r>
              <a:rPr lang="en-US" sz="1100" b="1" i="0" dirty="0">
                <a:solidFill>
                  <a:srgbClr val="F8FAFC"/>
                </a:solidFill>
                <a:latin typeface="Segoe UI"/>
              </a:rPr>
              <a:t>L</a:t>
            </a:r>
            <a:r>
              <a:rPr lang="en-US" altLang="zh-CN" sz="1100" b="1" i="0" dirty="0">
                <a:solidFill>
                  <a:srgbClr val="F8FAFC"/>
                </a:solidFill>
                <a:latin typeface="Segoe UI"/>
              </a:rPr>
              <a:t>i </a:t>
            </a:r>
            <a:r>
              <a:rPr lang="en-US" altLang="zh-CN" sz="1100" b="1" dirty="0">
                <a:solidFill>
                  <a:srgbClr val="F8FAFC"/>
                </a:solidFill>
                <a:latin typeface="Segoe UI"/>
              </a:rPr>
              <a:t>Yudan &amp; </a:t>
            </a:r>
            <a:r>
              <a:rPr sz="1100" b="1" i="0" dirty="0">
                <a:solidFill>
                  <a:srgbClr val="F8FAFC"/>
                </a:solidFill>
                <a:latin typeface="Segoe UI"/>
              </a:rPr>
              <a:t>Zhu </a:t>
            </a:r>
            <a:r>
              <a:rPr sz="1100" b="1" i="0" dirty="0" err="1">
                <a:solidFill>
                  <a:srgbClr val="F8FAFC"/>
                </a:solidFill>
                <a:latin typeface="Segoe UI"/>
              </a:rPr>
              <a:t>Gengyu</a:t>
            </a:r>
            <a:r>
              <a:rPr sz="1050" b="0" i="0" dirty="0">
                <a:solidFill>
                  <a:srgbClr val="94A3B8"/>
                </a:solidFill>
                <a:latin typeface="Segoe UI"/>
              </a:rPr>
              <a:t>   |   NUS IT5006 Fundamentals of Data Analytics   |   Now switching to our 2-minute live </a:t>
            </a:r>
            <a:r>
              <a:rPr sz="1050" b="0" i="0" dirty="0" err="1">
                <a:solidFill>
                  <a:srgbClr val="94A3B8"/>
                </a:solidFill>
                <a:latin typeface="Segoe UI"/>
              </a:rPr>
              <a:t>Streamlit</a:t>
            </a:r>
            <a:r>
              <a:rPr sz="1050" b="0" i="0" dirty="0">
                <a:solidFill>
                  <a:srgbClr val="94A3B8"/>
                </a:solidFill>
                <a:latin typeface="Segoe UI"/>
              </a:rPr>
              <a:t> demo →</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4" fill="hold" grpId="0" nodeType="withEffect">
                                  <p:stCondLst>
                                    <p:cond delay="6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anim calcmode="lin" valueType="num">
                                      <p:cBhvr>
                                        <p:cTn id="8" dur="45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0.018"/>
                                          </p:val>
                                        </p:tav>
                                        <p:tav tm="100000">
                                          <p:val>
                                            <p:strVal val="#ppt_y"/>
                                          </p:val>
                                        </p:tav>
                                      </p:tavLst>
                                    </p:anim>
                                  </p:childTnLst>
                                </p:cTn>
                              </p:par>
                              <p:par>
                                <p:cTn id="10" presetID="42" presetClass="entr" presetSubtype="4" fill="hold" grpId="0" nodeType="withEffect">
                                  <p:stCondLst>
                                    <p:cond delay="6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50"/>
                                        <p:tgtEl>
                                          <p:spTgt spid="4"/>
                                        </p:tgtEl>
                                      </p:cBhvr>
                                    </p:animEffect>
                                    <p:anim calcmode="lin" valueType="num">
                                      <p:cBhvr>
                                        <p:cTn id="13" dur="450" fill="hold"/>
                                        <p:tgtEl>
                                          <p:spTgt spid="4"/>
                                        </p:tgtEl>
                                        <p:attrNameLst>
                                          <p:attrName>ppt_x</p:attrName>
                                        </p:attrNameLst>
                                      </p:cBhvr>
                                      <p:tavLst>
                                        <p:tav tm="0">
                                          <p:val>
                                            <p:strVal val="#ppt_x"/>
                                          </p:val>
                                        </p:tav>
                                        <p:tav tm="100000">
                                          <p:val>
                                            <p:strVal val="#ppt_x"/>
                                          </p:val>
                                        </p:tav>
                                      </p:tavLst>
                                    </p:anim>
                                    <p:anim calcmode="lin" valueType="num">
                                      <p:cBhvr>
                                        <p:cTn id="14" dur="450" decel="100000" fill="hold"/>
                                        <p:tgtEl>
                                          <p:spTgt spid="4"/>
                                        </p:tgtEl>
                                        <p:attrNameLst>
                                          <p:attrName>ppt_y</p:attrName>
                                        </p:attrNameLst>
                                      </p:cBhvr>
                                      <p:tavLst>
                                        <p:tav tm="0">
                                          <p:val>
                                            <p:strVal val="#ppt_y+0.018"/>
                                          </p:val>
                                        </p:tav>
                                        <p:tav tm="100000">
                                          <p:val>
                                            <p:strVal val="#ppt_y"/>
                                          </p:val>
                                        </p:tav>
                                      </p:tavLst>
                                    </p:anim>
                                  </p:childTnLst>
                                </p:cTn>
                              </p:par>
                              <p:par>
                                <p:cTn id="15" presetID="42" presetClass="entr" presetSubtype="4" fill="hold" grpId="0" nodeType="withEffect">
                                  <p:stCondLst>
                                    <p:cond delay="2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60"/>
                                        <p:tgtEl>
                                          <p:spTgt spid="5"/>
                                        </p:tgtEl>
                                      </p:cBhvr>
                                    </p:animEffect>
                                    <p:anim calcmode="lin" valueType="num">
                                      <p:cBhvr>
                                        <p:cTn id="18" dur="460" fill="hold"/>
                                        <p:tgtEl>
                                          <p:spTgt spid="5"/>
                                        </p:tgtEl>
                                        <p:attrNameLst>
                                          <p:attrName>ppt_x</p:attrName>
                                        </p:attrNameLst>
                                      </p:cBhvr>
                                      <p:tavLst>
                                        <p:tav tm="0">
                                          <p:val>
                                            <p:strVal val="#ppt_x"/>
                                          </p:val>
                                        </p:tav>
                                        <p:tav tm="100000">
                                          <p:val>
                                            <p:strVal val="#ppt_x"/>
                                          </p:val>
                                        </p:tav>
                                      </p:tavLst>
                                    </p:anim>
                                    <p:anim calcmode="lin" valueType="num">
                                      <p:cBhvr>
                                        <p:cTn id="19" dur="460" decel="100000" fill="hold"/>
                                        <p:tgtEl>
                                          <p:spTgt spid="5"/>
                                        </p:tgtEl>
                                        <p:attrNameLst>
                                          <p:attrName>ppt_y</p:attrName>
                                        </p:attrNameLst>
                                      </p:cBhvr>
                                      <p:tavLst>
                                        <p:tav tm="0">
                                          <p:val>
                                            <p:strVal val="#ppt_y+0.018"/>
                                          </p:val>
                                        </p:tav>
                                        <p:tav tm="100000">
                                          <p:val>
                                            <p:strVal val="#ppt_y"/>
                                          </p:val>
                                        </p:tav>
                                      </p:tavLst>
                                    </p:anim>
                                  </p:childTnLst>
                                </p:cTn>
                              </p:par>
                              <p:par>
                                <p:cTn id="20" presetID="42" presetClass="entr" presetSubtype="4" fill="hold" grpId="0" nodeType="withEffect">
                                  <p:stCondLst>
                                    <p:cond delay="20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60"/>
                                        <p:tgtEl>
                                          <p:spTgt spid="15"/>
                                        </p:tgtEl>
                                      </p:cBhvr>
                                    </p:animEffect>
                                    <p:anim calcmode="lin" valueType="num">
                                      <p:cBhvr>
                                        <p:cTn id="23" dur="460" fill="hold"/>
                                        <p:tgtEl>
                                          <p:spTgt spid="15"/>
                                        </p:tgtEl>
                                        <p:attrNameLst>
                                          <p:attrName>ppt_x</p:attrName>
                                        </p:attrNameLst>
                                      </p:cBhvr>
                                      <p:tavLst>
                                        <p:tav tm="0">
                                          <p:val>
                                            <p:strVal val="#ppt_x"/>
                                          </p:val>
                                        </p:tav>
                                        <p:tav tm="100000">
                                          <p:val>
                                            <p:strVal val="#ppt_x"/>
                                          </p:val>
                                        </p:tav>
                                      </p:tavLst>
                                    </p:anim>
                                    <p:anim calcmode="lin" valueType="num">
                                      <p:cBhvr>
                                        <p:cTn id="24" dur="460" decel="100000" fill="hold"/>
                                        <p:tgtEl>
                                          <p:spTgt spid="15"/>
                                        </p:tgtEl>
                                        <p:attrNameLst>
                                          <p:attrName>ppt_y</p:attrName>
                                        </p:attrNameLst>
                                      </p:cBhvr>
                                      <p:tavLst>
                                        <p:tav tm="0">
                                          <p:val>
                                            <p:strVal val="#ppt_y+0.018"/>
                                          </p:val>
                                        </p:tav>
                                        <p:tav tm="100000">
                                          <p:val>
                                            <p:strVal val="#ppt_y"/>
                                          </p:val>
                                        </p:tav>
                                      </p:tavLst>
                                    </p:anim>
                                  </p:childTnLst>
                                </p:cTn>
                              </p:par>
                              <p:par>
                                <p:cTn id="25" presetID="42" presetClass="entr" presetSubtype="4" fill="hold" grpId="0" nodeType="withEffect">
                                  <p:stCondLst>
                                    <p:cond delay="20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460"/>
                                        <p:tgtEl>
                                          <p:spTgt spid="16"/>
                                        </p:tgtEl>
                                      </p:cBhvr>
                                    </p:animEffect>
                                    <p:anim calcmode="lin" valueType="num">
                                      <p:cBhvr>
                                        <p:cTn id="28" dur="460" fill="hold"/>
                                        <p:tgtEl>
                                          <p:spTgt spid="16"/>
                                        </p:tgtEl>
                                        <p:attrNameLst>
                                          <p:attrName>ppt_x</p:attrName>
                                        </p:attrNameLst>
                                      </p:cBhvr>
                                      <p:tavLst>
                                        <p:tav tm="0">
                                          <p:val>
                                            <p:strVal val="#ppt_x"/>
                                          </p:val>
                                        </p:tav>
                                        <p:tav tm="100000">
                                          <p:val>
                                            <p:strVal val="#ppt_x"/>
                                          </p:val>
                                        </p:tav>
                                      </p:tavLst>
                                    </p:anim>
                                    <p:anim calcmode="lin" valueType="num">
                                      <p:cBhvr>
                                        <p:cTn id="29" dur="460" decel="100000" fill="hold"/>
                                        <p:tgtEl>
                                          <p:spTgt spid="16"/>
                                        </p:tgtEl>
                                        <p:attrNameLst>
                                          <p:attrName>ppt_y</p:attrName>
                                        </p:attrNameLst>
                                      </p:cBhvr>
                                      <p:tavLst>
                                        <p:tav tm="0">
                                          <p:val>
                                            <p:strVal val="#ppt_y+0.018"/>
                                          </p:val>
                                        </p:tav>
                                        <p:tav tm="100000">
                                          <p:val>
                                            <p:strVal val="#ppt_y"/>
                                          </p:val>
                                        </p:tav>
                                      </p:tavLst>
                                    </p:anim>
                                  </p:childTnLst>
                                </p:cTn>
                              </p:par>
                              <p:par>
                                <p:cTn id="30" presetID="42" presetClass="entr" presetSubtype="4" fill="hold" grpId="0" nodeType="withEffect">
                                  <p:stCondLst>
                                    <p:cond delay="2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460"/>
                                        <p:tgtEl>
                                          <p:spTgt spid="17"/>
                                        </p:tgtEl>
                                      </p:cBhvr>
                                    </p:animEffect>
                                    <p:anim calcmode="lin" valueType="num">
                                      <p:cBhvr>
                                        <p:cTn id="33" dur="460" fill="hold"/>
                                        <p:tgtEl>
                                          <p:spTgt spid="17"/>
                                        </p:tgtEl>
                                        <p:attrNameLst>
                                          <p:attrName>ppt_x</p:attrName>
                                        </p:attrNameLst>
                                      </p:cBhvr>
                                      <p:tavLst>
                                        <p:tav tm="0">
                                          <p:val>
                                            <p:strVal val="#ppt_x"/>
                                          </p:val>
                                        </p:tav>
                                        <p:tav tm="100000">
                                          <p:val>
                                            <p:strVal val="#ppt_x"/>
                                          </p:val>
                                        </p:tav>
                                      </p:tavLst>
                                    </p:anim>
                                    <p:anim calcmode="lin" valueType="num">
                                      <p:cBhvr>
                                        <p:cTn id="34" dur="460" decel="100000" fill="hold"/>
                                        <p:tgtEl>
                                          <p:spTgt spid="17"/>
                                        </p:tgtEl>
                                        <p:attrNameLst>
                                          <p:attrName>ppt_y</p:attrName>
                                        </p:attrNameLst>
                                      </p:cBhvr>
                                      <p:tavLst>
                                        <p:tav tm="0">
                                          <p:val>
                                            <p:strVal val="#ppt_y+0.018"/>
                                          </p:val>
                                        </p:tav>
                                        <p:tav tm="100000">
                                          <p:val>
                                            <p:strVal val="#ppt_y"/>
                                          </p:val>
                                        </p:tav>
                                      </p:tavLst>
                                    </p:anim>
                                  </p:childTnLst>
                                </p:cTn>
                              </p:par>
                              <p:par>
                                <p:cTn id="35" presetID="42" presetClass="entr" presetSubtype="4" fill="hold" grpId="0" nodeType="withEffect">
                                  <p:stCondLst>
                                    <p:cond delay="20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60"/>
                                        <p:tgtEl>
                                          <p:spTgt spid="18"/>
                                        </p:tgtEl>
                                      </p:cBhvr>
                                    </p:animEffect>
                                    <p:anim calcmode="lin" valueType="num">
                                      <p:cBhvr>
                                        <p:cTn id="38" dur="460" fill="hold"/>
                                        <p:tgtEl>
                                          <p:spTgt spid="18"/>
                                        </p:tgtEl>
                                        <p:attrNameLst>
                                          <p:attrName>ppt_x</p:attrName>
                                        </p:attrNameLst>
                                      </p:cBhvr>
                                      <p:tavLst>
                                        <p:tav tm="0">
                                          <p:val>
                                            <p:strVal val="#ppt_x"/>
                                          </p:val>
                                        </p:tav>
                                        <p:tav tm="100000">
                                          <p:val>
                                            <p:strVal val="#ppt_x"/>
                                          </p:val>
                                        </p:tav>
                                      </p:tavLst>
                                    </p:anim>
                                    <p:anim calcmode="lin" valueType="num">
                                      <p:cBhvr>
                                        <p:cTn id="39" dur="460" decel="100000" fill="hold"/>
                                        <p:tgtEl>
                                          <p:spTgt spid="18"/>
                                        </p:tgtEl>
                                        <p:attrNameLst>
                                          <p:attrName>ppt_y</p:attrName>
                                        </p:attrNameLst>
                                      </p:cBhvr>
                                      <p:tavLst>
                                        <p:tav tm="0">
                                          <p:val>
                                            <p:strVal val="#ppt_y+0.018"/>
                                          </p:val>
                                        </p:tav>
                                        <p:tav tm="100000">
                                          <p:val>
                                            <p:strVal val="#ppt_y"/>
                                          </p:val>
                                        </p:tav>
                                      </p:tavLst>
                                    </p:anim>
                                  </p:childTnLst>
                                </p:cTn>
                              </p:par>
                              <p:par>
                                <p:cTn id="40" presetID="42" presetClass="entr" presetSubtype="4" fill="hold" grpId="0" nodeType="withEffect">
                                  <p:stCondLst>
                                    <p:cond delay="20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460"/>
                                        <p:tgtEl>
                                          <p:spTgt spid="19"/>
                                        </p:tgtEl>
                                      </p:cBhvr>
                                    </p:animEffect>
                                    <p:anim calcmode="lin" valueType="num">
                                      <p:cBhvr>
                                        <p:cTn id="43" dur="460" fill="hold"/>
                                        <p:tgtEl>
                                          <p:spTgt spid="19"/>
                                        </p:tgtEl>
                                        <p:attrNameLst>
                                          <p:attrName>ppt_x</p:attrName>
                                        </p:attrNameLst>
                                      </p:cBhvr>
                                      <p:tavLst>
                                        <p:tav tm="0">
                                          <p:val>
                                            <p:strVal val="#ppt_x"/>
                                          </p:val>
                                        </p:tav>
                                        <p:tav tm="100000">
                                          <p:val>
                                            <p:strVal val="#ppt_x"/>
                                          </p:val>
                                        </p:tav>
                                      </p:tavLst>
                                    </p:anim>
                                    <p:anim calcmode="lin" valueType="num">
                                      <p:cBhvr>
                                        <p:cTn id="44" dur="460" decel="100000" fill="hold"/>
                                        <p:tgtEl>
                                          <p:spTgt spid="19"/>
                                        </p:tgtEl>
                                        <p:attrNameLst>
                                          <p:attrName>ppt_y</p:attrName>
                                        </p:attrNameLst>
                                      </p:cBhvr>
                                      <p:tavLst>
                                        <p:tav tm="0">
                                          <p:val>
                                            <p:strVal val="#ppt_y+0.018"/>
                                          </p:val>
                                        </p:tav>
                                        <p:tav tm="100000">
                                          <p:val>
                                            <p:strVal val="#ppt_y"/>
                                          </p:val>
                                        </p:tav>
                                      </p:tavLst>
                                    </p:anim>
                                  </p:childTnLst>
                                </p:cTn>
                              </p:par>
                              <p:par>
                                <p:cTn id="45" presetID="42" presetClass="entr" presetSubtype="4" fill="hold" grpId="0" nodeType="withEffect">
                                  <p:stCondLst>
                                    <p:cond delay="20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60"/>
                                        <p:tgtEl>
                                          <p:spTgt spid="20"/>
                                        </p:tgtEl>
                                      </p:cBhvr>
                                    </p:animEffect>
                                    <p:anim calcmode="lin" valueType="num">
                                      <p:cBhvr>
                                        <p:cTn id="48" dur="460" fill="hold"/>
                                        <p:tgtEl>
                                          <p:spTgt spid="20"/>
                                        </p:tgtEl>
                                        <p:attrNameLst>
                                          <p:attrName>ppt_x</p:attrName>
                                        </p:attrNameLst>
                                      </p:cBhvr>
                                      <p:tavLst>
                                        <p:tav tm="0">
                                          <p:val>
                                            <p:strVal val="#ppt_x"/>
                                          </p:val>
                                        </p:tav>
                                        <p:tav tm="100000">
                                          <p:val>
                                            <p:strVal val="#ppt_x"/>
                                          </p:val>
                                        </p:tav>
                                      </p:tavLst>
                                    </p:anim>
                                    <p:anim calcmode="lin" valueType="num">
                                      <p:cBhvr>
                                        <p:cTn id="49" dur="460" decel="100000" fill="hold"/>
                                        <p:tgtEl>
                                          <p:spTgt spid="20"/>
                                        </p:tgtEl>
                                        <p:attrNameLst>
                                          <p:attrName>ppt_y</p:attrName>
                                        </p:attrNameLst>
                                      </p:cBhvr>
                                      <p:tavLst>
                                        <p:tav tm="0">
                                          <p:val>
                                            <p:strVal val="#ppt_y+0.018"/>
                                          </p:val>
                                        </p:tav>
                                        <p:tav tm="100000">
                                          <p:val>
                                            <p:strVal val="#ppt_y"/>
                                          </p:val>
                                        </p:tav>
                                      </p:tavLst>
                                    </p:anim>
                                  </p:childTnLst>
                                </p:cTn>
                              </p:par>
                              <p:par>
                                <p:cTn id="50" presetID="10" presetClass="entr" presetSubtype="0" fill="hold" grpId="0" nodeType="withEffect">
                                  <p:stCondLst>
                                    <p:cond delay="34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420"/>
                                        <p:tgtEl>
                                          <p:spTgt spid="21"/>
                                        </p:tgtEl>
                                      </p:cBhvr>
                                    </p:animEffect>
                                  </p:childTnLst>
                                </p:cTn>
                              </p:par>
                              <p:par>
                                <p:cTn id="53" presetID="10" presetClass="entr" presetSubtype="0" fill="hold" grpId="0" nodeType="withEffect">
                                  <p:stCondLst>
                                    <p:cond delay="34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20"/>
                                        <p:tgtEl>
                                          <p:spTgt spid="23"/>
                                        </p:tgtEl>
                                      </p:cBhvr>
                                    </p:animEffect>
                                  </p:childTnLst>
                                </p:cTn>
                              </p:par>
                              <p:par>
                                <p:cTn id="56" presetID="10" presetClass="entr" presetSubtype="0" fill="hold" grpId="0" nodeType="withEffect">
                                  <p:stCondLst>
                                    <p:cond delay="34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20"/>
                                        <p:tgtEl>
                                          <p:spTgt spid="24"/>
                                        </p:tgtEl>
                                      </p:cBhvr>
                                    </p:animEffect>
                                  </p:childTnLst>
                                </p:cTn>
                              </p:par>
                              <p:par>
                                <p:cTn id="59" presetID="10" presetClass="entr" presetSubtype="0" fill="hold" grpId="0" nodeType="withEffect">
                                  <p:stCondLst>
                                    <p:cond delay="34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420"/>
                                        <p:tgtEl>
                                          <p:spTgt spid="25"/>
                                        </p:tgtEl>
                                      </p:cBhvr>
                                    </p:animEffect>
                                  </p:childTnLst>
                                </p:cTn>
                              </p:par>
                              <p:par>
                                <p:cTn id="62" presetID="10" presetClass="entr" presetSubtype="0" fill="hold" grpId="0" nodeType="withEffect">
                                  <p:stCondLst>
                                    <p:cond delay="34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20"/>
                                        <p:tgtEl>
                                          <p:spTgt spid="26"/>
                                        </p:tgtEl>
                                      </p:cBhvr>
                                    </p:animEffect>
                                  </p:childTnLst>
                                </p:cTn>
                              </p:par>
                              <p:par>
                                <p:cTn id="65" presetID="10" presetClass="entr" presetSubtype="0" fill="hold" grpId="0" nodeType="withEffect">
                                  <p:stCondLst>
                                    <p:cond delay="34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420"/>
                                        <p:tgtEl>
                                          <p:spTgt spid="27"/>
                                        </p:tgtEl>
                                      </p:cBhvr>
                                    </p:animEffect>
                                  </p:childTnLst>
                                </p:cTn>
                              </p:par>
                              <p:par>
                                <p:cTn id="68" presetID="10" presetClass="entr" presetSubtype="0" fill="hold" grpId="0" nodeType="withEffect">
                                  <p:stCondLst>
                                    <p:cond delay="34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420"/>
                                        <p:tgtEl>
                                          <p:spTgt spid="28"/>
                                        </p:tgtEl>
                                      </p:cBhvr>
                                    </p:animEffect>
                                  </p:childTnLst>
                                </p:cTn>
                              </p:par>
                              <p:par>
                                <p:cTn id="71" presetID="10" presetClass="entr" presetSubtype="0" fill="hold" grpId="0" nodeType="withEffect">
                                  <p:stCondLst>
                                    <p:cond delay="34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420"/>
                                        <p:tgtEl>
                                          <p:spTgt spid="29"/>
                                        </p:tgtEl>
                                      </p:cBhvr>
                                    </p:animEffect>
                                  </p:childTnLst>
                                </p:cTn>
                              </p:par>
                              <p:par>
                                <p:cTn id="74" presetID="10" presetClass="entr" presetSubtype="0" fill="hold" grpId="0" nodeType="withEffect">
                                  <p:stCondLst>
                                    <p:cond delay="34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420"/>
                                        <p:tgtEl>
                                          <p:spTgt spid="30"/>
                                        </p:tgtEl>
                                      </p:cBhvr>
                                    </p:animEffect>
                                  </p:childTnLst>
                                </p:cTn>
                              </p:par>
                              <p:par>
                                <p:cTn id="77" presetID="10" presetClass="entr" presetSubtype="0" fill="hold" grpId="0" nodeType="withEffect">
                                  <p:stCondLst>
                                    <p:cond delay="34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420"/>
                                        <p:tgtEl>
                                          <p:spTgt spid="31"/>
                                        </p:tgtEl>
                                      </p:cBhvr>
                                    </p:animEffect>
                                  </p:childTnLst>
                                </p:cTn>
                              </p:par>
                              <p:par>
                                <p:cTn id="80" presetID="10" presetClass="entr" presetSubtype="0" fill="hold" grpId="0" nodeType="withEffect">
                                  <p:stCondLst>
                                    <p:cond delay="34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42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4603</Words>
  <Application>Microsoft Office PowerPoint</Application>
  <PresentationFormat>宽屏</PresentationFormat>
  <Paragraphs>408</Paragraphs>
  <Slides>13</Slides>
  <Notes>13</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13</vt:i4>
      </vt:variant>
    </vt:vector>
  </HeadingPairs>
  <TitlesOfParts>
    <vt:vector size="17" baseType="lpstr">
      <vt:lpstr>Arial</vt:lpstr>
      <vt:lpstr>Calibri</vt:lpstr>
      <vt:lpstr>Segoe UI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耕余 朱</cp:lastModifiedBy>
  <cp:revision>2</cp:revision>
  <dcterms:created xsi:type="dcterms:W3CDTF">2013-01-27T09:14:16Z</dcterms:created>
  <dcterms:modified xsi:type="dcterms:W3CDTF">2026-10-29T18:40:59Z</dcterms:modified>
  <cp:category/>
</cp:coreProperties>
</file>